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svg" ContentType="image/svg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charts/chart1.xml" ContentType="application/vnd.openxmlformats-officedocument.drawingml.chart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ce68117804745fe" /><Relationship Type="http://schemas.openxmlformats.org/officeDocument/2006/relationships/extended-properties" Target="/docProps/app.xml" Id="R29f2702a57884fe2" /><Relationship Type="http://schemas.openxmlformats.org/officeDocument/2006/relationships/officeDocument" Target="/ppt/presentation.xml" Id="R8a6bb2771b5c462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bb361dec8f348e5"/>
  </p:sldMasterIdLst>
  <p:notesMasterIdLst>
    <p:notesMasterId xmlns:r="http://schemas.openxmlformats.org/officeDocument/2006/relationships" r:id="R1322bb4a336c4462"/>
  </p:notesMasterIdLst>
  <p:sldIdLst>
    <p:sldId xmlns:r="http://schemas.openxmlformats.org/officeDocument/2006/relationships" id="256" r:id="R306abda21794449e"/>
    <p:sldId xmlns:r="http://schemas.openxmlformats.org/officeDocument/2006/relationships" id="257" r:id="R1e732858117848ef"/>
    <p:sldId xmlns:r="http://schemas.openxmlformats.org/officeDocument/2006/relationships" id="258" r:id="Re837efe40fab4fbf"/>
    <p:sldId xmlns:r="http://schemas.openxmlformats.org/officeDocument/2006/relationships" id="259" r:id="R3ab192cfc73d4479"/>
    <p:sldId xmlns:r="http://schemas.openxmlformats.org/officeDocument/2006/relationships" id="260" r:id="Rb4e32b80f162410b"/>
    <p:sldId xmlns:r="http://schemas.openxmlformats.org/officeDocument/2006/relationships" id="261" r:id="Rcc81e98d22c74f80"/>
    <p:sldId xmlns:r="http://schemas.openxmlformats.org/officeDocument/2006/relationships" id="262" r:id="Rd79710785c834c8c"/>
    <p:sldId xmlns:r="http://schemas.openxmlformats.org/officeDocument/2006/relationships" id="263" r:id="R626a9276e90b4afd"/>
    <p:sldId xmlns:r="http://schemas.openxmlformats.org/officeDocument/2006/relationships" id="264" r:id="R9709c6761c1747d4"/>
    <p:sldId xmlns:r="http://schemas.openxmlformats.org/officeDocument/2006/relationships" id="265" r:id="R2cdad82d465e4318"/>
    <p:sldId xmlns:r="http://schemas.openxmlformats.org/officeDocument/2006/relationships" id="266" r:id="R86e2cd2033b34bf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eb537b94e024c6a" /><Relationship Type="http://schemas.openxmlformats.org/officeDocument/2006/relationships/slideMaster" Target="/ppt/slideMasters/slideMaster1.xml" Id="R6bb361dec8f348e5" /><Relationship Type="http://schemas.openxmlformats.org/officeDocument/2006/relationships/notesMaster" Target="/ppt/notesMasters/notesMaster1.xml" Id="R1322bb4a336c4462" /><Relationship Type="http://schemas.openxmlformats.org/officeDocument/2006/relationships/presProps" Target="/ppt/presProps.xml" Id="R82547b878da5421b" /><Relationship Type="http://schemas.openxmlformats.org/officeDocument/2006/relationships/viewProps" Target="/ppt/viewProps.xml" Id="R06bfb322105e4265" /><Relationship Type="http://schemas.openxmlformats.org/officeDocument/2006/relationships/tableStyles" Target="/ppt/tableStyles.xml" Id="R043efdfe78cd4ccc" /><Relationship Type="http://schemas.openxmlformats.org/officeDocument/2006/relationships/slide" Target="/ppt/slides/slide1.xml" Id="R306abda21794449e" /><Relationship Type="http://schemas.openxmlformats.org/officeDocument/2006/relationships/slide" Target="/ppt/slides/slide2.xml" Id="R1e732858117848ef" /><Relationship Type="http://schemas.openxmlformats.org/officeDocument/2006/relationships/slide" Target="/ppt/slides/slide3.xml" Id="Re837efe40fab4fbf" /><Relationship Type="http://schemas.openxmlformats.org/officeDocument/2006/relationships/slide" Target="/ppt/slides/slide4.xml" Id="R3ab192cfc73d4479" /><Relationship Type="http://schemas.openxmlformats.org/officeDocument/2006/relationships/slide" Target="/ppt/slides/slide5.xml" Id="Rb4e32b80f162410b" /><Relationship Type="http://schemas.openxmlformats.org/officeDocument/2006/relationships/slide" Target="/ppt/slides/slide6.xml" Id="Rcc81e98d22c74f80" /><Relationship Type="http://schemas.openxmlformats.org/officeDocument/2006/relationships/slide" Target="/ppt/slides/slide7.xml" Id="Rd79710785c834c8c" /><Relationship Type="http://schemas.openxmlformats.org/officeDocument/2006/relationships/slide" Target="/ppt/slides/slide8.xml" Id="R626a9276e90b4afd" /><Relationship Type="http://schemas.openxmlformats.org/officeDocument/2006/relationships/slide" Target="/ppt/slides/slide9.xml" Id="R9709c6761c1747d4" /><Relationship Type="http://schemas.openxmlformats.org/officeDocument/2006/relationships/slide" Target="/ppt/slides/slide10.xml" Id="R2cdad82d465e4318" /><Relationship Type="http://schemas.openxmlformats.org/officeDocument/2006/relationships/slide" Target="/ppt/slides/slide11.xml" Id="R86e2cd2033b34bf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69180c9d26044f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BM Plex Sa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46241f04d0a4f27" /><Relationship Type="http://schemas.openxmlformats.org/officeDocument/2006/relationships/notesMaster" Target="/ppt/notesMasters/notesMaster1.xml" Id="Rb60b713f104d4e7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b21569deffd4917" /><Relationship Type="http://schemas.openxmlformats.org/officeDocument/2006/relationships/notesMaster" Target="/ppt/notesMasters/notesMaster1.xml" Id="R845620faaab6466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ced476f111141e9" /><Relationship Type="http://schemas.openxmlformats.org/officeDocument/2006/relationships/notesMaster" Target="/ppt/notesMasters/notesMaster1.xml" Id="Reff8aaca1d8345d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a4e86d1f1c24409" /><Relationship Type="http://schemas.openxmlformats.org/officeDocument/2006/relationships/notesMaster" Target="/ppt/notesMasters/notesMaster1.xml" Id="R8393dbb672734db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901c5b6634e403e" /><Relationship Type="http://schemas.openxmlformats.org/officeDocument/2006/relationships/notesMaster" Target="/ppt/notesMasters/notesMaster1.xml" Id="R0550b709bff445c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b5f002f4cb74b41" /><Relationship Type="http://schemas.openxmlformats.org/officeDocument/2006/relationships/notesMaster" Target="/ppt/notesMasters/notesMaster1.xml" Id="R8fe6fafcbba9464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f66a30766894769" /><Relationship Type="http://schemas.openxmlformats.org/officeDocument/2006/relationships/notesMaster" Target="/ppt/notesMasters/notesMaster1.xml" Id="R3ca53bf20c44484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9b19750e8694305" /><Relationship Type="http://schemas.openxmlformats.org/officeDocument/2006/relationships/notesMaster" Target="/ppt/notesMasters/notesMaster1.xml" Id="Ra12d482debef489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f00a91a8bff4bdb" /><Relationship Type="http://schemas.openxmlformats.org/officeDocument/2006/relationships/notesMaster" Target="/ppt/notesMasters/notesMaster1.xml" Id="R64d7bb7ff3134ed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49cdab789124eaa" /><Relationship Type="http://schemas.openxmlformats.org/officeDocument/2006/relationships/notesMaster" Target="/ppt/notesMasters/notesMaster1.xml" Id="Rcf0c000b74f0420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a4400f56b74840b3" /><Relationship Type="http://schemas.openxmlformats.org/officeDocument/2006/relationships/notesMaster" Target="/ppt/notesMasters/notesMaster1.xml" Id="R07631e77bc7149d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with the category shift: space operators have more data, more autonomy pressure, and less tolerance for untraceable decisions. The visible promise is deliberately ground-first and evidence-led; flight-candidate work remains an external gate.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User-provided: Gauss_Aurora_Pitch_Deck_v1.pptx</a:t>
            </a:r>
            <a:endParaRPr/>
          </a:p>
          <a:p xmlns:a="http://schemas.openxmlformats.org/drawingml/2006/main">
            <a:r>
              <a:t>- User-provided: Project_Gauss_Data_Architecture_for_AI_Automation_in_Space.pdf</a:t>
            </a:r>
            <a:endParaRPr/>
          </a:p>
          <a:p xmlns:a="http://schemas.openxmlformats.org/drawingml/2006/main">
            <a:r>
              <a:t>- NASA Earthrise image: https://science.nasa.gov/resource/image-earthrise/</a:t>
            </a:r>
            <a:endParaRPr/>
          </a:p>
          <a:p xmlns:a="http://schemas.openxmlformats.org/drawingml/2006/main">
            <a:r>
              <a:t>- Image asset: https://assets.science.nasa.gov/dynamicimage/assets/science/esd/climate/2023/12/August-2013_1920x1200.jpg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Frame the problem as operational evidence fragmentation, not a generic AI opportunity. The buyer is paying to reduce decision latency and audit friction.
[Sources]
- User-provided: Project_Gauss_Data_Architecture_for_AI_Automation_in_Space.pdf
- Repo: config/product-packages.json and config/product-packages.schema.json</a:t>
            </a:r>
            <a:endParaRPr/>
          </a:p>
          <a:p xmlns:a="http://schemas.openxmlformats.org/drawingml/2006/main">
            <a:r>
              <a:t>
[Sources]
- NASA solar-flare / space-weather asset in repository: research/documentation-rag/What Is the Solar Wind_ - NASA Science.html
- NASA SOHO CME gallery: https://soho.nascom.nasa.gov/bestofsoho/SolarCorona/las021.html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Why now is grounded in external market and operating signals, not a claim of current customer traction. The $429B figure is the 2025 global space economy; 14,266 is the SIA/BryceTech count of operational satellites at the end of 2025. NOAA/NASA announced Solar Cycle 25 had reached its solar maximum period in October 2024; the current NOAA progression page retains a maximum window extending into March 2026.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SIA / BryceTech, 29th State of the Satellite Industry Report (2026; FY2025 results): https://sia.org/affordability-productivity-drive-historic-satellite-industry-growth-satellite-industry-association-releases-29th-annual-state-of-the-satellite-industry-report/</a:t>
            </a:r>
            <a:endParaRPr/>
          </a:p>
          <a:p xmlns:a="http://schemas.openxmlformats.org/drawingml/2006/main">
            <a:r>
              <a:t>- World Economic Forum / McKinsey, Space: The $1.8 Trillion Opportunity for Global Economic Growth: https://www.weforum.org/press/2024/04/space-economy-set-to-triple-to-1-8-trillion-by-2035-new-research-reveals/</a:t>
            </a:r>
            <a:endParaRPr/>
          </a:p>
          <a:p xmlns:a="http://schemas.openxmlformats.org/drawingml/2006/main">
            <a:r>
              <a:t>- ESA Space Environment Report 2025: https://www.esa.int/Space_Safety/Space_Debris/ESA_Space_Environment_Report_2025</a:t>
            </a:r>
            <a:endParaRPr/>
          </a:p>
          <a:p xmlns:a="http://schemas.openxmlformats.org/drawingml/2006/main">
            <a:r>
              <a:t>- NOAA/NASA Joint Solar Maximum Announcement: https://prod-01-alb-www-swpc.woc.noaa.gov/news/joint-solar-maximum-announcement-nasa-and-noaa</a:t>
            </a:r>
            <a:endParaRPr/>
          </a:p>
          <a:p xmlns:a="http://schemas.openxmlformats.org/drawingml/2006/main">
            <a:r>
              <a:t>- NOAA Solar Cycle Progression: https://update-swpc.woc.noaa.gov/products/solar-cycle-progression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Visible copy is investor-facing. The underlying product boundary remains quality, provenance, correlation, replay, bounded inference, and approval-gated safety. Partners retain sensors, mission control, communications hardware, trust roots, and command authority.
[Sources]
- Repo: config/product-packages.json and config/product-packages.schema.json
- User-provided: Project_Gauss_Data_Architecture_for_AI_Automation_in_Space.pdf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profile mix is counted from the repository's eight research_profile entries: 2 satcom, 2 weather/space weather, 1 Earth observation, 1 PNT, and 2 lunar relay. These are research targets, not signed customers.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Internal repo: config/mission-targets.json</a:t>
            </a:r>
            <a:endParaRPr/>
          </a:p>
          <a:p xmlns:a="http://schemas.openxmlformats.org/drawingml/2006/main">
            <a:r>
              <a:t>- Internal repo: development/memory/DECISIONS.md (D-110, D-124)</a:t>
            </a:r>
            <a:endParaRPr/>
          </a:p>
          <a:p xmlns:a="http://schemas.openxmlformats.org/drawingml/2006/main">
            <a:r>
              <a:t>- Visual design reference: https://investors.seraphim.vc/wp-content/uploads/2022/05/Seraphim-Prospectus-PDF.pdf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TAM and SAM are category context, not a claim that Gauss captures the full category. The SOM is an internal bottom-up target: five fleet accounts at $100k annual platform value equals $500k ARR.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SIA / BryceTech, 29th State of the Satellite Industry Report (2026; FY2025 results): https://sia.org/affordability-productivity-drive-historic-satellite-industry-growth-satellite-industry-association-releases-29th-annual-state-of-the-satellite-industry-report/</a:t>
            </a:r>
            <a:endParaRPr/>
          </a:p>
          <a:p xmlns:a="http://schemas.openxmlformats.org/drawingml/2006/main">
            <a:r>
              <a:t>- World Economic Forum / McKinsey, Space: The $1.8 Trillion Opportunity for Global Economic Growth: https://www.weforum.org/press/2024/04/space-economy-set-to-triple-to-1-8-trillion-by-2035-new-research-reveals/</a:t>
            </a:r>
            <a:endParaRPr/>
          </a:p>
          <a:p xmlns:a="http://schemas.openxmlformats.org/drawingml/2006/main">
            <a:r>
              <a:t>- Internal Gauss model: development/memory/DECISIONS.md (D-110, D-124, D-126)</a:t>
            </a:r>
            <a:endParaRPr/>
          </a:p>
          <a:p xmlns:a="http://schemas.openxmlformats.org/drawingml/2006/main">
            <a:r>
              <a:t>- Internal Gauss target catalog: config/mission-targets.json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Commercial return is an internal planning scenario, not signed pipeline: five paid ground/integration accounts can establish $500k ARR. The first off-takers are mission-data, ground-segment and systems-integration teams with continuity, telemetry-quality or anomaly-review problems. Planning prices remain subject to customer discovery.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Internal Gauss business memo: docs/BUSINESS_MEMO_GAUSS_GROUND_FIRST_2026-08-21.md</a:t>
            </a:r>
            <a:endParaRPr/>
          </a:p>
          <a:p xmlns:a="http://schemas.openxmlformats.org/drawingml/2006/main">
            <a:r>
              <a:t>- Internal Gauss decision log: development/memory/DECISIONS.md (D-110, D-124, D-126, D-127)</a:t>
            </a:r>
            <a:endParaRPr/>
          </a:p>
          <a:p xmlns:a="http://schemas.openxmlformats.org/drawingml/2006/main">
            <a:r>
              <a:t>- Internal target catalog: config/mission-targets.json</a:t>
            </a:r>
            <a:endParaRPr/>
          </a:p>
          <a:p xmlns:a="http://schemas.openxmlformats.org/drawingml/2006/main">
            <a:r>
              <a:t>- SIA / BryceTech industry context: https://sia.org/affordability-productivity-drive-historic-satellite-industry-growth-satellite-industry-association-releases-29th-annual-state-of-the-satellite-industry-report/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Illustrative positioning based on public product descriptions. The x-axis compares mission-specific depth with horizontal applicability; the y-axis compares execution/control surfaces with assurance/observability surfaces. This is a narrative positioning aid, not a feature-parity scorecard.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Yamcs official product overview and logo: https://yamcs.org/</a:t>
            </a:r>
            <a:endParaRPr/>
          </a:p>
          <a:p xmlns:a="http://schemas.openxmlformats.org/drawingml/2006/main">
            <a:r>
              <a:t>- OpenC3 COSMOS official overview and logo: https://openc3.com/</a:t>
            </a:r>
            <a:endParaRPr/>
          </a:p>
          <a:p xmlns:a="http://schemas.openxmlformats.org/drawingml/2006/main">
            <a:r>
              <a:t>- Slingshot Portal official product overview and logo: https://www.slingshot.space/product-portal</a:t>
            </a:r>
            <a:endParaRPr/>
          </a:p>
          <a:p xmlns:a="http://schemas.openxmlformats.org/drawingml/2006/main">
            <a:r>
              <a:t>- Arize official AI observability overview and logo: https://arize.com/</a:t>
            </a:r>
            <a:endParaRPr/>
          </a:p>
          <a:p xmlns:a="http://schemas.openxmlformats.org/drawingml/2006/main">
            <a:r>
              <a:t>- Fiddler official observability overview and logo: https://docs.fiddler.ai/observability/monitoring</a:t>
            </a:r>
            <a:endParaRPr/>
          </a:p>
          <a:p xmlns:a="http://schemas.openxmlformats.org/drawingml/2006/main">
            <a:r>
              <a:t>- AIKO orbital_OLIVER official product overview and logo: https://aikospace.com/solutions/oliver</a:t>
            </a:r>
            <a:endParaRPr/>
          </a:p>
          <a:p xmlns:a="http://schemas.openxmlformats.org/drawingml/2006/main">
            <a:r>
              <a:t>- Gauss positioning is an internal, partner-neutral thesis; no partnership or feature-parity claim is implied.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Named team members and advisor network are taken from the user-provided Gauss_Aurora_Pitch_Deck_v1.pptx. The visible slide intentionally does not invent founder metrics, customer references, or formal advisor status; those remain diligence unlocks.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User-provided: Gauss_Aurora_Pitch_Deck_v1.pptx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ask is $1.5M. Purpose: fund a 6–12 month ground-first programme covering product and integrations, security/compliance, go-to-market/design partners, and runway. The commercial return is a planning case of five paid ground/integration accounts producing $500k ARR; no signed pipeline is claimed.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Internal Gauss business memo: docs/BUSINESS_MEMO_GAUSS_GROUND_FIRST_2026-08-21.md</a:t>
            </a:r>
            <a:endParaRPr/>
          </a:p>
          <a:p xmlns:a="http://schemas.openxmlformats.org/drawingml/2006/main">
            <a:r>
              <a:t>- Internal Gauss decision log: development/memory/DECISIONS.md (D-110, D-124, D-127)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Project duration is framed as a 6–12 month ground-first programme. The first 90 days follow the repository operating plan: evidence and conversion, paid pilot readiness, then commercial proof. Flight-candidate and federated bridge work are expansion gates, not current claims, and require a named mission, target processor, partner and hardware evidence.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Internal Gauss business memo: docs/BUSINESS_MEMO_GAUSS_GROUND_FIRST_2026-08-21.md</a:t>
            </a:r>
            <a:endParaRPr/>
          </a:p>
          <a:p xmlns:a="http://schemas.openxmlformats.org/drawingml/2006/main">
            <a:r>
              <a:t>- Internal Gauss decision log: development/memory/DECISIONS.md (D-110, D-124, D-127)</a:t>
            </a:r>
            <a:endParaRPr/>
          </a:p>
          <a:p xmlns:a="http://schemas.openxmlformats.org/drawingml/2006/main">
            <a:r>
              <a:t>- Internal target catalog: config/mission-targets.json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f35996733b44358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37c83f9f7ba4020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2.xml><?xml version="1.0" encoding="utf-8"?>
<p:sldLayout xmlns:p="http://schemas.openxmlformats.org/presentationml/2006/main" preserve="1">
  <p:cSld name="GAUSS_MASTER"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DF590EF9-5E2F-4119-A9F8-4F65435750FA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064240" y="6473952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E7B14A"/>
                </a:solidFill>
                <a:latin typeface="JetBrains Mono"/>
                <a:ea typeface="JetBrains Mono"/>
                <a:cs typeface="JetBrains Mono"/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1002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9c8ce9b62b74c0e" /><Relationship Type="http://schemas.openxmlformats.org/officeDocument/2006/relationships/slideLayout" Target="/ppt/slideLayouts/slideLayout1.xml" Id="Rabdfc21eaf4b42ed" /><Relationship Type="http://schemas.openxmlformats.org/officeDocument/2006/relationships/slideLayout" Target="/ppt/slideLayouts/slideLayout2.xml" Id="R0b4596ca3f394de3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B067DDE8-D0D5-4412-840E-FEB2670035EC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064240" y="6473952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E7B14A"/>
                </a:solidFill>
                <a:latin typeface="JetBrains Mono"/>
                <a:ea typeface="JetBrains Mono"/>
                <a:cs typeface="JetBrains Mono"/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null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bdfc21eaf4b42ed"/>
    <p:sldLayoutId xmlns:r="http://schemas.openxmlformats.org/officeDocument/2006/relationships" id="2147483650" r:id="R0b4596ca3f394de3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BM Plex Sa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35ac1a148254466" /><Relationship Type="http://schemas.openxmlformats.org/officeDocument/2006/relationships/image" Target="/ppt/media/image.jpeg" Id="Rd6bc098402c64622" /><Relationship Type="http://schemas.openxmlformats.org/officeDocument/2006/relationships/notesSlide" Target="/ppt/notesSlides/notesSlide1.xml" Id="Rdbd981c9629f4b3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56296327b79495d" /><Relationship Type="http://schemas.openxmlformats.org/officeDocument/2006/relationships/image" Target="/ppt/media/image2.jpeg" Id="R73f497fba5da4ea5" /><Relationship Type="http://schemas.openxmlformats.org/officeDocument/2006/relationships/notesSlide" Target="/ppt/notesSlides/notesSlide2.xml" Id="R0206d1fddc584a5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1346efd7e604144" /><Relationship Type="http://schemas.openxmlformats.org/officeDocument/2006/relationships/image" Target="/ppt/media/image3.jpeg" Id="R6659f67dd304456e" /><Relationship Type="http://schemas.openxmlformats.org/officeDocument/2006/relationships/notesSlide" Target="/ppt/notesSlides/notesSlide3.xml" Id="R075679608514466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d37e1946ddc46db" /><Relationship Type="http://schemas.openxmlformats.org/officeDocument/2006/relationships/notesSlide" Target="/ppt/notesSlides/notesSlide4.xml" Id="R141b7cc270ad480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f7732076abc4db1" /><Relationship Type="http://schemas.openxmlformats.org/officeDocument/2006/relationships/image" Target="/ppt/media/image.png" Id="Rb5160c1fdcb94eb9" /><Relationship Type="http://schemas.openxmlformats.org/officeDocument/2006/relationships/notesSlide" Target="/ppt/notesSlides/notesSlide5.xml" Id="R87b867d312af4e3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bc010f7719e4199" /><Relationship Type="http://schemas.openxmlformats.org/officeDocument/2006/relationships/image" Target="/ppt/media/image2.png" Id="Ra5a0ff9a24a54ff5" /><Relationship Type="http://schemas.openxmlformats.org/officeDocument/2006/relationships/notesSlide" Target="/ppt/notesSlides/notesSlide6.xml" Id="R63f4d00ed4dd4b1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763f256d2284854" /><Relationship Type="http://schemas.openxmlformats.org/officeDocument/2006/relationships/chart" Target="/ppt/slides/charts/chart1.xml" Id="R8c5da4d089104b49" /><Relationship Type="http://schemas.openxmlformats.org/officeDocument/2006/relationships/notesSlide" Target="/ppt/notesSlides/notesSlide7.xml" Id="Re9d0766e2b244aa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5e51c0dac2e4e7d" /><Relationship Type="http://schemas.openxmlformats.org/officeDocument/2006/relationships/image" Target="/ppt/media/image3.png" Id="R339c3eeef229422c" /><Relationship Type="http://schemas.openxmlformats.org/officeDocument/2006/relationships/image" Target="/ppt/media/image.svg" Id="Rba58d16ea1774463" /><Relationship Type="http://schemas.openxmlformats.org/officeDocument/2006/relationships/image" Target="/ppt/media/image.jpeg" Id="Rf2ba903478c5472e" /><Relationship Type="http://schemas.openxmlformats.org/officeDocument/2006/relationships/image" Target="/ppt/media/image4.png" Id="Rd1423343c5304349" /><Relationship Type="http://schemas.openxmlformats.org/officeDocument/2006/relationships/image" Target="/ppt/media/image2.svg" Id="Rf3f9b9a81c73464b" /><Relationship Type="http://schemas.openxmlformats.org/officeDocument/2006/relationships/image" Target="/ppt/media/image2.jpeg" Id="R5ee6030043d547a3" /><Relationship Type="http://schemas.openxmlformats.org/officeDocument/2006/relationships/image" Target="/ppt/media/image5.png" Id="R6d6085715d124ce4" /><Relationship Type="http://schemas.openxmlformats.org/officeDocument/2006/relationships/image" Target="/ppt/media/image3.svg" Id="Rc1e1beab0fff47f6" /><Relationship Type="http://schemas.openxmlformats.org/officeDocument/2006/relationships/image" Target="/ppt/media/image3.jpeg" Id="Rf4624f90231d410a" /><Relationship Type="http://schemas.openxmlformats.org/officeDocument/2006/relationships/image" Target="/ppt/media/image4.svg" Id="Rd45191fdd9974420" /><Relationship Type="http://schemas.openxmlformats.org/officeDocument/2006/relationships/image" Target="/ppt/media/image5.svg" Id="Rea95ec43cf514868" /><Relationship Type="http://schemas.openxmlformats.org/officeDocument/2006/relationships/image" Target="/ppt/media/image6.png" Id="R62073c2357c249ec" /><Relationship Type="http://schemas.openxmlformats.org/officeDocument/2006/relationships/image" Target="/ppt/media/image6.svg" Id="Re455688a557d4601" /><Relationship Type="http://schemas.openxmlformats.org/officeDocument/2006/relationships/image" Target="/ppt/media/image7.png" Id="R94a875fdb3984cfc" /><Relationship Type="http://schemas.openxmlformats.org/officeDocument/2006/relationships/image" Target="/ppt/media/image7.svg" Id="Ra42465a5b0c54c9d" /><Relationship Type="http://schemas.openxmlformats.org/officeDocument/2006/relationships/image" Target="/ppt/media/image8.png" Id="R6164e2dbcabe4324" /><Relationship Type="http://schemas.openxmlformats.org/officeDocument/2006/relationships/image" Target="/ppt/media/image8.svg" Id="Recd2f08108854f17" /><Relationship Type="http://schemas.openxmlformats.org/officeDocument/2006/relationships/image" Target="/ppt/media/image9.png" Id="R8b3bef48a2604198" /><Relationship Type="http://schemas.openxmlformats.org/officeDocument/2006/relationships/image" Target="/ppt/media/image9.svg" Id="R9d3cdf1515f44cad" /><Relationship Type="http://schemas.openxmlformats.org/officeDocument/2006/relationships/image" Target="/ppt/media/image10.png" Id="R7eb5497e8b3e4e4e" /><Relationship Type="http://schemas.openxmlformats.org/officeDocument/2006/relationships/image" Target="/ppt/media/image10.svg" Id="Rf176870716c147c3" /><Relationship Type="http://schemas.openxmlformats.org/officeDocument/2006/relationships/image" Target="/ppt/media/image11.png" Id="R15eec424364645a6" /><Relationship Type="http://schemas.openxmlformats.org/officeDocument/2006/relationships/image" Target="/ppt/media/image11.svg" Id="R5bf4d8da0b0a4b90" /><Relationship Type="http://schemas.openxmlformats.org/officeDocument/2006/relationships/image" Target="/ppt/media/image12.png" Id="R2c5fd5d91ca64439" /><Relationship Type="http://schemas.openxmlformats.org/officeDocument/2006/relationships/image" Target="/ppt/media/image12.svg" Id="R866020a9d988415b" /><Relationship Type="http://schemas.openxmlformats.org/officeDocument/2006/relationships/image" Target="/ppt/media/image13.png" Id="Rf1ccff44b4c04ca3" /><Relationship Type="http://schemas.openxmlformats.org/officeDocument/2006/relationships/image" Target="/ppt/media/image13.svg" Id="R995ec702e037452f" /><Relationship Type="http://schemas.openxmlformats.org/officeDocument/2006/relationships/image" Target="/ppt/media/image14.png" Id="R2840d4cbaae54f0c" /><Relationship Type="http://schemas.openxmlformats.org/officeDocument/2006/relationships/image" Target="/ppt/media/image14.svg" Id="Rf780c7c2eef94b4c" /><Relationship Type="http://schemas.openxmlformats.org/officeDocument/2006/relationships/image" Target="/ppt/media/image15.png" Id="R1df3bd82946c4714" /><Relationship Type="http://schemas.openxmlformats.org/officeDocument/2006/relationships/image" Target="/ppt/media/image15.svg" Id="R7925896b658540b7" /><Relationship Type="http://schemas.openxmlformats.org/officeDocument/2006/relationships/image" Target="/ppt/media/image16.png" Id="R818136ebdb5543c3" /><Relationship Type="http://schemas.openxmlformats.org/officeDocument/2006/relationships/image" Target="/ppt/media/image16.svg" Id="Rf0dd5506d1774119" /><Relationship Type="http://schemas.openxmlformats.org/officeDocument/2006/relationships/image" Target="/ppt/media/image17.png" Id="Rd1c700b876b44f38" /><Relationship Type="http://schemas.openxmlformats.org/officeDocument/2006/relationships/image" Target="/ppt/media/image18.png" Id="R1594712a06464b47" /><Relationship Type="http://schemas.openxmlformats.org/officeDocument/2006/relationships/image" Target="/ppt/media/image19.png" Id="Ref31aedf889c4411" /><Relationship Type="http://schemas.openxmlformats.org/officeDocument/2006/relationships/image" Target="/ppt/media/image20.png" Id="R6b01f7fd66d64342" /><Relationship Type="http://schemas.openxmlformats.org/officeDocument/2006/relationships/image" Target="/ppt/media/image21.png" Id="R750cd183aae9405c" /><Relationship Type="http://schemas.openxmlformats.org/officeDocument/2006/relationships/image" Target="/ppt/media/image22.png" Id="R1752dfa5919942c5" /><Relationship Type="http://schemas.openxmlformats.org/officeDocument/2006/relationships/notesSlide" Target="/ppt/notesSlides/notesSlide8.xml" Id="Rfabdd9d27e7d47f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c0b5e4934f343b3" /><Relationship Type="http://schemas.openxmlformats.org/officeDocument/2006/relationships/image" Target="/ppt/media/image23.png" Id="R3e25a1fb9883496d" /><Relationship Type="http://schemas.openxmlformats.org/officeDocument/2006/relationships/notesSlide" Target="/ppt/notesSlides/notesSlide9.xml" Id="Re48c4d245453419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96adc4ac8ea4fdf" /><Relationship Type="http://schemas.openxmlformats.org/officeDocument/2006/relationships/image" Target="/ppt/media/image24.png" Id="R05ace83cc9f94580" /><Relationship Type="http://schemas.openxmlformats.org/officeDocument/2006/relationships/notesSlide" Target="/ppt/notesSlides/notesSlide10.xml" Id="Ref2b15beb79a4ba9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f99848014174cba" /><Relationship Type="http://schemas.openxmlformats.org/officeDocument/2006/relationships/image" Target="/ppt/media/image25.png" Id="R73ed4b20b8fe4d74" /><Relationship Type="http://schemas.openxmlformats.org/officeDocument/2006/relationships/notesSlide" Target="/ppt/notesSlides/notesSlide11.xml" Id="R126fce89974e405e" /></Relationships>
</file>

<file path=ppt/slides/charts/chart1.xml><?xml version="1.0" encoding="utf-8"?>
<c:chartSpace xmlns:c="http://schemas.openxmlformats.org/drawingml/2006/chart">
  <c:lang val="en-US"/>
  <c:roundedCorners val="1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Annualized value</c:v>
                </c:pt>
              </c:strCache>
            </c:strRef>
          </c:tx>
          <c:spPr>
            <a:solidFill xmlns:a="http://schemas.openxmlformats.org/drawingml/2006/main">
              <a:srgbClr val="CCFF00"/>
            </a:solidFill>
          </c:spPr>
          <c:dLbls>
            <c:numFmt formatCode="0" sourceLinked="0"/>
            <c:txPr>
              <a:bodyPr xmlns:a="http://schemas.openxmlformats.org/drawingml/2006/main" anchorCtr="1"/>
              <a:lstStyle xmlns:a="http://schemas.openxmlformats.org/drawingml/2006/main"/>
              <a:p xmlns:a="http://schemas.openxmlformats.org/drawingml/2006/main">
                <a:pPr>
                  <a:defRPr sz="1200" b="0" i="0" u="none">
                    <a:solidFill>
                      <a:srgbClr val="F3F0E8"/>
                    </a:solidFill>
                    <a:latin typeface="Arial"/>
                    <a:ea typeface="Arial"/>
                    <a:cs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Sheet1!$A$2:$A$7</c:f>
              <c:strCache>
                <c:ptCount val="6"/>
                <c:pt idx="0">
                  <c:v>Pilot</c:v>
                </c:pt>
                <c:pt idx="1">
                  <c:v>Fleet 1</c:v>
                </c:pt>
                <c:pt idx="2">
                  <c:v>Fleet 2</c:v>
                </c:pt>
                <c:pt idx="3">
                  <c:v>Fleet 3</c:v>
                </c:pt>
                <c:pt idx="4">
                  <c:v>Fleet 4</c:v>
                </c:pt>
                <c:pt idx="5">
                  <c:v>Fleet 5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25</c:v>
                </c:pt>
                <c:pt idx="1">
                  <c:v>100</c:v>
                </c:pt>
                <c:pt idx="2">
                  <c:v>200</c:v>
                </c:pt>
                <c:pt idx="3">
                  <c:v>300</c:v>
                </c:pt>
                <c:pt idx="4">
                  <c:v>400</c:v>
                </c:pt>
                <c:pt idx="5">
                  <c:v>500</c:v>
                </c:pt>
              </c:numCache>
            </c:numRef>
          </c:val>
        </c:ser>
        <c:dLbls>
          <c:numFmt formatCode="0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 b="1" i="0" u="none">
                  <a:solidFill>
                    <a:srgbClr val="CCFF00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xmlns:a="http://schemas.openxmlformats.org/drawingml/2006/main" w="9525">
            <a:solidFill>
              <a:srgbClr val="25302E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 b="0" i="0" u="none">
                <a:solidFill>
                  <a:srgbClr val="F3F0E8"/>
                </a:solidFill>
                <a:latin typeface="IBM Plex Sans"/>
                <a:ea typeface="IBM Plex Sans"/>
                <a:cs typeface="IBM Plex Sans"/>
              </a:defRPr>
            </a:pPr>
          </a:p>
        </c:txPr>
        <c:crossAx val="2094734552"/>
        <c:crosses val="autoZero"/>
      </c:catAx>
      <c:valAx>
        <c:axId val="2094734552"/>
        <c:scaling>
          <c:orientation val="minMax"/>
          <c:max val="5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25302E"/>
              </a:solidFill>
              <a:prstDash val="solid"/>
            </a:ln>
          </c:spPr>
        </c:majorGridlines>
        <c:numFmt formatCode="0" sourceLinked="0"/>
        <c:majorTickMark val="out"/>
        <c:minorTickMark val="none"/>
        <c:tickLblPos val="nextTo"/>
        <c:spPr>
          <a:ln xmlns:a="http://schemas.openxmlformats.org/drawingml/2006/main" w="9525">
            <a:solidFill>
              <a:srgbClr val="25302E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 b="0" i="0" u="none">
                <a:solidFill>
                  <a:srgbClr val="F3F0E8"/>
                </a:solidFill>
                <a:latin typeface="JetBrains Mono"/>
                <a:ea typeface="JetBrains Mono"/>
                <a:cs typeface="JetBrains Mono"/>
              </a:defRPr>
            </a:pPr>
          </a:p>
        </c:txPr>
        <c:crossAx val="2094734554"/>
        <c:crosses val="autoZero"/>
        <c:crossBetween val="between"/>
        <c:majorUnit val="100"/>
      </c:valAx>
      <c:spPr>
        <a:noFill xmlns:a="http://schemas.openxmlformats.org/drawingml/2006/main"/>
        <a:ln xmlns:a="http://schemas.openxmlformats.org/drawingml/2006/main">
          <a:noFill/>
        </a:ln>
      </c:spPr>
    </c:plotArea>
    <c:plotVisOnly val="1"/>
  </c:chart>
  <c:spPr>
    <a:noFill xmlns:a="http://schemas.openxmlformats.org/drawingml/2006/main"/>
    <a:ln xmlns:a="http://schemas.openxmlformats.org/drawingml/2006/main">
      <a:noFill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FF07765C-15E4-4D60-9E5D-EB8630067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9184"/>
            <a:ext cx="8229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0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GAUSS</a:t>
            </a:r>
            <a:endParaRPr sz="10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3D352A7-A7B9-4FA7-903A-3469248BC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0512" y="338328"/>
            <a:ext cx="36576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8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INVESTOR BRIEF</a:t>
            </a:r>
            <a:endParaRPr sz="8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0D23DF6C-CE16-41ED-B4C0-A468E512F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088" y="338328"/>
            <a:ext cx="43891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8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01</a:t>
            </a:r>
            <a:endParaRPr sz="8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3C4A880E-5C30-40B1-B46D-F57B4235D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1735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52A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1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6bc098402c64622"/>
          <a:srcRect xmlns:a="http://schemas.openxmlformats.org/drawingml/2006/main" l="0" t="4999" r="0" b="499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7" name="Shape 4">
            <a:extLst xmlns:a="http://schemas.openxmlformats.org/drawingml/2006/main">
              <a:ext uri="{FF2B5EF4-FFF2-40B4-BE49-F238E27FC236}">
                <a16:creationId xmlns:a16="http://schemas.microsoft.com/office/drawing/2014/main" id="{97045587-A5B6-43C5-8D12-B883584DA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505">
              <a:alpha val="36000"/>
            </a:srgbClr>
          </a:solidFill>
          <a:ln xmlns:a="http://schemas.openxmlformats.org/drawingml/2006/main" w="12700">
            <a:solidFill>
              <a:srgbClr val="05050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>
                <a:solidFill>
                  <a:srgbClr val="F3F0E8"/>
                </a:solidFill>
              </a:defRPr>
            </a:pPr>
            <a:r>
              <a:rPr>
                <a:solidFill>
                  <a:srgbClr val="F3F0E8"/>
                </a:solidFill>
              </a:rPr>
              <a:t/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1A266DCB-3EDB-4E96-8815-D331D6824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69264"/>
            <a:ext cx="12801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CCFF0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17EE1247-23F5-4742-BA2A-85DD417D6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61872"/>
            <a:ext cx="347472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1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PROJECT GAUSS</a:t>
            </a:r>
            <a:endParaRPr sz="1100"/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38E7368C-7F6A-44CC-9970-7F662BDBE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74520"/>
            <a:ext cx="6766560" cy="1143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89286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42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Mission data,</a:t>
            </a:r>
            <a:endParaRPr sz="4200"/>
          </a:p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42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made decision-ready.</a:t>
            </a:r>
            <a:endParaRPr sz="4200"/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FFBEA302-EB5E-48AC-A78C-DDA1EC238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529584"/>
            <a:ext cx="594360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3771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6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An evidence-first assurance layer for AI-augmented space operations.</a:t>
            </a:r>
            <a:endParaRPr sz="1600"/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632C83A2-EC8E-4C86-A026-141788D1C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897880"/>
            <a:ext cx="292608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8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INVESTOR BRIEF  /  AUGUST 2026</a:t>
            </a:r>
            <a:endParaRPr sz="800"/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1F8F84E3-D21A-4E48-BCE2-83FC75C4A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5897880"/>
            <a:ext cx="429768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800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Ground-first. Evidence-led. Command-inert by design.</a:t>
            </a:r>
            <a:endParaRPr sz="8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10C668B8-B67B-4EB1-B5A1-2FEB97F98052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064240" y="6473952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E7B14A"/>
                </a:solidFill>
                <a:latin typeface="JetBrains Mono"/>
                <a:ea typeface="JetBrains Mono"/>
                <a:cs typeface="JetBrains Mono"/>
              </a:defRPr>
            </a:lvl1pPr>
          </a:lstStyle>
          <a:p xmlns:a="http://schemas.openxmlformats.org/drawingml/2006/main">
            <a:pPr algn="l">
              <a:buNone/>
              <a:defRPr>
                <a:solidFill>
                  <a:srgbClr val="F3F0E8"/>
                </a:solidFill>
              </a:defRPr>
            </a:pPr>
            <a:fld id="{AD75FED6-38D0-DE9C-92C0-6E7FA635581C}" type="slidenum">
              <a:rPr b="0">
                <a:solidFill>
                  <a:srgbClr val="F3F0E8"/>
                </a:solidFill>
              </a:rPr>
              <a:t>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00913562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C51DBE0-3FFC-49E2-AE13-AC16F9C14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9184"/>
            <a:ext cx="8229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0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GAUSS</a:t>
            </a:r>
            <a:endParaRPr sz="10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AD3A685D-E1C1-45E5-BD85-FB7766711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0512" y="338328"/>
            <a:ext cx="36576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8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PROBLEM</a:t>
            </a:r>
            <a:endParaRPr sz="8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C68C7E57-4926-49DF-859D-2C9697CAC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088" y="338328"/>
            <a:ext cx="43891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8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02</a:t>
            </a:r>
            <a:endParaRPr sz="8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608DE4F5-444A-4F23-9A15-4AF617455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1735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52A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105FC363-ADFC-49D7-91B7-62F0AB936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2688"/>
            <a:ext cx="1069848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28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Fragmented evidence is expensive.</a:t>
            </a:r>
            <a:endParaRPr sz="28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F5FD77A8-4ED3-43CA-85AC-22925D886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72184"/>
            <a:ext cx="10287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5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The data exists. The decision context does not.</a:t>
            </a:r>
            <a:endParaRPr sz="1500"/>
          </a:p>
        </p:txBody>
      </p:sp>
      <p:pic>
        <p:nvPicPr>
          <p:cNvPr id="33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3f497fba5da4ea5"/>
          <a:srcRect xmlns:a="http://schemas.openxmlformats.org/drawingml/2006/main" l="9091" t="0" r="9091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784848" y="1078992"/>
            <a:ext cx="4681728" cy="3218688"/>
          </a:xfrm>
          <a:prstGeom xmlns:a="http://schemas.openxmlformats.org/drawingml/2006/main" prst="rect">
            <a:avLst/>
          </a:prstGeom>
        </p:spPr>
      </p:pic>
      <p:sp>
        <p:nvSpPr>
          <p:cNvPr id="9" name="Shape 6">
            <a:extLst xmlns:a="http://schemas.openxmlformats.org/drawingml/2006/main">
              <a:ext uri="{FF2B5EF4-FFF2-40B4-BE49-F238E27FC236}">
                <a16:creationId xmlns:a16="http://schemas.microsoft.com/office/drawing/2014/main" id="{FD6CCEDC-B014-4439-A4E4-17D2D6B54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4848" y="1078992"/>
            <a:ext cx="4681728" cy="32186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505">
              <a:alpha val="88000"/>
            </a:srgbClr>
          </a:solidFill>
          <a:ln xmlns:a="http://schemas.openxmlformats.org/drawingml/2006/main" w="12700">
            <a:solidFill>
              <a:srgbClr val="252A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" name="Shape 7">
            <a:extLst xmlns:a="http://schemas.openxmlformats.org/drawingml/2006/main">
              <a:ext uri="{FF2B5EF4-FFF2-40B4-BE49-F238E27FC236}">
                <a16:creationId xmlns:a16="http://schemas.microsoft.com/office/drawing/2014/main" id="{5C074062-9C69-42F0-94B1-671E5970A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4848" y="3246120"/>
            <a:ext cx="4681728" cy="10515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505">
              <a:alpha val="80000"/>
            </a:srgbClr>
          </a:solidFill>
          <a:ln xmlns:a="http://schemas.openxmlformats.org/drawingml/2006/main" w="12700">
            <a:solidFill>
              <a:srgbClr val="05050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5267D19B-5BCE-4A41-80C2-DB73238FF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0" y="1298448"/>
            <a:ext cx="21945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8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SPACE WEATHER SIGNAL</a:t>
            </a:r>
            <a:endParaRPr sz="800"/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101E5540-8352-4B9C-B29D-28BF88678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0" y="3611880"/>
            <a:ext cx="39776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88235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7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CME context is only useful when the operator can trace it to the decision.</a:t>
            </a:r>
            <a:endParaRPr sz="1700"/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CB445065-26DB-43D5-9EE9-38035DC33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3236976"/>
            <a:ext cx="2286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3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•</a:t>
            </a:r>
            <a:endParaRPr sz="1300"/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FED37815-4E66-43B4-96D3-8D8E7E44C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9848" y="3236976"/>
            <a:ext cx="141732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85714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4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Fragmented</a:t>
            </a:r>
            <a:endParaRPr sz="1400"/>
          </a:p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666B0477-5416-410F-B80D-D7D9798F5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6040" y="3236976"/>
            <a:ext cx="352044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1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Telemetry, space-weather, SSA, memory, and ground-system evidence live in separate lanes.</a:t>
            </a:r>
            <a:endParaRPr sz="1100"/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6C5A7A67-755F-4782-AD6A-9404877D2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3968496"/>
            <a:ext cx="2286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3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•</a:t>
            </a:r>
            <a:endParaRPr sz="1300"/>
          </a:p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44D553D8-E059-47C0-A0A7-4622A407E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9848" y="3968496"/>
            <a:ext cx="141732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85714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4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Opaque</a:t>
            </a:r>
            <a:endParaRPr sz="1400"/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F59E18BD-3186-45E8-B26F-2FE6C9736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6040" y="3968496"/>
            <a:ext cx="352044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1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AI can flag an anomaly, but operators still need provenance, confidence, and a safe fallback.</a:t>
            </a:r>
            <a:endParaRPr sz="1100"/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1D583D51-22D2-44E8-9774-D61AB1B1E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4700016"/>
            <a:ext cx="2286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3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•</a:t>
            </a:r>
            <a:endParaRPr sz="1300"/>
          </a:p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316263DB-3E36-4202-9E4B-F447C936E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9848" y="4700016"/>
            <a:ext cx="141732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85714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4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Costly</a:t>
            </a:r>
            <a:endParaRPr sz="1400"/>
          </a:p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03E0D0F4-9C9E-42A9-9286-2BB6696B5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6040" y="4700016"/>
            <a:ext cx="352044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1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Every delayed or disputed decision compounds mission risk, engineering time, and procurement friction.</a:t>
            </a:r>
            <a:endParaRPr sz="11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D0F21B8E-19CB-49F9-8BD9-E87A679189DC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064240" y="6473952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E7B14A"/>
                </a:solidFill>
                <a:latin typeface="JetBrains Mono"/>
                <a:ea typeface="JetBrains Mono"/>
                <a:cs typeface="JetBrains Mono"/>
              </a:defRPr>
            </a:lvl1pPr>
          </a:lstStyle>
          <a:p xmlns:a="http://schemas.openxmlformats.org/drawingml/2006/main">
            <a:pPr algn="l">
              <a:buNone/>
              <a:defRPr>
                <a:solidFill>
                  <a:srgbClr val="F3F0E8"/>
                </a:solidFill>
              </a:defRPr>
            </a:pPr>
            <a:fld id="{E2598689-54C9-18A7-3A19-ED76AA08988F}" type="slidenum">
              <a:rPr b="0">
                <a:solidFill>
                  <a:srgbClr val="F3F0E8"/>
                </a:solidFill>
              </a:rPr>
              <a:t>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08324519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BEEDA6D-EDD1-443F-B3FD-54BE8A840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9184"/>
            <a:ext cx="8229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0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GAUSS</a:t>
            </a:r>
            <a:endParaRPr sz="10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F67F500D-A4F1-4730-A117-5DD8A5556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0512" y="338328"/>
            <a:ext cx="36576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8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WHY NOW</a:t>
            </a:r>
            <a:endParaRPr sz="8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F8A8BF6D-7EFB-433A-9988-B21D282BC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088" y="338328"/>
            <a:ext cx="43891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8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03</a:t>
            </a:r>
            <a:endParaRPr sz="8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B6D9D65C-A68A-484E-A927-95CF2F961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1735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52A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920C23B4-407B-4D62-8C0B-57A96AEE4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2688"/>
            <a:ext cx="1069848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9048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3150" b="1">
                <a:solidFill>
                  <a:srgbClr val="F3F0E8"/>
                </a:solidFill>
              </a:defRPr>
            </a:pPr>
            <a:r>
              <a:rPr sz="315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Space is scaling faster than trust infrastructure.</a:t>
            </a:r>
            <a:endParaRPr sz="28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45F4B1A6-F84E-458F-9C8F-296F5D4EA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72184"/>
            <a:ext cx="10287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1800">
                <a:solidFill>
                  <a:srgbClr val="F3F0E8"/>
                </a:solidFill>
              </a:defRPr>
            </a:pPr>
            <a:r>
              <a:rPr sz="18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Growth, congestion, and solar activity are compressing the decision window.</a:t>
            </a:r>
            <a:endParaRPr sz="1500"/>
          </a:p>
        </p:txBody>
      </p:sp>
      <p:pic>
        <p:nvPicPr>
          <p:cNvPr id="4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659f67dd304456e"/>
          <a:srcRect xmlns:a="http://schemas.openxmlformats.org/drawingml/2006/main" l="2676" t="0" r="2676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2157984"/>
            <a:ext cx="5138928" cy="3054096"/>
          </a:xfrm>
          <a:prstGeom xmlns:a="http://schemas.openxmlformats.org/drawingml/2006/main" prst="rect">
            <a:avLst/>
          </a:prstGeom>
        </p:spPr>
      </p:pic>
      <p:sp>
        <p:nvSpPr>
          <p:cNvPr id="9" name="Shape 6">
            <a:extLst xmlns:a="http://schemas.openxmlformats.org/drawingml/2006/main">
              <a:ext uri="{FF2B5EF4-FFF2-40B4-BE49-F238E27FC236}">
                <a16:creationId xmlns:a16="http://schemas.microsoft.com/office/drawing/2014/main" id="{AB73EEBB-9FBC-49F3-ACF7-534564FEB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57984"/>
            <a:ext cx="5138928" cy="30540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505">
              <a:alpha val="82000"/>
            </a:srgbClr>
          </a:solidFill>
          <a:ln xmlns:a="http://schemas.openxmlformats.org/drawingml/2006/main" w="12700">
            <a:solidFill>
              <a:srgbClr val="252A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" name="Shape 7">
            <a:extLst xmlns:a="http://schemas.openxmlformats.org/drawingml/2006/main">
              <a:ext uri="{FF2B5EF4-FFF2-40B4-BE49-F238E27FC236}">
                <a16:creationId xmlns:a16="http://schemas.microsoft.com/office/drawing/2014/main" id="{05CB8A4A-75A8-46D1-90C4-32A69DAE7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87952"/>
            <a:ext cx="5138928" cy="10241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505">
              <a:alpha val="82000"/>
            </a:srgbClr>
          </a:solidFill>
          <a:ln xmlns:a="http://schemas.openxmlformats.org/drawingml/2006/main" w="12700">
            <a:solidFill>
              <a:srgbClr val="05050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30EE6EDA-EB50-43B4-9288-7B039DD50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359152"/>
            <a:ext cx="128016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74672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1200" b="1">
                <a:solidFill>
                  <a:srgbClr val="F3F0E8"/>
                </a:solidFill>
              </a:defRPr>
            </a:pPr>
            <a:r>
              <a:rPr sz="12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THE OPERATING SHIFT</a:t>
            </a:r>
            <a:endParaRPr sz="800"/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2273BAEA-6439-41DD-9B0F-1639563ED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4434840"/>
            <a:ext cx="425196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1500">
                <a:solidFill>
                  <a:srgbClr val="F3F0E8"/>
                </a:solidFill>
              </a:defRPr>
            </a:pPr>
            <a:r>
              <a:rPr sz="15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More assets. More streams. More decisions that must be explainable.</a:t>
            </a:r>
            <a:endParaRPr sz="1600"/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C2C791F8-B197-40DF-BB06-EBE0FCDA9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2267712"/>
            <a:ext cx="1572768" cy="1078992"/>
          </a:xfrm>
          <a:prstGeom xmlns:a="http://schemas.openxmlformats.org/drawingml/2006/main" prst="roundRect">
            <a:avLst>
              <a:gd name="adj" fmla="val 13559"/>
            </a:avLst>
          </a:prstGeom>
          <a:solidFill xmlns:a="http://schemas.openxmlformats.org/drawingml/2006/main">
            <a:srgbClr val="0E1111"/>
          </a:solidFill>
          <a:ln xmlns:a="http://schemas.openxmlformats.org/drawingml/2006/main" w="12700">
            <a:solidFill>
              <a:srgbClr val="252A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90578618-F993-47B6-BD01-E52F317FB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1072" y="2423160"/>
            <a:ext cx="1078992" cy="137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85714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1050" b="1">
                <a:solidFill>
                  <a:srgbClr val="F3F0E8"/>
                </a:solidFill>
              </a:defRPr>
            </a:pPr>
            <a:r>
              <a:rPr sz="105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SPACE ECONOMY</a:t>
            </a:r>
            <a:endParaRPr sz="800"/>
          </a:p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C599105F-470A-4927-9F3D-B00A498DC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2414016"/>
            <a:ext cx="2286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1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◈</a:t>
            </a:r>
            <a:endParaRPr sz="1100"/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3A761B45-111C-4A24-8473-D05CFB1B6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1072" y="2670048"/>
            <a:ext cx="123444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85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2400" b="1">
                <a:solidFill>
                  <a:srgbClr val="CCFF00"/>
                </a:solidFill>
              </a:defRPr>
            </a:pPr>
            <a:r>
              <a:rPr sz="2400" b="1">
                <a:solidFill>
                  <a:srgbClr val="CCFF00"/>
                </a:solidFill>
                <a:latin typeface="Inter"/>
                <a:ea typeface="Inter"/>
                <a:cs typeface="Inter"/>
              </a:rPr>
              <a:t>$429B</a:t>
            </a:r>
            <a:endParaRPr sz="2300"/>
          </a:p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B87C458E-54DC-4EF3-B3BD-BC41527E2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1072" y="3072384"/>
            <a:ext cx="12344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69732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1050">
                <a:solidFill>
                  <a:srgbClr val="F3F0E8"/>
                </a:solidFill>
              </a:defRPr>
            </a:pPr>
            <a:r>
              <a:rPr sz="105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global space economy / 2025</a:t>
            </a:r>
            <a:endParaRPr sz="800"/>
          </a:p>
        </p:txBody>
      </p:sp>
      <p:sp>
        <p:nvSpPr>
          <p:cNvPr id="18" name="Shape 15">
            <a:extLst xmlns:a="http://schemas.openxmlformats.org/drawingml/2006/main">
              <a:ext uri="{FF2B5EF4-FFF2-40B4-BE49-F238E27FC236}">
                <a16:creationId xmlns:a16="http://schemas.microsoft.com/office/drawing/2014/main" id="{1204973A-5761-459D-9828-30C87A697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2128" y="2267712"/>
            <a:ext cx="1572768" cy="1078992"/>
          </a:xfrm>
          <a:prstGeom xmlns:a="http://schemas.openxmlformats.org/drawingml/2006/main" prst="roundRect">
            <a:avLst>
              <a:gd name="adj" fmla="val 13559"/>
            </a:avLst>
          </a:prstGeom>
          <a:solidFill xmlns:a="http://schemas.openxmlformats.org/drawingml/2006/main">
            <a:srgbClr val="0E1111"/>
          </a:solidFill>
          <a:ln xmlns:a="http://schemas.openxmlformats.org/drawingml/2006/main" w="12700">
            <a:solidFill>
              <a:srgbClr val="252A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EB58D081-FA1F-46BD-B818-515704982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0" y="2423160"/>
            <a:ext cx="1078992" cy="137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85714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1050" b="1">
                <a:solidFill>
                  <a:srgbClr val="F3F0E8"/>
                </a:solidFill>
              </a:defRPr>
            </a:pPr>
            <a:r>
              <a:rPr sz="105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ORBITAL SCALE</a:t>
            </a:r>
            <a:endParaRPr sz="800"/>
          </a:p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32E15305-60F7-4F3A-9C55-0AF6A305E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2288" y="2414016"/>
            <a:ext cx="2286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1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&gt;</a:t>
            </a:r>
            <a:endParaRPr sz="1100"/>
          </a:p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4BEF28B3-9242-4832-92CA-E286247B8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0" y="2670048"/>
            <a:ext cx="123444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85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2400" b="1">
                <a:solidFill>
                  <a:srgbClr val="CCFF00"/>
                </a:solidFill>
              </a:defRPr>
            </a:pPr>
            <a:r>
              <a:rPr sz="2400" b="1">
                <a:solidFill>
                  <a:srgbClr val="CCFF00"/>
                </a:solidFill>
                <a:latin typeface="Inter"/>
                <a:ea typeface="Inter"/>
                <a:cs typeface="Inter"/>
              </a:rPr>
              <a:t>14,266</a:t>
            </a:r>
            <a:endParaRPr sz="2300"/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039A5FA8-FAF3-4E34-946C-ACC49939B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0" y="3072384"/>
            <a:ext cx="12344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65211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1050">
                <a:solidFill>
                  <a:srgbClr val="F3F0E8"/>
                </a:solidFill>
              </a:defRPr>
            </a:pPr>
            <a:r>
              <a:rPr sz="105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operational satellites / end-2025</a:t>
            </a:r>
            <a:endParaRPr sz="800"/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77C987F7-DC71-4BD8-B7FA-77B8412AA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7776" y="2267712"/>
            <a:ext cx="1572768" cy="1078992"/>
          </a:xfrm>
          <a:prstGeom xmlns:a="http://schemas.openxmlformats.org/drawingml/2006/main" prst="roundRect">
            <a:avLst>
              <a:gd name="adj" fmla="val 13559"/>
            </a:avLst>
          </a:prstGeom>
          <a:solidFill xmlns:a="http://schemas.openxmlformats.org/drawingml/2006/main">
            <a:srgbClr val="0E1111"/>
          </a:solidFill>
          <a:ln xmlns:a="http://schemas.openxmlformats.org/drawingml/2006/main" w="12700">
            <a:solidFill>
              <a:srgbClr val="252A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AFF5954F-5D7D-4400-A3F0-7756EC2D4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2368" y="2423160"/>
            <a:ext cx="1078992" cy="137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85714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1050" b="1">
                <a:solidFill>
                  <a:srgbClr val="F3F0E8"/>
                </a:solidFill>
              </a:defRPr>
            </a:pPr>
            <a:r>
              <a:rPr sz="105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SPACE WEATHER</a:t>
            </a:r>
            <a:endParaRPr sz="800"/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FCD38808-DD2A-4F95-8B0F-617A960BE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7936" y="2414016"/>
            <a:ext cx="2286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1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⊘</a:t>
            </a:r>
            <a:endParaRPr sz="1100"/>
          </a:p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2A607FCF-B51E-4512-9148-16FDB1A62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2368" y="2670048"/>
            <a:ext cx="123444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77745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2100" b="1">
                <a:solidFill>
                  <a:srgbClr val="CCFF00"/>
                </a:solidFill>
              </a:defRPr>
            </a:pPr>
            <a:r>
              <a:rPr sz="2100" b="1">
                <a:solidFill>
                  <a:srgbClr val="CCFF00"/>
                </a:solidFill>
                <a:latin typeface="Inter"/>
                <a:ea typeface="Inter"/>
                <a:cs typeface="Inter"/>
              </a:rPr>
              <a:t>SOLAR MAX</a:t>
            </a:r>
            <a:endParaRPr sz="2300"/>
          </a:p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57E23118-FD75-422A-AB55-BB792C7AB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2368" y="3072384"/>
            <a:ext cx="12344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48571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1050">
                <a:solidFill>
                  <a:srgbClr val="F3F0E8"/>
                </a:solidFill>
              </a:defRPr>
            </a:pPr>
            <a:r>
              <a:rPr sz="105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CME + flare activity remains mission-relevant</a:t>
            </a:r>
            <a:endParaRPr sz="800"/>
          </a:p>
        </p:txBody>
      </p:sp>
      <p:sp>
        <p:nvSpPr>
          <p:cNvPr id="28" name="Shape 25">
            <a:extLst xmlns:a="http://schemas.openxmlformats.org/drawingml/2006/main">
              <a:ext uri="{FF2B5EF4-FFF2-40B4-BE49-F238E27FC236}">
                <a16:creationId xmlns:a16="http://schemas.microsoft.com/office/drawing/2014/main" id="{D0471EC2-CF6C-43FE-A77A-A056964CD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3913632"/>
            <a:ext cx="536752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52A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8129F118-57C9-4589-8DED-3236276CF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4224528"/>
            <a:ext cx="42062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51566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1650" b="1">
                <a:solidFill>
                  <a:srgbClr val="F3F0E8"/>
                </a:solidFill>
              </a:defRPr>
            </a:pPr>
            <a:r>
              <a:rPr sz="165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Why now: the operating surface is getting larger, denser, and more consequential.</a:t>
            </a:r>
            <a:endParaRPr sz="1700"/>
          </a:p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BAFBE8F6-0E05-495C-BF0A-A57047D40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4645152"/>
            <a:ext cx="48920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1350">
                <a:solidFill>
                  <a:srgbClr val="F3F0E8"/>
                </a:solidFill>
              </a:defRPr>
            </a:pPr>
            <a:r>
              <a:rPr sz="135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A neutral evidence layer turns growing data volume into traceable decisions across the existing ground segment.</a:t>
            </a:r>
            <a:endParaRPr sz="1200"/>
          </a:p>
        </p:txBody>
      </p:sp>
      <p:sp>
        <p:nvSpPr>
          <p:cNvPr id="32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9F34083B-8045-4212-BE2A-BC7F88B92BBA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064240" y="6473952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E7B14A"/>
                </a:solidFill>
                <a:latin typeface="JetBrains Mono"/>
                <a:ea typeface="JetBrains Mono"/>
                <a:cs typeface="JetBrains Mono"/>
              </a:defRPr>
            </a:lvl1pPr>
          </a:lstStyle>
          <a:p xmlns:a="http://schemas.openxmlformats.org/drawingml/2006/main">
            <a:pPr algn="l">
              <a:buNone/>
              <a:defRPr>
                <a:solidFill>
                  <a:srgbClr val="F3F0E8"/>
                </a:solidFill>
              </a:defRPr>
            </a:pPr>
            <a:fld id="{202359C0-8A7A-196E-DD58-8E6569619F09}" type="slidenum">
              <a:rPr b="0">
                <a:solidFill>
                  <a:srgbClr val="F3F0E8"/>
                </a:solidFill>
              </a:rPr>
              <a:t>3</a:t>
            </a:fld>
            <a:endParaRPr/>
          </a:p>
        </p:txBody>
      </p:sp>
      <p:sp>
        <p:nvSpPr>
          <p:cNvPr id="34" name="why-now-source-rail">
            <a:extLst xmlns:a="http://schemas.openxmlformats.org/drawingml/2006/main">
              <a:ext uri="{FF2B5EF4-FFF2-40B4-BE49-F238E27FC236}">
                <a16:creationId xmlns:a16="http://schemas.microsoft.com/office/drawing/2014/main" id="{719D0056-D485-4BE2-BAE4-89BE3FD16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541020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0">
                <a:solidFill>
                  <a:srgbClr val="F3F0E8"/>
                </a:solidFill>
              </a:defRPr>
            </a:pPr>
            <a:r>
              <a:rPr sz="900" b="0">
                <a:solidFill>
                  <a:srgbClr val="F3F0E8"/>
                </a:solidFill>
              </a:rPr>
              <a:t>Sources: SIA / BryceTech 2026  •  WEF / McKinsey 2024  •  ESA 2025  •  NOAA / NASA</a:t>
            </a:r>
          </a:p>
        </p:txBody>
      </p:sp>
    </p:spTree>
    <p:extLst>
      <p:ext uri="{BB962C8B-B14F-4D97-AF65-F5344CB8AC3E}">
        <p14:creationId xmlns:p14="http://schemas.microsoft.com/office/powerpoint/2010/main" val="157833924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DAB504AC-A90E-4B45-861E-07C44C880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9184"/>
            <a:ext cx="8229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0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GAUSS</a:t>
            </a:r>
            <a:endParaRPr sz="10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41225809-9F24-4021-9E05-3F27E53CD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0512" y="338328"/>
            <a:ext cx="36576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8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PRODUCT</a:t>
            </a:r>
            <a:endParaRPr sz="8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84FEB799-D605-4460-95EE-3077B285D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088" y="338328"/>
            <a:ext cx="43891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8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04</a:t>
            </a:r>
            <a:endParaRPr sz="8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1AF36321-D16F-4362-8DFF-051D48124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1735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52A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1B7FD0C9-9343-4815-9481-15E9B467B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2688"/>
            <a:ext cx="1069848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28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Gauss makes AI decisions ready for operations.</a:t>
            </a:r>
            <a:endParaRPr sz="28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D5F8D09A-35C5-4254-A6EB-FCC8250D2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72184"/>
            <a:ext cx="10287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5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A neutral assurance layer that helps teams trust, explain, and safely act on mission data.</a:t>
            </a:r>
            <a:endParaRPr sz="15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E7E18CD2-A909-4902-B782-3C2E4CB0C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286000"/>
            <a:ext cx="22860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8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WHAT TEAMS ALREADY HAVE</a:t>
            </a:r>
            <a:endParaRPr sz="8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A0D9CBC6-6D87-4668-9DD2-ACDB54C60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286000"/>
            <a:ext cx="201168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8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GAUSS ASSURANCE</a:t>
            </a:r>
            <a:endParaRPr sz="80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5C8985ED-4C38-4865-9E20-F29DD1D39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8048" y="2286000"/>
            <a:ext cx="201168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8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WHAT OPERATORS GET</a:t>
            </a:r>
            <a:endParaRPr sz="800"/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A2E613B1-55F6-471C-9823-556F0E46A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33472"/>
            <a:ext cx="2578608" cy="1810512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0D1010"/>
          </a:solidFill>
          <a:ln xmlns:a="http://schemas.openxmlformats.org/drawingml/2006/main" w="12700">
            <a:solidFill>
              <a:srgbClr val="252A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95383C47-2AB5-4D2F-AE6F-E6D69B141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87952" y="2359152"/>
            <a:ext cx="3730752" cy="2359152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132000"/>
          </a:solidFill>
          <a:ln xmlns:a="http://schemas.openxmlformats.org/drawingml/2006/main" w="12700">
            <a:solidFill>
              <a:srgbClr val="CCFF0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01C9DA08-8DA9-4E89-BB24-700C28175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6528" y="2633472"/>
            <a:ext cx="2715768" cy="1810512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0D1010"/>
          </a:solidFill>
          <a:ln xmlns:a="http://schemas.openxmlformats.org/drawingml/2006/main" w="12700">
            <a:solidFill>
              <a:srgbClr val="252A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B2F6CE56-0BCA-4C58-8E0A-91FB66B7D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4408" y="3547872"/>
            <a:ext cx="92354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7B14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BE121EE0-86BC-4780-944A-5B1AC9760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1880" y="3438144"/>
            <a:ext cx="2286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3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•</a:t>
            </a:r>
            <a:endParaRPr sz="1300"/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F4962E76-042E-4C55-ABD6-AECC8C052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18704" y="3547872"/>
            <a:ext cx="87782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CCFF0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92EFD8A0-8C08-40E3-A67E-B129D0955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438144"/>
            <a:ext cx="2286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3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•</a:t>
            </a:r>
            <a:endParaRPr sz="130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C7BD71CF-08CC-4130-8D9F-E0ED8FD12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3072384"/>
            <a:ext cx="1965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825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6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Mission data</a:t>
            </a:r>
            <a:endParaRPr sz="1600"/>
          </a:p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6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Weather context</a:t>
            </a:r>
            <a:endParaRPr sz="1600"/>
          </a:p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6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Operator history</a:t>
            </a:r>
            <a:endParaRPr sz="1600"/>
          </a:p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6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Existing systems</a:t>
            </a:r>
            <a:endParaRPr sz="1600"/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E5504FAA-F30D-4FCE-A449-8EEDACC92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6864" y="2779776"/>
            <a:ext cx="1115568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1304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23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Validate</a:t>
            </a:r>
            <a:endParaRPr sz="2300"/>
          </a:p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23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Explain</a:t>
            </a:r>
            <a:endParaRPr sz="2300"/>
          </a:p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23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Gate</a:t>
            </a:r>
            <a:endParaRPr sz="2300"/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1D75F757-D416-4827-A5FD-AA7311C56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6208" y="2944368"/>
            <a:ext cx="1353312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2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Confidence signals</a:t>
            </a:r>
            <a:endParaRPr sz="1200"/>
          </a:p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2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Decision context</a:t>
            </a:r>
            <a:endParaRPr sz="1200"/>
          </a:p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2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Safe fallback</a:t>
            </a:r>
            <a:endParaRPr sz="1200"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6E53F0FC-B4F8-4BD8-8D3B-058400CA6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5712" y="3072384"/>
            <a:ext cx="201168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84375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6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Decision-ready</a:t>
            </a:r>
            <a:endParaRPr sz="1600"/>
          </a:p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6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evidence</a:t>
            </a:r>
            <a:endParaRPr sz="1600"/>
          </a:p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6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Audit trail</a:t>
            </a:r>
            <a:endParaRPr sz="1600"/>
          </a:p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6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No command authority</a:t>
            </a:r>
            <a:endParaRPr sz="160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9DAC273F-6344-434A-870D-0B608B43B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2976"/>
            <a:ext cx="813816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6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Start with the ground segment. Earn the right to move closer to flight.</a:t>
            </a:r>
            <a:endParaRPr sz="16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05299232-2C3E-4EED-A3E9-37F02AF07370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064240" y="6473952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E7B14A"/>
                </a:solidFill>
                <a:latin typeface="JetBrains Mono"/>
                <a:ea typeface="JetBrains Mono"/>
                <a:cs typeface="JetBrains Mono"/>
              </a:defRPr>
            </a:lvl1pPr>
          </a:lstStyle>
          <a:p xmlns:a="http://schemas.openxmlformats.org/drawingml/2006/main">
            <a:pPr algn="l">
              <a:buNone/>
              <a:defRPr>
                <a:solidFill>
                  <a:srgbClr val="F3F0E8"/>
                </a:solidFill>
              </a:defRPr>
            </a:pPr>
            <a:fld id="{EFD6AB9A-5F9E-5F59-51AB-3C8734130965}" type="slidenum">
              <a:rPr b="0">
                <a:solidFill>
                  <a:srgbClr val="F3F0E8"/>
                </a:solidFill>
              </a:rPr>
              <a:t>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1388197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8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5160c1fdcb94eb9">
            <a:alphaModFix amt="96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Shape 0">
            <a:extLst xmlns:a="http://schemas.openxmlformats.org/drawingml/2006/main">
              <a:ext uri="{FF2B5EF4-FFF2-40B4-BE49-F238E27FC236}">
                <a16:creationId xmlns:a16="http://schemas.microsoft.com/office/drawing/2014/main" id="{60B55E61-5329-4635-BBE3-0595F7FD9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505">
              <a:alpha val="12000"/>
            </a:srgbClr>
          </a:solidFill>
          <a:ln xmlns:a="http://schemas.openxmlformats.org/drawingml/2006/main" w="12700">
            <a:solidFill>
              <a:srgbClr val="05050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>
                <a:solidFill>
                  <a:srgbClr val="F3F0E8"/>
                </a:solidFill>
              </a:defRPr>
            </a:pPr>
            <a:r>
              <a:rPr>
                <a:solidFill>
                  <a:srgbClr val="F3F0E8"/>
                </a:solidFill>
              </a:rPr>
              <a:t/>
            </a:r>
          </a:p>
        </p:txBody>
      </p:sp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EE28375C-DFD2-4868-89BB-2B534C2D4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9184"/>
            <a:ext cx="8229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0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GAUSS</a:t>
            </a:r>
            <a:endParaRPr sz="1000"/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F0288A37-171A-4DB8-B1F5-C9478836B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0512" y="338328"/>
            <a:ext cx="36576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8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MARKET</a:t>
            </a:r>
            <a:endParaRPr sz="800"/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344D385C-F789-40C5-94EB-7FF5A7397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088" y="338328"/>
            <a:ext cx="43891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8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05</a:t>
            </a:r>
            <a:endParaRPr sz="800"/>
          </a:p>
        </p:txBody>
      </p:sp>
      <p:sp>
        <p:nvSpPr>
          <p:cNvPr id="7" name="Shape 4">
            <a:extLst xmlns:a="http://schemas.openxmlformats.org/drawingml/2006/main">
              <a:ext uri="{FF2B5EF4-FFF2-40B4-BE49-F238E27FC236}">
                <a16:creationId xmlns:a16="http://schemas.microsoft.com/office/drawing/2014/main" id="{39667813-D76D-41AC-8FDA-9A9C41443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1735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52A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E0E25D64-E7EC-43F1-BBBE-723DE54E6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2688"/>
            <a:ext cx="1069848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28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Start where data quality is already a budget line.</a:t>
            </a:r>
            <a:endParaRPr sz="2800"/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6309BD9C-CD66-4B77-A22F-DA5B4CD5F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72184"/>
            <a:ext cx="10287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5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Gauss sells first to operators and integrators who cannot afford ambiguous telemetry.</a:t>
            </a:r>
            <a:endParaRPr sz="1500"/>
          </a:p>
        </p:txBody>
      </p:sp>
      <p:graphicFrame>
        <p:nvGraphicFramePr>
          <p:cNvPr id="56" name="Table 0"/>
          <p:cNvGraphicFramePr/>
          <p:nvPr/>
        </p:nvGraphicFramePr>
        <p:xfrm>
          <a:off xmlns:a="http://schemas.openxmlformats.org/drawingml/2006/main" x="685800" y="2157984"/>
          <a:ext xmlns:a="http://schemas.openxmlformats.org/drawingml/2006/main" cx="10817352" cy="27432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377440"/>
                <a:gridCol w="2331720"/>
                <a:gridCol w="3337560"/>
                <a:gridCol w="2770632"/>
              </a:tblGrid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 b="1">
                          <a:solidFill>
                            <a:srgbClr val="050505"/>
                          </a:solidFill>
                          <a:latin typeface="JetBrains Mono"/>
                          <a:ea typeface="JetBrains Mono"/>
                          <a:cs typeface="JetBrains Mono"/>
                        </a:rPr>
                        <a:t/>
                      </a:r>
                      <a:endParaRPr sz="900">
                        <a:latin typeface="JetBrains Mono"/>
                        <a:ea typeface="JetBrains Mono"/>
                        <a:cs typeface="JetBrains Mono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 b="1">
                          <a:solidFill>
                            <a:srgbClr val="050505"/>
                          </a:solidFill>
                          <a:latin typeface="JetBrains Mono"/>
                          <a:ea typeface="JetBrains Mono"/>
                          <a:cs typeface="JetBrains Mono"/>
                        </a:rPr>
                        <a:t/>
                      </a:r>
                      <a:endParaRPr sz="900">
                        <a:latin typeface="JetBrains Mono"/>
                        <a:ea typeface="JetBrains Mono"/>
                        <a:cs typeface="JetBrains Mono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 b="1">
                          <a:solidFill>
                            <a:srgbClr val="050505"/>
                          </a:solidFill>
                          <a:latin typeface="JetBrains Mono"/>
                          <a:ea typeface="JetBrains Mono"/>
                          <a:cs typeface="JetBrains Mono"/>
                        </a:rPr>
                        <a:t/>
                      </a:r>
                      <a:endParaRPr sz="900">
                        <a:latin typeface="JetBrains Mono"/>
                        <a:ea typeface="JetBrains Mono"/>
                        <a:cs typeface="JetBrains Mono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 b="1">
                          <a:solidFill>
                            <a:srgbClr val="050505"/>
                          </a:solidFill>
                          <a:latin typeface="JetBrains Mono"/>
                          <a:ea typeface="JetBrains Mono"/>
                          <a:cs typeface="JetBrains Mono"/>
                        </a:rPr>
                        <a:t/>
                      </a:r>
                      <a:endParaRPr sz="900">
                        <a:latin typeface="JetBrains Mono"/>
                        <a:ea typeface="JetBrains Mono"/>
                        <a:cs typeface="JetBrains Mono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</a:tr>
            </a:tbl>
          </a:graphicData>
        </a:graphic>
      </p:graphicFrame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80DEC3F4-CFAF-44A1-9660-F18708540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22392"/>
            <a:ext cx="98755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4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8 sourced research profiles across five buyer wedges; no signed customers.</a:t>
            </a:r>
            <a:endParaRPr sz="14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51506A5F-61EB-432F-A0F4-2D8484F0C76C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064240" y="6473952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E7B14A"/>
                </a:solidFill>
                <a:latin typeface="JetBrains Mono"/>
                <a:ea typeface="JetBrains Mono"/>
                <a:cs typeface="JetBrains Mono"/>
              </a:defRPr>
            </a:lvl1pPr>
          </a:lstStyle>
          <a:p xmlns:a="http://schemas.openxmlformats.org/drawingml/2006/main">
            <a:pPr algn="l">
              <a:buNone/>
              <a:defRPr>
                <a:solidFill>
                  <a:srgbClr val="F3F0E8"/>
                </a:solidFill>
              </a:defRPr>
            </a:pPr>
            <a:fld id="{EE5B3003-2C54-13C6-9832-7637201064DE}" type="slidenum">
              <a:rPr b="0">
                <a:solidFill>
                  <a:srgbClr val="F3F0E8"/>
                </a:solidFill>
              </a:rPr>
              <a:t>5</a:t>
            </a:fld>
            <a:endParaRPr/>
          </a:p>
        </p:txBody>
      </p:sp>
      <p:sp>
        <p:nvSpPr>
          <p:cNvPr id="28" name="profile-mix-label">
            <a:extLst xmlns:a="http://schemas.openxmlformats.org/drawingml/2006/main">
              <a:ext uri="{FF2B5EF4-FFF2-40B4-BE49-F238E27FC236}">
                <a16:creationId xmlns:a16="http://schemas.microsoft.com/office/drawing/2014/main" id="{BA6B8842-9F8C-4636-A08B-1D77502C7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43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F3F0E8"/>
                </a:solidFill>
              </a:defRPr>
            </a:pPr>
            <a:r>
              <a:rPr sz="900" b="1">
                <a:solidFill>
                  <a:srgbClr val="F3F0E8"/>
                </a:solidFill>
              </a:rPr>
              <a:t>PROFILE MIX  /  8 RESEARCH TARGETS</a:t>
            </a:r>
          </a:p>
        </p:txBody>
      </p:sp>
      <p:sp>
        <p:nvSpPr>
          <p:cNvPr id="29" name="profile-grid-1">
            <a:extLst xmlns:a="http://schemas.openxmlformats.org/drawingml/2006/main">
              <a:ext uri="{FF2B5EF4-FFF2-40B4-BE49-F238E27FC236}">
                <a16:creationId xmlns:a16="http://schemas.microsoft.com/office/drawing/2014/main" id="{57B3CFCB-56A3-4A2C-A5E4-F3275AA28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2228850"/>
            <a:ext cx="9525" cy="2209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302E"/>
          </a:solidFill>
          <a:ln xmlns:a="http://schemas.openxmlformats.org/drawingml/2006/main" w="0">
            <a:solidFill>
              <a:srgbClr val="25302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profile-grid-2">
            <a:extLst xmlns:a="http://schemas.openxmlformats.org/drawingml/2006/main">
              <a:ext uri="{FF2B5EF4-FFF2-40B4-BE49-F238E27FC236}">
                <a16:creationId xmlns:a16="http://schemas.microsoft.com/office/drawing/2014/main" id="{5489EA37-BD5F-4358-B4EA-AE329C53A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228850"/>
            <a:ext cx="9525" cy="2209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302E"/>
          </a:solidFill>
          <a:ln xmlns:a="http://schemas.openxmlformats.org/drawingml/2006/main" w="0">
            <a:solidFill>
              <a:srgbClr val="25302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1" name="profile-label-0">
            <a:extLst xmlns:a="http://schemas.openxmlformats.org/drawingml/2006/main">
              <a:ext uri="{FF2B5EF4-FFF2-40B4-BE49-F238E27FC236}">
                <a16:creationId xmlns:a16="http://schemas.microsoft.com/office/drawing/2014/main" id="{6F192035-CBED-4EC0-BAB3-48ADA93D7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479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25">
                <a:solidFill>
                  <a:srgbClr val="F3F0E8"/>
                </a:solidFill>
              </a:defRPr>
            </a:pPr>
            <a:r>
              <a:rPr sz="1125">
                <a:solidFill>
                  <a:srgbClr val="F3F0E8"/>
                </a:solidFill>
              </a:rPr>
              <a:t>Satcom</a:t>
            </a:r>
          </a:p>
        </p:txBody>
      </p:sp>
      <p:sp>
        <p:nvSpPr>
          <p:cNvPr id="32" name="profile-bar-0">
            <a:extLst xmlns:a="http://schemas.openxmlformats.org/drawingml/2006/main">
              <a:ext uri="{FF2B5EF4-FFF2-40B4-BE49-F238E27FC236}">
                <a16:creationId xmlns:a16="http://schemas.microsoft.com/office/drawing/2014/main" id="{E481C2C6-7B39-42FD-9BCB-5430166DF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228850"/>
            <a:ext cx="8572500" cy="24765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CCFF00"/>
          </a:solidFill>
          <a:ln xmlns:a="http://schemas.openxmlformats.org/drawingml/2006/main" w="0">
            <a:solidFill>
              <a:srgbClr val="CCFF0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" name="profile-value-0">
            <a:extLst xmlns:a="http://schemas.openxmlformats.org/drawingml/2006/main">
              <a:ext uri="{FF2B5EF4-FFF2-40B4-BE49-F238E27FC236}">
                <a16:creationId xmlns:a16="http://schemas.microsoft.com/office/drawing/2014/main" id="{ED9836B4-81D2-4052-B894-D56C45542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2238375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3F0E8"/>
                </a:solidFill>
              </a:defRPr>
            </a:pPr>
            <a:r>
              <a:rPr sz="1200" b="1">
                <a:solidFill>
                  <a:srgbClr val="F3F0E8"/>
                </a:solidFill>
              </a:rPr>
              <a:t>2</a:t>
            </a:r>
          </a:p>
        </p:txBody>
      </p:sp>
      <p:sp>
        <p:nvSpPr>
          <p:cNvPr id="34" name="profile-label-1">
            <a:extLst xmlns:a="http://schemas.openxmlformats.org/drawingml/2006/main">
              <a:ext uri="{FF2B5EF4-FFF2-40B4-BE49-F238E27FC236}">
                <a16:creationId xmlns:a16="http://schemas.microsoft.com/office/drawing/2014/main" id="{C6FBC265-BF20-43D0-86F1-7A4597D1D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051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25">
                <a:solidFill>
                  <a:srgbClr val="F3F0E8"/>
                </a:solidFill>
              </a:defRPr>
            </a:pPr>
            <a:r>
              <a:rPr sz="1125">
                <a:solidFill>
                  <a:srgbClr val="F3F0E8"/>
                </a:solidFill>
              </a:rPr>
              <a:t>Weather</a:t>
            </a:r>
          </a:p>
        </p:txBody>
      </p:sp>
      <p:sp>
        <p:nvSpPr>
          <p:cNvPr id="35" name="profile-bar-1">
            <a:extLst xmlns:a="http://schemas.openxmlformats.org/drawingml/2006/main">
              <a:ext uri="{FF2B5EF4-FFF2-40B4-BE49-F238E27FC236}">
                <a16:creationId xmlns:a16="http://schemas.microsoft.com/office/drawing/2014/main" id="{D07CC964-AAE8-4B36-B86C-7030A73CE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686050"/>
            <a:ext cx="8572500" cy="24765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CCFF00"/>
          </a:solidFill>
          <a:ln xmlns:a="http://schemas.openxmlformats.org/drawingml/2006/main" w="0">
            <a:solidFill>
              <a:srgbClr val="CCFF0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profile-value-1">
            <a:extLst xmlns:a="http://schemas.openxmlformats.org/drawingml/2006/main">
              <a:ext uri="{FF2B5EF4-FFF2-40B4-BE49-F238E27FC236}">
                <a16:creationId xmlns:a16="http://schemas.microsoft.com/office/drawing/2014/main" id="{ED7864FB-0804-4AE8-B09F-E84A7D885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2695575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3F0E8"/>
                </a:solidFill>
              </a:defRPr>
            </a:pPr>
            <a:r>
              <a:rPr sz="1200" b="1">
                <a:solidFill>
                  <a:srgbClr val="F3F0E8"/>
                </a:solidFill>
              </a:rPr>
              <a:t>2</a:t>
            </a:r>
          </a:p>
        </p:txBody>
      </p:sp>
      <p:sp>
        <p:nvSpPr>
          <p:cNvPr id="37" name="profile-label-2">
            <a:extLst xmlns:a="http://schemas.openxmlformats.org/drawingml/2006/main">
              <a:ext uri="{FF2B5EF4-FFF2-40B4-BE49-F238E27FC236}">
                <a16:creationId xmlns:a16="http://schemas.microsoft.com/office/drawing/2014/main" id="{2AE3D7AA-83B3-4B04-957B-D6BA109E1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623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25">
                <a:solidFill>
                  <a:srgbClr val="F3F0E8"/>
                </a:solidFill>
              </a:defRPr>
            </a:pPr>
            <a:r>
              <a:rPr sz="1125">
                <a:solidFill>
                  <a:srgbClr val="F3F0E8"/>
                </a:solidFill>
              </a:rPr>
              <a:t>Earth observation</a:t>
            </a:r>
          </a:p>
        </p:txBody>
      </p:sp>
      <p:sp>
        <p:nvSpPr>
          <p:cNvPr id="38" name="profile-bar-2">
            <a:extLst xmlns:a="http://schemas.openxmlformats.org/drawingml/2006/main">
              <a:ext uri="{FF2B5EF4-FFF2-40B4-BE49-F238E27FC236}">
                <a16:creationId xmlns:a16="http://schemas.microsoft.com/office/drawing/2014/main" id="{62DAE713-5511-4B84-A26A-35873B54F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3143250"/>
            <a:ext cx="4286250" cy="24765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CCFF00"/>
          </a:solidFill>
          <a:ln xmlns:a="http://schemas.openxmlformats.org/drawingml/2006/main" w="0">
            <a:solidFill>
              <a:srgbClr val="CCFF0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9" name="profile-value-2">
            <a:extLst xmlns:a="http://schemas.openxmlformats.org/drawingml/2006/main">
              <a:ext uri="{FF2B5EF4-FFF2-40B4-BE49-F238E27FC236}">
                <a16:creationId xmlns:a16="http://schemas.microsoft.com/office/drawing/2014/main" id="{83B90E02-743F-4F2A-9067-D0BEAE356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152775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3F0E8"/>
                </a:solidFill>
              </a:defRPr>
            </a:pPr>
            <a:r>
              <a:rPr sz="1200" b="1">
                <a:solidFill>
                  <a:srgbClr val="F3F0E8"/>
                </a:solidFill>
              </a:rPr>
              <a:t>1</a:t>
            </a:r>
          </a:p>
        </p:txBody>
      </p:sp>
      <p:sp>
        <p:nvSpPr>
          <p:cNvPr id="40" name="profile-label-3">
            <a:extLst xmlns:a="http://schemas.openxmlformats.org/drawingml/2006/main">
              <a:ext uri="{FF2B5EF4-FFF2-40B4-BE49-F238E27FC236}">
                <a16:creationId xmlns:a16="http://schemas.microsoft.com/office/drawing/2014/main" id="{40E9C5AD-FEB7-4677-8D04-43BD41BA5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25">
                <a:solidFill>
                  <a:srgbClr val="F3F0E8"/>
                </a:solidFill>
              </a:defRPr>
            </a:pPr>
            <a:r>
              <a:rPr sz="1125">
                <a:solidFill>
                  <a:srgbClr val="F3F0E8"/>
                </a:solidFill>
              </a:rPr>
              <a:t>PNT</a:t>
            </a:r>
          </a:p>
        </p:txBody>
      </p:sp>
      <p:sp>
        <p:nvSpPr>
          <p:cNvPr id="41" name="profile-bar-3">
            <a:extLst xmlns:a="http://schemas.openxmlformats.org/drawingml/2006/main">
              <a:ext uri="{FF2B5EF4-FFF2-40B4-BE49-F238E27FC236}">
                <a16:creationId xmlns:a16="http://schemas.microsoft.com/office/drawing/2014/main" id="{83769DED-4F23-46EE-8380-1A2C7A1E1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3600450"/>
            <a:ext cx="4286250" cy="24765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CCFF00"/>
          </a:solidFill>
          <a:ln xmlns:a="http://schemas.openxmlformats.org/drawingml/2006/main" w="0">
            <a:solidFill>
              <a:srgbClr val="CCFF0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2" name="profile-value-3">
            <a:extLst xmlns:a="http://schemas.openxmlformats.org/drawingml/2006/main">
              <a:ext uri="{FF2B5EF4-FFF2-40B4-BE49-F238E27FC236}">
                <a16:creationId xmlns:a16="http://schemas.microsoft.com/office/drawing/2014/main" id="{6ABCF6A3-55F1-4579-BA2E-871E13CAD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609975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3F0E8"/>
                </a:solidFill>
              </a:defRPr>
            </a:pPr>
            <a:r>
              <a:rPr sz="1200" b="1">
                <a:solidFill>
                  <a:srgbClr val="F3F0E8"/>
                </a:solidFill>
              </a:rPr>
              <a:t>1</a:t>
            </a:r>
          </a:p>
        </p:txBody>
      </p:sp>
      <p:sp>
        <p:nvSpPr>
          <p:cNvPr id="43" name="profile-label-4">
            <a:extLst xmlns:a="http://schemas.openxmlformats.org/drawingml/2006/main">
              <a:ext uri="{FF2B5EF4-FFF2-40B4-BE49-F238E27FC236}">
                <a16:creationId xmlns:a16="http://schemas.microsoft.com/office/drawing/2014/main" id="{8B373A2C-17E3-4363-B686-BC2709F9A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767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25">
                <a:solidFill>
                  <a:srgbClr val="F3F0E8"/>
                </a:solidFill>
              </a:defRPr>
            </a:pPr>
            <a:r>
              <a:rPr sz="1125">
                <a:solidFill>
                  <a:srgbClr val="F3F0E8"/>
                </a:solidFill>
              </a:rPr>
              <a:t>Lunar relay</a:t>
            </a:r>
          </a:p>
        </p:txBody>
      </p:sp>
      <p:sp>
        <p:nvSpPr>
          <p:cNvPr id="44" name="profile-bar-4">
            <a:extLst xmlns:a="http://schemas.openxmlformats.org/drawingml/2006/main">
              <a:ext uri="{FF2B5EF4-FFF2-40B4-BE49-F238E27FC236}">
                <a16:creationId xmlns:a16="http://schemas.microsoft.com/office/drawing/2014/main" id="{E9AA72FE-7056-4A8D-9AD6-5264869CA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057650"/>
            <a:ext cx="8572500" cy="24765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CCFF00"/>
          </a:solidFill>
          <a:ln xmlns:a="http://schemas.openxmlformats.org/drawingml/2006/main" w="0">
            <a:solidFill>
              <a:srgbClr val="CCFF0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5" name="profile-value-4">
            <a:extLst xmlns:a="http://schemas.openxmlformats.org/drawingml/2006/main">
              <a:ext uri="{FF2B5EF4-FFF2-40B4-BE49-F238E27FC236}">
                <a16:creationId xmlns:a16="http://schemas.microsoft.com/office/drawing/2014/main" id="{15638DCB-ACC5-4173-8B54-B3AD050D3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4067175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3F0E8"/>
                </a:solidFill>
              </a:defRPr>
            </a:pPr>
            <a:r>
              <a:rPr sz="1200" b="1">
                <a:solidFill>
                  <a:srgbClr val="F3F0E8"/>
                </a:solidFill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4024508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5a0ff9a24a54ff5">
            <a:alphaModFix amt="96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Shape 0">
            <a:extLst xmlns:a="http://schemas.openxmlformats.org/drawingml/2006/main">
              <a:ext uri="{FF2B5EF4-FFF2-40B4-BE49-F238E27FC236}">
                <a16:creationId xmlns:a16="http://schemas.microsoft.com/office/drawing/2014/main" id="{F4D0ED68-9B2A-402A-8A98-0E9D96135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505">
              <a:alpha val="12000"/>
            </a:srgbClr>
          </a:solidFill>
          <a:ln xmlns:a="http://schemas.openxmlformats.org/drawingml/2006/main" w="12700">
            <a:solidFill>
              <a:srgbClr val="05050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>
                <a:solidFill>
                  <a:srgbClr val="F3F0E8"/>
                </a:solidFill>
              </a:defRPr>
            </a:pPr>
            <a:r>
              <a:rPr>
                <a:solidFill>
                  <a:srgbClr val="F3F0E8"/>
                </a:solidFill>
              </a:rPr>
              <a:t/>
            </a:r>
          </a:p>
        </p:txBody>
      </p:sp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8BA27EE9-3160-4668-A61D-B56E23EBD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9184"/>
            <a:ext cx="8229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0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GAUSS</a:t>
            </a:r>
            <a:endParaRPr sz="1000"/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3F82630D-1FA1-48CF-9EE8-AA7765420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0512" y="338328"/>
            <a:ext cx="36576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8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MARKET</a:t>
            </a:r>
            <a:endParaRPr sz="800"/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BD27E8BC-0E08-4CC8-A55F-CBF50C549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088" y="338328"/>
            <a:ext cx="43891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8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06</a:t>
            </a:r>
            <a:endParaRPr sz="800"/>
          </a:p>
        </p:txBody>
      </p:sp>
      <p:sp>
        <p:nvSpPr>
          <p:cNvPr id="7" name="Shape 4">
            <a:extLst xmlns:a="http://schemas.openxmlformats.org/drawingml/2006/main">
              <a:ext uri="{FF2B5EF4-FFF2-40B4-BE49-F238E27FC236}">
                <a16:creationId xmlns:a16="http://schemas.microsoft.com/office/drawing/2014/main" id="{07927833-DC7F-4A82-B36A-D9C9C6583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1735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52A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1393B113-E77E-456C-9C7B-1F3ED2605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2688"/>
            <a:ext cx="1069848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9048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3150" b="1">
                <a:solidFill>
                  <a:srgbClr val="F3F0E8"/>
                </a:solidFill>
              </a:defRPr>
            </a:pPr>
            <a:r>
              <a:rPr sz="315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The category is already large; the wedge is still focused.</a:t>
            </a:r>
            <a:endParaRPr sz="2800"/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15D3BD5E-6427-45D4-BF86-5FF585C7A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72184"/>
            <a:ext cx="10287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1800">
                <a:solidFill>
                  <a:srgbClr val="F3F0E8"/>
                </a:solidFill>
              </a:defRPr>
            </a:pPr>
            <a:r>
              <a:rPr sz="18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Use external category context for TAM / SAM; keep SOM bottom-up and honest.</a:t>
            </a:r>
            <a:endParaRPr sz="1500"/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B8B22210-8477-4310-AF29-71EEE399B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66544"/>
            <a:ext cx="49377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1050" b="1">
                <a:solidFill>
                  <a:srgbClr val="F3F0E8"/>
                </a:solidFill>
              </a:defRPr>
            </a:pPr>
            <a:r>
              <a:rPr sz="105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SOURCED CATEGORY CONTEXT  /  INTERNAL SOM</a:t>
            </a:r>
            <a:endParaRPr sz="800"/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55788EA6-EC18-48D3-8BE4-2A60E0ACD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" y="2670048"/>
            <a:ext cx="73152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1200" b="1">
                <a:solidFill>
                  <a:srgbClr val="F3F0E8"/>
                </a:solidFill>
              </a:defRPr>
            </a:pPr>
            <a:r>
              <a:rPr sz="12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TAM</a:t>
            </a:r>
            <a:endParaRPr sz="1100"/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510B20D4-55C0-4E6E-8BEA-D07D41DBD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" y="3035808"/>
            <a:ext cx="320040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3300" b="1">
                <a:solidFill>
                  <a:srgbClr val="CCFF00"/>
                </a:solidFill>
              </a:defRPr>
            </a:pPr>
            <a:r>
              <a:rPr sz="3300" b="1">
                <a:solidFill>
                  <a:srgbClr val="CCFF00"/>
                </a:solidFill>
                <a:latin typeface="Inter"/>
                <a:ea typeface="Inter"/>
                <a:cs typeface="Inter"/>
              </a:rPr>
              <a:t>$429B</a:t>
            </a:r>
            <a:endParaRPr sz="4400"/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377C36BB-EA09-4E07-84A3-2EF7D231D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" y="3767328"/>
            <a:ext cx="3127248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1200">
                <a:solidFill>
                  <a:srgbClr val="F3F0E8"/>
                </a:solidFill>
              </a:defRPr>
            </a:pPr>
            <a:r>
              <a:rPr sz="12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Global space economy in 2025.</a:t>
            </a:r>
            <a:endParaRPr sz="1300"/>
          </a:p>
          <a:p xmlns:a="http://schemas.openxmlformats.org/drawingml/2006/main">
            <a:pPr marL="0" indent="0" algn="l">
              <a:lnSpc>
                <a:spcPct val="100000"/>
              </a:lnSpc>
              <a:buNone/>
              <a:defRPr sz="1200">
                <a:solidFill>
                  <a:srgbClr val="F3F0E8"/>
                </a:solidFill>
              </a:defRPr>
            </a:pPr>
            <a:r>
              <a:rPr sz="12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WEF / McKinsey: $1.8T by 2035.</a:t>
            </a:r>
            <a:endParaRPr sz="1300"/>
          </a:p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E878C663-1427-4DB6-8920-EE2FBCB80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8928" y="2331720"/>
            <a:ext cx="0" cy="258775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52A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204AD369-DE50-4A91-9F7E-BD881D272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856" y="2651760"/>
            <a:ext cx="64008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1200" b="1">
                <a:solidFill>
                  <a:srgbClr val="F3F0E8"/>
                </a:solidFill>
              </a:defRPr>
            </a:pPr>
            <a:r>
              <a:rPr sz="12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TAM</a:t>
            </a:r>
            <a:endParaRPr sz="900"/>
          </a:p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FE0C6E80-0184-4287-8DD1-5C8E50F55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2651760"/>
            <a:ext cx="4133088" cy="256032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171C1C"/>
          </a:solidFill>
          <a:ln xmlns:a="http://schemas.openxmlformats.org/drawingml/2006/main" w="12700">
            <a:solidFill>
              <a:srgbClr val="05050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70EAC6E4-7815-4E5C-9E32-54B40EE23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2651760"/>
            <a:ext cx="4754880" cy="256032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CCFF00"/>
          </a:solidFill>
          <a:ln xmlns:a="http://schemas.openxmlformats.org/drawingml/2006/main" w="12700">
            <a:solidFill>
              <a:srgbClr val="05050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6B2BF177-B763-4E1A-B226-966CDBE2F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856" y="2962656"/>
            <a:ext cx="25603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1200" b="1">
                <a:solidFill>
                  <a:srgbClr val="CCFF00"/>
                </a:solidFill>
              </a:defRPr>
            </a:pPr>
            <a:r>
              <a:rPr sz="1200" b="1">
                <a:solidFill>
                  <a:srgbClr val="CCFF00"/>
                </a:solidFill>
                <a:latin typeface="Inter"/>
                <a:ea typeface="Inter"/>
                <a:cs typeface="Inter"/>
              </a:rPr>
              <a:t>$429B</a:t>
            </a:r>
            <a:endParaRPr sz="1200"/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B31EA8CC-4EEF-4613-AACA-48E5995D3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6760" y="2962656"/>
            <a:ext cx="2487168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0000"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  <a:defRPr sz="1200">
                <a:solidFill>
                  <a:srgbClr val="F3F0E8"/>
                </a:solidFill>
              </a:defRPr>
            </a:pPr>
            <a:r>
              <a:rPr sz="12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Global space economy / 2025</a:t>
            </a:r>
            <a:endParaRPr sz="800"/>
          </a:p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2009952A-2FF8-48DC-BBB4-4ED105CC4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856" y="3401568"/>
            <a:ext cx="64008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1200" b="1">
                <a:solidFill>
                  <a:srgbClr val="F3F0E8"/>
                </a:solidFill>
              </a:defRPr>
            </a:pPr>
            <a:r>
              <a:rPr sz="12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SAM</a:t>
            </a:r>
            <a:endParaRPr sz="900"/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5ADEC10D-E759-454A-B630-B74F0DB7F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3401568"/>
            <a:ext cx="4133088" cy="256032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171C1C"/>
          </a:solidFill>
          <a:ln xmlns:a="http://schemas.openxmlformats.org/drawingml/2006/main" w="12700">
            <a:solidFill>
              <a:srgbClr val="05050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Shape 19">
            <a:extLst xmlns:a="http://schemas.openxmlformats.org/drawingml/2006/main">
              <a:ext uri="{FF2B5EF4-FFF2-40B4-BE49-F238E27FC236}">
                <a16:creationId xmlns:a16="http://schemas.microsoft.com/office/drawing/2014/main" id="{CFF77215-5D21-49F6-A1D5-BC67044D2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3401568"/>
            <a:ext cx="2743200" cy="256032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CCFF00"/>
          </a:solidFill>
          <a:ln xmlns:a="http://schemas.openxmlformats.org/drawingml/2006/main" w="12700">
            <a:solidFill>
              <a:srgbClr val="05050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Text 20">
            <a:extLst xmlns:a="http://schemas.openxmlformats.org/drawingml/2006/main">
              <a:ext uri="{FF2B5EF4-FFF2-40B4-BE49-F238E27FC236}">
                <a16:creationId xmlns:a16="http://schemas.microsoft.com/office/drawing/2014/main" id="{A738CA7F-7D26-43D2-8D40-8E5AB1C2C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856" y="3712464"/>
            <a:ext cx="25603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1200" b="1">
                <a:solidFill>
                  <a:srgbClr val="CCFF00"/>
                </a:solidFill>
              </a:defRPr>
            </a:pPr>
            <a:r>
              <a:rPr sz="1200" b="1">
                <a:solidFill>
                  <a:srgbClr val="CCFF00"/>
                </a:solidFill>
                <a:latin typeface="Inter"/>
                <a:ea typeface="Inter"/>
                <a:cs typeface="Inter"/>
              </a:rPr>
              <a:t>$165.2B</a:t>
            </a:r>
            <a:endParaRPr sz="1200"/>
          </a:p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051C2C6F-1E49-425F-8F34-4112A100E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6760" y="3712464"/>
            <a:ext cx="2487168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74890"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  <a:defRPr sz="1125">
                <a:solidFill>
                  <a:srgbClr val="F3F0E8"/>
                </a:solidFill>
              </a:defRPr>
            </a:pPr>
            <a:r>
              <a:rPr sz="1125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Satellite ground segment + GNSS equipment / 2025</a:t>
            </a:r>
            <a:endParaRPr sz="800"/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DF12C80F-81B0-4F16-BCD2-18C670B3C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856" y="4151376"/>
            <a:ext cx="64008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1200" b="1">
                <a:solidFill>
                  <a:srgbClr val="F3F0E8"/>
                </a:solidFill>
              </a:defRPr>
            </a:pPr>
            <a:r>
              <a:rPr sz="12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SOM</a:t>
            </a:r>
            <a:endParaRPr sz="900"/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405E4E24-305C-4062-BA29-C435C21E9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4151376"/>
            <a:ext cx="4133088" cy="256032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171C1C"/>
          </a:solidFill>
          <a:ln xmlns:a="http://schemas.openxmlformats.org/drawingml/2006/main" w="12700">
            <a:solidFill>
              <a:srgbClr val="05050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619071F3-516C-4645-99F4-91370A4FA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4151376"/>
            <a:ext cx="768096" cy="256032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CCFF00"/>
          </a:solidFill>
          <a:ln xmlns:a="http://schemas.openxmlformats.org/drawingml/2006/main" w="12700">
            <a:solidFill>
              <a:srgbClr val="05050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30766A76-EF4D-4EC9-83C5-A0F0EE132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856" y="4462272"/>
            <a:ext cx="25603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1200" b="1">
                <a:solidFill>
                  <a:srgbClr val="CCFF00"/>
                </a:solidFill>
              </a:defRPr>
            </a:pPr>
            <a:r>
              <a:rPr sz="1200" b="1">
                <a:solidFill>
                  <a:srgbClr val="CCFF00"/>
                </a:solidFill>
                <a:latin typeface="Inter"/>
                <a:ea typeface="Inter"/>
                <a:cs typeface="Inter"/>
              </a:rPr>
              <a:t>$500k ARR</a:t>
            </a:r>
            <a:endParaRPr sz="1200"/>
          </a:p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A647BDEF-759F-472C-80E7-34AFEFB62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6760" y="4462272"/>
            <a:ext cx="2487168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78337"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  <a:defRPr sz="1125">
                <a:solidFill>
                  <a:srgbClr val="F3F0E8"/>
                </a:solidFill>
              </a:defRPr>
            </a:pPr>
            <a:r>
              <a:rPr sz="1125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Five fleet accounts × $100k annual platform value</a:t>
            </a:r>
            <a:endParaRPr sz="800"/>
          </a:p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4106FA87-DCB6-4964-8A43-5D15DF0EB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856" y="4736592"/>
            <a:ext cx="521208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1125">
                <a:solidFill>
                  <a:srgbClr val="F3F0E8"/>
                </a:solidFill>
              </a:defRPr>
            </a:pPr>
            <a:r>
              <a:rPr sz="1125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TAM / SAM are category context; SOM is an internal revenue target, not market share.</a:t>
            </a:r>
            <a:endParaRPr sz="1300"/>
          </a:p>
        </p:txBody>
      </p:sp>
      <p:sp>
        <p:nvSpPr>
          <p:cNvPr id="32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80D349C5-E354-4A28-B6C4-B64533ED1C2A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064240" y="6473952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E7B14A"/>
                </a:solidFill>
                <a:latin typeface="JetBrains Mono"/>
                <a:ea typeface="JetBrains Mono"/>
                <a:cs typeface="JetBrains Mono"/>
              </a:defRPr>
            </a:lvl1pPr>
          </a:lstStyle>
          <a:p xmlns:a="http://schemas.openxmlformats.org/drawingml/2006/main">
            <a:pPr algn="l">
              <a:buNone/>
              <a:defRPr>
                <a:solidFill>
                  <a:srgbClr val="F3F0E8"/>
                </a:solidFill>
              </a:defRPr>
            </a:pPr>
            <a:fld id="{8C630A04-5A25-9E0C-9436-126091DB86B3}" type="slidenum">
              <a:rPr b="0">
                <a:solidFill>
                  <a:srgbClr val="F3F0E8"/>
                </a:solidFill>
              </a:rPr>
              <a:t>6</a:t>
            </a:fld>
            <a:endParaRPr/>
          </a:p>
        </p:txBody>
      </p:sp>
      <p:sp>
        <p:nvSpPr>
          <p:cNvPr id="34" name="market-sizing-source-rail">
            <a:extLst xmlns:a="http://schemas.openxmlformats.org/drawingml/2006/main">
              <a:ext uri="{FF2B5EF4-FFF2-40B4-BE49-F238E27FC236}">
                <a16:creationId xmlns:a16="http://schemas.microsoft.com/office/drawing/2014/main" id="{E6EBC99A-36BC-4B4C-876F-EBDBE7BC9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856" y="510540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0">
                <a:solidFill>
                  <a:srgbClr val="F3F0E8"/>
                </a:solidFill>
              </a:defRPr>
            </a:pPr>
            <a:r>
              <a:rPr sz="900" b="0">
                <a:solidFill>
                  <a:srgbClr val="F3F0E8"/>
                </a:solidFill>
              </a:rPr>
              <a:t>Sources: SIA / BryceTech SSIR 2026  •  WEF / McKinsey 2024  •  internal SOM model</a:t>
            </a:r>
          </a:p>
        </p:txBody>
      </p:sp>
      <p:sp>
        <p:nvSpPr>
          <p:cNvPr id="36" name="tam-sam-som-cover">
            <a:extLst xmlns:a="http://schemas.openxmlformats.org/drawingml/2006/main">
              <a:ext uri="{FF2B5EF4-FFF2-40B4-BE49-F238E27FC236}">
                <a16:creationId xmlns:a16="http://schemas.microsoft.com/office/drawing/2014/main" id="{A0EFAA6E-DA1F-4B35-941E-F8200EFE7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71700"/>
            <a:ext cx="10817352" cy="394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505"/>
          </a:solidFill>
          <a:ln xmlns:a="http://schemas.openxmlformats.org/drawingml/2006/main" w="0">
            <a:solidFill>
              <a:srgbClr val="050505"/>
            </a:solidFill>
            <a:prstDash val="solid"/>
          </a:ln>
        </p:spPr>
      </p:sp>
      <p:sp>
        <p:nvSpPr>
          <p:cNvPr id="37" name="tam-sam-som-kicker">
            <a:extLst xmlns:a="http://schemas.openxmlformats.org/drawingml/2006/main">
              <a:ext uri="{FF2B5EF4-FFF2-40B4-BE49-F238E27FC236}">
                <a16:creationId xmlns:a16="http://schemas.microsoft.com/office/drawing/2014/main" id="{8B3CBF22-A64F-46FC-ACBC-F12E3D451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36220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F3F0E8"/>
                </a:solidFill>
              </a:defRPr>
            </a:pPr>
            <a:r>
              <a:rPr sz="1050" b="1">
                <a:solidFill>
                  <a:srgbClr val="F3F0E8"/>
                </a:solidFill>
              </a:rPr>
              <a:t>MARKET CONTEXT  →  REVENUE WEDGE</a:t>
            </a:r>
          </a:p>
        </p:txBody>
      </p:sp>
      <p:sp>
        <p:nvSpPr>
          <p:cNvPr id="38" name="tam-sam-som-scale-note">
            <a:extLst xmlns:a="http://schemas.openxmlformats.org/drawingml/2006/main">
              <a:ext uri="{FF2B5EF4-FFF2-40B4-BE49-F238E27FC236}">
                <a16:creationId xmlns:a16="http://schemas.microsoft.com/office/drawing/2014/main" id="{FB53A703-F713-42F5-951B-C63D20020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5717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0">
                <a:solidFill>
                  <a:srgbClr val="F3F0E8"/>
                </a:solidFill>
              </a:defRPr>
            </a:pPr>
            <a:r>
              <a:rPr sz="900" b="0">
                <a:solidFill>
                  <a:srgbClr val="F3F0E8"/>
                </a:solidFill>
              </a:rPr>
              <a:t>Illustrative nesting; not a proportional market-share claim.</a:t>
            </a:r>
          </a:p>
        </p:txBody>
      </p:sp>
      <p:sp>
        <p:nvSpPr>
          <p:cNvPr id="39" name="tam-circle">
            <a:extLst xmlns:a="http://schemas.openxmlformats.org/drawingml/2006/main">
              <a:ext uri="{FF2B5EF4-FFF2-40B4-BE49-F238E27FC236}">
                <a16:creationId xmlns:a16="http://schemas.microsoft.com/office/drawing/2014/main" id="{F15158F9-7BA9-4DA9-988D-9E6D685D0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857500"/>
            <a:ext cx="3143250" cy="3143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1512"/>
          </a:solidFill>
          <a:ln xmlns:a="http://schemas.openxmlformats.org/drawingml/2006/main" w="9525">
            <a:solidFill>
              <a:srgbClr val="2B4434"/>
            </a:solidFill>
            <a:prstDash val="solid"/>
          </a:ln>
        </p:spPr>
      </p:sp>
      <p:sp>
        <p:nvSpPr>
          <p:cNvPr id="40" name="sam-circle">
            <a:extLst xmlns:a="http://schemas.openxmlformats.org/drawingml/2006/main">
              <a:ext uri="{FF2B5EF4-FFF2-40B4-BE49-F238E27FC236}">
                <a16:creationId xmlns:a16="http://schemas.microsoft.com/office/drawing/2014/main" id="{9FE649E7-F725-455F-93EB-6EEEA3EB2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352800"/>
            <a:ext cx="2152650" cy="2152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3C2A"/>
          </a:solidFill>
          <a:ln xmlns:a="http://schemas.openxmlformats.org/drawingml/2006/main" w="9525">
            <a:solidFill>
              <a:srgbClr val="5D8C2D"/>
            </a:solidFill>
            <a:prstDash val="solid"/>
          </a:ln>
        </p:spPr>
      </p:sp>
      <p:sp>
        <p:nvSpPr>
          <p:cNvPr id="41" name="som-circle">
            <a:extLst xmlns:a="http://schemas.openxmlformats.org/drawingml/2006/main">
              <a:ext uri="{FF2B5EF4-FFF2-40B4-BE49-F238E27FC236}">
                <a16:creationId xmlns:a16="http://schemas.microsoft.com/office/drawing/2014/main" id="{08D5CA1B-A76B-4D63-AF61-877F3F31C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3924300"/>
            <a:ext cx="1009650" cy="1009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1400"/>
          </a:solidFill>
          <a:ln xmlns:a="http://schemas.openxmlformats.org/drawingml/2006/main" w="19050">
            <a:solidFill>
              <a:srgbClr val="CCFF00"/>
            </a:solidFill>
            <a:prstDash val="solid"/>
          </a:ln>
        </p:spPr>
      </p:sp>
      <p:sp>
        <p:nvSpPr>
          <p:cNvPr id="42" name="tam-label">
            <a:extLst xmlns:a="http://schemas.openxmlformats.org/drawingml/2006/main">
              <a:ext uri="{FF2B5EF4-FFF2-40B4-BE49-F238E27FC236}">
                <a16:creationId xmlns:a16="http://schemas.microsoft.com/office/drawing/2014/main" id="{E4203463-C126-445B-8E39-4B5B7FB56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305175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F3F0E8"/>
                </a:solidFill>
              </a:defRPr>
            </a:pPr>
            <a:r>
              <a:rPr sz="1050" b="1">
                <a:solidFill>
                  <a:srgbClr val="F3F0E8"/>
                </a:solidFill>
              </a:rPr>
              <a:t>TAM</a:t>
            </a:r>
          </a:p>
        </p:txBody>
      </p:sp>
      <p:sp>
        <p:nvSpPr>
          <p:cNvPr id="43" name="tam-value">
            <a:extLst xmlns:a="http://schemas.openxmlformats.org/drawingml/2006/main">
              <a:ext uri="{FF2B5EF4-FFF2-40B4-BE49-F238E27FC236}">
                <a16:creationId xmlns:a16="http://schemas.microsoft.com/office/drawing/2014/main" id="{CD0FA7BB-0438-4C12-BB7B-EAB5D867A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524250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CCFF00"/>
                </a:solidFill>
              </a:defRPr>
            </a:pPr>
            <a:r>
              <a:rPr sz="2100" b="1">
                <a:solidFill>
                  <a:srgbClr val="CCFF00"/>
                </a:solidFill>
              </a:rPr>
              <a:t>$429B</a:t>
            </a:r>
          </a:p>
        </p:txBody>
      </p:sp>
      <p:sp>
        <p:nvSpPr>
          <p:cNvPr id="44" name="sam-label">
            <a:extLst xmlns:a="http://schemas.openxmlformats.org/drawingml/2006/main">
              <a:ext uri="{FF2B5EF4-FFF2-40B4-BE49-F238E27FC236}">
                <a16:creationId xmlns:a16="http://schemas.microsoft.com/office/drawing/2014/main" id="{0EB42066-324C-402F-82FF-D6A87E556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3848100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F3F0E8"/>
                </a:solidFill>
              </a:defRPr>
            </a:pPr>
            <a:r>
              <a:rPr sz="1050" b="1">
                <a:solidFill>
                  <a:srgbClr val="F3F0E8"/>
                </a:solidFill>
              </a:rPr>
              <a:t>SAM</a:t>
            </a:r>
          </a:p>
        </p:txBody>
      </p:sp>
      <p:sp>
        <p:nvSpPr>
          <p:cNvPr id="45" name="sam-value">
            <a:extLst xmlns:a="http://schemas.openxmlformats.org/drawingml/2006/main">
              <a:ext uri="{FF2B5EF4-FFF2-40B4-BE49-F238E27FC236}">
                <a16:creationId xmlns:a16="http://schemas.microsoft.com/office/drawing/2014/main" id="{5C90AF37-8446-42E2-A879-B78AB1CF8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4076700"/>
            <a:ext cx="152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CCFF00"/>
                </a:solidFill>
              </a:defRPr>
            </a:pPr>
            <a:r>
              <a:rPr sz="1500" b="1">
                <a:solidFill>
                  <a:srgbClr val="CCFF00"/>
                </a:solidFill>
              </a:rPr>
              <a:t>$165.2B</a:t>
            </a:r>
          </a:p>
        </p:txBody>
      </p:sp>
      <p:sp>
        <p:nvSpPr>
          <p:cNvPr id="46" name="som-label">
            <a:extLst xmlns:a="http://schemas.openxmlformats.org/drawingml/2006/main">
              <a:ext uri="{FF2B5EF4-FFF2-40B4-BE49-F238E27FC236}">
                <a16:creationId xmlns:a16="http://schemas.microsoft.com/office/drawing/2014/main" id="{A6F1F002-1E6B-437F-A3BE-CD6207669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4171950"/>
            <a:ext cx="762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F3F0E8"/>
                </a:solidFill>
              </a:defRPr>
            </a:pPr>
            <a:r>
              <a:rPr sz="975" b="1">
                <a:solidFill>
                  <a:srgbClr val="F3F0E8"/>
                </a:solidFill>
              </a:rPr>
              <a:t>SOM</a:t>
            </a:r>
          </a:p>
        </p:txBody>
      </p:sp>
      <p:sp>
        <p:nvSpPr>
          <p:cNvPr id="47" name="som-value">
            <a:extLst xmlns:a="http://schemas.openxmlformats.org/drawingml/2006/main">
              <a:ext uri="{FF2B5EF4-FFF2-40B4-BE49-F238E27FC236}">
                <a16:creationId xmlns:a16="http://schemas.microsoft.com/office/drawing/2014/main" id="{78793726-F8B2-49B5-8A3B-D37C1109C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2675" y="4400550"/>
            <a:ext cx="857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CCFF00"/>
                </a:solidFill>
              </a:defRPr>
            </a:pPr>
            <a:r>
              <a:rPr sz="1350" b="1">
                <a:solidFill>
                  <a:srgbClr val="CCFF00"/>
                </a:solidFill>
              </a:rPr>
              <a:t>$500k</a:t>
            </a:r>
          </a:p>
        </p:txBody>
      </p:sp>
      <p:sp>
        <p:nvSpPr>
          <p:cNvPr id="48" name="tam-sam-som-divider">
            <a:extLst xmlns:a="http://schemas.openxmlformats.org/drawingml/2006/main">
              <a:ext uri="{FF2B5EF4-FFF2-40B4-BE49-F238E27FC236}">
                <a16:creationId xmlns:a16="http://schemas.microsoft.com/office/drawing/2014/main" id="{6D7973CC-0E73-4309-A360-025376532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2724150"/>
            <a:ext cx="9525" cy="3067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302E"/>
          </a:solidFill>
          <a:ln xmlns:a="http://schemas.openxmlformats.org/drawingml/2006/main" w="0">
            <a:solidFill>
              <a:srgbClr val="25302E"/>
            </a:solidFill>
            <a:prstDash val="solid"/>
          </a:ln>
        </p:spPr>
      </p:sp>
      <p:sp>
        <p:nvSpPr>
          <p:cNvPr id="49" name="tam-legend-label">
            <a:extLst xmlns:a="http://schemas.openxmlformats.org/drawingml/2006/main">
              <a:ext uri="{FF2B5EF4-FFF2-40B4-BE49-F238E27FC236}">
                <a16:creationId xmlns:a16="http://schemas.microsoft.com/office/drawing/2014/main" id="{94208D2A-B891-4B01-8419-ACB3A4616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781300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F3F0E8"/>
                </a:solidFill>
              </a:defRPr>
            </a:pPr>
            <a:r>
              <a:rPr sz="1050" b="1">
                <a:solidFill>
                  <a:srgbClr val="F3F0E8"/>
                </a:solidFill>
              </a:rPr>
              <a:t>TAM</a:t>
            </a:r>
          </a:p>
        </p:txBody>
      </p:sp>
      <p:sp>
        <p:nvSpPr>
          <p:cNvPr id="50" name="tam-legend-value">
            <a:extLst xmlns:a="http://schemas.openxmlformats.org/drawingml/2006/main">
              <a:ext uri="{FF2B5EF4-FFF2-40B4-BE49-F238E27FC236}">
                <a16:creationId xmlns:a16="http://schemas.microsoft.com/office/drawing/2014/main" id="{5CEA3226-C27A-4DF2-809A-B4BA2D835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009900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CCFF00"/>
                </a:solidFill>
              </a:defRPr>
            </a:pPr>
            <a:r>
              <a:rPr sz="2100" b="1">
                <a:solidFill>
                  <a:srgbClr val="CCFF00"/>
                </a:solidFill>
              </a:rPr>
              <a:t>$429B</a:t>
            </a:r>
          </a:p>
        </p:txBody>
      </p:sp>
      <p:sp>
        <p:nvSpPr>
          <p:cNvPr id="51" name="tam-legend-copy">
            <a:extLst xmlns:a="http://schemas.openxmlformats.org/drawingml/2006/main">
              <a:ext uri="{FF2B5EF4-FFF2-40B4-BE49-F238E27FC236}">
                <a16:creationId xmlns:a16="http://schemas.microsoft.com/office/drawing/2014/main" id="{55EF4965-B6A0-447C-B6AE-AE7875C81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067050"/>
            <a:ext cx="2667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F3F0E8"/>
                </a:solidFill>
              </a:defRPr>
            </a:pPr>
            <a:r>
              <a:rPr sz="1050" b="0">
                <a:solidFill>
                  <a:srgbClr val="F3F0E8"/>
                </a:solidFill>
              </a:rPr>
              <a:t>Global space economy / 2025</a:t>
            </a:r>
          </a:p>
        </p:txBody>
      </p:sp>
      <p:sp>
        <p:nvSpPr>
          <p:cNvPr id="52" name="tam-legend-rule-1">
            <a:extLst xmlns:a="http://schemas.openxmlformats.org/drawingml/2006/main">
              <a:ext uri="{FF2B5EF4-FFF2-40B4-BE49-F238E27FC236}">
                <a16:creationId xmlns:a16="http://schemas.microsoft.com/office/drawing/2014/main" id="{0B444715-BB72-4F9B-A3DF-56C458722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429000"/>
            <a:ext cx="5029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302E"/>
          </a:solidFill>
          <a:ln xmlns:a="http://schemas.openxmlformats.org/drawingml/2006/main" w="0">
            <a:solidFill>
              <a:srgbClr val="25302E"/>
            </a:solidFill>
            <a:prstDash val="solid"/>
          </a:ln>
        </p:spPr>
      </p:sp>
      <p:sp>
        <p:nvSpPr>
          <p:cNvPr id="53" name="sam-legend-label">
            <a:extLst xmlns:a="http://schemas.openxmlformats.org/drawingml/2006/main">
              <a:ext uri="{FF2B5EF4-FFF2-40B4-BE49-F238E27FC236}">
                <a16:creationId xmlns:a16="http://schemas.microsoft.com/office/drawing/2014/main" id="{2DB5413A-3B2D-4F18-A94C-560C26760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638550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F3F0E8"/>
                </a:solidFill>
              </a:defRPr>
            </a:pPr>
            <a:r>
              <a:rPr sz="1050" b="1">
                <a:solidFill>
                  <a:srgbClr val="F3F0E8"/>
                </a:solidFill>
              </a:rPr>
              <a:t>SAM</a:t>
            </a:r>
          </a:p>
        </p:txBody>
      </p:sp>
      <p:sp>
        <p:nvSpPr>
          <p:cNvPr id="54" name="sam-legend-value">
            <a:extLst xmlns:a="http://schemas.openxmlformats.org/drawingml/2006/main">
              <a:ext uri="{FF2B5EF4-FFF2-40B4-BE49-F238E27FC236}">
                <a16:creationId xmlns:a16="http://schemas.microsoft.com/office/drawing/2014/main" id="{72E5719D-05A7-4FC8-BDBE-69D9BD41F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867150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CCFF00"/>
                </a:solidFill>
              </a:defRPr>
            </a:pPr>
            <a:r>
              <a:rPr sz="2100" b="1">
                <a:solidFill>
                  <a:srgbClr val="CCFF00"/>
                </a:solidFill>
              </a:rPr>
              <a:t>$165.2B</a:t>
            </a:r>
          </a:p>
        </p:txBody>
      </p:sp>
      <p:sp>
        <p:nvSpPr>
          <p:cNvPr id="55" name="sam-legend-copy">
            <a:extLst xmlns:a="http://schemas.openxmlformats.org/drawingml/2006/main">
              <a:ext uri="{FF2B5EF4-FFF2-40B4-BE49-F238E27FC236}">
                <a16:creationId xmlns:a16="http://schemas.microsoft.com/office/drawing/2014/main" id="{E3865DFE-50E6-4A64-8B1E-95598C303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924300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F3F0E8"/>
                </a:solidFill>
              </a:defRPr>
            </a:pPr>
            <a:r>
              <a:rPr sz="1050" b="0">
                <a:solidFill>
                  <a:srgbClr val="F3F0E8"/>
                </a:solidFill>
              </a:rPr>
              <a:t>Satellite ground segment + GNSS equipment / 2025</a:t>
            </a:r>
          </a:p>
        </p:txBody>
      </p:sp>
      <p:sp>
        <p:nvSpPr>
          <p:cNvPr id="56" name="tam-legend-rule-2">
            <a:extLst xmlns:a="http://schemas.openxmlformats.org/drawingml/2006/main">
              <a:ext uri="{FF2B5EF4-FFF2-40B4-BE49-F238E27FC236}">
                <a16:creationId xmlns:a16="http://schemas.microsoft.com/office/drawing/2014/main" id="{602BBBB3-1127-4CE0-BDC3-4375DF247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362450"/>
            <a:ext cx="5029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302E"/>
          </a:solidFill>
          <a:ln xmlns:a="http://schemas.openxmlformats.org/drawingml/2006/main" w="0">
            <a:solidFill>
              <a:srgbClr val="25302E"/>
            </a:solidFill>
            <a:prstDash val="solid"/>
          </a:ln>
        </p:spPr>
      </p:sp>
      <p:sp>
        <p:nvSpPr>
          <p:cNvPr id="57" name="som-legend-label">
            <a:extLst xmlns:a="http://schemas.openxmlformats.org/drawingml/2006/main">
              <a:ext uri="{FF2B5EF4-FFF2-40B4-BE49-F238E27FC236}">
                <a16:creationId xmlns:a16="http://schemas.microsoft.com/office/drawing/2014/main" id="{74400939-7645-431D-914D-6FC341385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572000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F3F0E8"/>
                </a:solidFill>
              </a:defRPr>
            </a:pPr>
            <a:r>
              <a:rPr sz="1050" b="1">
                <a:solidFill>
                  <a:srgbClr val="F3F0E8"/>
                </a:solidFill>
              </a:rPr>
              <a:t>SOM</a:t>
            </a:r>
          </a:p>
        </p:txBody>
      </p:sp>
      <p:sp>
        <p:nvSpPr>
          <p:cNvPr id="58" name="som-legend-value">
            <a:extLst xmlns:a="http://schemas.openxmlformats.org/drawingml/2006/main">
              <a:ext uri="{FF2B5EF4-FFF2-40B4-BE49-F238E27FC236}">
                <a16:creationId xmlns:a16="http://schemas.microsoft.com/office/drawing/2014/main" id="{C781EEC0-D5CC-49D5-964E-EE0942900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800600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CCFF00"/>
                </a:solidFill>
              </a:defRPr>
            </a:pPr>
            <a:r>
              <a:rPr sz="2100" b="1">
                <a:solidFill>
                  <a:srgbClr val="CCFF00"/>
                </a:solidFill>
              </a:rPr>
              <a:t>$500k ARR</a:t>
            </a:r>
          </a:p>
        </p:txBody>
      </p:sp>
      <p:sp>
        <p:nvSpPr>
          <p:cNvPr id="59" name="som-legend-copy">
            <a:extLst xmlns:a="http://schemas.openxmlformats.org/drawingml/2006/main">
              <a:ext uri="{FF2B5EF4-FFF2-40B4-BE49-F238E27FC236}">
                <a16:creationId xmlns:a16="http://schemas.microsoft.com/office/drawing/2014/main" id="{4638959F-218A-447F-9F34-F4AA3EE31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4857750"/>
            <a:ext cx="2667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F3F0E8"/>
                </a:solidFill>
              </a:defRPr>
            </a:pPr>
            <a:r>
              <a:rPr sz="1050" b="0">
                <a:solidFill>
                  <a:srgbClr val="F3F0E8"/>
                </a:solidFill>
              </a:rPr>
              <a:t>Five fleet accounts × $100k annual platform value</a:t>
            </a:r>
          </a:p>
        </p:txBody>
      </p:sp>
      <p:sp>
        <p:nvSpPr>
          <p:cNvPr id="60" name="tam-sam-som-caveat">
            <a:extLst xmlns:a="http://schemas.openxmlformats.org/drawingml/2006/main">
              <a:ext uri="{FF2B5EF4-FFF2-40B4-BE49-F238E27FC236}">
                <a16:creationId xmlns:a16="http://schemas.microsoft.com/office/drawing/2014/main" id="{486CE136-7F41-4A33-AFD7-F61C36263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5257800"/>
            <a:ext cx="5029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3F0E8"/>
                </a:solidFill>
              </a:defRPr>
            </a:pPr>
            <a:r>
              <a:rPr sz="1125" b="1">
                <a:solidFill>
                  <a:srgbClr val="F3F0E8"/>
                </a:solidFill>
              </a:rPr>
              <a:t>TAM / SAM are category context; SOM is an internal revenue target, not market share.</a:t>
            </a:r>
          </a:p>
        </p:txBody>
      </p:sp>
      <p:sp>
        <p:nvSpPr>
          <p:cNvPr id="61" name="tam-sam-som-source-rail">
            <a:extLst xmlns:a="http://schemas.openxmlformats.org/drawingml/2006/main">
              <a:ext uri="{FF2B5EF4-FFF2-40B4-BE49-F238E27FC236}">
                <a16:creationId xmlns:a16="http://schemas.microsoft.com/office/drawing/2014/main" id="{C1531EBE-8DA6-4B39-963C-43930013A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582930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0">
                <a:solidFill>
                  <a:srgbClr val="F3F0E8"/>
                </a:solidFill>
              </a:defRPr>
            </a:pPr>
            <a:r>
              <a:rPr sz="900" b="0">
                <a:solidFill>
                  <a:srgbClr val="F3F0E8"/>
                </a:solidFill>
              </a:rPr>
              <a:t>Sources: SIA / BryceTech SSIR 2026  •  WEF / McKinsey 2024  •  internal SOM model</a:t>
            </a:r>
          </a:p>
        </p:txBody>
      </p:sp>
      <p:sp>
        <p:nvSpPr>
          <p:cNvPr id="63" name="tam-sam-som-cover">
            <a:extLst xmlns:a="http://schemas.openxmlformats.org/drawingml/2006/main">
              <a:ext uri="{FF2B5EF4-FFF2-40B4-BE49-F238E27FC236}">
                <a16:creationId xmlns:a16="http://schemas.microsoft.com/office/drawing/2014/main" id="{D6331308-A790-438C-AB29-2B574C84C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10817352" cy="411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505"/>
          </a:solidFill>
          <a:ln xmlns:a="http://schemas.openxmlformats.org/drawingml/2006/main" w="0">
            <a:solidFill>
              <a:srgbClr val="050505"/>
            </a:solidFill>
            <a:prstDash val="solid"/>
          </a:ln>
        </p:spPr>
      </p:sp>
      <p:sp>
        <p:nvSpPr>
          <p:cNvPr id="64" name="tam-sam-som-kicker">
            <a:extLst xmlns:a="http://schemas.openxmlformats.org/drawingml/2006/main">
              <a:ext uri="{FF2B5EF4-FFF2-40B4-BE49-F238E27FC236}">
                <a16:creationId xmlns:a16="http://schemas.microsoft.com/office/drawing/2014/main" id="{2662F969-85D5-48B0-9C1C-0C429CF74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36220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F3F0E8"/>
                </a:solidFill>
              </a:defRPr>
            </a:pPr>
            <a:r>
              <a:rPr sz="1050" b="1">
                <a:solidFill>
                  <a:srgbClr val="F3F0E8"/>
                </a:solidFill>
              </a:rPr>
              <a:t>MARKET CONTEXT  →  REVENUE WEDGE</a:t>
            </a:r>
          </a:p>
        </p:txBody>
      </p:sp>
      <p:sp>
        <p:nvSpPr>
          <p:cNvPr id="65" name="tam-sam-som-scale-note">
            <a:extLst xmlns:a="http://schemas.openxmlformats.org/drawingml/2006/main">
              <a:ext uri="{FF2B5EF4-FFF2-40B4-BE49-F238E27FC236}">
                <a16:creationId xmlns:a16="http://schemas.microsoft.com/office/drawing/2014/main" id="{1BC35C33-891D-49C0-A58C-CD42B4E50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5717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0">
                <a:solidFill>
                  <a:srgbClr val="F3F0E8"/>
                </a:solidFill>
              </a:defRPr>
            </a:pPr>
            <a:r>
              <a:rPr sz="900" b="0">
                <a:solidFill>
                  <a:srgbClr val="F3F0E8"/>
                </a:solidFill>
              </a:rPr>
              <a:t>Illustrative nesting; not a proportional market-share claim.</a:t>
            </a:r>
          </a:p>
        </p:txBody>
      </p:sp>
      <p:sp>
        <p:nvSpPr>
          <p:cNvPr id="66" name="tam-circle">
            <a:extLst xmlns:a="http://schemas.openxmlformats.org/drawingml/2006/main">
              <a:ext uri="{FF2B5EF4-FFF2-40B4-BE49-F238E27FC236}">
                <a16:creationId xmlns:a16="http://schemas.microsoft.com/office/drawing/2014/main" id="{E8FE0661-670B-4F1F-8CF5-A9ED45BF0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857500"/>
            <a:ext cx="3143250" cy="3143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1512"/>
          </a:solidFill>
          <a:ln xmlns:a="http://schemas.openxmlformats.org/drawingml/2006/main" w="9525">
            <a:solidFill>
              <a:srgbClr val="2B4434"/>
            </a:solidFill>
            <a:prstDash val="solid"/>
          </a:ln>
        </p:spPr>
      </p:sp>
      <p:sp>
        <p:nvSpPr>
          <p:cNvPr id="67" name="sam-circle">
            <a:extLst xmlns:a="http://schemas.openxmlformats.org/drawingml/2006/main">
              <a:ext uri="{FF2B5EF4-FFF2-40B4-BE49-F238E27FC236}">
                <a16:creationId xmlns:a16="http://schemas.microsoft.com/office/drawing/2014/main" id="{5025CC37-63AA-4DD9-93AD-9853DD412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352800"/>
            <a:ext cx="2152650" cy="2152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3C2A"/>
          </a:solidFill>
          <a:ln xmlns:a="http://schemas.openxmlformats.org/drawingml/2006/main" w="9525">
            <a:solidFill>
              <a:srgbClr val="5D8C2D"/>
            </a:solidFill>
            <a:prstDash val="solid"/>
          </a:ln>
        </p:spPr>
      </p:sp>
      <p:sp>
        <p:nvSpPr>
          <p:cNvPr id="68" name="som-circle">
            <a:extLst xmlns:a="http://schemas.openxmlformats.org/drawingml/2006/main">
              <a:ext uri="{FF2B5EF4-FFF2-40B4-BE49-F238E27FC236}">
                <a16:creationId xmlns:a16="http://schemas.microsoft.com/office/drawing/2014/main" id="{F4FB33BA-3ADB-4FA3-B54D-29DCF4C19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3924300"/>
            <a:ext cx="1009650" cy="1009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1400"/>
          </a:solidFill>
          <a:ln xmlns:a="http://schemas.openxmlformats.org/drawingml/2006/main" w="19050">
            <a:solidFill>
              <a:srgbClr val="CCFF00"/>
            </a:solidFill>
            <a:prstDash val="solid"/>
          </a:ln>
        </p:spPr>
      </p:sp>
      <p:sp>
        <p:nvSpPr>
          <p:cNvPr id="69" name="tam-label">
            <a:extLst xmlns:a="http://schemas.openxmlformats.org/drawingml/2006/main">
              <a:ext uri="{FF2B5EF4-FFF2-40B4-BE49-F238E27FC236}">
                <a16:creationId xmlns:a16="http://schemas.microsoft.com/office/drawing/2014/main" id="{88B40003-23E9-4C87-A533-8E712CB3B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305175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F3F0E8"/>
                </a:solidFill>
              </a:defRPr>
            </a:pPr>
            <a:r>
              <a:rPr sz="1050" b="1">
                <a:solidFill>
                  <a:srgbClr val="F3F0E8"/>
                </a:solidFill>
              </a:rPr>
              <a:t>TAM</a:t>
            </a:r>
          </a:p>
        </p:txBody>
      </p:sp>
      <p:sp>
        <p:nvSpPr>
          <p:cNvPr id="70" name="tam-value">
            <a:extLst xmlns:a="http://schemas.openxmlformats.org/drawingml/2006/main">
              <a:ext uri="{FF2B5EF4-FFF2-40B4-BE49-F238E27FC236}">
                <a16:creationId xmlns:a16="http://schemas.microsoft.com/office/drawing/2014/main" id="{2F46CB14-9A59-423A-9501-A6DF46837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524250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CCFF00"/>
                </a:solidFill>
              </a:defRPr>
            </a:pPr>
            <a:r>
              <a:rPr sz="2100" b="1">
                <a:solidFill>
                  <a:srgbClr val="CCFF00"/>
                </a:solidFill>
              </a:rPr>
              <a:t>$429B</a:t>
            </a:r>
          </a:p>
        </p:txBody>
      </p:sp>
      <p:sp>
        <p:nvSpPr>
          <p:cNvPr id="71" name="sam-label">
            <a:extLst xmlns:a="http://schemas.openxmlformats.org/drawingml/2006/main">
              <a:ext uri="{FF2B5EF4-FFF2-40B4-BE49-F238E27FC236}">
                <a16:creationId xmlns:a16="http://schemas.microsoft.com/office/drawing/2014/main" id="{C18A713F-9218-453A-AC54-97EC8B210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3848100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F3F0E8"/>
                </a:solidFill>
              </a:defRPr>
            </a:pPr>
            <a:r>
              <a:rPr sz="1050" b="1">
                <a:solidFill>
                  <a:srgbClr val="F3F0E8"/>
                </a:solidFill>
              </a:rPr>
              <a:t>SAM</a:t>
            </a:r>
          </a:p>
        </p:txBody>
      </p:sp>
      <p:sp>
        <p:nvSpPr>
          <p:cNvPr id="72" name="sam-value">
            <a:extLst xmlns:a="http://schemas.openxmlformats.org/drawingml/2006/main">
              <a:ext uri="{FF2B5EF4-FFF2-40B4-BE49-F238E27FC236}">
                <a16:creationId xmlns:a16="http://schemas.microsoft.com/office/drawing/2014/main" id="{4B25513A-8837-4E62-ACBF-DC10412EE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4076700"/>
            <a:ext cx="152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CCFF00"/>
                </a:solidFill>
              </a:defRPr>
            </a:pPr>
            <a:r>
              <a:rPr sz="1500" b="1">
                <a:solidFill>
                  <a:srgbClr val="CCFF00"/>
                </a:solidFill>
              </a:rPr>
              <a:t>$165.2B</a:t>
            </a:r>
          </a:p>
        </p:txBody>
      </p:sp>
      <p:sp>
        <p:nvSpPr>
          <p:cNvPr id="73" name="som-label">
            <a:extLst xmlns:a="http://schemas.openxmlformats.org/drawingml/2006/main">
              <a:ext uri="{FF2B5EF4-FFF2-40B4-BE49-F238E27FC236}">
                <a16:creationId xmlns:a16="http://schemas.microsoft.com/office/drawing/2014/main" id="{EF2EEC7B-B8F8-4B44-B906-AED0F8558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4171950"/>
            <a:ext cx="762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F3F0E8"/>
                </a:solidFill>
              </a:defRPr>
            </a:pPr>
            <a:r>
              <a:rPr sz="975" b="1">
                <a:solidFill>
                  <a:srgbClr val="F3F0E8"/>
                </a:solidFill>
              </a:rPr>
              <a:t>SOM</a:t>
            </a:r>
          </a:p>
        </p:txBody>
      </p:sp>
      <p:sp>
        <p:nvSpPr>
          <p:cNvPr id="74" name="som-value">
            <a:extLst xmlns:a="http://schemas.openxmlformats.org/drawingml/2006/main">
              <a:ext uri="{FF2B5EF4-FFF2-40B4-BE49-F238E27FC236}">
                <a16:creationId xmlns:a16="http://schemas.microsoft.com/office/drawing/2014/main" id="{7D2C6529-93C3-450F-8F53-9A66C528C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2675" y="4400550"/>
            <a:ext cx="857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CCFF00"/>
                </a:solidFill>
              </a:defRPr>
            </a:pPr>
            <a:r>
              <a:rPr sz="1350" b="1">
                <a:solidFill>
                  <a:srgbClr val="CCFF00"/>
                </a:solidFill>
              </a:rPr>
              <a:t>$500k</a:t>
            </a:r>
          </a:p>
        </p:txBody>
      </p:sp>
      <p:sp>
        <p:nvSpPr>
          <p:cNvPr id="75" name="tam-sam-som-divider">
            <a:extLst xmlns:a="http://schemas.openxmlformats.org/drawingml/2006/main">
              <a:ext uri="{FF2B5EF4-FFF2-40B4-BE49-F238E27FC236}">
                <a16:creationId xmlns:a16="http://schemas.microsoft.com/office/drawing/2014/main" id="{06DBEEC6-7C34-45E8-A7E4-47EBD2811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2724150"/>
            <a:ext cx="9525" cy="3067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302E"/>
          </a:solidFill>
          <a:ln xmlns:a="http://schemas.openxmlformats.org/drawingml/2006/main" w="0">
            <a:solidFill>
              <a:srgbClr val="25302E"/>
            </a:solidFill>
            <a:prstDash val="solid"/>
          </a:ln>
        </p:spPr>
      </p:sp>
      <p:sp>
        <p:nvSpPr>
          <p:cNvPr id="76" name="tam-legend-label">
            <a:extLst xmlns:a="http://schemas.openxmlformats.org/drawingml/2006/main">
              <a:ext uri="{FF2B5EF4-FFF2-40B4-BE49-F238E27FC236}">
                <a16:creationId xmlns:a16="http://schemas.microsoft.com/office/drawing/2014/main" id="{EE954E91-1528-4149-A6AF-FD5B2A89D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781300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F3F0E8"/>
                </a:solidFill>
              </a:defRPr>
            </a:pPr>
            <a:r>
              <a:rPr sz="1050" b="1">
                <a:solidFill>
                  <a:srgbClr val="F3F0E8"/>
                </a:solidFill>
              </a:rPr>
              <a:t>TAM</a:t>
            </a:r>
          </a:p>
        </p:txBody>
      </p:sp>
      <p:sp>
        <p:nvSpPr>
          <p:cNvPr id="77" name="tam-legend-value">
            <a:extLst xmlns:a="http://schemas.openxmlformats.org/drawingml/2006/main">
              <a:ext uri="{FF2B5EF4-FFF2-40B4-BE49-F238E27FC236}">
                <a16:creationId xmlns:a16="http://schemas.microsoft.com/office/drawing/2014/main" id="{1FF898FF-7ED1-4AA6-AC52-029735A37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009900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CCFF00"/>
                </a:solidFill>
              </a:defRPr>
            </a:pPr>
            <a:r>
              <a:rPr sz="2100" b="1">
                <a:solidFill>
                  <a:srgbClr val="CCFF00"/>
                </a:solidFill>
              </a:rPr>
              <a:t>$429B</a:t>
            </a:r>
          </a:p>
        </p:txBody>
      </p:sp>
      <p:sp>
        <p:nvSpPr>
          <p:cNvPr id="78" name="tam-legend-copy">
            <a:extLst xmlns:a="http://schemas.openxmlformats.org/drawingml/2006/main">
              <a:ext uri="{FF2B5EF4-FFF2-40B4-BE49-F238E27FC236}">
                <a16:creationId xmlns:a16="http://schemas.microsoft.com/office/drawing/2014/main" id="{DD8871B9-7DE8-493E-B38F-5C03934FF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067050"/>
            <a:ext cx="2667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F3F0E8"/>
                </a:solidFill>
              </a:defRPr>
            </a:pPr>
            <a:r>
              <a:rPr sz="1050" b="0">
                <a:solidFill>
                  <a:srgbClr val="F3F0E8"/>
                </a:solidFill>
              </a:rPr>
              <a:t>Global space economy / 2025</a:t>
            </a:r>
          </a:p>
        </p:txBody>
      </p:sp>
      <p:sp>
        <p:nvSpPr>
          <p:cNvPr id="79" name="tam-legend-rule-1">
            <a:extLst xmlns:a="http://schemas.openxmlformats.org/drawingml/2006/main">
              <a:ext uri="{FF2B5EF4-FFF2-40B4-BE49-F238E27FC236}">
                <a16:creationId xmlns:a16="http://schemas.microsoft.com/office/drawing/2014/main" id="{7DC4FF44-B039-4C4B-AC26-4B0C2222B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429000"/>
            <a:ext cx="5029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302E"/>
          </a:solidFill>
          <a:ln xmlns:a="http://schemas.openxmlformats.org/drawingml/2006/main" w="0">
            <a:solidFill>
              <a:srgbClr val="25302E"/>
            </a:solidFill>
            <a:prstDash val="solid"/>
          </a:ln>
        </p:spPr>
      </p:sp>
      <p:sp>
        <p:nvSpPr>
          <p:cNvPr id="80" name="sam-legend-label">
            <a:extLst xmlns:a="http://schemas.openxmlformats.org/drawingml/2006/main">
              <a:ext uri="{FF2B5EF4-FFF2-40B4-BE49-F238E27FC236}">
                <a16:creationId xmlns:a16="http://schemas.microsoft.com/office/drawing/2014/main" id="{669AC8F2-B0DD-487C-BC68-60256E3BF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638550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F3F0E8"/>
                </a:solidFill>
              </a:defRPr>
            </a:pPr>
            <a:r>
              <a:rPr sz="1050" b="1">
                <a:solidFill>
                  <a:srgbClr val="F3F0E8"/>
                </a:solidFill>
              </a:rPr>
              <a:t>SAM</a:t>
            </a:r>
          </a:p>
        </p:txBody>
      </p:sp>
      <p:sp>
        <p:nvSpPr>
          <p:cNvPr id="81" name="sam-legend-value">
            <a:extLst xmlns:a="http://schemas.openxmlformats.org/drawingml/2006/main">
              <a:ext uri="{FF2B5EF4-FFF2-40B4-BE49-F238E27FC236}">
                <a16:creationId xmlns:a16="http://schemas.microsoft.com/office/drawing/2014/main" id="{1A203243-C2C5-4B4D-B9C0-93D65D3DE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867150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CCFF00"/>
                </a:solidFill>
              </a:defRPr>
            </a:pPr>
            <a:r>
              <a:rPr sz="2100" b="1">
                <a:solidFill>
                  <a:srgbClr val="CCFF00"/>
                </a:solidFill>
              </a:rPr>
              <a:t>$165.2B</a:t>
            </a:r>
          </a:p>
        </p:txBody>
      </p:sp>
      <p:sp>
        <p:nvSpPr>
          <p:cNvPr id="82" name="sam-legend-copy">
            <a:extLst xmlns:a="http://schemas.openxmlformats.org/drawingml/2006/main">
              <a:ext uri="{FF2B5EF4-FFF2-40B4-BE49-F238E27FC236}">
                <a16:creationId xmlns:a16="http://schemas.microsoft.com/office/drawing/2014/main" id="{B307FABB-4C80-4D39-A5B6-9D7735263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924300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F3F0E8"/>
                </a:solidFill>
              </a:defRPr>
            </a:pPr>
            <a:r>
              <a:rPr sz="1050" b="0">
                <a:solidFill>
                  <a:srgbClr val="F3F0E8"/>
                </a:solidFill>
              </a:rPr>
              <a:t>Satellite ground segment + GNSS equipment / 2025</a:t>
            </a:r>
          </a:p>
        </p:txBody>
      </p:sp>
      <p:sp>
        <p:nvSpPr>
          <p:cNvPr id="83" name="tam-legend-rule-2">
            <a:extLst xmlns:a="http://schemas.openxmlformats.org/drawingml/2006/main">
              <a:ext uri="{FF2B5EF4-FFF2-40B4-BE49-F238E27FC236}">
                <a16:creationId xmlns:a16="http://schemas.microsoft.com/office/drawing/2014/main" id="{9C4D61BB-E356-43F8-97CB-36FE43AB2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362450"/>
            <a:ext cx="5029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302E"/>
          </a:solidFill>
          <a:ln xmlns:a="http://schemas.openxmlformats.org/drawingml/2006/main" w="0">
            <a:solidFill>
              <a:srgbClr val="25302E"/>
            </a:solidFill>
            <a:prstDash val="solid"/>
          </a:ln>
        </p:spPr>
      </p:sp>
      <p:sp>
        <p:nvSpPr>
          <p:cNvPr id="84" name="som-legend-label">
            <a:extLst xmlns:a="http://schemas.openxmlformats.org/drawingml/2006/main">
              <a:ext uri="{FF2B5EF4-FFF2-40B4-BE49-F238E27FC236}">
                <a16:creationId xmlns:a16="http://schemas.microsoft.com/office/drawing/2014/main" id="{DB6CBFCB-ED27-4EB0-902F-E39949AAC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572000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F3F0E8"/>
                </a:solidFill>
              </a:defRPr>
            </a:pPr>
            <a:r>
              <a:rPr sz="1050" b="1">
                <a:solidFill>
                  <a:srgbClr val="F3F0E8"/>
                </a:solidFill>
              </a:rPr>
              <a:t>SOM</a:t>
            </a:r>
          </a:p>
        </p:txBody>
      </p:sp>
      <p:sp>
        <p:nvSpPr>
          <p:cNvPr id="85" name="som-legend-value">
            <a:extLst xmlns:a="http://schemas.openxmlformats.org/drawingml/2006/main">
              <a:ext uri="{FF2B5EF4-FFF2-40B4-BE49-F238E27FC236}">
                <a16:creationId xmlns:a16="http://schemas.microsoft.com/office/drawing/2014/main" id="{97EF1BCF-28CF-4EA9-9812-C48187E63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800600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CCFF00"/>
                </a:solidFill>
              </a:defRPr>
            </a:pPr>
            <a:r>
              <a:rPr sz="2100" b="1">
                <a:solidFill>
                  <a:srgbClr val="CCFF00"/>
                </a:solidFill>
              </a:rPr>
              <a:t>$500k ARR</a:t>
            </a:r>
          </a:p>
        </p:txBody>
      </p:sp>
      <p:sp>
        <p:nvSpPr>
          <p:cNvPr id="86" name="som-legend-copy">
            <a:extLst xmlns:a="http://schemas.openxmlformats.org/drawingml/2006/main">
              <a:ext uri="{FF2B5EF4-FFF2-40B4-BE49-F238E27FC236}">
                <a16:creationId xmlns:a16="http://schemas.microsoft.com/office/drawing/2014/main" id="{2D98C380-77D9-4BF5-A65F-49BF4B0CB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4857750"/>
            <a:ext cx="2667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F3F0E8"/>
                </a:solidFill>
              </a:defRPr>
            </a:pPr>
            <a:r>
              <a:rPr sz="1050" b="0">
                <a:solidFill>
                  <a:srgbClr val="F3F0E8"/>
                </a:solidFill>
              </a:rPr>
              <a:t>Five fleet accounts × $100k annual platform value</a:t>
            </a:r>
          </a:p>
        </p:txBody>
      </p:sp>
      <p:sp>
        <p:nvSpPr>
          <p:cNvPr id="87" name="tam-sam-som-caveat">
            <a:extLst xmlns:a="http://schemas.openxmlformats.org/drawingml/2006/main">
              <a:ext uri="{FF2B5EF4-FFF2-40B4-BE49-F238E27FC236}">
                <a16:creationId xmlns:a16="http://schemas.microsoft.com/office/drawing/2014/main" id="{B489445C-C1E5-402F-9672-FCE084868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5257800"/>
            <a:ext cx="5029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3F0E8"/>
                </a:solidFill>
              </a:defRPr>
            </a:pPr>
            <a:r>
              <a:rPr sz="1125" b="1">
                <a:solidFill>
                  <a:srgbClr val="F3F0E8"/>
                </a:solidFill>
              </a:rPr>
              <a:t>TAM / SAM are category context; SOM is an internal revenue target, not market share.</a:t>
            </a:r>
          </a:p>
        </p:txBody>
      </p:sp>
      <p:sp>
        <p:nvSpPr>
          <p:cNvPr id="88" name="tam-sam-som-source-rail">
            <a:extLst xmlns:a="http://schemas.openxmlformats.org/drawingml/2006/main">
              <a:ext uri="{FF2B5EF4-FFF2-40B4-BE49-F238E27FC236}">
                <a16:creationId xmlns:a16="http://schemas.microsoft.com/office/drawing/2014/main" id="{985EE9CC-AA61-4157-9CA8-DB6BAB5A1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582930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0">
                <a:solidFill>
                  <a:srgbClr val="F3F0E8"/>
                </a:solidFill>
              </a:defRPr>
            </a:pPr>
            <a:r>
              <a:rPr sz="900" b="0">
                <a:solidFill>
                  <a:srgbClr val="F3F0E8"/>
                </a:solidFill>
              </a:rPr>
              <a:t>Sources: SIA / BryceTech SSIR 2026  •  WEF / McKinsey 2024  •  internal SOM model</a:t>
            </a:r>
          </a:p>
        </p:txBody>
      </p:sp>
    </p:spTree>
    <p:extLst>
      <p:ext uri="{BB962C8B-B14F-4D97-AF65-F5344CB8AC3E}">
        <p14:creationId xmlns:p14="http://schemas.microsoft.com/office/powerpoint/2010/main" val="92691840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61A58A04-BD85-4082-9CF2-2AD63F484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9184"/>
            <a:ext cx="8229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0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GAUSS</a:t>
            </a:r>
            <a:endParaRPr sz="10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8B3ADECB-279E-4F13-AA6E-88A462AA3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0512" y="338328"/>
            <a:ext cx="36576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8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COMMERCIAL</a:t>
            </a:r>
            <a:endParaRPr sz="8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D113A158-B305-42AD-A23F-454B85FC9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088" y="338328"/>
            <a:ext cx="43891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8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07</a:t>
            </a:r>
            <a:endParaRPr sz="8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AE7E2189-6260-4D5E-811C-34FE5D20D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1735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52A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C77BE3E3-2F53-451D-9ADD-3F05F335B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2688"/>
            <a:ext cx="1069848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9048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3150" b="1">
                <a:solidFill>
                  <a:srgbClr val="CCFF00"/>
                </a:solidFill>
              </a:defRPr>
            </a:pPr>
            <a:r>
              <a:rPr sz="3150" b="1">
                <a:solidFill>
                  <a:srgbClr val="CCFF00"/>
                </a:solidFill>
                <a:latin typeface="Inter"/>
                <a:ea typeface="Inter"/>
                <a:cs typeface="Inter"/>
              </a:rPr>
              <a:t>$500k ARR</a:t>
            </a:r>
            <a:endParaRPr sz="28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1FF6E996-5ACD-4D4B-850E-EB41A55D4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72184"/>
            <a:ext cx="10287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1800">
                <a:solidFill>
                  <a:srgbClr val="F3F0E8"/>
                </a:solidFill>
              </a:defRPr>
            </a:pPr>
            <a:r>
              <a:rPr sz="18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Five paid ground / integration accounts can establish the first recurring revenue base.</a:t>
            </a:r>
            <a:endParaRPr sz="15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D18286FA-1A8D-4C81-842B-322191E40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03120"/>
            <a:ext cx="17373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1050" b="1">
                <a:solidFill>
                  <a:srgbClr val="F3F0E8"/>
                </a:solidFill>
              </a:defRPr>
            </a:pPr>
            <a:r>
              <a:rPr sz="105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RETURN + OFF-TAKERS</a:t>
            </a:r>
            <a:endParaRPr sz="8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19C8FB36-F708-4586-AD7B-C7C4238F4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9152" y="2057400"/>
            <a:ext cx="2286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4286"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4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◒</a:t>
            </a:r>
            <a:endParaRPr sz="1400"/>
          </a:p>
        </p:txBody>
      </p:sp>
      <p:graphicFrame>
        <p:nvGraphicFramePr>
          <p:cNvPr id="39" name="Chart 0"/>
          <p:cNvGraphicFramePr/>
          <p:nvPr/>
        </p:nvGraphicFramePr>
        <p:xfrm>
          <a:off xmlns:a="http://schemas.openxmlformats.org/drawingml/2006/main" x="685800" y="2450592"/>
          <a:ext xmlns:a="http://schemas.openxmlformats.org/drawingml/2006/main" cx="5623560" cy="265176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c5da4d089104b49"/>
          </a:graphicData>
        </a:graphic>
      </p:graphicFrame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A0FE0D0A-FDF9-49CF-BBAD-9EAB32F57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19700"/>
            <a:ext cx="5334000" cy="4381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8291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975">
                <a:solidFill>
                  <a:srgbClr val="F3F0E8"/>
                </a:solidFill>
              </a:defRPr>
            </a:pPr>
            <a:r>
              <a:rPr sz="975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OFF-TAKERS / BUYERS</a:t>
            </a:r>
            <a:endParaRPr sz="800"/>
          </a:p>
          <a:p xmlns:a="http://schemas.openxmlformats.org/drawingml/2006/main">
            <a:pPr marL="0" indent="0" algn="l">
              <a:lnSpc>
                <a:spcPct val="100000"/>
              </a:lnSpc>
              <a:buNone/>
              <a:defRPr sz="975">
                <a:solidFill>
                  <a:srgbClr val="F3F0E8"/>
                </a:solidFill>
              </a:defRPr>
            </a:pPr>
            <a:r>
              <a:rPr sz="975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Mission-control  •  ground-segment  •  systems integrators</a:t>
            </a:r>
            <a:endParaRPr sz="800"/>
          </a:p>
          <a:p xmlns:a="http://schemas.openxmlformats.org/drawingml/2006/main">
            <a:pPr marL="0" indent="0" algn="l">
              <a:lnSpc>
                <a:spcPct val="100000"/>
              </a:lnSpc>
              <a:buNone/>
              <a:defRPr sz="975">
                <a:solidFill>
                  <a:srgbClr val="F3F0E8"/>
                </a:solidFill>
              </a:defRPr>
            </a:pPr>
            <a:r>
              <a:rPr sz="975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Planning case; not signed pipeline.</a:t>
            </a:r>
            <a:endParaRPr sz="800"/>
          </a:p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CAD7B660-7CFA-4B01-9AF9-E4A2A0C3F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9480" y="2971800"/>
            <a:ext cx="423367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52A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81467B98-9B99-4D31-A46E-AC4C7FD7F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9480" y="2468880"/>
            <a:ext cx="169164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3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Paid evaluation</a:t>
            </a:r>
            <a:endParaRPr sz="1300"/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707E76B1-2D70-4C53-BFDE-A24D8E1D6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4040" y="2468880"/>
            <a:ext cx="20116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1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$20k–$35k</a:t>
            </a:r>
            <a:endParaRPr sz="1100"/>
          </a:p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A9F3D2FD-92C3-48CF-A6EB-D93A3B48B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9480" y="2743200"/>
            <a:ext cx="41605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9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6–10 weeks; credit toward conversion</a:t>
            </a:r>
            <a:endParaRPr sz="900"/>
          </a:p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E1E9B7B3-45D6-478C-9976-CB8FCA4B9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9480" y="3630168"/>
            <a:ext cx="423367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52A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253CC369-F628-4DF5-AE26-C0C328F3F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9480" y="3127248"/>
            <a:ext cx="169164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3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Annual platform</a:t>
            </a:r>
            <a:endParaRPr sz="1300"/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C857CAE3-BAAE-41E1-BB8B-9E13CF757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4040" y="3127248"/>
            <a:ext cx="20116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1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$100k–$150k</a:t>
            </a:r>
            <a:endParaRPr sz="1100"/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84F0367F-A84C-4F11-BF30-293760C32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9480" y="3401568"/>
            <a:ext cx="41605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9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Fleet / mission capacity, not seats</a:t>
            </a:r>
            <a:endParaRPr sz="900"/>
          </a:p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29F13F33-1E85-43F7-9611-B1EF4BB46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9480" y="4288536"/>
            <a:ext cx="423367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52A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4AE1FBA0-3B3F-48BB-B795-3BA71FA44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9480" y="3785616"/>
            <a:ext cx="169164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3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Implementation</a:t>
            </a:r>
            <a:endParaRPr sz="1300"/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8BB8B42D-29F5-48FA-9EC9-E430151B3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4040" y="3785616"/>
            <a:ext cx="20116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1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$30k–$100k</a:t>
            </a:r>
            <a:endParaRPr sz="1100"/>
          </a:p>
        </p:txBody>
      </p:sp>
      <p:sp>
        <p:nvSpPr>
          <p:cNvPr id="23" name="Text 20">
            <a:extLst xmlns:a="http://schemas.openxmlformats.org/drawingml/2006/main">
              <a:ext uri="{FF2B5EF4-FFF2-40B4-BE49-F238E27FC236}">
                <a16:creationId xmlns:a16="http://schemas.microsoft.com/office/drawing/2014/main" id="{BE196290-A934-4553-AC0C-8A62543DC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9480" y="4059936"/>
            <a:ext cx="41605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9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One-time adapters and onboarding</a:t>
            </a:r>
            <a:endParaRPr sz="900"/>
          </a:p>
        </p:txBody>
      </p:sp>
      <p:sp>
        <p:nvSpPr>
          <p:cNvPr id="24" name="Shape 21">
            <a:extLst xmlns:a="http://schemas.openxmlformats.org/drawingml/2006/main">
              <a:ext uri="{FF2B5EF4-FFF2-40B4-BE49-F238E27FC236}">
                <a16:creationId xmlns:a16="http://schemas.microsoft.com/office/drawing/2014/main" id="{BEE818CE-1B81-4889-80EB-071363A17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9480" y="4946904"/>
            <a:ext cx="423367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52A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4655D5EB-D991-4DDF-A96D-392DD3EEE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9480" y="4443984"/>
            <a:ext cx="169164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3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Flight candidate</a:t>
            </a:r>
            <a:endParaRPr sz="1300"/>
          </a:p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80784210-424F-4EDE-BBF8-7CD17BD8D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4040" y="4443984"/>
            <a:ext cx="20116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1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$150k–$400k</a:t>
            </a:r>
            <a:endParaRPr sz="1100"/>
          </a:p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D249789D-4508-4F54-84E5-2BE0E9ED7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9480" y="4718304"/>
            <a:ext cx="41605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9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NRE; external evidence gates</a:t>
            </a:r>
            <a:endParaRPr sz="900"/>
          </a:p>
        </p:txBody>
      </p:sp>
      <p:sp>
        <p:nvSpPr>
          <p:cNvPr id="29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D4417E04-E870-448C-9F63-E28F1A5B796F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064240" y="6473952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E7B14A"/>
                </a:solidFill>
                <a:latin typeface="JetBrains Mono"/>
                <a:ea typeface="JetBrains Mono"/>
                <a:cs typeface="JetBrains Mono"/>
              </a:defRPr>
            </a:lvl1pPr>
          </a:lstStyle>
          <a:p xmlns:a="http://schemas.openxmlformats.org/drawingml/2006/main">
            <a:pPr algn="l">
              <a:buNone/>
              <a:defRPr>
                <a:solidFill>
                  <a:srgbClr val="F3F0E8"/>
                </a:solidFill>
              </a:defRPr>
            </a:pPr>
            <a:fld id="{D3D7D1C8-AE23-AA48-DF65-C742588DBE47}" type="slidenum">
              <a:rPr b="0">
                <a:solidFill>
                  <a:srgbClr val="F3F0E8"/>
                </a:solidFill>
              </a:rPr>
              <a:t>7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61015378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5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39c3eeef229422c">
            <a:alphaModFix amt="96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Shape 0">
            <a:extLst xmlns:a="http://schemas.openxmlformats.org/drawingml/2006/main">
              <a:ext uri="{FF2B5EF4-FFF2-40B4-BE49-F238E27FC236}">
                <a16:creationId xmlns:a16="http://schemas.microsoft.com/office/drawing/2014/main" id="{785D1189-6ECD-437B-A2E4-81DC4F827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505">
              <a:alpha val="12000"/>
            </a:srgbClr>
          </a:solidFill>
          <a:ln xmlns:a="http://schemas.openxmlformats.org/drawingml/2006/main" w="12700">
            <a:solidFill>
              <a:srgbClr val="05050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>
                <a:solidFill>
                  <a:srgbClr val="F3F0E8"/>
                </a:solidFill>
              </a:defRPr>
            </a:pPr>
            <a:r>
              <a:rPr>
                <a:solidFill>
                  <a:srgbClr val="F3F0E8"/>
                </a:solidFill>
              </a:rPr>
              <a:t/>
            </a:r>
          </a:p>
        </p:txBody>
      </p:sp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22F90A88-EE69-4FAF-8075-C37296BAF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9184"/>
            <a:ext cx="8229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0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GAUSS</a:t>
            </a:r>
            <a:endParaRPr sz="1000"/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5A482D22-9CD2-40D5-91E4-B893A1F22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0512" y="338328"/>
            <a:ext cx="36576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8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POSITIONING</a:t>
            </a:r>
            <a:endParaRPr sz="800"/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88EA2EC3-2B5E-42DD-BBC1-B134EF3F8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088" y="338328"/>
            <a:ext cx="43891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8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08</a:t>
            </a:r>
            <a:endParaRPr sz="800"/>
          </a:p>
        </p:txBody>
      </p:sp>
      <p:sp>
        <p:nvSpPr>
          <p:cNvPr id="7" name="Shape 4">
            <a:extLst xmlns:a="http://schemas.openxmlformats.org/drawingml/2006/main">
              <a:ext uri="{FF2B5EF4-FFF2-40B4-BE49-F238E27FC236}">
                <a16:creationId xmlns:a16="http://schemas.microsoft.com/office/drawing/2014/main" id="{D349530C-3354-4DC1-8AD7-D7E10CFBE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1735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52A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C080AE9D-22E6-48C5-9D19-598CEE23A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2688"/>
            <a:ext cx="1069848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80832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3150" b="1">
                <a:solidFill>
                  <a:srgbClr val="F3F0E8"/>
                </a:solidFill>
              </a:defRPr>
            </a:pPr>
            <a:r>
              <a:rPr sz="315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Gauss owns the seam between mission operations and AI assurance.</a:t>
            </a:r>
            <a:endParaRPr sz="2800"/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124C7153-5666-4D05-8EF4-EEC0D5C58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72184"/>
            <a:ext cx="10287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1800">
                <a:solidFill>
                  <a:srgbClr val="F3F0E8"/>
                </a:solidFill>
              </a:defRPr>
            </a:pPr>
            <a:r>
              <a:rPr sz="18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Adjacent platforms solve a layer; Gauss connects the evidence needed to act.</a:t>
            </a:r>
            <a:endParaRPr sz="1500"/>
          </a:p>
        </p:txBody>
      </p:sp>
      <p:graphicFrame>
        <p:nvGraphicFramePr>
          <p:cNvPr id="258" name="Table 0"/>
          <p:cNvGraphicFramePr/>
          <p:nvPr/>
        </p:nvGraphicFramePr>
        <p:xfrm>
          <a:off xmlns:a="http://schemas.openxmlformats.org/drawingml/2006/main" x="685800" y="2176272"/>
          <a:ext xmlns:a="http://schemas.openxmlformats.org/drawingml/2006/main" cx="10817352" cy="2852928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148840"/>
                <a:gridCol w="3017520"/>
                <a:gridCol w="3154680"/>
                <a:gridCol w="2496312"/>
              </a:tblGrid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 b="1">
                          <a:solidFill>
                            <a:srgbClr val="050505"/>
                          </a:solidFill>
                          <a:latin typeface="JetBrains Mono"/>
                          <a:ea typeface="JetBrains Mono"/>
                          <a:cs typeface="JetBrains Mono"/>
                        </a:rPr>
                        <a:t/>
                      </a:r>
                      <a:endParaRPr sz="900">
                        <a:latin typeface="JetBrains Mono"/>
                        <a:ea typeface="JetBrains Mono"/>
                        <a:cs typeface="JetBrains Mono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 b="1">
                          <a:solidFill>
                            <a:srgbClr val="050505"/>
                          </a:solidFill>
                          <a:latin typeface="JetBrains Mono"/>
                          <a:ea typeface="JetBrains Mono"/>
                          <a:cs typeface="JetBrains Mono"/>
                        </a:rPr>
                        <a:t/>
                      </a:r>
                      <a:endParaRPr sz="900">
                        <a:latin typeface="JetBrains Mono"/>
                        <a:ea typeface="JetBrains Mono"/>
                        <a:cs typeface="JetBrains Mono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 b="1">
                          <a:solidFill>
                            <a:srgbClr val="050505"/>
                          </a:solidFill>
                          <a:latin typeface="JetBrains Mono"/>
                          <a:ea typeface="JetBrains Mono"/>
                          <a:cs typeface="JetBrains Mono"/>
                        </a:rPr>
                        <a:t/>
                      </a:r>
                      <a:endParaRPr sz="900">
                        <a:latin typeface="JetBrains Mono"/>
                        <a:ea typeface="JetBrains Mono"/>
                        <a:cs typeface="JetBrains Mono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 b="1">
                          <a:solidFill>
                            <a:srgbClr val="050505"/>
                          </a:solidFill>
                          <a:latin typeface="JetBrains Mono"/>
                          <a:ea typeface="JetBrains Mono"/>
                          <a:cs typeface="JetBrains Mono"/>
                        </a:rPr>
                        <a:t/>
                      </a:r>
                      <a:endParaRPr sz="900">
                        <a:latin typeface="JetBrains Mono"/>
                        <a:ea typeface="JetBrains Mono"/>
                        <a:cs typeface="JetBrains Mono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</a:tr>
            </a:tbl>
          </a:graphicData>
        </a:graphic>
      </p:graphicFrame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7F9EF4FC-A92F-45FD-BB62-83D9650B6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21808"/>
            <a:ext cx="10817352" cy="411480"/>
          </a:xfrm>
          <a:prstGeom xmlns:a="http://schemas.openxmlformats.org/drawingml/2006/main" prst="roundRect">
            <a:avLst>
              <a:gd name="adj" fmla="val 31111"/>
            </a:avLst>
          </a:prstGeom>
          <a:solidFill xmlns:a="http://schemas.openxmlformats.org/drawingml/2006/main">
            <a:srgbClr val="132000"/>
          </a:solidFill>
          <a:ln xmlns:a="http://schemas.openxmlformats.org/drawingml/2006/main" w="12700">
            <a:solidFill>
              <a:srgbClr val="CCFF0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F2304DE2-B104-44A1-A357-53C059AD6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5468112"/>
            <a:ext cx="192024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1429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1050" b="1">
                <a:solidFill>
                  <a:srgbClr val="F3F0E8"/>
                </a:solidFill>
              </a:defRPr>
            </a:pPr>
            <a:r>
              <a:rPr sz="105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POSITIONING WEDGE</a:t>
            </a:r>
            <a:endParaRPr sz="800"/>
          </a:p>
        </p:txBody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5250DC48-7E9F-4E6B-91AD-4B5888313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2112" y="5468112"/>
            <a:ext cx="768096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85333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1125">
                <a:solidFill>
                  <a:srgbClr val="F3F0E8"/>
                </a:solidFill>
              </a:defRPr>
            </a:pPr>
            <a:r>
              <a:rPr sz="1125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Illustrative public positioning; not feature parity or partnership evidence.</a:t>
            </a:r>
            <a:endParaRPr sz="11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5614F266-BDBC-4E64-A1D1-5D4C58BB475E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064240" y="6473952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E7B14A"/>
                </a:solidFill>
                <a:latin typeface="JetBrains Mono"/>
                <a:ea typeface="JetBrains Mono"/>
                <a:cs typeface="JetBrains Mono"/>
              </a:defRPr>
            </a:lvl1pPr>
          </a:lstStyle>
          <a:p xmlns:a="http://schemas.openxmlformats.org/drawingml/2006/main">
            <a:pPr algn="l">
              <a:buNone/>
              <a:defRPr>
                <a:solidFill>
                  <a:srgbClr val="F3F0E8"/>
                </a:solidFill>
              </a:defRPr>
            </a:pPr>
            <a:fld id="{BA58DA2A-B818-18A9-29C1-B697728D5BCE}" type="slidenum">
              <a:rPr b="0">
                <a:solidFill>
                  <a:srgbClr val="F3F0E8"/>
                </a:solidFill>
              </a:rPr>
              <a:t>8</a:t>
            </a:fld>
            <a:endParaRPr/>
          </a:p>
        </p:txBody>
      </p:sp>
      <p:pic>
        <p:nvPicPr>
          <p:cNvPr id="26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ba903478c5472e">
            <a:extLst>
              <a:ext uri="{96DAC541-7B7A-43D3-8B79-37D633B846F1}">
                <asvg:svgBlip xmlns:asvg="http://schemas.microsoft.com/office/drawing/2016/SVG/main" r:embed="Rba58d16ea1774463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790700" y="3286125"/>
            <a:ext cx="1162050" cy="209550"/>
          </a:xfrm>
          <a:prstGeom xmlns:a="http://schemas.openxmlformats.org/drawingml/2006/main" prst="rect">
            <a:avLst/>
          </a:prstGeom>
        </p:spPr>
      </p:pic>
      <p:pic>
        <p:nvPicPr>
          <p:cNvPr id="26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1423343c5304349"/>
          <a:stretch xmlns:a="http://schemas.openxmlformats.org/drawingml/2006/main"/>
        </p:blipFill>
        <p:spPr>
          <a:xfrm xmlns:a="http://schemas.openxmlformats.org/drawingml/2006/main">
            <a:off x="3536871" y="4238625"/>
            <a:ext cx="908208" cy="209550"/>
          </a:xfrm>
          <a:prstGeom xmlns:a="http://schemas.openxmlformats.org/drawingml/2006/main" prst="rect">
            <a:avLst/>
          </a:prstGeom>
        </p:spPr>
      </p:pic>
      <p:pic>
        <p:nvPicPr>
          <p:cNvPr id="26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ee6030043d547a3">
            <a:extLst>
              <a:ext uri="{96DAC541-7B7A-43D3-8B79-37D633B846F1}">
                <asvg:svgBlip xmlns:asvg="http://schemas.microsoft.com/office/drawing/2016/SVG/main" r:embed="Rf3f9b9a81c73464b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219450" y="2886075"/>
            <a:ext cx="1162050" cy="209550"/>
          </a:xfrm>
          <a:prstGeom xmlns:a="http://schemas.openxmlformats.org/drawingml/2006/main" prst="rect">
            <a:avLst/>
          </a:prstGeom>
        </p:spPr>
      </p:pic>
      <p:pic>
        <p:nvPicPr>
          <p:cNvPr id="26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d6085715d124ce4"/>
          <a:stretch xmlns:a="http://schemas.openxmlformats.org/drawingml/2006/main"/>
        </p:blipFill>
        <p:spPr>
          <a:xfrm xmlns:a="http://schemas.openxmlformats.org/drawingml/2006/main">
            <a:off x="4678781" y="4238625"/>
            <a:ext cx="1005639" cy="209550"/>
          </a:xfrm>
          <a:prstGeom xmlns:a="http://schemas.openxmlformats.org/drawingml/2006/main" prst="rect">
            <a:avLst/>
          </a:prstGeom>
        </p:spPr>
      </p:pic>
      <p:pic>
        <p:nvPicPr>
          <p:cNvPr id="26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4624f90231d410a">
            <a:extLst>
              <a:ext uri="{96DAC541-7B7A-43D3-8B79-37D633B846F1}">
                <asvg:svgBlip xmlns:asvg="http://schemas.microsoft.com/office/drawing/2016/SVG/main" r:embed="Rc1e1beab0fff47f6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10450" y="2886075"/>
            <a:ext cx="1162050" cy="209550"/>
          </a:xfrm>
          <a:prstGeom xmlns:a="http://schemas.openxmlformats.org/drawingml/2006/main" prst="rect">
            <a:avLst/>
          </a:prstGeom>
        </p:spPr>
      </p:pic>
      <p:pic>
        <p:nvPicPr>
          <p:cNvPr id="26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1423343c5304349">
            <a:extLst>
              <a:ext uri="{96DAC541-7B7A-43D3-8B79-37D633B846F1}">
                <asvg:svgBlip xmlns:asvg="http://schemas.microsoft.com/office/drawing/2016/SVG/main" r:embed="Rd45191fdd9974420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696325" y="4238625"/>
            <a:ext cx="1162050" cy="209550"/>
          </a:xfrm>
          <a:prstGeom xmlns:a="http://schemas.openxmlformats.org/drawingml/2006/main" prst="rect">
            <a:avLst/>
          </a:prstGeom>
        </p:spPr>
      </p:pic>
      <p:pic>
        <p:nvPicPr>
          <p:cNvPr id="26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d6085715d124ce4">
            <a:extLst>
              <a:ext uri="{96DAC541-7B7A-43D3-8B79-37D633B846F1}">
                <asvg:svgBlip xmlns:asvg="http://schemas.microsoft.com/office/drawing/2016/SVG/main" r:embed="Rea95ec43cf514868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790700" y="3286125"/>
            <a:ext cx="1162050" cy="209550"/>
          </a:xfrm>
          <a:prstGeom xmlns:a="http://schemas.openxmlformats.org/drawingml/2006/main" prst="rect">
            <a:avLst/>
          </a:prstGeom>
        </p:spPr>
      </p:pic>
      <p:pic>
        <p:nvPicPr>
          <p:cNvPr id="27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2073c2357c249ec"/>
          <a:stretch xmlns:a="http://schemas.openxmlformats.org/drawingml/2006/main"/>
        </p:blipFill>
        <p:spPr>
          <a:xfrm xmlns:a="http://schemas.openxmlformats.org/drawingml/2006/main">
            <a:off x="3536871" y="4238625"/>
            <a:ext cx="908208" cy="209550"/>
          </a:xfrm>
          <a:prstGeom xmlns:a="http://schemas.openxmlformats.org/drawingml/2006/main" prst="rect">
            <a:avLst/>
          </a:prstGeom>
        </p:spPr>
      </p:pic>
      <p:pic>
        <p:nvPicPr>
          <p:cNvPr id="27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2073c2357c249ec">
            <a:extLst>
              <a:ext uri="{96DAC541-7B7A-43D3-8B79-37D633B846F1}">
                <asvg:svgBlip xmlns:asvg="http://schemas.microsoft.com/office/drawing/2016/SVG/main" r:embed="Re455688a557d4601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219450" y="2886075"/>
            <a:ext cx="1162050" cy="209550"/>
          </a:xfrm>
          <a:prstGeom xmlns:a="http://schemas.openxmlformats.org/drawingml/2006/main" prst="rect">
            <a:avLst/>
          </a:prstGeom>
        </p:spPr>
      </p:pic>
      <p:pic>
        <p:nvPicPr>
          <p:cNvPr id="27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4a875fdb3984cfc"/>
          <a:stretch xmlns:a="http://schemas.openxmlformats.org/drawingml/2006/main"/>
        </p:blipFill>
        <p:spPr>
          <a:xfrm xmlns:a="http://schemas.openxmlformats.org/drawingml/2006/main">
            <a:off x="4678781" y="4238625"/>
            <a:ext cx="1005639" cy="209550"/>
          </a:xfrm>
          <a:prstGeom xmlns:a="http://schemas.openxmlformats.org/drawingml/2006/main" prst="rect">
            <a:avLst/>
          </a:prstGeom>
        </p:spPr>
      </p:pic>
      <p:pic>
        <p:nvPicPr>
          <p:cNvPr id="27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4a875fdb3984cfc">
            <a:extLst>
              <a:ext uri="{96DAC541-7B7A-43D3-8B79-37D633B846F1}">
                <asvg:svgBlip xmlns:asvg="http://schemas.microsoft.com/office/drawing/2016/SVG/main" r:embed="Ra42465a5b0c54c9d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10450" y="2886075"/>
            <a:ext cx="1162050" cy="209550"/>
          </a:xfrm>
          <a:prstGeom xmlns:a="http://schemas.openxmlformats.org/drawingml/2006/main" prst="rect">
            <a:avLst/>
          </a:prstGeom>
        </p:spPr>
      </p:pic>
      <p:pic>
        <p:nvPicPr>
          <p:cNvPr id="27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164e2dbcabe4324">
            <a:extLst>
              <a:ext uri="{96DAC541-7B7A-43D3-8B79-37D633B846F1}">
                <asvg:svgBlip xmlns:asvg="http://schemas.microsoft.com/office/drawing/2016/SVG/main" r:embed="Recd2f08108854f17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696325" y="4238625"/>
            <a:ext cx="1162050" cy="209550"/>
          </a:xfrm>
          <a:prstGeom xmlns:a="http://schemas.openxmlformats.org/drawingml/2006/main" prst="rect">
            <a:avLst/>
          </a:prstGeom>
        </p:spPr>
      </p:pic>
      <p:pic>
        <p:nvPicPr>
          <p:cNvPr id="27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b3bef48a2604198">
            <a:extLst>
              <a:ext uri="{96DAC541-7B7A-43D3-8B79-37D633B846F1}">
                <asvg:svgBlip xmlns:asvg="http://schemas.microsoft.com/office/drawing/2016/SVG/main" r:embed="R9d3cdf1515f44cad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790700" y="3286125"/>
            <a:ext cx="1162050" cy="209550"/>
          </a:xfrm>
          <a:prstGeom xmlns:a="http://schemas.openxmlformats.org/drawingml/2006/main" prst="rect">
            <a:avLst/>
          </a:prstGeom>
        </p:spPr>
      </p:pic>
      <p:pic>
        <p:nvPicPr>
          <p:cNvPr id="27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eb5497e8b3e4e4e"/>
          <a:stretch xmlns:a="http://schemas.openxmlformats.org/drawingml/2006/main"/>
        </p:blipFill>
        <p:spPr>
          <a:xfrm xmlns:a="http://schemas.openxmlformats.org/drawingml/2006/main">
            <a:off x="3536871" y="4238625"/>
            <a:ext cx="908208" cy="209550"/>
          </a:xfrm>
          <a:prstGeom xmlns:a="http://schemas.openxmlformats.org/drawingml/2006/main" prst="rect">
            <a:avLst/>
          </a:prstGeom>
        </p:spPr>
      </p:pic>
      <p:pic>
        <p:nvPicPr>
          <p:cNvPr id="27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eb5497e8b3e4e4e">
            <a:extLst>
              <a:ext uri="{96DAC541-7B7A-43D3-8B79-37D633B846F1}">
                <asvg:svgBlip xmlns:asvg="http://schemas.microsoft.com/office/drawing/2016/SVG/main" r:embed="Rf176870716c147c3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219450" y="2886075"/>
            <a:ext cx="1162050" cy="209550"/>
          </a:xfrm>
          <a:prstGeom xmlns:a="http://schemas.openxmlformats.org/drawingml/2006/main" prst="rect">
            <a:avLst/>
          </a:prstGeom>
        </p:spPr>
      </p:pic>
      <p:pic>
        <p:nvPicPr>
          <p:cNvPr id="27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5eec424364645a6"/>
          <a:stretch xmlns:a="http://schemas.openxmlformats.org/drawingml/2006/main"/>
        </p:blipFill>
        <p:spPr>
          <a:xfrm xmlns:a="http://schemas.openxmlformats.org/drawingml/2006/main">
            <a:off x="4678781" y="4238625"/>
            <a:ext cx="1005639" cy="209550"/>
          </a:xfrm>
          <a:prstGeom xmlns:a="http://schemas.openxmlformats.org/drawingml/2006/main" prst="rect">
            <a:avLst/>
          </a:prstGeom>
        </p:spPr>
      </p:pic>
      <p:pic>
        <p:nvPicPr>
          <p:cNvPr id="27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5eec424364645a6">
            <a:extLst>
              <a:ext uri="{96DAC541-7B7A-43D3-8B79-37D633B846F1}">
                <asvg:svgBlip xmlns:asvg="http://schemas.microsoft.com/office/drawing/2016/SVG/main" r:embed="R5bf4d8da0b0a4b90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10450" y="2886075"/>
            <a:ext cx="1162050" cy="209550"/>
          </a:xfrm>
          <a:prstGeom xmlns:a="http://schemas.openxmlformats.org/drawingml/2006/main" prst="rect">
            <a:avLst/>
          </a:prstGeom>
        </p:spPr>
      </p:pic>
      <p:pic>
        <p:nvPicPr>
          <p:cNvPr id="28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c5fd5d91ca64439">
            <a:extLst>
              <a:ext uri="{96DAC541-7B7A-43D3-8B79-37D633B846F1}">
                <asvg:svgBlip xmlns:asvg="http://schemas.microsoft.com/office/drawing/2016/SVG/main" r:embed="R866020a9d988415b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696325" y="4238625"/>
            <a:ext cx="1162050" cy="209550"/>
          </a:xfrm>
          <a:prstGeom xmlns:a="http://schemas.openxmlformats.org/drawingml/2006/main" prst="rect">
            <a:avLst/>
          </a:prstGeom>
        </p:spPr>
      </p:pic>
      <p:pic>
        <p:nvPicPr>
          <p:cNvPr id="28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1ccff44b4c04ca3">
            <a:extLst>
              <a:ext uri="{96DAC541-7B7A-43D3-8B79-37D633B846F1}">
                <asvg:svgBlip xmlns:asvg="http://schemas.microsoft.com/office/drawing/2016/SVG/main" r:embed="R995ec702e037452f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790700" y="3286125"/>
            <a:ext cx="1162050" cy="209550"/>
          </a:xfrm>
          <a:prstGeom xmlns:a="http://schemas.openxmlformats.org/drawingml/2006/main" prst="rect">
            <a:avLst/>
          </a:prstGeom>
        </p:spPr>
      </p:pic>
      <p:pic>
        <p:nvPicPr>
          <p:cNvPr id="28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40d4cbaae54f0c"/>
          <a:stretch xmlns:a="http://schemas.openxmlformats.org/drawingml/2006/main"/>
        </p:blipFill>
        <p:spPr>
          <a:xfrm xmlns:a="http://schemas.openxmlformats.org/drawingml/2006/main">
            <a:off x="3536871" y="4238625"/>
            <a:ext cx="908208" cy="209550"/>
          </a:xfrm>
          <a:prstGeom xmlns:a="http://schemas.openxmlformats.org/drawingml/2006/main" prst="rect">
            <a:avLst/>
          </a:prstGeom>
        </p:spPr>
      </p:pic>
      <p:pic>
        <p:nvPicPr>
          <p:cNvPr id="28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40d4cbaae54f0c">
            <a:extLst>
              <a:ext uri="{96DAC541-7B7A-43D3-8B79-37D633B846F1}">
                <asvg:svgBlip xmlns:asvg="http://schemas.microsoft.com/office/drawing/2016/SVG/main" r:embed="Rf780c7c2eef94b4c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219450" y="2886075"/>
            <a:ext cx="1162050" cy="209550"/>
          </a:xfrm>
          <a:prstGeom xmlns:a="http://schemas.openxmlformats.org/drawingml/2006/main" prst="rect">
            <a:avLst/>
          </a:prstGeom>
        </p:spPr>
      </p:pic>
      <p:pic>
        <p:nvPicPr>
          <p:cNvPr id="28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df3bd82946c4714"/>
          <a:stretch xmlns:a="http://schemas.openxmlformats.org/drawingml/2006/main"/>
        </p:blipFill>
        <p:spPr>
          <a:xfrm xmlns:a="http://schemas.openxmlformats.org/drawingml/2006/main">
            <a:off x="4678781" y="4238625"/>
            <a:ext cx="1005639" cy="209550"/>
          </a:xfrm>
          <a:prstGeom xmlns:a="http://schemas.openxmlformats.org/drawingml/2006/main" prst="rect">
            <a:avLst/>
          </a:prstGeom>
        </p:spPr>
      </p:pic>
      <p:pic>
        <p:nvPicPr>
          <p:cNvPr id="28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df3bd82946c4714">
            <a:extLst>
              <a:ext uri="{96DAC541-7B7A-43D3-8B79-37D633B846F1}">
                <asvg:svgBlip xmlns:asvg="http://schemas.microsoft.com/office/drawing/2016/SVG/main" r:embed="R7925896b658540b7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10450" y="2886075"/>
            <a:ext cx="1162050" cy="209550"/>
          </a:xfrm>
          <a:prstGeom xmlns:a="http://schemas.openxmlformats.org/drawingml/2006/main" prst="rect">
            <a:avLst/>
          </a:prstGeom>
        </p:spPr>
      </p:pic>
      <p:pic>
        <p:nvPicPr>
          <p:cNvPr id="28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18136ebdb5543c3">
            <a:extLst>
              <a:ext uri="{96DAC541-7B7A-43D3-8B79-37D633B846F1}">
                <asvg:svgBlip xmlns:asvg="http://schemas.microsoft.com/office/drawing/2016/SVG/main" r:embed="Rf0dd5506d1774119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696325" y="4238625"/>
            <a:ext cx="1162050" cy="209550"/>
          </a:xfrm>
          <a:prstGeom xmlns:a="http://schemas.openxmlformats.org/drawingml/2006/main" prst="rect">
            <a:avLst/>
          </a:prstGeom>
        </p:spPr>
      </p:pic>
      <p:sp>
        <p:nvSpPr>
          <p:cNvPr id="196" name="competitor-table-cover">
            <a:extLst xmlns:a="http://schemas.openxmlformats.org/drawingml/2006/main">
              <a:ext uri="{FF2B5EF4-FFF2-40B4-BE49-F238E27FC236}">
                <a16:creationId xmlns:a16="http://schemas.microsoft.com/office/drawing/2014/main" id="{7B71F5B7-1081-43B4-8697-83DB90245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71700"/>
            <a:ext cx="10817352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505"/>
          </a:solidFill>
          <a:ln xmlns:a="http://schemas.openxmlformats.org/drawingml/2006/main" w="0">
            <a:solidFill>
              <a:srgbClr val="050505"/>
            </a:solidFill>
            <a:prstDash val="solid"/>
          </a:ln>
        </p:spPr>
      </p:sp>
      <p:sp>
        <p:nvSpPr>
          <p:cNvPr id="197" name="competitor-matrix-frame">
            <a:extLst xmlns:a="http://schemas.openxmlformats.org/drawingml/2006/main">
              <a:ext uri="{FF2B5EF4-FFF2-40B4-BE49-F238E27FC236}">
                <a16:creationId xmlns:a16="http://schemas.microsoft.com/office/drawing/2014/main" id="{3CD87437-A97A-43A2-AFB1-8D2CE86C9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400300"/>
            <a:ext cx="9944100" cy="2781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0D0D"/>
          </a:solidFill>
          <a:ln xmlns:a="http://schemas.openxmlformats.org/drawingml/2006/main" w="9525">
            <a:solidFill>
              <a:srgbClr val="25302E"/>
            </a:solidFill>
            <a:prstDash val="solid"/>
          </a:ln>
        </p:spPr>
      </p:sp>
      <p:sp>
        <p:nvSpPr>
          <p:cNvPr id="198" name="competitor-matrix-axis-y">
            <a:extLst xmlns:a="http://schemas.openxmlformats.org/drawingml/2006/main">
              <a:ext uri="{FF2B5EF4-FFF2-40B4-BE49-F238E27FC236}">
                <a16:creationId xmlns:a16="http://schemas.microsoft.com/office/drawing/2014/main" id="{91782250-7E22-404F-A997-FC4D3C4FC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2400300"/>
            <a:ext cx="9525" cy="2781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302E"/>
          </a:solidFill>
          <a:ln xmlns:a="http://schemas.openxmlformats.org/drawingml/2006/main" w="0">
            <a:solidFill>
              <a:srgbClr val="25302E"/>
            </a:solidFill>
            <a:prstDash val="solid"/>
          </a:ln>
        </p:spPr>
      </p:sp>
      <p:sp>
        <p:nvSpPr>
          <p:cNvPr id="199" name="competitor-matrix-axis-x">
            <a:extLst xmlns:a="http://schemas.openxmlformats.org/drawingml/2006/main">
              <a:ext uri="{FF2B5EF4-FFF2-40B4-BE49-F238E27FC236}">
                <a16:creationId xmlns:a16="http://schemas.microsoft.com/office/drawing/2014/main" id="{CF4DD817-6381-4653-AFFD-99078A630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790950"/>
            <a:ext cx="9944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302E"/>
          </a:solidFill>
          <a:ln xmlns:a="http://schemas.openxmlformats.org/drawingml/2006/main" w="0">
            <a:solidFill>
              <a:srgbClr val="25302E"/>
            </a:solidFill>
            <a:prstDash val="solid"/>
          </a:ln>
        </p:spPr>
      </p:sp>
      <p:sp>
        <p:nvSpPr>
          <p:cNvPr id="200" name="matrix-axis-left">
            <a:extLst xmlns:a="http://schemas.openxmlformats.org/drawingml/2006/main">
              <a:ext uri="{FF2B5EF4-FFF2-40B4-BE49-F238E27FC236}">
                <a16:creationId xmlns:a16="http://schemas.microsoft.com/office/drawing/2014/main" id="{77C27F64-C945-4ED8-A1EB-250A76596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457450"/>
            <a:ext cx="238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F3F0E8"/>
                </a:solidFill>
              </a:defRPr>
            </a:pPr>
            <a:r>
              <a:rPr sz="900" b="1">
                <a:solidFill>
                  <a:srgbClr val="F3F0E8"/>
                </a:solidFill>
              </a:rPr>
              <a:t>MISSION-SPECIFIC</a:t>
            </a:r>
          </a:p>
        </p:txBody>
      </p:sp>
      <p:sp>
        <p:nvSpPr>
          <p:cNvPr id="201" name="matrix-axis-top">
            <a:extLst xmlns:a="http://schemas.openxmlformats.org/drawingml/2006/main">
              <a:ext uri="{FF2B5EF4-FFF2-40B4-BE49-F238E27FC236}">
                <a16:creationId xmlns:a16="http://schemas.microsoft.com/office/drawing/2014/main" id="{BF998FCF-3FF0-4FA4-8D13-EC0E616A1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647950"/>
            <a:ext cx="152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F3F0E8"/>
                </a:solidFill>
              </a:defRPr>
            </a:pPr>
            <a:r>
              <a:rPr sz="900" b="1">
                <a:solidFill>
                  <a:srgbClr val="F3F0E8"/>
                </a:solidFill>
              </a:rPr>
              <a:t>ASSURANCE</a:t>
            </a:r>
          </a:p>
        </p:txBody>
      </p:sp>
      <p:sp>
        <p:nvSpPr>
          <p:cNvPr id="202" name="matrix-axis-right">
            <a:extLst xmlns:a="http://schemas.openxmlformats.org/drawingml/2006/main">
              <a:ext uri="{FF2B5EF4-FFF2-40B4-BE49-F238E27FC236}">
                <a16:creationId xmlns:a16="http://schemas.microsoft.com/office/drawing/2014/main" id="{6E44C19A-B04E-4414-B7A7-B9596418E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457450"/>
            <a:ext cx="1809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F3F0E8"/>
                </a:solidFill>
              </a:defRPr>
            </a:pPr>
            <a:r>
              <a:rPr sz="900" b="1">
                <a:solidFill>
                  <a:srgbClr val="F3F0E8"/>
                </a:solidFill>
              </a:rPr>
              <a:t>HORIZONTAL</a:t>
            </a:r>
          </a:p>
        </p:txBody>
      </p:sp>
      <p:sp>
        <p:nvSpPr>
          <p:cNvPr id="203" name="matrix-axis-bottom">
            <a:extLst xmlns:a="http://schemas.openxmlformats.org/drawingml/2006/main">
              <a:ext uri="{FF2B5EF4-FFF2-40B4-BE49-F238E27FC236}">
                <a16:creationId xmlns:a16="http://schemas.microsoft.com/office/drawing/2014/main" id="{1FBB797E-BA2D-47A5-AEFE-6EA73428C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953000"/>
            <a:ext cx="152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F3F0E8"/>
                </a:solidFill>
              </a:defRPr>
            </a:pPr>
            <a:r>
              <a:rPr sz="900" b="1">
                <a:solidFill>
                  <a:srgbClr val="F3F0E8"/>
                </a:solidFill>
              </a:rPr>
              <a:t>EXECUTION</a:t>
            </a:r>
          </a:p>
        </p:txBody>
      </p:sp>
      <p:sp>
        <p:nvSpPr>
          <p:cNvPr id="204" name="matrix-pill-Yamcs mission control">
            <a:extLst xmlns:a="http://schemas.openxmlformats.org/drawingml/2006/main">
              <a:ext uri="{FF2B5EF4-FFF2-40B4-BE49-F238E27FC236}">
                <a16:creationId xmlns:a16="http://schemas.microsoft.com/office/drawing/2014/main" id="{3C648652-5600-4EAC-863A-90E21CDFB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257550"/>
            <a:ext cx="16192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2F5FA"/>
          </a:solidFill>
          <a:ln xmlns:a="http://schemas.openxmlformats.org/drawingml/2006/main" w="9525">
            <a:solidFill>
              <a:srgbClr val="25302E"/>
            </a:solidFill>
            <a:prstDash val="solid"/>
          </a:ln>
        </p:spPr>
      </p:sp>
      <p:pic>
        <p:nvPicPr>
          <p:cNvPr id="29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1c700b876b44f38"/>
          <a:stretch xmlns:a="http://schemas.openxmlformats.org/drawingml/2006/main"/>
        </p:blipFill>
        <p:spPr>
          <a:xfrm xmlns:a="http://schemas.openxmlformats.org/drawingml/2006/main">
            <a:off x="2085975" y="3314700"/>
            <a:ext cx="685800" cy="285750"/>
          </a:xfrm>
          <a:prstGeom xmlns:a="http://schemas.openxmlformats.org/drawingml/2006/main" prst="rect">
            <a:avLst/>
          </a:prstGeom>
        </p:spPr>
      </p:pic>
      <p:sp>
        <p:nvSpPr>
          <p:cNvPr id="206" name="matrix-pill-OpenC3 COSMOS">
            <a:extLst xmlns:a="http://schemas.openxmlformats.org/drawingml/2006/main">
              <a:ext uri="{FF2B5EF4-FFF2-40B4-BE49-F238E27FC236}">
                <a16:creationId xmlns:a16="http://schemas.microsoft.com/office/drawing/2014/main" id="{289BB2E7-7B10-4612-BB3B-4D0CA654F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210050"/>
            <a:ext cx="16192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1171F"/>
          </a:solidFill>
          <a:ln xmlns:a="http://schemas.openxmlformats.org/drawingml/2006/main" w="9525">
            <a:solidFill>
              <a:srgbClr val="25302E"/>
            </a:solidFill>
            <a:prstDash val="solid"/>
          </a:ln>
        </p:spPr>
      </p:sp>
      <p:pic>
        <p:nvPicPr>
          <p:cNvPr id="29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594712a06464b47"/>
          <a:stretch xmlns:a="http://schemas.openxmlformats.org/drawingml/2006/main"/>
        </p:blipFill>
        <p:spPr>
          <a:xfrm xmlns:a="http://schemas.openxmlformats.org/drawingml/2006/main">
            <a:off x="3047426" y="4267200"/>
            <a:ext cx="1239398" cy="285750"/>
          </a:xfrm>
          <a:prstGeom xmlns:a="http://schemas.openxmlformats.org/drawingml/2006/main" prst="rect">
            <a:avLst/>
          </a:prstGeom>
        </p:spPr>
      </p:pic>
      <p:sp>
        <p:nvSpPr>
          <p:cNvPr id="208" name="matrix-pill-Slingshot Portal">
            <a:extLst xmlns:a="http://schemas.openxmlformats.org/drawingml/2006/main">
              <a:ext uri="{FF2B5EF4-FFF2-40B4-BE49-F238E27FC236}">
                <a16:creationId xmlns:a16="http://schemas.microsoft.com/office/drawing/2014/main" id="{16ADDABC-DC77-4DF1-8230-370A9CE1D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781300"/>
            <a:ext cx="16192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1171F"/>
          </a:solidFill>
          <a:ln xmlns:a="http://schemas.openxmlformats.org/drawingml/2006/main" w="9525">
            <a:solidFill>
              <a:srgbClr val="25302E"/>
            </a:solidFill>
            <a:prstDash val="solid"/>
          </a:ln>
        </p:spPr>
      </p:sp>
      <p:pic>
        <p:nvPicPr>
          <p:cNvPr id="30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f31aedf889c4411"/>
          <a:stretch xmlns:a="http://schemas.openxmlformats.org/drawingml/2006/main"/>
        </p:blipFill>
        <p:spPr>
          <a:xfrm xmlns:a="http://schemas.openxmlformats.org/drawingml/2006/main">
            <a:off x="3081305" y="2838450"/>
            <a:ext cx="1171640" cy="285750"/>
          </a:xfrm>
          <a:prstGeom xmlns:a="http://schemas.openxmlformats.org/drawingml/2006/main" prst="rect">
            <a:avLst/>
          </a:prstGeom>
        </p:spPr>
      </p:pic>
      <p:sp>
        <p:nvSpPr>
          <p:cNvPr id="210" name="matrix-pill-AIKO orbital_OLIVER">
            <a:extLst xmlns:a="http://schemas.openxmlformats.org/drawingml/2006/main">
              <a:ext uri="{FF2B5EF4-FFF2-40B4-BE49-F238E27FC236}">
                <a16:creationId xmlns:a16="http://schemas.microsoft.com/office/drawing/2014/main" id="{89A8AB5E-4A8F-4FEB-8D27-3D708BCD4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210050"/>
            <a:ext cx="16192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4D6972"/>
          </a:solidFill>
          <a:ln xmlns:a="http://schemas.openxmlformats.org/drawingml/2006/main" w="9525">
            <a:solidFill>
              <a:srgbClr val="25302E"/>
            </a:solidFill>
            <a:prstDash val="solid"/>
          </a:ln>
        </p:spPr>
      </p:sp>
      <p:pic>
        <p:nvPicPr>
          <p:cNvPr id="30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b01f7fd66d64342"/>
          <a:stretch xmlns:a="http://schemas.openxmlformats.org/drawingml/2006/main"/>
        </p:blipFill>
        <p:spPr>
          <a:xfrm xmlns:a="http://schemas.openxmlformats.org/drawingml/2006/main">
            <a:off x="4791075" y="4267200"/>
            <a:ext cx="1371600" cy="285750"/>
          </a:xfrm>
          <a:prstGeom xmlns:a="http://schemas.openxmlformats.org/drawingml/2006/main" prst="rect">
            <a:avLst/>
          </a:prstGeom>
        </p:spPr>
      </p:pic>
      <p:sp>
        <p:nvSpPr>
          <p:cNvPr id="212" name="matrix-pill-Arize AI observability">
            <a:extLst xmlns:a="http://schemas.openxmlformats.org/drawingml/2006/main">
              <a:ext uri="{FF2B5EF4-FFF2-40B4-BE49-F238E27FC236}">
                <a16:creationId xmlns:a16="http://schemas.microsoft.com/office/drawing/2014/main" id="{02D4F407-8847-4FC0-B8FD-1008E999A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781300"/>
            <a:ext cx="16192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2F5FA"/>
          </a:solidFill>
          <a:ln xmlns:a="http://schemas.openxmlformats.org/drawingml/2006/main" w="9525">
            <a:solidFill>
              <a:srgbClr val="25302E"/>
            </a:solidFill>
            <a:prstDash val="solid"/>
          </a:ln>
        </p:spPr>
      </p:sp>
      <p:pic>
        <p:nvPicPr>
          <p:cNvPr id="30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50cd183aae9405c"/>
          <a:stretch xmlns:a="http://schemas.openxmlformats.org/drawingml/2006/main"/>
        </p:blipFill>
        <p:spPr>
          <a:xfrm xmlns:a="http://schemas.openxmlformats.org/drawingml/2006/main">
            <a:off x="7705567" y="2838450"/>
            <a:ext cx="1067116" cy="285750"/>
          </a:xfrm>
          <a:prstGeom xmlns:a="http://schemas.openxmlformats.org/drawingml/2006/main" prst="rect">
            <a:avLst/>
          </a:prstGeom>
        </p:spPr>
      </p:pic>
      <p:sp>
        <p:nvSpPr>
          <p:cNvPr id="214" name="matrix-pill-Fiddler AI observability">
            <a:extLst xmlns:a="http://schemas.openxmlformats.org/drawingml/2006/main">
              <a:ext uri="{FF2B5EF4-FFF2-40B4-BE49-F238E27FC236}">
                <a16:creationId xmlns:a16="http://schemas.microsoft.com/office/drawing/2014/main" id="{CE441D4B-5FEC-45DB-895D-BC52223EF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210050"/>
            <a:ext cx="16192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2F5FA"/>
          </a:solidFill>
          <a:ln xmlns:a="http://schemas.openxmlformats.org/drawingml/2006/main" w="9525">
            <a:solidFill>
              <a:srgbClr val="25302E"/>
            </a:solidFill>
            <a:prstDash val="solid"/>
          </a:ln>
        </p:spPr>
      </p:sp>
      <p:pic>
        <p:nvPicPr>
          <p:cNvPr id="30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52dfa5919942c5"/>
          <a:stretch xmlns:a="http://schemas.openxmlformats.org/drawingml/2006/main"/>
        </p:blipFill>
        <p:spPr>
          <a:xfrm xmlns:a="http://schemas.openxmlformats.org/drawingml/2006/main">
            <a:off x="8743974" y="4267200"/>
            <a:ext cx="1276303" cy="285750"/>
          </a:xfrm>
          <a:prstGeom xmlns:a="http://schemas.openxmlformats.org/drawingml/2006/main" prst="rect">
            <a:avLst/>
          </a:prstGeom>
        </p:spPr>
      </p:pic>
      <p:sp>
        <p:nvSpPr>
          <p:cNvPr id="216" name="matrix-gauss-pill">
            <a:extLst xmlns:a="http://schemas.openxmlformats.org/drawingml/2006/main">
              <a:ext uri="{FF2B5EF4-FFF2-40B4-BE49-F238E27FC236}">
                <a16:creationId xmlns:a16="http://schemas.microsoft.com/office/drawing/2014/main" id="{E7873DC8-8B48-4072-947A-60A7BEFC4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257550"/>
            <a:ext cx="16192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0B1400"/>
          </a:solidFill>
          <a:ln xmlns:a="http://schemas.openxmlformats.org/drawingml/2006/main" w="19050">
            <a:solidFill>
              <a:srgbClr val="CCFF00"/>
            </a:solidFill>
            <a:prstDash val="solid"/>
          </a:ln>
        </p:spPr>
      </p:sp>
      <p:sp>
        <p:nvSpPr>
          <p:cNvPr id="217" name="matrix-gauss-label">
            <a:extLst xmlns:a="http://schemas.openxmlformats.org/drawingml/2006/main">
              <a:ext uri="{FF2B5EF4-FFF2-40B4-BE49-F238E27FC236}">
                <a16:creationId xmlns:a16="http://schemas.microsoft.com/office/drawing/2014/main" id="{002E9A79-4AB2-4219-9EF3-38EBFCED1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3343275"/>
            <a:ext cx="114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CCFF00"/>
                </a:solidFill>
              </a:defRPr>
            </a:pPr>
            <a:r>
              <a:rPr sz="1350" b="1">
                <a:solidFill>
                  <a:srgbClr val="CCFF00"/>
                </a:solidFill>
              </a:rPr>
              <a:t>GAUSS</a:t>
            </a:r>
          </a:p>
        </p:txBody>
      </p:sp>
    </p:spTree>
    <p:extLst>
      <p:ext uri="{BB962C8B-B14F-4D97-AF65-F5344CB8AC3E}">
        <p14:creationId xmlns:p14="http://schemas.microsoft.com/office/powerpoint/2010/main" val="95868216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3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e25a1fb9883496d">
            <a:alphaModFix amt="96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Shape 0">
            <a:extLst xmlns:a="http://schemas.openxmlformats.org/drawingml/2006/main">
              <a:ext uri="{FF2B5EF4-FFF2-40B4-BE49-F238E27FC236}">
                <a16:creationId xmlns:a16="http://schemas.microsoft.com/office/drawing/2014/main" id="{AF587926-DCCC-4A2E-9988-38BBCF77C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505">
              <a:alpha val="12000"/>
            </a:srgbClr>
          </a:solidFill>
          <a:ln xmlns:a="http://schemas.openxmlformats.org/drawingml/2006/main" w="12700">
            <a:solidFill>
              <a:srgbClr val="05050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>
                <a:solidFill>
                  <a:srgbClr val="F3F0E8"/>
                </a:solidFill>
              </a:defRPr>
            </a:pPr>
            <a:r>
              <a:rPr>
                <a:solidFill>
                  <a:srgbClr val="F3F0E8"/>
                </a:solidFill>
              </a:rPr>
              <a:t/>
            </a:r>
          </a:p>
        </p:txBody>
      </p:sp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764F437F-DAB8-477A-B7EB-9185CF704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9184"/>
            <a:ext cx="8229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0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GAUSS</a:t>
            </a:r>
            <a:endParaRPr sz="1000"/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3F09B3A8-4B2A-469D-A5F8-4A8E87528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0512" y="338328"/>
            <a:ext cx="36576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8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TEAM</a:t>
            </a:r>
            <a:endParaRPr sz="800"/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B6337744-8DCE-460E-B8EA-E24EF16A6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088" y="338328"/>
            <a:ext cx="43891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8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09</a:t>
            </a:r>
            <a:endParaRPr sz="800"/>
          </a:p>
        </p:txBody>
      </p:sp>
      <p:sp>
        <p:nvSpPr>
          <p:cNvPr id="7" name="Shape 4">
            <a:extLst xmlns:a="http://schemas.openxmlformats.org/drawingml/2006/main">
              <a:ext uri="{FF2B5EF4-FFF2-40B4-BE49-F238E27FC236}">
                <a16:creationId xmlns:a16="http://schemas.microsoft.com/office/drawing/2014/main" id="{B0FC7B2A-D02E-49ED-98E3-077F6292A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1735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52A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3A2FC63E-2CC5-4757-8D64-46F52BF7A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2688"/>
            <a:ext cx="1069848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28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Three owners cover product, operators, and systems.</a:t>
            </a:r>
            <a:endParaRPr sz="2800"/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923F56BC-97D1-42F1-8AD0-6631FEC87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72184"/>
            <a:ext cx="10287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5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Product, operator experience, and space-systems execution are covered; customer proof is next.</a:t>
            </a:r>
            <a:endParaRPr sz="1500"/>
          </a:p>
        </p:txBody>
      </p:sp>
      <p:sp>
        <p:nvSpPr>
          <p:cNvPr id="10" name="Shape 7">
            <a:extLst xmlns:a="http://schemas.openxmlformats.org/drawingml/2006/main">
              <a:ext uri="{FF2B5EF4-FFF2-40B4-BE49-F238E27FC236}">
                <a16:creationId xmlns:a16="http://schemas.microsoft.com/office/drawing/2014/main" id="{45129F59-1B45-4F4D-855F-DC9D8E2F2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67712"/>
            <a:ext cx="3154680" cy="2103120"/>
          </a:xfrm>
          <a:prstGeom xmlns:a="http://schemas.openxmlformats.org/drawingml/2006/main" prst="roundRect">
            <a:avLst>
              <a:gd name="adj" fmla="val 7826"/>
            </a:avLst>
          </a:prstGeom>
          <a:solidFill xmlns:a="http://schemas.openxmlformats.org/drawingml/2006/main">
            <a:srgbClr val="0D1010"/>
          </a:solidFill>
          <a:ln xmlns:a="http://schemas.openxmlformats.org/drawingml/2006/main" w="12700">
            <a:solidFill>
              <a:srgbClr val="252A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520EBDA1-3B8C-4742-A7E1-D9ACBDEAC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23744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CFF00"/>
          </a:solidFill>
          <a:ln xmlns:a="http://schemas.openxmlformats.org/drawingml/2006/main" w="12700">
            <a:solidFill>
              <a:srgbClr val="CCFF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0ECFBE7B-78EC-4A2D-A4D3-4EC7E0FC5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79192"/>
            <a:ext cx="45720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3333"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9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JN</a:t>
            </a:r>
            <a:endParaRPr sz="900"/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CD45277A-7DA1-42EE-A74C-1EAD6964F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0712" y="2578608"/>
            <a:ext cx="2286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4286"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4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◈</a:t>
            </a:r>
            <a:endParaRPr sz="1400"/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48058F95-4F24-4F77-8B77-E369F16C6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2560320"/>
            <a:ext cx="192024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4286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4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Joshua Nathan</a:t>
            </a:r>
            <a:endParaRPr sz="1400"/>
          </a:p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0AC92DA5-6FF3-4178-A536-D187323F1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2944368"/>
            <a:ext cx="182880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8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CEO / Founder &amp; mission lead</a:t>
            </a:r>
            <a:endParaRPr sz="800"/>
          </a:p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8C6C7171-1F65-4448-ACA8-A06BF3D0B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10128"/>
            <a:ext cx="267919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52A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7ED17EAE-B02B-4A6F-AF73-C426AB8F1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11880"/>
            <a:ext cx="2560320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1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Product direction, mission context, and commercial wedge.</a:t>
            </a:r>
            <a:endParaRPr sz="1100"/>
          </a:p>
        </p:txBody>
      </p:sp>
      <p:sp>
        <p:nvSpPr>
          <p:cNvPr id="18" name="Shape 15">
            <a:extLst xmlns:a="http://schemas.openxmlformats.org/drawingml/2006/main">
              <a:ext uri="{FF2B5EF4-FFF2-40B4-BE49-F238E27FC236}">
                <a16:creationId xmlns:a16="http://schemas.microsoft.com/office/drawing/2014/main" id="{93CB4B89-1E0E-4108-AC2D-E625804C0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2267712"/>
            <a:ext cx="3154680" cy="2103120"/>
          </a:xfrm>
          <a:prstGeom xmlns:a="http://schemas.openxmlformats.org/drawingml/2006/main" prst="roundRect">
            <a:avLst>
              <a:gd name="adj" fmla="val 7826"/>
            </a:avLst>
          </a:prstGeom>
          <a:solidFill xmlns:a="http://schemas.openxmlformats.org/drawingml/2006/main">
            <a:srgbClr val="0D1010"/>
          </a:solidFill>
          <a:ln xmlns:a="http://schemas.openxmlformats.org/drawingml/2006/main" w="12700">
            <a:solidFill>
              <a:srgbClr val="252A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DFBE11FD-2D37-4B47-8143-D4419222E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6280" y="2523744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B14A"/>
          </a:solidFill>
          <a:ln xmlns:a="http://schemas.openxmlformats.org/drawingml/2006/main" w="12700">
            <a:solidFill>
              <a:srgbClr val="E7B14A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BF92AA1B-31D1-4435-BD98-50B61DA26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6280" y="2679192"/>
            <a:ext cx="45720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3333"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9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KL</a:t>
            </a:r>
            <a:endParaRPr sz="900"/>
          </a:p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8E186CFA-D407-443D-B305-855E4999E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2592" y="2578608"/>
            <a:ext cx="2286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4286"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4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◎</a:t>
            </a:r>
            <a:endParaRPr sz="1400"/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29CDEC9C-7F6D-49B3-BCCD-0E549DEC4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80" y="2560320"/>
            <a:ext cx="192024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4286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4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Kristina Logunova</a:t>
            </a:r>
            <a:endParaRPr sz="1400"/>
          </a:p>
        </p:txBody>
      </p:sp>
      <p:sp>
        <p:nvSpPr>
          <p:cNvPr id="23" name="Text 20">
            <a:extLst xmlns:a="http://schemas.openxmlformats.org/drawingml/2006/main">
              <a:ext uri="{FF2B5EF4-FFF2-40B4-BE49-F238E27FC236}">
                <a16:creationId xmlns:a16="http://schemas.microsoft.com/office/drawing/2014/main" id="{DA268C13-E24C-4514-91A9-840356D74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80" y="2944368"/>
            <a:ext cx="182880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8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COO</a:t>
            </a:r>
            <a:endParaRPr sz="800"/>
          </a:p>
        </p:txBody>
      </p:sp>
      <p:sp>
        <p:nvSpPr>
          <p:cNvPr id="24" name="Shape 21">
            <a:extLst xmlns:a="http://schemas.openxmlformats.org/drawingml/2006/main">
              <a:ext uri="{FF2B5EF4-FFF2-40B4-BE49-F238E27FC236}">
                <a16:creationId xmlns:a16="http://schemas.microsoft.com/office/drawing/2014/main" id="{2DEE299B-9FEC-49DA-B76C-69D93296C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6280" y="3310128"/>
            <a:ext cx="267919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52A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925A3554-3F02-4B06-BCB8-7B74A4666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6280" y="3611880"/>
            <a:ext cx="2560320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1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Human–computer interaction and operator experience.</a:t>
            </a:r>
            <a:endParaRPr sz="1100"/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B32D540C-BB92-4E63-9C30-45DC9BC83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9560" y="2267712"/>
            <a:ext cx="3154680" cy="2103120"/>
          </a:xfrm>
          <a:prstGeom xmlns:a="http://schemas.openxmlformats.org/drawingml/2006/main" prst="roundRect">
            <a:avLst>
              <a:gd name="adj" fmla="val 7826"/>
            </a:avLst>
          </a:prstGeom>
          <a:solidFill xmlns:a="http://schemas.openxmlformats.org/drawingml/2006/main">
            <a:srgbClr val="0D1010"/>
          </a:solidFill>
          <a:ln xmlns:a="http://schemas.openxmlformats.org/drawingml/2006/main" w="12700">
            <a:solidFill>
              <a:srgbClr val="252A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4D835749-C84A-44A1-8427-414831393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2523744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CFF00"/>
          </a:solidFill>
          <a:ln xmlns:a="http://schemas.openxmlformats.org/drawingml/2006/main" w="12700">
            <a:solidFill>
              <a:srgbClr val="CCFF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23DA993A-917C-469F-A7CB-68BEEA9C7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2679192"/>
            <a:ext cx="45720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3333"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9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SH</a:t>
            </a:r>
            <a:endParaRPr sz="900"/>
          </a:p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4279494E-2E45-4FF9-98C8-231742DE8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34472" y="2578608"/>
            <a:ext cx="2286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4286"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4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✦</a:t>
            </a:r>
            <a:endParaRPr sz="1400"/>
          </a:p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EF68145B-67D8-4B0C-A192-AAD88C70B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3960" y="2560320"/>
            <a:ext cx="192024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4286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4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Shubham Hule</a:t>
            </a:r>
            <a:endParaRPr sz="1400"/>
          </a:p>
        </p:txBody>
      </p:sp>
      <p:sp>
        <p:nvSpPr>
          <p:cNvPr id="31" name="Text 28">
            <a:extLst xmlns:a="http://schemas.openxmlformats.org/drawingml/2006/main">
              <a:ext uri="{FF2B5EF4-FFF2-40B4-BE49-F238E27FC236}">
                <a16:creationId xmlns:a16="http://schemas.microsoft.com/office/drawing/2014/main" id="{E52D0128-D3A7-43EE-BCBB-21267A0FB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3960" y="2944368"/>
            <a:ext cx="182880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8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CTO</a:t>
            </a:r>
            <a:endParaRPr sz="800"/>
          </a:p>
        </p:txBody>
      </p:sp>
      <p:sp>
        <p:nvSpPr>
          <p:cNvPr id="32" name="Shape 29">
            <a:extLst xmlns:a="http://schemas.openxmlformats.org/drawingml/2006/main">
              <a:ext uri="{FF2B5EF4-FFF2-40B4-BE49-F238E27FC236}">
                <a16:creationId xmlns:a16="http://schemas.microsoft.com/office/drawing/2014/main" id="{18C7ABC4-7B04-46C0-B83F-31017B3A6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3310128"/>
            <a:ext cx="267919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52A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6A07186E-71C1-4247-81CC-D10BB62F1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3611880"/>
            <a:ext cx="2560320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1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Space systems engineering and technical execution.</a:t>
            </a:r>
            <a:endParaRPr sz="1100"/>
          </a:p>
        </p:txBody>
      </p:sp>
      <p:sp>
        <p:nvSpPr>
          <p:cNvPr id="34" name="Shape 31">
            <a:extLst xmlns:a="http://schemas.openxmlformats.org/drawingml/2006/main">
              <a:ext uri="{FF2B5EF4-FFF2-40B4-BE49-F238E27FC236}">
                <a16:creationId xmlns:a16="http://schemas.microsoft.com/office/drawing/2014/main" id="{4159CC84-8688-4B27-9775-36B588DDF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36592"/>
            <a:ext cx="10817352" cy="841248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0D1010"/>
          </a:solidFill>
          <a:ln xmlns:a="http://schemas.openxmlformats.org/drawingml/2006/main" w="12700">
            <a:solidFill>
              <a:srgbClr val="252A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5" name="Text 32">
            <a:extLst xmlns:a="http://schemas.openxmlformats.org/drawingml/2006/main">
              <a:ext uri="{FF2B5EF4-FFF2-40B4-BE49-F238E27FC236}">
                <a16:creationId xmlns:a16="http://schemas.microsoft.com/office/drawing/2014/main" id="{1DE99188-39AF-4CD3-89F8-AA234F0CF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974336"/>
            <a:ext cx="173736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8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ADVISOR NETWORK</a:t>
            </a:r>
            <a:endParaRPr sz="800"/>
          </a:p>
        </p:txBody>
      </p:sp>
      <p:sp>
        <p:nvSpPr>
          <p:cNvPr id="36" name="Text 33">
            <a:extLst xmlns:a="http://schemas.openxmlformats.org/drawingml/2006/main">
              <a:ext uri="{FF2B5EF4-FFF2-40B4-BE49-F238E27FC236}">
                <a16:creationId xmlns:a16="http://schemas.microsoft.com/office/drawing/2014/main" id="{A28E7474-3D00-4D51-824D-1FF4D18C0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4919472"/>
            <a:ext cx="23774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3333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9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Barbara J. Thompson  /  Solar physics &amp; NASA Goddard</a:t>
            </a:r>
            <a:endParaRPr sz="900"/>
          </a:p>
        </p:txBody>
      </p:sp>
      <p:sp>
        <p:nvSpPr>
          <p:cNvPr id="37" name="Text 34">
            <a:extLst xmlns:a="http://schemas.openxmlformats.org/drawingml/2006/main">
              <a:ext uri="{FF2B5EF4-FFF2-40B4-BE49-F238E27FC236}">
                <a16:creationId xmlns:a16="http://schemas.microsoft.com/office/drawing/2014/main" id="{4EDBE9A7-DE24-4522-B8B4-015B6A69E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4688" y="4919472"/>
            <a:ext cx="22402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3333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9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Eleni Petrakou  /  Particle physics &amp; space weather</a:t>
            </a:r>
            <a:endParaRPr sz="900"/>
          </a:p>
        </p:txBody>
      </p:sp>
      <p:sp>
        <p:nvSpPr>
          <p:cNvPr id="38" name="Text 35">
            <a:extLst xmlns:a="http://schemas.openxmlformats.org/drawingml/2006/main">
              <a:ext uri="{FF2B5EF4-FFF2-40B4-BE49-F238E27FC236}">
                <a16:creationId xmlns:a16="http://schemas.microsoft.com/office/drawing/2014/main" id="{21EF76CB-9A2E-4690-B276-45FB77556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3568" y="4919472"/>
            <a:ext cx="24688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3596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9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Jamie Berry  /  Aerospace, defence &amp; space finance</a:t>
            </a:r>
            <a:endParaRPr sz="900"/>
          </a:p>
        </p:txBody>
      </p:sp>
      <p:sp>
        <p:nvSpPr>
          <p:cNvPr id="39" name="Text 36">
            <a:extLst xmlns:a="http://schemas.openxmlformats.org/drawingml/2006/main">
              <a:ext uri="{FF2B5EF4-FFF2-40B4-BE49-F238E27FC236}">
                <a16:creationId xmlns:a16="http://schemas.microsoft.com/office/drawing/2014/main" id="{58FAC365-06D3-4D79-B5FD-E5274B0F8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89320"/>
            <a:ext cx="104241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8182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1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The team slide is factual; the next diligence layer is specific founder proof and customer evidence.</a:t>
            </a:r>
            <a:endParaRPr sz="1100"/>
          </a:p>
        </p:txBody>
      </p:sp>
      <p:sp>
        <p:nvSpPr>
          <p:cNvPr id="41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809CE116-63C5-43FD-B0F1-BF62886205A6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064240" y="6473952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E7B14A"/>
                </a:solidFill>
                <a:latin typeface="JetBrains Mono"/>
                <a:ea typeface="JetBrains Mono"/>
                <a:cs typeface="JetBrains Mono"/>
              </a:defRPr>
            </a:lvl1pPr>
          </a:lstStyle>
          <a:p xmlns:a="http://schemas.openxmlformats.org/drawingml/2006/main">
            <a:pPr algn="l">
              <a:buNone/>
              <a:defRPr>
                <a:solidFill>
                  <a:srgbClr val="F3F0E8"/>
                </a:solidFill>
              </a:defRPr>
            </a:pPr>
            <a:fld id="{388657AE-30A1-5A7A-6A7F-315D84436430}" type="slidenum">
              <a:rPr b="0">
                <a:solidFill>
                  <a:srgbClr val="F3F0E8"/>
                </a:solidFill>
              </a:rPr>
              <a:t>9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451045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448C4638-4F1D-4F9A-927A-BD2567368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9184"/>
            <a:ext cx="8229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0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GAUSS</a:t>
            </a:r>
            <a:endParaRPr sz="10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AEC2A040-B9B4-4CE8-A1DA-5E15E50B4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0512" y="338328"/>
            <a:ext cx="36576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8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THE ASK</a:t>
            </a:r>
            <a:endParaRPr sz="8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481939C5-95D2-42FE-BEE5-5A69C3C92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088" y="338328"/>
            <a:ext cx="43891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8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10</a:t>
            </a:r>
            <a:endParaRPr sz="8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241134AA-76D6-458B-BBAD-D84E64025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1735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52A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4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ace83cc9f9458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7" name="Shape 4">
            <a:extLst xmlns:a="http://schemas.openxmlformats.org/drawingml/2006/main">
              <a:ext uri="{FF2B5EF4-FFF2-40B4-BE49-F238E27FC236}">
                <a16:creationId xmlns:a16="http://schemas.microsoft.com/office/drawing/2014/main" id="{20642337-2EE1-4D77-8CC8-CA32FE5DD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505">
              <a:alpha val="32000"/>
            </a:srgbClr>
          </a:solidFill>
          <a:ln xmlns:a="http://schemas.openxmlformats.org/drawingml/2006/main" w="12700">
            <a:solidFill>
              <a:srgbClr val="05050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>
                <a:solidFill>
                  <a:srgbClr val="F3F0E8"/>
                </a:solidFill>
              </a:defRPr>
            </a:pPr>
            <a:r>
              <a:rPr>
                <a:solidFill>
                  <a:srgbClr val="F3F0E8"/>
                </a:solidFill>
              </a:rPr>
              <a:t/>
            </a:r>
          </a:p>
        </p:txBody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7FDB0853-3B40-4DF5-A4D0-DA7ADF8E9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54480"/>
            <a:ext cx="32918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77778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b="1">
                <a:solidFill>
                  <a:srgbClr val="CCFF00"/>
                </a:solidFill>
              </a:defRPr>
            </a:pPr>
            <a:r>
              <a:rPr sz="5400" b="1">
                <a:solidFill>
                  <a:srgbClr val="CCFF00"/>
                </a:solidFill>
                <a:latin typeface="Inter"/>
                <a:ea typeface="Inter"/>
                <a:cs typeface="Inter"/>
              </a:rPr>
              <a:t>$1.5M</a:t>
            </a:r>
            <a:endParaRPr sz="5400"/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2F7088F9-07CE-4AE6-BDCE-67605851F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331720"/>
            <a:ext cx="594360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1202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1800" b="1">
                <a:solidFill>
                  <a:srgbClr val="F3F0E8"/>
                </a:solidFill>
              </a:defRPr>
            </a:pPr>
            <a:r>
              <a:rPr sz="18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to fund a 6–12 month ground-first programme to paid pilots.</a:t>
            </a:r>
            <a:endParaRPr sz="2300"/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A7C3674C-0E7C-4E6B-A105-47C91750F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3493008"/>
            <a:ext cx="2476500" cy="171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1050" b="1">
                <a:solidFill>
                  <a:srgbClr val="F3F0E8"/>
                </a:solidFill>
              </a:defRPr>
            </a:pPr>
            <a:r>
              <a:rPr sz="105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PURPOSE / USE OF FUNDS</a:t>
            </a:r>
            <a:endParaRPr sz="800"/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A93DD0B6-8AB0-407C-95FD-2BB7B87F8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3886200"/>
            <a:ext cx="224028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8182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1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Product + integrations</a:t>
            </a:r>
            <a:endParaRPr sz="1100"/>
          </a:p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2978B1B6-E8BE-412E-A766-348C68B48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3240" y="3931920"/>
            <a:ext cx="2240280" cy="118872"/>
          </a:xfrm>
          <a:prstGeom xmlns:a="http://schemas.openxmlformats.org/drawingml/2006/main" prst="roundRect">
            <a:avLst>
              <a:gd name="adj" fmla="val 46154"/>
            </a:avLst>
          </a:prstGeom>
          <a:solidFill xmlns:a="http://schemas.openxmlformats.org/drawingml/2006/main">
            <a:srgbClr val="1B201F"/>
          </a:solidFill>
          <a:ln xmlns:a="http://schemas.openxmlformats.org/drawingml/2006/main" w="12700">
            <a:solidFill>
              <a:srgbClr val="05050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4F7F7688-159C-43F9-B87E-803CE6931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3240" y="3931920"/>
            <a:ext cx="2240280" cy="118872"/>
          </a:xfrm>
          <a:prstGeom xmlns:a="http://schemas.openxmlformats.org/drawingml/2006/main" prst="roundRect">
            <a:avLst>
              <a:gd name="adj" fmla="val 46154"/>
            </a:avLst>
          </a:prstGeom>
          <a:solidFill xmlns:a="http://schemas.openxmlformats.org/drawingml/2006/main">
            <a:srgbClr val="CCFF00"/>
          </a:solidFill>
          <a:ln xmlns:a="http://schemas.openxmlformats.org/drawingml/2006/main" w="12700">
            <a:solidFill>
              <a:srgbClr val="05050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44DC7934-8F07-453A-83E7-99724EB9C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0680" y="3886200"/>
            <a:ext cx="5029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  <a:defRPr b="1">
                <a:solidFill>
                  <a:srgbClr val="CCFF00"/>
                </a:solidFill>
              </a:defRPr>
            </a:pPr>
            <a:r>
              <a:rPr sz="1000" b="1">
                <a:solidFill>
                  <a:srgbClr val="CCFF00"/>
                </a:solidFill>
                <a:latin typeface="JetBrains Mono"/>
                <a:ea typeface="JetBrains Mono"/>
                <a:cs typeface="JetBrains Mono"/>
              </a:rPr>
              <a:t>45%</a:t>
            </a:r>
            <a:endParaRPr sz="1000"/>
          </a:p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84625EC8-2F68-4463-BCAB-AC80BAAD0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4233672"/>
            <a:ext cx="224028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8182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1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Security + compliance</a:t>
            </a:r>
            <a:endParaRPr sz="1100"/>
          </a:p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8DD2D7EA-8538-471F-804E-EBA3EAB3C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3240" y="4279392"/>
            <a:ext cx="2240280" cy="118872"/>
          </a:xfrm>
          <a:prstGeom xmlns:a="http://schemas.openxmlformats.org/drawingml/2006/main" prst="roundRect">
            <a:avLst>
              <a:gd name="adj" fmla="val 46154"/>
            </a:avLst>
          </a:prstGeom>
          <a:solidFill xmlns:a="http://schemas.openxmlformats.org/drawingml/2006/main">
            <a:srgbClr val="1B201F"/>
          </a:solidFill>
          <a:ln xmlns:a="http://schemas.openxmlformats.org/drawingml/2006/main" w="12700">
            <a:solidFill>
              <a:srgbClr val="05050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2EFD5DD0-1D90-429C-A63D-5CF4F1C69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3240" y="4279392"/>
            <a:ext cx="995680" cy="118872"/>
          </a:xfrm>
          <a:prstGeom xmlns:a="http://schemas.openxmlformats.org/drawingml/2006/main" prst="roundRect">
            <a:avLst>
              <a:gd name="adj" fmla="val 46154"/>
            </a:avLst>
          </a:prstGeom>
          <a:solidFill xmlns:a="http://schemas.openxmlformats.org/drawingml/2006/main">
            <a:srgbClr val="E7B14A"/>
          </a:solidFill>
          <a:ln xmlns:a="http://schemas.openxmlformats.org/drawingml/2006/main" w="12700">
            <a:solidFill>
              <a:srgbClr val="05050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4AD32F52-F865-47BC-8D97-A53D543A7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0680" y="4233672"/>
            <a:ext cx="5029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  <a:defRPr b="1">
                <a:solidFill>
                  <a:srgbClr val="CCFF00"/>
                </a:solidFill>
              </a:defRPr>
            </a:pPr>
            <a:r>
              <a:rPr sz="1000" b="1">
                <a:solidFill>
                  <a:srgbClr val="CCFF00"/>
                </a:solidFill>
                <a:latin typeface="JetBrains Mono"/>
                <a:ea typeface="JetBrains Mono"/>
                <a:cs typeface="JetBrains Mono"/>
              </a:rPr>
              <a:t>20%</a:t>
            </a:r>
            <a:endParaRPr sz="1000"/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AE02AC7F-A5B9-4C67-BA31-983E3C534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4581144"/>
            <a:ext cx="224028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8182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1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GTM + design partners</a:t>
            </a:r>
            <a:endParaRPr sz="1100"/>
          </a:p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C4B37A9E-1082-487E-B0FA-D529CE8B2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3240" y="4626864"/>
            <a:ext cx="2240280" cy="118872"/>
          </a:xfrm>
          <a:prstGeom xmlns:a="http://schemas.openxmlformats.org/drawingml/2006/main" prst="roundRect">
            <a:avLst>
              <a:gd name="adj" fmla="val 46154"/>
            </a:avLst>
          </a:prstGeom>
          <a:solidFill xmlns:a="http://schemas.openxmlformats.org/drawingml/2006/main">
            <a:srgbClr val="1B201F"/>
          </a:solidFill>
          <a:ln xmlns:a="http://schemas.openxmlformats.org/drawingml/2006/main" w="12700">
            <a:solidFill>
              <a:srgbClr val="05050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4E14E502-3202-4003-821A-AE5ADDE67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3240" y="4626864"/>
            <a:ext cx="995680" cy="118872"/>
          </a:xfrm>
          <a:prstGeom xmlns:a="http://schemas.openxmlformats.org/drawingml/2006/main" prst="roundRect">
            <a:avLst>
              <a:gd name="adj" fmla="val 46154"/>
            </a:avLst>
          </a:prstGeom>
          <a:solidFill xmlns:a="http://schemas.openxmlformats.org/drawingml/2006/main">
            <a:srgbClr val="E7B14A"/>
          </a:solidFill>
          <a:ln xmlns:a="http://schemas.openxmlformats.org/drawingml/2006/main" w="12700">
            <a:solidFill>
              <a:srgbClr val="05050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C4BD7F1E-4D0E-40C4-B882-4299EE6BF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0680" y="4581144"/>
            <a:ext cx="5029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  <a:defRPr b="1">
                <a:solidFill>
                  <a:srgbClr val="CCFF00"/>
                </a:solidFill>
              </a:defRPr>
            </a:pPr>
            <a:r>
              <a:rPr sz="1000" b="1">
                <a:solidFill>
                  <a:srgbClr val="CCFF00"/>
                </a:solidFill>
                <a:latin typeface="JetBrains Mono"/>
                <a:ea typeface="JetBrains Mono"/>
                <a:cs typeface="JetBrains Mono"/>
              </a:rPr>
              <a:t>20%</a:t>
            </a:r>
            <a:endParaRPr sz="1000"/>
          </a:p>
        </p:txBody>
      </p:sp>
      <p:sp>
        <p:nvSpPr>
          <p:cNvPr id="23" name="Text 20">
            <a:extLst xmlns:a="http://schemas.openxmlformats.org/drawingml/2006/main">
              <a:ext uri="{FF2B5EF4-FFF2-40B4-BE49-F238E27FC236}">
                <a16:creationId xmlns:a16="http://schemas.microsoft.com/office/drawing/2014/main" id="{C2A1C0A8-C752-436B-9527-8E02028FC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4928616"/>
            <a:ext cx="224028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8182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1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Operations + runway</a:t>
            </a:r>
            <a:endParaRPr sz="1100"/>
          </a:p>
        </p:txBody>
      </p:sp>
      <p:sp>
        <p:nvSpPr>
          <p:cNvPr id="24" name="Shape 21">
            <a:extLst xmlns:a="http://schemas.openxmlformats.org/drawingml/2006/main">
              <a:ext uri="{FF2B5EF4-FFF2-40B4-BE49-F238E27FC236}">
                <a16:creationId xmlns:a16="http://schemas.microsoft.com/office/drawing/2014/main" id="{528148F8-E958-45A0-BD29-421653911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3240" y="4974336"/>
            <a:ext cx="2240280" cy="118872"/>
          </a:xfrm>
          <a:prstGeom xmlns:a="http://schemas.openxmlformats.org/drawingml/2006/main" prst="roundRect">
            <a:avLst>
              <a:gd name="adj" fmla="val 46154"/>
            </a:avLst>
          </a:prstGeom>
          <a:solidFill xmlns:a="http://schemas.openxmlformats.org/drawingml/2006/main">
            <a:srgbClr val="1B201F"/>
          </a:solidFill>
          <a:ln xmlns:a="http://schemas.openxmlformats.org/drawingml/2006/main" w="12700">
            <a:solidFill>
              <a:srgbClr val="05050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3963EBD8-8ACE-4F48-8271-D3EF092D6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3240" y="4974336"/>
            <a:ext cx="746760" cy="118872"/>
          </a:xfrm>
          <a:prstGeom xmlns:a="http://schemas.openxmlformats.org/drawingml/2006/main" prst="roundRect">
            <a:avLst>
              <a:gd name="adj" fmla="val 46154"/>
            </a:avLst>
          </a:prstGeom>
          <a:solidFill xmlns:a="http://schemas.openxmlformats.org/drawingml/2006/main">
            <a:srgbClr val="E7B14A"/>
          </a:solidFill>
          <a:ln xmlns:a="http://schemas.openxmlformats.org/drawingml/2006/main" w="12700">
            <a:solidFill>
              <a:srgbClr val="05050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1A66252A-986A-4265-9EA0-B3FC13669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0680" y="4928616"/>
            <a:ext cx="5029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  <a:defRPr b="1">
                <a:solidFill>
                  <a:srgbClr val="CCFF00"/>
                </a:solidFill>
              </a:defRPr>
            </a:pPr>
            <a:r>
              <a:rPr sz="1000" b="1">
                <a:solidFill>
                  <a:srgbClr val="CCFF00"/>
                </a:solidFill>
                <a:latin typeface="JetBrains Mono"/>
                <a:ea typeface="JetBrains Mono"/>
                <a:cs typeface="JetBrains Mono"/>
              </a:rPr>
              <a:t>15%</a:t>
            </a:r>
            <a:endParaRPr sz="1000"/>
          </a:p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20CFE3C4-37FD-43D3-A8D8-09855E198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9560" y="1965960"/>
            <a:ext cx="3017520" cy="260604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0D1010"/>
          </a:solidFill>
          <a:ln xmlns:a="http://schemas.openxmlformats.org/drawingml/2006/main" w="12700">
            <a:solidFill>
              <a:srgbClr val="252A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C4C63FF3-C9AA-4835-B4AF-29A6018A1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3880" y="2286000"/>
            <a:ext cx="192024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1429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1050" b="1">
                <a:solidFill>
                  <a:srgbClr val="F3F0E8"/>
                </a:solidFill>
              </a:defRPr>
            </a:pPr>
            <a:r>
              <a:rPr sz="105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COMMERCIAL RETURN</a:t>
            </a:r>
            <a:endParaRPr sz="800"/>
          </a:p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1F66DD55-86C7-47F5-B2D0-8093D34E4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3880" y="2697480"/>
            <a:ext cx="228600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2100" b="1">
                <a:solidFill>
                  <a:srgbClr val="F3F0E8"/>
                </a:solidFill>
              </a:defRPr>
            </a:pPr>
            <a:r>
              <a:rPr sz="21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5 paid</a:t>
            </a:r>
            <a:endParaRPr sz="3100"/>
          </a:p>
          <a:p xmlns:a="http://schemas.openxmlformats.org/drawingml/2006/main">
            <a:pPr marL="0" indent="0" algn="l">
              <a:lnSpc>
                <a:spcPct val="100000"/>
              </a:lnSpc>
              <a:buNone/>
              <a:defRPr sz="2100" b="1">
                <a:solidFill>
                  <a:srgbClr val="F3F0E8"/>
                </a:solidFill>
              </a:defRPr>
            </a:pPr>
            <a:r>
              <a:rPr sz="21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accounts</a:t>
            </a:r>
            <a:endParaRPr sz="3100"/>
          </a:p>
        </p:txBody>
      </p:sp>
      <p:sp>
        <p:nvSpPr>
          <p:cNvPr id="30" name="Shape 27">
            <a:extLst xmlns:a="http://schemas.openxmlformats.org/drawingml/2006/main">
              <a:ext uri="{FF2B5EF4-FFF2-40B4-BE49-F238E27FC236}">
                <a16:creationId xmlns:a16="http://schemas.microsoft.com/office/drawing/2014/main" id="{EB44EE04-12E7-4D16-963D-EC0978D9E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3880" y="3703320"/>
            <a:ext cx="237744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52A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1" name="Text 28">
            <a:extLst xmlns:a="http://schemas.openxmlformats.org/drawingml/2006/main">
              <a:ext uri="{FF2B5EF4-FFF2-40B4-BE49-F238E27FC236}">
                <a16:creationId xmlns:a16="http://schemas.microsoft.com/office/drawing/2014/main" id="{9B3DBE80-14D8-4F4D-95E0-D5EB6736E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3880" y="3950208"/>
            <a:ext cx="2286000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4286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b="1">
                <a:solidFill>
                  <a:srgbClr val="CCFF00"/>
                </a:solidFill>
              </a:defRPr>
            </a:pPr>
            <a:r>
              <a:rPr sz="1400" b="1">
                <a:solidFill>
                  <a:srgbClr val="CCFF00"/>
                </a:solidFill>
                <a:latin typeface="JetBrains Mono"/>
                <a:ea typeface="JetBrains Mono"/>
                <a:cs typeface="JetBrains Mono"/>
              </a:rPr>
              <a:t>$500k ARR</a:t>
            </a:r>
            <a:endParaRPr sz="1400"/>
          </a:p>
          <a:p xmlns:a="http://schemas.openxmlformats.org/drawingml/2006/main">
            <a:pPr marL="0" indent="0" algn="l">
              <a:lnSpc>
                <a:spcPct val="100000"/>
              </a:lnSpc>
              <a:buNone/>
              <a:defRPr b="1">
                <a:solidFill>
                  <a:srgbClr val="CCFF00"/>
                </a:solidFill>
              </a:defRPr>
            </a:pPr>
            <a:r>
              <a:rPr sz="1400" b="1">
                <a:solidFill>
                  <a:srgbClr val="CCFF00"/>
                </a:solidFill>
                <a:latin typeface="JetBrains Mono"/>
                <a:ea typeface="JetBrains Mono"/>
                <a:cs typeface="JetBrains Mono"/>
              </a:rPr>
              <a:t>Ground-first</a:t>
            </a:r>
            <a:endParaRPr sz="1400"/>
          </a:p>
          <a:p xmlns:a="http://schemas.openxmlformats.org/drawingml/2006/main">
            <a:pPr marL="0" indent="0" algn="l">
              <a:lnSpc>
                <a:spcPct val="100000"/>
              </a:lnSpc>
              <a:buNone/>
              <a:defRPr b="1">
                <a:solidFill>
                  <a:srgbClr val="CCFF00"/>
                </a:solidFill>
              </a:defRPr>
            </a:pPr>
            <a:r>
              <a:rPr sz="1400" b="1">
                <a:solidFill>
                  <a:srgbClr val="CCFF00"/>
                </a:solidFill>
                <a:latin typeface="JetBrains Mono"/>
                <a:ea typeface="JetBrains Mono"/>
                <a:cs typeface="JetBrains Mono"/>
              </a:rPr>
              <a:t>Evidence-ready</a:t>
            </a:r>
            <a:endParaRPr sz="1400"/>
          </a:p>
        </p:txBody>
      </p:sp>
      <p:sp>
        <p:nvSpPr>
          <p:cNvPr id="32" name="Text 29">
            <a:extLst xmlns:a="http://schemas.openxmlformats.org/drawingml/2006/main">
              <a:ext uri="{FF2B5EF4-FFF2-40B4-BE49-F238E27FC236}">
                <a16:creationId xmlns:a16="http://schemas.microsoft.com/office/drawing/2014/main" id="{4B4CE7DB-9CCA-474B-BC3D-C047C4677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6181344"/>
            <a:ext cx="71323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1050">
                <a:solidFill>
                  <a:srgbClr val="F3F0E8"/>
                </a:solidFill>
              </a:defRPr>
            </a:pPr>
            <a:r>
              <a:rPr sz="105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Return case: five paid ground / integration accounts → $500k ARR.</a:t>
            </a:r>
            <a:endParaRPr sz="1000"/>
          </a:p>
        </p:txBody>
      </p:sp>
      <p:sp>
        <p:nvSpPr>
          <p:cNvPr id="34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D8EA657D-CD3C-4FB3-AE80-20AE402ECB8B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064240" y="6473952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E7B14A"/>
                </a:solidFill>
                <a:latin typeface="JetBrains Mono"/>
                <a:ea typeface="JetBrains Mono"/>
                <a:cs typeface="JetBrains Mono"/>
              </a:defRPr>
            </a:lvl1pPr>
          </a:lstStyle>
          <a:p xmlns:a="http://schemas.openxmlformats.org/drawingml/2006/main">
            <a:pPr algn="l">
              <a:buNone/>
              <a:defRPr>
                <a:solidFill>
                  <a:srgbClr val="F3F0E8"/>
                </a:solidFill>
              </a:defRPr>
            </a:pPr>
            <a:fld id="{DB7BEEEC-A170-5376-2B6E-CB54687B0CB1}" type="slidenum">
              <a:rPr b="0">
                <a:solidFill>
                  <a:srgbClr val="F3F0E8"/>
                </a:solidFill>
              </a:rPr>
              <a:t>10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72554215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5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3ed4b20b8fe4d74">
            <a:alphaModFix amt="96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Shape 0">
            <a:extLst xmlns:a="http://schemas.openxmlformats.org/drawingml/2006/main">
              <a:ext uri="{FF2B5EF4-FFF2-40B4-BE49-F238E27FC236}">
                <a16:creationId xmlns:a16="http://schemas.microsoft.com/office/drawing/2014/main" id="{AA5D16EA-A594-4940-ADBD-A0CE7C562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505">
              <a:alpha val="12000"/>
            </a:srgbClr>
          </a:solidFill>
          <a:ln xmlns:a="http://schemas.openxmlformats.org/drawingml/2006/main" w="12700">
            <a:solidFill>
              <a:srgbClr val="05050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>
                <a:solidFill>
                  <a:srgbClr val="F3F0E8"/>
                </a:solidFill>
              </a:defRPr>
            </a:pPr>
            <a:r>
              <a:rPr>
                <a:solidFill>
                  <a:srgbClr val="F3F0E8"/>
                </a:solidFill>
              </a:rPr>
              <a:t/>
            </a:r>
          </a:p>
        </p:txBody>
      </p:sp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F2E42D30-4FE5-4659-9713-1FF18A2B0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9184"/>
            <a:ext cx="8229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0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GAUSS</a:t>
            </a:r>
            <a:endParaRPr sz="1000"/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4FB60255-380F-4608-9E19-405418339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0512" y="338328"/>
            <a:ext cx="36576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1050" b="1">
                <a:solidFill>
                  <a:srgbClr val="F3F0E8"/>
                </a:solidFill>
              </a:defRPr>
            </a:pPr>
            <a:r>
              <a:rPr sz="105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PROGRAMME</a:t>
            </a:r>
            <a:endParaRPr sz="800"/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9840C083-8E58-4D9B-BAEF-3E7AB5822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088" y="338328"/>
            <a:ext cx="43891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8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11</a:t>
            </a:r>
            <a:endParaRPr sz="800"/>
          </a:p>
        </p:txBody>
      </p:sp>
      <p:sp>
        <p:nvSpPr>
          <p:cNvPr id="7" name="Shape 4">
            <a:extLst xmlns:a="http://schemas.openxmlformats.org/drawingml/2006/main">
              <a:ext uri="{FF2B5EF4-FFF2-40B4-BE49-F238E27FC236}">
                <a16:creationId xmlns:a16="http://schemas.microsoft.com/office/drawing/2014/main" id="{F3FFD099-4698-4FB0-A813-DE627477B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1735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52A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6EF7924A-0FC7-4F88-8358-385D71627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2688"/>
            <a:ext cx="1069848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9048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3150" b="1">
                <a:solidFill>
                  <a:srgbClr val="F3F0E8"/>
                </a:solidFill>
              </a:defRPr>
            </a:pPr>
            <a:r>
              <a:rPr sz="315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Six to twelve months to commercial proof.</a:t>
            </a:r>
            <a:endParaRPr sz="2800"/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5A3D415A-9CE2-48E7-A639-F2EDC6906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72184"/>
            <a:ext cx="10287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1800">
                <a:solidFill>
                  <a:srgbClr val="F3F0E8"/>
                </a:solidFill>
              </a:defRPr>
            </a:pPr>
            <a:r>
              <a:rPr sz="18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Ground-first milestones; flight and IOD remain evidence-gated.</a:t>
            </a:r>
            <a:endParaRPr sz="1500"/>
          </a:p>
        </p:txBody>
      </p:sp>
      <p:graphicFrame>
        <p:nvGraphicFramePr>
          <p:cNvPr id="58" name="Table 0"/>
          <p:cNvGraphicFramePr/>
          <p:nvPr/>
        </p:nvGraphicFramePr>
        <p:xfrm>
          <a:off xmlns:a="http://schemas.openxmlformats.org/drawingml/2006/main" x="685800" y="2157984"/>
          <a:ext xmlns:a="http://schemas.openxmlformats.org/drawingml/2006/main" cx="10817352" cy="288036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691640"/>
                <a:gridCol w="2880360"/>
                <a:gridCol w="4983480"/>
                <a:gridCol w="1261872"/>
              </a:tblGrid>
              <a:tr h="4800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 b="1">
                          <a:solidFill>
                            <a:srgbClr val="050505"/>
                          </a:solidFill>
                          <a:latin typeface="JetBrains Mono"/>
                          <a:ea typeface="JetBrains Mono"/>
                          <a:cs typeface="JetBrains Mono"/>
                        </a:rPr>
                        <a:t>LENS</a:t>
                      </a:r>
                      <a:endParaRPr sz="900">
                        <a:latin typeface="JetBrains Mono"/>
                        <a:ea typeface="JetBrains Mono"/>
                        <a:cs typeface="JetBrains Mono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E7B1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 b="1">
                          <a:solidFill>
                            <a:srgbClr val="050505"/>
                          </a:solidFill>
                          <a:latin typeface="JetBrains Mono"/>
                          <a:ea typeface="JetBrains Mono"/>
                          <a:cs typeface="JetBrains Mono"/>
                        </a:rPr>
                        <a:t>MUST SHOW</a:t>
                      </a:r>
                      <a:endParaRPr sz="900">
                        <a:latin typeface="JetBrains Mono"/>
                        <a:ea typeface="JetBrains Mono"/>
                        <a:cs typeface="JetBrains Mono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E7B1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 b="1">
                          <a:solidFill>
                            <a:srgbClr val="050505"/>
                          </a:solidFill>
                          <a:latin typeface="JetBrains Mono"/>
                          <a:ea typeface="JetBrains Mono"/>
                          <a:cs typeface="JetBrains Mono"/>
                        </a:rPr>
                        <a:t>GAUSS TODAY</a:t>
                      </a:r>
                      <a:endParaRPr sz="900">
                        <a:latin typeface="JetBrains Mono"/>
                        <a:ea typeface="JetBrains Mono"/>
                        <a:cs typeface="JetBrains Mono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E7B1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 b="1">
                          <a:solidFill>
                            <a:srgbClr val="050505"/>
                          </a:solidFill>
                          <a:latin typeface="JetBrains Mono"/>
                          <a:ea typeface="JetBrains Mono"/>
                          <a:cs typeface="JetBrains Mono"/>
                        </a:rPr>
                        <a:t>STATUS</a:t>
                      </a:r>
                      <a:endParaRPr sz="900">
                        <a:latin typeface="JetBrains Mono"/>
                        <a:ea typeface="JetBrains Mono"/>
                        <a:cs typeface="JetBrains Mono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E7B14A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SPACE FIT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D101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Space problem; viable plan; credible milestones.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D101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Ground-first wedge; product packages; 18-month plan.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D101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PARTIAL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D1010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PRODUCT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1014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Clear product; progress; model; founders; ask.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1014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Wedge, pricing, ARR path; customer proof remains thin.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1014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PARTIAL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101414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SCALE + DEFENSE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D101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Market; team; scalable model; defensibility.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D101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Market wedge + team visible; IP / TRL proof next.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D101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PARTIAL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D1010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VISUAL + PROOF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1014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One claim per slide; hard proof; clear next action.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1014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Source-backed visuals, native charts/tables, clear milestones.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1014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PASS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101414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DECISION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D101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Why now; why team; why this round.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D101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Ask, use of funds, and $500k ARR path are clear.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D101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PARTIAL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D1010"/>
                    </a:solidFill>
                  </a:tcPr>
                </a:tc>
              </a:tr>
            </a:tbl>
          </a:graphicData>
        </a:graphic>
      </p:graphicFrame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8FEA6530-C859-460B-968C-CBC75AAA4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21808"/>
            <a:ext cx="10817352" cy="420624"/>
          </a:xfrm>
          <a:prstGeom xmlns:a="http://schemas.openxmlformats.org/drawingml/2006/main" prst="roundRect">
            <a:avLst>
              <a:gd name="adj" fmla="val 30435"/>
            </a:avLst>
          </a:prstGeom>
          <a:solidFill xmlns:a="http://schemas.openxmlformats.org/drawingml/2006/main">
            <a:srgbClr val="0D1010"/>
          </a:solidFill>
          <a:ln xmlns:a="http://schemas.openxmlformats.org/drawingml/2006/main" w="12700">
            <a:solidFill>
              <a:srgbClr val="252A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3AB3C1DB-C6EA-4F81-BA8F-7045FE45C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5468112"/>
            <a:ext cx="118872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8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NEXT UNLOCKS</a:t>
            </a:r>
            <a:endParaRPr sz="800"/>
          </a:p>
        </p:txBody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37A413BE-7367-4A8D-BDAA-4AECDFFAD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5728" y="5468112"/>
            <a:ext cx="850392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9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Founder proof  •  customer LOI / pilot evidence  •  prototype + TRL / IRL  •  IP / moat map  •  CAC, payback, and gross-margin evidence</a:t>
            </a:r>
            <a:endParaRPr sz="9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060EE302-4D6A-4117-B8F0-190DFBFF8713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064240" y="6473952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E7B14A"/>
                </a:solidFill>
                <a:latin typeface="JetBrains Mono"/>
                <a:ea typeface="JetBrains Mono"/>
                <a:cs typeface="JetBrains Mono"/>
              </a:defRPr>
            </a:lvl1pPr>
          </a:lstStyle>
          <a:p xmlns:a="http://schemas.openxmlformats.org/drawingml/2006/main">
            <a:pPr algn="l">
              <a:buNone/>
              <a:defRPr>
                <a:solidFill>
                  <a:srgbClr val="F3F0E8"/>
                </a:solidFill>
              </a:defRPr>
            </a:pPr>
            <a:fld id="{30394428-F1DC-E5F6-DB0C-7DE31F3D8A23}" type="slidenum">
              <a:rPr b="0">
                <a:solidFill>
                  <a:srgbClr val="F3F0E8"/>
                </a:solidFill>
              </a:rPr>
              <a:t>11</a:t>
            </a:fld>
            <a:endParaRPr/>
          </a:p>
        </p:txBody>
      </p:sp>
      <p:sp>
        <p:nvSpPr>
          <p:cNvPr id="28" name="programme-cover">
            <a:extLst xmlns:a="http://schemas.openxmlformats.org/drawingml/2006/main">
              <a:ext uri="{FF2B5EF4-FFF2-40B4-BE49-F238E27FC236}">
                <a16:creationId xmlns:a16="http://schemas.microsoft.com/office/drawing/2014/main" id="{B26E19C1-4BE6-43B7-818D-083F5F5F6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10817352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505"/>
          </a:solidFill>
          <a:ln xmlns:a="http://schemas.openxmlformats.org/drawingml/2006/main" w="0">
            <a:solidFill>
              <a:srgbClr val="050505"/>
            </a:solidFill>
            <a:prstDash val="solid"/>
          </a:ln>
        </p:spPr>
      </p:sp>
      <p:sp>
        <p:nvSpPr>
          <p:cNvPr id="29" name="programme-duration-label">
            <a:extLst xmlns:a="http://schemas.openxmlformats.org/drawingml/2006/main">
              <a:ext uri="{FF2B5EF4-FFF2-40B4-BE49-F238E27FC236}">
                <a16:creationId xmlns:a16="http://schemas.microsoft.com/office/drawing/2014/main" id="{0AA88DCA-97FA-4179-AD7A-1B9F2A96A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05050"/>
            <a:ext cx="209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F3F0E8"/>
                </a:solidFill>
              </a:defRPr>
            </a:pPr>
            <a:r>
              <a:rPr sz="1050" b="1">
                <a:solidFill>
                  <a:srgbClr val="F3F0E8"/>
                </a:solidFill>
              </a:rPr>
              <a:t>PROJECT DURATION</a:t>
            </a:r>
          </a:p>
        </p:txBody>
      </p:sp>
      <p:sp>
        <p:nvSpPr>
          <p:cNvPr id="30" name="programme-duration-value">
            <a:extLst xmlns:a="http://schemas.openxmlformats.org/drawingml/2006/main">
              <a:ext uri="{FF2B5EF4-FFF2-40B4-BE49-F238E27FC236}">
                <a16:creationId xmlns:a16="http://schemas.microsoft.com/office/drawing/2014/main" id="{6B2D23AA-058F-479E-B0CE-1FA281C1D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26695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CCFF00"/>
                </a:solidFill>
              </a:defRPr>
            </a:pPr>
            <a:r>
              <a:rPr sz="1650" b="1">
                <a:solidFill>
                  <a:srgbClr val="CCFF00"/>
                </a:solidFill>
              </a:rPr>
              <a:t>6–12 MONTHS</a:t>
            </a:r>
          </a:p>
        </p:txBody>
      </p:sp>
      <p:sp>
        <p:nvSpPr>
          <p:cNvPr id="31" name="programme-timeline">
            <a:extLst xmlns:a="http://schemas.openxmlformats.org/drawingml/2006/main">
              <a:ext uri="{FF2B5EF4-FFF2-40B4-BE49-F238E27FC236}">
                <a16:creationId xmlns:a16="http://schemas.microsoft.com/office/drawing/2014/main" id="{D00BD1E0-722F-4937-B77D-75DFA2307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124200"/>
            <a:ext cx="8610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302E"/>
          </a:solidFill>
          <a:ln xmlns:a="http://schemas.openxmlformats.org/drawingml/2006/main" w="0">
            <a:solidFill>
              <a:srgbClr val="25302E"/>
            </a:solidFill>
            <a:prstDash val="solid"/>
          </a:ln>
        </p:spPr>
      </p:sp>
      <p:sp>
        <p:nvSpPr>
          <p:cNvPr id="32" name="programme-node-1">
            <a:extLst xmlns:a="http://schemas.openxmlformats.org/drawingml/2006/main">
              <a:ext uri="{FF2B5EF4-FFF2-40B4-BE49-F238E27FC236}">
                <a16:creationId xmlns:a16="http://schemas.microsoft.com/office/drawing/2014/main" id="{218BAB5E-B612-42A1-9947-3F1113031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3028950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CFF00"/>
          </a:solidFill>
          <a:ln xmlns:a="http://schemas.openxmlformats.org/drawingml/2006/main" w="9525">
            <a:solidFill>
              <a:srgbClr val="CCFF00"/>
            </a:solidFill>
            <a:prstDash val="solid"/>
          </a:ln>
        </p:spPr>
      </p:sp>
      <p:sp>
        <p:nvSpPr>
          <p:cNvPr id="33" name="programme-node-2">
            <a:extLst xmlns:a="http://schemas.openxmlformats.org/drawingml/2006/main">
              <a:ext uri="{FF2B5EF4-FFF2-40B4-BE49-F238E27FC236}">
                <a16:creationId xmlns:a16="http://schemas.microsoft.com/office/drawing/2014/main" id="{3F11DBFD-40E0-4412-994A-5F51D9C20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028950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CFF00"/>
          </a:solidFill>
          <a:ln xmlns:a="http://schemas.openxmlformats.org/drawingml/2006/main" w="9525">
            <a:solidFill>
              <a:srgbClr val="CCFF00"/>
            </a:solidFill>
            <a:prstDash val="solid"/>
          </a:ln>
        </p:spPr>
      </p:sp>
      <p:sp>
        <p:nvSpPr>
          <p:cNvPr id="34" name="programme-node-3">
            <a:extLst xmlns:a="http://schemas.openxmlformats.org/drawingml/2006/main">
              <a:ext uri="{FF2B5EF4-FFF2-40B4-BE49-F238E27FC236}">
                <a16:creationId xmlns:a16="http://schemas.microsoft.com/office/drawing/2014/main" id="{833812B2-0ED7-452B-8D9F-A9E2D69CD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028950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CFF00"/>
          </a:solidFill>
          <a:ln xmlns:a="http://schemas.openxmlformats.org/drawingml/2006/main" w="9525">
            <a:solidFill>
              <a:srgbClr val="CCFF00"/>
            </a:solidFill>
            <a:prstDash val="solid"/>
          </a:ln>
        </p:spPr>
      </p:sp>
      <p:sp>
        <p:nvSpPr>
          <p:cNvPr id="35" name="programme-step-1">
            <a:extLst xmlns:a="http://schemas.openxmlformats.org/drawingml/2006/main">
              <a:ext uri="{FF2B5EF4-FFF2-40B4-BE49-F238E27FC236}">
                <a16:creationId xmlns:a16="http://schemas.microsoft.com/office/drawing/2014/main" id="{F12E2EE4-1EEC-451C-8318-6F21B55E5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4795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CCFF00"/>
                </a:solidFill>
              </a:defRPr>
            </a:pPr>
            <a:r>
              <a:rPr sz="1050" b="1">
                <a:solidFill>
                  <a:srgbClr val="CCFF00"/>
                </a:solidFill>
              </a:rPr>
              <a:t>01  /  DAYS 0–30</a:t>
            </a:r>
          </a:p>
        </p:txBody>
      </p:sp>
      <p:sp>
        <p:nvSpPr>
          <p:cNvPr id="36" name="programme-title-1">
            <a:extLst xmlns:a="http://schemas.openxmlformats.org/drawingml/2006/main">
              <a:ext uri="{FF2B5EF4-FFF2-40B4-BE49-F238E27FC236}">
                <a16:creationId xmlns:a16="http://schemas.microsoft.com/office/drawing/2014/main" id="{E53378A8-8FC5-4899-AC41-AC6846498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76625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F3F0E8"/>
                </a:solidFill>
              </a:defRPr>
            </a:pPr>
            <a:r>
              <a:rPr sz="1500" b="1">
                <a:solidFill>
                  <a:srgbClr val="F3F0E8"/>
                </a:solidFill>
              </a:rPr>
              <a:t>Evidence + conversion</a:t>
            </a:r>
          </a:p>
        </p:txBody>
      </p:sp>
      <p:sp>
        <p:nvSpPr>
          <p:cNvPr id="37" name="programme-body-1">
            <a:extLst xmlns:a="http://schemas.openxmlformats.org/drawingml/2006/main">
              <a:ext uri="{FF2B5EF4-FFF2-40B4-BE49-F238E27FC236}">
                <a16:creationId xmlns:a16="http://schemas.microsoft.com/office/drawing/2014/main" id="{553F96E7-33D7-4965-9A47-EB0CBEBD3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857625"/>
            <a:ext cx="2857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F3F0E8"/>
                </a:solidFill>
              </a:defRPr>
            </a:pPr>
            <a:r>
              <a:rPr sz="1050" b="0">
                <a:solidFill>
                  <a:srgbClr val="F3F0E8"/>
                </a:solidFill>
              </a:rPr>
              <a:t>Radiation-resilience pack, ESA BIC framing, and scoped partner work with mission-control / Yamcs and SSA data.</a:t>
            </a:r>
          </a:p>
        </p:txBody>
      </p:sp>
      <p:sp>
        <p:nvSpPr>
          <p:cNvPr id="38" name="programme-step-2">
            <a:extLst xmlns:a="http://schemas.openxmlformats.org/drawingml/2006/main">
              <a:ext uri="{FF2B5EF4-FFF2-40B4-BE49-F238E27FC236}">
                <a16:creationId xmlns:a16="http://schemas.microsoft.com/office/drawing/2014/main" id="{9FFAFD0B-396D-42F2-895D-D76A0A168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3425" y="264795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CCFF00"/>
                </a:solidFill>
              </a:defRPr>
            </a:pPr>
            <a:r>
              <a:rPr sz="1050" b="1">
                <a:solidFill>
                  <a:srgbClr val="CCFF00"/>
                </a:solidFill>
              </a:rPr>
              <a:t>02  /  DAYS 31–60</a:t>
            </a:r>
          </a:p>
        </p:txBody>
      </p:sp>
      <p:sp>
        <p:nvSpPr>
          <p:cNvPr id="39" name="programme-title-2">
            <a:extLst xmlns:a="http://schemas.openxmlformats.org/drawingml/2006/main">
              <a:ext uri="{FF2B5EF4-FFF2-40B4-BE49-F238E27FC236}">
                <a16:creationId xmlns:a16="http://schemas.microsoft.com/office/drawing/2014/main" id="{6AEB2C5A-F278-4C58-BA37-0FD136084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3425" y="3476625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F3F0E8"/>
                </a:solidFill>
              </a:defRPr>
            </a:pPr>
            <a:r>
              <a:rPr sz="1500" b="1">
                <a:solidFill>
                  <a:srgbClr val="F3F0E8"/>
                </a:solidFill>
              </a:rPr>
              <a:t>Paid pilot readiness</a:t>
            </a:r>
          </a:p>
        </p:txBody>
      </p:sp>
      <p:sp>
        <p:nvSpPr>
          <p:cNvPr id="40" name="programme-body-2">
            <a:extLst xmlns:a="http://schemas.openxmlformats.org/drawingml/2006/main">
              <a:ext uri="{FF2B5EF4-FFF2-40B4-BE49-F238E27FC236}">
                <a16:creationId xmlns:a16="http://schemas.microsoft.com/office/drawing/2014/main" id="{AD80D1DB-FDC5-481F-AAA5-5890A4E13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3425" y="3857625"/>
            <a:ext cx="2857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F3F0E8"/>
                </a:solidFill>
              </a:defRPr>
            </a:pPr>
            <a:r>
              <a:rPr sz="1050" b="0">
                <a:solidFill>
                  <a:srgbClr val="F3F0E8"/>
                </a:solidFill>
              </a:rPr>
              <a:t>Replay review, bounded data integration, target-compute benchmark, and security / data-residency pack.</a:t>
            </a:r>
          </a:p>
        </p:txBody>
      </p:sp>
      <p:sp>
        <p:nvSpPr>
          <p:cNvPr id="41" name="programme-step-3">
            <a:extLst xmlns:a="http://schemas.openxmlformats.org/drawingml/2006/main">
              <a:ext uri="{FF2B5EF4-FFF2-40B4-BE49-F238E27FC236}">
                <a16:creationId xmlns:a16="http://schemas.microsoft.com/office/drawing/2014/main" id="{CC94F305-FAEA-44AB-B95F-AD33F9692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64795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CCFF00"/>
                </a:solidFill>
              </a:defRPr>
            </a:pPr>
            <a:r>
              <a:rPr sz="1050" b="1">
                <a:solidFill>
                  <a:srgbClr val="CCFF00"/>
                </a:solidFill>
              </a:rPr>
              <a:t>03  /  DAYS 61–90</a:t>
            </a:r>
          </a:p>
        </p:txBody>
      </p:sp>
      <p:sp>
        <p:nvSpPr>
          <p:cNvPr id="42" name="programme-title-3">
            <a:extLst xmlns:a="http://schemas.openxmlformats.org/drawingml/2006/main">
              <a:ext uri="{FF2B5EF4-FFF2-40B4-BE49-F238E27FC236}">
                <a16:creationId xmlns:a16="http://schemas.microsoft.com/office/drawing/2014/main" id="{1B57BC3D-BC87-492A-90E1-CA7DA6597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476625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F3F0E8"/>
                </a:solidFill>
              </a:defRPr>
            </a:pPr>
            <a:r>
              <a:rPr sz="1500" b="1">
                <a:solidFill>
                  <a:srgbClr val="F3F0E8"/>
                </a:solidFill>
              </a:rPr>
              <a:t>Commercial proof</a:t>
            </a:r>
          </a:p>
        </p:txBody>
      </p:sp>
      <p:sp>
        <p:nvSpPr>
          <p:cNvPr id="43" name="programme-body-3">
            <a:extLst xmlns:a="http://schemas.openxmlformats.org/drawingml/2006/main">
              <a:ext uri="{FF2B5EF4-FFF2-40B4-BE49-F238E27FC236}">
                <a16:creationId xmlns:a16="http://schemas.microsoft.com/office/drawing/2014/main" id="{9C732FA4-8043-4FA3-B33A-DE352E983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857625"/>
            <a:ext cx="2857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F3F0E8"/>
                </a:solidFill>
              </a:defRPr>
            </a:pPr>
            <a:r>
              <a:rPr sz="1050" b="0">
                <a:solidFill>
                  <a:srgbClr val="F3F0E8"/>
                </a:solidFill>
              </a:rPr>
              <a:t>Two design partners, one paid ground or integration pilot, and validated price / acceptance criteria.</a:t>
            </a:r>
          </a:p>
        </p:txBody>
      </p:sp>
      <p:sp>
        <p:nvSpPr>
          <p:cNvPr id="44" name="programme-expansion-gate">
            <a:extLst xmlns:a="http://schemas.openxmlformats.org/drawingml/2006/main">
              <a:ext uri="{FF2B5EF4-FFF2-40B4-BE49-F238E27FC236}">
                <a16:creationId xmlns:a16="http://schemas.microsoft.com/office/drawing/2014/main" id="{1D1E55C8-B644-4474-A00C-8CCAA91F1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048250"/>
            <a:ext cx="1005840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0D1010"/>
          </a:solidFill>
          <a:ln xmlns:a="http://schemas.openxmlformats.org/drawingml/2006/main" w="9525">
            <a:solidFill>
              <a:srgbClr val="25302E"/>
            </a:solidFill>
            <a:prstDash val="solid"/>
          </a:ln>
        </p:spPr>
      </p:sp>
      <p:sp>
        <p:nvSpPr>
          <p:cNvPr id="45" name="programme-gate-label">
            <a:extLst xmlns:a="http://schemas.openxmlformats.org/drawingml/2006/main">
              <a:ext uri="{FF2B5EF4-FFF2-40B4-BE49-F238E27FC236}">
                <a16:creationId xmlns:a16="http://schemas.microsoft.com/office/drawing/2014/main" id="{DF33AF5A-C2E9-4095-90B8-B4A7A5421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219700"/>
            <a:ext cx="200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CCFF00"/>
                </a:solidFill>
              </a:defRPr>
            </a:pPr>
            <a:r>
              <a:rPr sz="1050" b="1">
                <a:solidFill>
                  <a:srgbClr val="CCFF00"/>
                </a:solidFill>
              </a:rPr>
              <a:t>GATE TO EXPANSION</a:t>
            </a:r>
          </a:p>
        </p:txBody>
      </p:sp>
      <p:sp>
        <p:nvSpPr>
          <p:cNvPr id="46" name="programme-gate-copy">
            <a:extLst xmlns:a="http://schemas.openxmlformats.org/drawingml/2006/main">
              <a:ext uri="{FF2B5EF4-FFF2-40B4-BE49-F238E27FC236}">
                <a16:creationId xmlns:a16="http://schemas.microsoft.com/office/drawing/2014/main" id="{F915B4ED-5D2E-4E99-9088-9BC30F477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181600"/>
            <a:ext cx="723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F3F0E8"/>
                </a:solidFill>
              </a:defRPr>
            </a:pPr>
            <a:r>
              <a:rPr sz="1050" b="0">
                <a:solidFill>
                  <a:srgbClr val="F3F0E8"/>
                </a:solidFill>
              </a:rPr>
              <a:t>Flight Candidate Adapter / Federated Bridge Node only after named mission, target processor, partner and hardware evidence.</a:t>
            </a:r>
          </a:p>
        </p:txBody>
      </p:sp>
      <p:sp>
        <p:nvSpPr>
          <p:cNvPr id="47" name="programme-source-rail">
            <a:extLst xmlns:a="http://schemas.openxmlformats.org/drawingml/2006/main">
              <a:ext uri="{FF2B5EF4-FFF2-40B4-BE49-F238E27FC236}">
                <a16:creationId xmlns:a16="http://schemas.microsoft.com/office/drawing/2014/main" id="{3C186ABE-ADBF-4A36-9BB6-53B5C67BA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791200"/>
            <a:ext cx="10058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0">
                <a:solidFill>
                  <a:srgbClr val="F3F0E8"/>
                </a:solidFill>
              </a:defRPr>
            </a:pPr>
            <a:r>
              <a:rPr sz="900" b="0">
                <a:solidFill>
                  <a:srgbClr val="F3F0E8"/>
                </a:solidFill>
              </a:rPr>
              <a:t>Plan follows the repository ground-first commercial memo; expansion claims remain explicitly gated.</a:t>
            </a:r>
          </a:p>
        </p:txBody>
      </p:sp>
    </p:spTree>
    <p:extLst>
      <p:ext uri="{BB962C8B-B14F-4D97-AF65-F5344CB8AC3E}">
        <p14:creationId xmlns:p14="http://schemas.microsoft.com/office/powerpoint/2010/main" val="840353899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BM Plex Sa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2026-08-22T05:13:51.7190000Z</dcterms:created>
  <dcterms:modified xsi:type="dcterms:W3CDTF">2026-08-22T05:13:51.7190000Z</dcterms:modified>
</coreProperties>
</file>