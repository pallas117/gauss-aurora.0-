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7f41983c574d06" /><Relationship Type="http://schemas.openxmlformats.org/officeDocument/2006/relationships/extended-properties" Target="/docProps/app.xml" Id="Re9f9f3b105e64a64" /><Relationship Type="http://schemas.openxmlformats.org/officeDocument/2006/relationships/officeDocument" Target="/ppt/presentation.xml" Id="Rcad77fc6c84049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e26d87897a4aee"/>
  </p:sldMasterIdLst>
  <p:notesMasterIdLst>
    <p:notesMasterId xmlns:r="http://schemas.openxmlformats.org/officeDocument/2006/relationships" r:id="R6a5b4d8ede374e5b"/>
  </p:notesMasterIdLst>
  <p:sldIdLst>
    <p:sldId xmlns:r="http://schemas.openxmlformats.org/officeDocument/2006/relationships" id="256" r:id="R96d8e18d1fe24c29"/>
    <p:sldId xmlns:r="http://schemas.openxmlformats.org/officeDocument/2006/relationships" id="257" r:id="R3a16e73278df4027"/>
    <p:sldId xmlns:r="http://schemas.openxmlformats.org/officeDocument/2006/relationships" id="258" r:id="Re5b786377bd84a89"/>
    <p:sldId xmlns:r="http://schemas.openxmlformats.org/officeDocument/2006/relationships" id="259" r:id="R9c211ad771ee4770"/>
    <p:sldId xmlns:r="http://schemas.openxmlformats.org/officeDocument/2006/relationships" id="260" r:id="R3150a77ab0934d80"/>
    <p:sldId xmlns:r="http://schemas.openxmlformats.org/officeDocument/2006/relationships" id="261" r:id="Rd58c784978714611"/>
    <p:sldId xmlns:r="http://schemas.openxmlformats.org/officeDocument/2006/relationships" id="262" r:id="Ra1b214516a1c45e7"/>
    <p:sldId xmlns:r="http://schemas.openxmlformats.org/officeDocument/2006/relationships" id="263" r:id="R3f167debb2ca4154"/>
    <p:sldId xmlns:r="http://schemas.openxmlformats.org/officeDocument/2006/relationships" id="264" r:id="Rc35a52087fbb4d48"/>
    <p:sldId xmlns:r="http://schemas.openxmlformats.org/officeDocument/2006/relationships" id="265" r:id="R96bd70e0bcc0418a"/>
    <p:sldId xmlns:r="http://schemas.openxmlformats.org/officeDocument/2006/relationships" id="266" r:id="Ra305c383379a42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5c52d071714ada" /><Relationship Type="http://schemas.openxmlformats.org/officeDocument/2006/relationships/slideMaster" Target="/ppt/slideMasters/slideMaster1.xml" Id="R8be26d87897a4aee" /><Relationship Type="http://schemas.openxmlformats.org/officeDocument/2006/relationships/notesMaster" Target="/ppt/notesMasters/notesMaster1.xml" Id="R6a5b4d8ede374e5b" /><Relationship Type="http://schemas.openxmlformats.org/officeDocument/2006/relationships/presProps" Target="/ppt/presProps.xml" Id="Re963a5bbd1ed4d61" /><Relationship Type="http://schemas.openxmlformats.org/officeDocument/2006/relationships/viewProps" Target="/ppt/viewProps.xml" Id="R94d1ce119e714492" /><Relationship Type="http://schemas.openxmlformats.org/officeDocument/2006/relationships/tableStyles" Target="/ppt/tableStyles.xml" Id="Ra630d9fd1f2e43a6" /><Relationship Type="http://schemas.openxmlformats.org/officeDocument/2006/relationships/slide" Target="/ppt/slides/slide1.xml" Id="R96d8e18d1fe24c29" /><Relationship Type="http://schemas.openxmlformats.org/officeDocument/2006/relationships/slide" Target="/ppt/slides/slide2.xml" Id="R3a16e73278df4027" /><Relationship Type="http://schemas.openxmlformats.org/officeDocument/2006/relationships/slide" Target="/ppt/slides/slide3.xml" Id="Re5b786377bd84a89" /><Relationship Type="http://schemas.openxmlformats.org/officeDocument/2006/relationships/slide" Target="/ppt/slides/slide4.xml" Id="R9c211ad771ee4770" /><Relationship Type="http://schemas.openxmlformats.org/officeDocument/2006/relationships/slide" Target="/ppt/slides/slide5.xml" Id="R3150a77ab0934d80" /><Relationship Type="http://schemas.openxmlformats.org/officeDocument/2006/relationships/slide" Target="/ppt/slides/slide6.xml" Id="Rd58c784978714611" /><Relationship Type="http://schemas.openxmlformats.org/officeDocument/2006/relationships/slide" Target="/ppt/slides/slide7.xml" Id="Ra1b214516a1c45e7" /><Relationship Type="http://schemas.openxmlformats.org/officeDocument/2006/relationships/slide" Target="/ppt/slides/slide8.xml" Id="R3f167debb2ca4154" /><Relationship Type="http://schemas.openxmlformats.org/officeDocument/2006/relationships/slide" Target="/ppt/slides/slide9.xml" Id="Rc35a52087fbb4d48" /><Relationship Type="http://schemas.openxmlformats.org/officeDocument/2006/relationships/slide" Target="/ppt/slides/slide10.xml" Id="R96bd70e0bcc0418a" /><Relationship Type="http://schemas.openxmlformats.org/officeDocument/2006/relationships/slide" Target="/ppt/slides/slide11.xml" Id="Ra305c383379a42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d6a77592a74b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5b82003cb0425a" /><Relationship Type="http://schemas.openxmlformats.org/officeDocument/2006/relationships/notesMaster" Target="/ppt/notesMasters/notesMaster1.xml" Id="R37c0bf037cfb4e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b71759e6404770" /><Relationship Type="http://schemas.openxmlformats.org/officeDocument/2006/relationships/notesMaster" Target="/ppt/notesMasters/notesMaster1.xml" Id="Rda4515aae9da4c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778c0d748b47af" /><Relationship Type="http://schemas.openxmlformats.org/officeDocument/2006/relationships/notesMaster" Target="/ppt/notesMasters/notesMaster1.xml" Id="R6711075a981c41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2de829d2a44f62" /><Relationship Type="http://schemas.openxmlformats.org/officeDocument/2006/relationships/notesMaster" Target="/ppt/notesMasters/notesMaster1.xml" Id="R4e61f0f4f8b34c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55513694414a19" /><Relationship Type="http://schemas.openxmlformats.org/officeDocument/2006/relationships/notesMaster" Target="/ppt/notesMasters/notesMaster1.xml" Id="R65080bd35dbf4b9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812f6b623540f6" /><Relationship Type="http://schemas.openxmlformats.org/officeDocument/2006/relationships/notesMaster" Target="/ppt/notesMasters/notesMaster1.xml" Id="R06b93ed3310c4e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05ba07a88548f0" /><Relationship Type="http://schemas.openxmlformats.org/officeDocument/2006/relationships/notesMaster" Target="/ppt/notesMasters/notesMaster1.xml" Id="R7cfeeeb0a2da47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db01f70d2c4a76" /><Relationship Type="http://schemas.openxmlformats.org/officeDocument/2006/relationships/notesMaster" Target="/ppt/notesMasters/notesMaster1.xml" Id="Re494a9bab04540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c4a4d522e74837" /><Relationship Type="http://schemas.openxmlformats.org/officeDocument/2006/relationships/notesMaster" Target="/ppt/notesMasters/notesMaster1.xml" Id="Raee6eeb4e64248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c4c9058b04491a" /><Relationship Type="http://schemas.openxmlformats.org/officeDocument/2006/relationships/notesMaster" Target="/ppt/notesMasters/notesMaster1.xml" Id="Rb4b19625df084f7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d811f4beb54f32" /><Relationship Type="http://schemas.openxmlformats.org/officeDocument/2006/relationships/notesMaster" Target="/ppt/notesMasters/notesMaster1.xml" Id="R49f46023919941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category shift: space operators have more data, more autonomy pressure, and less tolerance for untraceable decisions. The visible promise is deliberately ground-first and evidence-led; flight-candidate work remains an external gate.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  <a:p xmlns:a="http://schemas.openxmlformats.org/drawingml/2006/main">
            <a:r>
              <a:t>- User-provided: Project_Gauss_Data_Architecture_for_AI_Automation_in_Space.pdf</a:t>
            </a:r>
            <a:endParaRPr/>
          </a:p>
          <a:p xmlns:a="http://schemas.openxmlformats.org/drawingml/2006/main">
            <a:r>
              <a:t>- NASA Earthrise image: https://science.nasa.gov/resource/image-earthrise/</a:t>
            </a:r>
            <a:endParaRPr/>
          </a:p>
          <a:p xmlns:a="http://schemas.openxmlformats.org/drawingml/2006/main">
            <a:r>
              <a:t>- Image asset: https://assets.science.nasa.gov/dynamicimage/assets/science/esd/climate/2023/12/August-2013_1920x1200.jpg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as operational evidence fragmentation, not a generic AI opportunity. The buyer is paying to reduce decision latency and audit friction.
[Sources]
- User-provided: Project_Gauss_Data_Architecture_for_AI_Automation_in_Space.pdf
- Repo: config/product-packages.json and config/product-packages.schema.json</a:t>
            </a:r>
            <a:endParaRPr/>
          </a:p>
          <a:p xmlns:a="http://schemas.openxmlformats.org/drawingml/2006/main">
            <a:r>
              <a:t>
[Sources]
- NASA solar-flare / space-weather asset in repository: research/documentation-rag/What Is the Solar Wind_ - NASA Science.html
- NASA SOHO CME gallery: https://soho.nascom.nasa.gov/bestofsoho/SolarCorona/las021.html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now is grounded in external market and operating signals, not a claim of current customer traction. The $429B figure is the 2025 global space economy; 14,266 is the SIA/BryceTech count of operational satellites at the end of 2025. NOAA/NASA announced Solar Cycle 25 had reached its solar maximum period in October 2024; the current NOAA progression page retains a maximum window extending into March 2026.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SIA / BryceTech, 29th State of the Satellite Industry Report (2026; FY2025 results): https://sia.org/affordability-productivity-drive-historic-satellite-industry-growth-satellite-industry-association-releases-29th-annual-state-of-the-satellite-industry-report/</a:t>
            </a:r>
            <a:endParaRPr/>
          </a:p>
          <a:p xmlns:a="http://schemas.openxmlformats.org/drawingml/2006/main">
            <a:r>
              <a:t>- World Economic Forum / McKinsey, Space: The $1.8 Trillion Opportunity for Global Economic Growth: https://www.weforum.org/press/2024/04/space-economy-set-to-triple-to-1-8-trillion-by-2035-new-research-reveals/</a:t>
            </a:r>
            <a:endParaRPr/>
          </a:p>
          <a:p xmlns:a="http://schemas.openxmlformats.org/drawingml/2006/main">
            <a:r>
              <a:t>- ESA Space Environment Report 2025: https://www.esa.int/Space_Safety/Space_Debris/ESA_Space_Environment_Report_2025</a:t>
            </a:r>
            <a:endParaRPr/>
          </a:p>
          <a:p xmlns:a="http://schemas.openxmlformats.org/drawingml/2006/main">
            <a:r>
              <a:t>- NOAA/NASA Joint Solar Maximum Announcement: https://prod-01-alb-www-swpc.woc.noaa.gov/news/joint-solar-maximum-announcement-nasa-and-noaa</a:t>
            </a:r>
            <a:endParaRPr/>
          </a:p>
          <a:p xmlns:a="http://schemas.openxmlformats.org/drawingml/2006/main">
            <a:r>
              <a:t>- NOAA Solar Cycle Progression: https://update-swpc.woc.noaa.gov/products/solar-cycle-progression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Visible copy is investor-facing. The underlying product boundary remains quality, provenance, correlation, replay, bounded inference, and approval-gated safety. Partners retain sensors, mission control, communications hardware, trust roots, and command authority.
[Sources]
- Repo: config/product-packages.json and config/product-packages.schema.json
- User-provided: Project_Gauss_Data_Architecture_for_AI_Automation_in_Space.pdf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profile mix is counted from the repository's eight research_profile entries: 2 satcom, 2 weather/space weather, 1 Earth observation, 1 PNT, and 2 lunar relay. These are research targets, not signed customers.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repo: config/mission-targets.json</a:t>
            </a:r>
            <a:endParaRPr/>
          </a:p>
          <a:p xmlns:a="http://schemas.openxmlformats.org/drawingml/2006/main">
            <a:r>
              <a:t>- Internal repo: development/memory/DECISIONS.md (D-110, D-124)</a:t>
            </a:r>
            <a:endParaRPr/>
          </a:p>
          <a:p xmlns:a="http://schemas.openxmlformats.org/drawingml/2006/main">
            <a:r>
              <a:t>- Visual design reference: https://investors.seraphim.vc/wp-content/uploads/2022/05/Seraphim-Prospectus-PDF.pdf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TAM and SAM are category context, not a claim that Gauss captures the full category. The SOM is an internal bottom-up target: five fleet accounts at $100k annual platform value equals $500k ARR.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SIA / BryceTech, 29th State of the Satellite Industry Report (2026; FY2025 results): https://sia.org/affordability-productivity-drive-historic-satellite-industry-growth-satellite-industry-association-releases-29th-annual-state-of-the-satellite-industry-report/</a:t>
            </a:r>
            <a:endParaRPr/>
          </a:p>
          <a:p xmlns:a="http://schemas.openxmlformats.org/drawingml/2006/main">
            <a:r>
              <a:t>- World Economic Forum / McKinsey, Space: The $1.8 Trillion Opportunity for Global Economic Growth: https://www.weforum.org/press/2024/04/space-economy-set-to-triple-to-1-8-trillion-by-2035-new-research-reveals/</a:t>
            </a:r>
            <a:endParaRPr/>
          </a:p>
          <a:p xmlns:a="http://schemas.openxmlformats.org/drawingml/2006/main">
            <a:r>
              <a:t>- Internal Gauss model: development/memory/DECISIONS.md (D-110, D-124, D-126)</a:t>
            </a:r>
            <a:endParaRPr/>
          </a:p>
          <a:p xmlns:a="http://schemas.openxmlformats.org/drawingml/2006/main">
            <a:r>
              <a:t>- Internal Gauss target catalog: config/mission-targets.json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Pricing remains a starting hypothesis for customer validation. The $500k ARR path is five $100k annual fleet accounts; pilots, implementation, and NRE are not ARR.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Gauss model: development/memory/DECISIONS.md (D-110, D-124, D-126)</a:t>
            </a:r>
            <a:endParaRPr/>
          </a:p>
          <a:p xmlns:a="http://schemas.openxmlformats.org/drawingml/2006/main">
            <a:r>
              <a:t>- SIA / BryceTech industry context: https://sia.org/affordability-productivity-drive-historic-satellite-industry-growth-satellite-industry-association-releases-29th-annual-state-of-the-satellite-industry-report/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positioning based on public product descriptions. The x-axis compares mission-specific depth with horizontal applicability; the y-axis compares execution/control surfaces with assurance/observability surfaces. This is a narrative positioning aid, not a feature-parity scorecard.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Yamcs official product overview and logo: https://yamcs.org/</a:t>
            </a:r>
            <a:endParaRPr/>
          </a:p>
          <a:p xmlns:a="http://schemas.openxmlformats.org/drawingml/2006/main">
            <a:r>
              <a:t>- OpenC3 COSMOS official overview and logo: https://openc3.com/</a:t>
            </a:r>
            <a:endParaRPr/>
          </a:p>
          <a:p xmlns:a="http://schemas.openxmlformats.org/drawingml/2006/main">
            <a:r>
              <a:t>- Slingshot Portal official product overview and logo: https://www.slingshot.space/product-portal</a:t>
            </a:r>
            <a:endParaRPr/>
          </a:p>
          <a:p xmlns:a="http://schemas.openxmlformats.org/drawingml/2006/main">
            <a:r>
              <a:t>- Arize official AI observability overview and logo: https://arize.com/</a:t>
            </a:r>
            <a:endParaRPr/>
          </a:p>
          <a:p xmlns:a="http://schemas.openxmlformats.org/drawingml/2006/main">
            <a:r>
              <a:t>- Fiddler official observability overview and logo: https://docs.fiddler.ai/observability/monitoring</a:t>
            </a:r>
            <a:endParaRPr/>
          </a:p>
          <a:p xmlns:a="http://schemas.openxmlformats.org/drawingml/2006/main">
            <a:r>
              <a:t>- AIKO orbital_OLIVER official product overview and logo: https://aikospace.com/solutions/oliver</a:t>
            </a:r>
            <a:endParaRPr/>
          </a:p>
          <a:p xmlns:a="http://schemas.openxmlformats.org/drawingml/2006/main">
            <a:r>
              <a:t>- Gauss positioning is an internal, partner-neutral thesis; no partnership or feature-parity claim is implied.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Named team members and advisor network are taken from the user-provided Gauss_Aurora_Pitch_Deck_v1.pptx. The visible slide intentionally does not invent founder metrics, customer references, or formal advisor status; those remain diligence unlocks.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proof point: five paid fleet accounts and a repeatable evidence contract. Funding allocation is an internal planning scenario.
[Sources]
- Repo: development/memory/DECISIONS.md, D-110 (2026-08-19)
- Repo: config/product-packages.json and config/product-packages.schema.json
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an internal readiness scorecard for the current investor deck, not an eligibility determination. The next diligence unlocks are founder credibility, customer proof, explicit readiness evidence, and IP defensibility.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Gauss_Aurora_Pitch_Deck_v1.pptx</a:t>
            </a:r>
            <a:endParaRPr/>
          </a:p>
          <a:p xmlns:a="http://schemas.openxmlformats.org/drawingml/2006/main">
            <a:r>
              <a:t>- Internal Gauss repository planning model and product notes</a:t>
            </a:r>
            <a:endParaRPr/>
          </a:p>
          <a:p xmlns:a="http://schemas.openxmlformats.org/drawingml/2006/main">
            <a:r>
              <a:t>- https://www.starcloud.com/</a:t>
            </a:r>
            <a:endParaRPr/>
          </a:p>
          <a:p xmlns:a="http://schemas.openxmlformats.org/drawingml/2006/main">
            <a:r>
              <a:t>- https://investors.rocketlabcorp.com/</a:t>
            </a:r>
            <a:endParaRPr/>
          </a:p>
          <a:p xmlns:a="http://schemas.openxmlformats.org/drawingml/2006/main">
            <a:r>
              <a:t>- https://www.relativityspace.com/about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0bce6b6fc401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60374d1ea049a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GAUSS_MASTER"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F590EF9-5E2F-4119-A9F8-4F65435750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6f008773ac490f" /><Relationship Type="http://schemas.openxmlformats.org/officeDocument/2006/relationships/slideLayout" Target="/ppt/slideLayouts/slideLayout1.xml" Id="Ree6d442c2390433a" /><Relationship Type="http://schemas.openxmlformats.org/officeDocument/2006/relationships/slideLayout" Target="/ppt/slideLayouts/slideLayout2.xml" Id="R0258383803684cf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067DDE8-D0D5-4412-840E-FEB2670035E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6d442c2390433a"/>
    <p:sldLayoutId xmlns:r="http://schemas.openxmlformats.org/officeDocument/2006/relationships" id="2147483650" r:id="R0258383803684cf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d35d1e0a504c67" /><Relationship Type="http://schemas.openxmlformats.org/officeDocument/2006/relationships/image" Target="/ppt/media/image.jpeg" Id="R3305ff6391d14c06" /><Relationship Type="http://schemas.openxmlformats.org/officeDocument/2006/relationships/notesSlide" Target="/ppt/notesSlides/notesSlide1.xml" Id="R0a740a61649c49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08fd86ac904831" /><Relationship Type="http://schemas.openxmlformats.org/officeDocument/2006/relationships/image" Target="/ppt/media/image2.jpeg" Id="R5a710f0a86de4559" /><Relationship Type="http://schemas.openxmlformats.org/officeDocument/2006/relationships/notesSlide" Target="/ppt/notesSlides/notesSlide2.xml" Id="R7eb83da8353146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62175f1a144e4c" /><Relationship Type="http://schemas.openxmlformats.org/officeDocument/2006/relationships/image" Target="/ppt/media/image3.jpeg" Id="Rf51583a09ac546cb" /><Relationship Type="http://schemas.openxmlformats.org/officeDocument/2006/relationships/notesSlide" Target="/ppt/notesSlides/notesSlide3.xml" Id="R9284dca92c9146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32009171ff4c60" /><Relationship Type="http://schemas.openxmlformats.org/officeDocument/2006/relationships/notesSlide" Target="/ppt/notesSlides/notesSlide4.xml" Id="R00c666dd32a347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df3a2243574ec8" /><Relationship Type="http://schemas.openxmlformats.org/officeDocument/2006/relationships/image" Target="/ppt/media/image.png" Id="R58294e4ada034060" /><Relationship Type="http://schemas.openxmlformats.org/officeDocument/2006/relationships/notesSlide" Target="/ppt/notesSlides/notesSlide5.xml" Id="Rfc71bd6b4d3a40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8b202398a24e55" /><Relationship Type="http://schemas.openxmlformats.org/officeDocument/2006/relationships/image" Target="/ppt/media/image2.png" Id="R663aa6a9806c4895" /><Relationship Type="http://schemas.openxmlformats.org/officeDocument/2006/relationships/notesSlide" Target="/ppt/notesSlides/notesSlide6.xml" Id="R1468890573974f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4e1f174b6c46f2" /><Relationship Type="http://schemas.openxmlformats.org/officeDocument/2006/relationships/chart" Target="/ppt/slides/charts/chart1.xml" Id="R1cba6e24a5e14702" /><Relationship Type="http://schemas.openxmlformats.org/officeDocument/2006/relationships/notesSlide" Target="/ppt/notesSlides/notesSlide7.xml" Id="R97a3b73e57c84e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76ceda89764ed5" /><Relationship Type="http://schemas.openxmlformats.org/officeDocument/2006/relationships/image" Target="/ppt/media/image3.png" Id="Rb53801237ee04c21" /><Relationship Type="http://schemas.openxmlformats.org/officeDocument/2006/relationships/image" Target="/ppt/media/image.svg" Id="Rc33f3ff7984240e4" /><Relationship Type="http://schemas.openxmlformats.org/officeDocument/2006/relationships/image" Target="/ppt/media/image.jpeg" Id="R0776b20f543e4742" /><Relationship Type="http://schemas.openxmlformats.org/officeDocument/2006/relationships/image" Target="/ppt/media/image4.png" Id="R7abe034a0ae44c31" /><Relationship Type="http://schemas.openxmlformats.org/officeDocument/2006/relationships/image" Target="/ppt/media/image2.svg" Id="R30b22f68a4c44cd4" /><Relationship Type="http://schemas.openxmlformats.org/officeDocument/2006/relationships/image" Target="/ppt/media/image2.jpeg" Id="R5fea89fc0b494fc9" /><Relationship Type="http://schemas.openxmlformats.org/officeDocument/2006/relationships/image" Target="/ppt/media/image5.png" Id="Re5b1838c674f4919" /><Relationship Type="http://schemas.openxmlformats.org/officeDocument/2006/relationships/image" Target="/ppt/media/image3.svg" Id="R5568654b6cc34c58" /><Relationship Type="http://schemas.openxmlformats.org/officeDocument/2006/relationships/image" Target="/ppt/media/image3.jpeg" Id="Rc13ec89555304165" /><Relationship Type="http://schemas.openxmlformats.org/officeDocument/2006/relationships/image" Target="/ppt/media/image4.svg" Id="R190d6d18328e4550" /><Relationship Type="http://schemas.openxmlformats.org/officeDocument/2006/relationships/image" Target="/ppt/media/image5.svg" Id="R576c4f0d0a094e58" /><Relationship Type="http://schemas.openxmlformats.org/officeDocument/2006/relationships/image" Target="/ppt/media/image6.png" Id="R63d247845a7d4ce5" /><Relationship Type="http://schemas.openxmlformats.org/officeDocument/2006/relationships/image" Target="/ppt/media/image6.svg" Id="R87133008fd124b08" /><Relationship Type="http://schemas.openxmlformats.org/officeDocument/2006/relationships/image" Target="/ppt/media/image7.png" Id="Rff4bfddabe2948bf" /><Relationship Type="http://schemas.openxmlformats.org/officeDocument/2006/relationships/image" Target="/ppt/media/image8.png" Id="R0549595bbc404870" /><Relationship Type="http://schemas.openxmlformats.org/officeDocument/2006/relationships/image" Target="/ppt/media/image7.svg" Id="R31ec40d79ef5480a" /><Relationship Type="http://schemas.openxmlformats.org/officeDocument/2006/relationships/image" Target="/ppt/media/image8.svg" Id="R240c99bd645d41b4" /><Relationship Type="http://schemas.openxmlformats.org/officeDocument/2006/relationships/image" Target="/ppt/media/image9.png" Id="R7bbdd64a1eb24847" /><Relationship Type="http://schemas.openxmlformats.org/officeDocument/2006/relationships/image" Target="/ppt/media/image9.svg" Id="R331f8f6c46b849fc" /><Relationship Type="http://schemas.openxmlformats.org/officeDocument/2006/relationships/image" Target="/ppt/media/image10.png" Id="Re0d130edf1e04fbc" /><Relationship Type="http://schemas.openxmlformats.org/officeDocument/2006/relationships/image" Target="/ppt/media/image11.png" Id="R7e8f96aed66642da" /><Relationship Type="http://schemas.openxmlformats.org/officeDocument/2006/relationships/image" Target="/ppt/media/image10.svg" Id="R758ce5a2cffe46d3" /><Relationship Type="http://schemas.openxmlformats.org/officeDocument/2006/relationships/image" Target="/ppt/media/image12.png" Id="R35ab0097f2754c04" /><Relationship Type="http://schemas.openxmlformats.org/officeDocument/2006/relationships/image" Target="/ppt/media/image11.svg" Id="Rb98ad6df331c48b5" /><Relationship Type="http://schemas.openxmlformats.org/officeDocument/2006/relationships/image" Target="/ppt/media/image13.png" Id="R382d413e1d1b4407" /><Relationship Type="http://schemas.openxmlformats.org/officeDocument/2006/relationships/image" Target="/ppt/media/image12.svg" Id="R86290dcffd0a4549" /><Relationship Type="http://schemas.openxmlformats.org/officeDocument/2006/relationships/image" Target="/ppt/media/image14.png" Id="R148430c425144272" /><Relationship Type="http://schemas.openxmlformats.org/officeDocument/2006/relationships/image" Target="/ppt/media/image13.svg" Id="R23a92413bb074af2" /><Relationship Type="http://schemas.openxmlformats.org/officeDocument/2006/relationships/image" Target="/ppt/media/image15.png" Id="Rcfc621e1ac8e4016" /><Relationship Type="http://schemas.openxmlformats.org/officeDocument/2006/relationships/image" Target="/ppt/media/image16.png" Id="R44bfb2a5913e4b09" /><Relationship Type="http://schemas.openxmlformats.org/officeDocument/2006/relationships/image" Target="/ppt/media/image14.svg" Id="R5fb0328a4a764f6d" /><Relationship Type="http://schemas.openxmlformats.org/officeDocument/2006/relationships/image" Target="/ppt/media/image17.png" Id="R3a07ae1dc22c4d8e" /><Relationship Type="http://schemas.openxmlformats.org/officeDocument/2006/relationships/image" Target="/ppt/media/image18.png" Id="R3898d83d24f04e06" /><Relationship Type="http://schemas.openxmlformats.org/officeDocument/2006/relationships/image" Target="/ppt/media/image15.svg" Id="Rb00b9e2072344f8f" /><Relationship Type="http://schemas.openxmlformats.org/officeDocument/2006/relationships/image" Target="/ppt/media/image19.png" Id="R41f7f497f1de41e5" /><Relationship Type="http://schemas.openxmlformats.org/officeDocument/2006/relationships/image" Target="/ppt/media/image16.svg" Id="R3d95acc39681453f" /><Relationship Type="http://schemas.openxmlformats.org/officeDocument/2006/relationships/notesSlide" Target="/ppt/notesSlides/notesSlide8.xml" Id="Rb93b36b5130140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b7db80f98b4178" /><Relationship Type="http://schemas.openxmlformats.org/officeDocument/2006/relationships/image" Target="/ppt/media/image20.png" Id="R48b290182cf94c3f" /><Relationship Type="http://schemas.openxmlformats.org/officeDocument/2006/relationships/notesSlide" Target="/ppt/notesSlides/notesSlide9.xml" Id="Rc057ac31269745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22ac2b4f474454" /><Relationship Type="http://schemas.openxmlformats.org/officeDocument/2006/relationships/image" Target="/ppt/media/image21.png" Id="R7511aaf799374d43" /><Relationship Type="http://schemas.openxmlformats.org/officeDocument/2006/relationships/notesSlide" Target="/ppt/notesSlides/notesSlide10.xml" Id="R88b13b34a9a4438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471487575248ef" /><Relationship Type="http://schemas.openxmlformats.org/officeDocument/2006/relationships/image" Target="/ppt/media/image22.png" Id="Rad472517680342c4" /><Relationship Type="http://schemas.openxmlformats.org/officeDocument/2006/relationships/notesSlide" Target="/ppt/notesSlides/notesSlide11.xml" Id="Rededde493188438c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Annualized value</c:v>
                </c:pt>
              </c:strCache>
            </c:strRef>
          </c:tx>
          <c:spPr>
            <a:solidFill xmlns:a="http://schemas.openxmlformats.org/drawingml/2006/main">
              <a:srgbClr val="CCFF00"/>
            </a:solidFill>
          </c:spPr>
          <c:dLbls>
            <c:numFmt formatCode="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F3F0E8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Pilot</c:v>
                </c:pt>
                <c:pt idx="1">
                  <c:v>Fleet 1</c:v>
                </c:pt>
                <c:pt idx="2">
                  <c:v>Fleet 2</c:v>
                </c:pt>
                <c:pt idx="3">
                  <c:v>Fleet 3</c:v>
                </c:pt>
                <c:pt idx="4">
                  <c:v>Fleet 4</c:v>
                </c:pt>
                <c:pt idx="5">
                  <c:v>Fleet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 i="0" u="none">
                  <a:solidFill>
                    <a:srgbClr val="CCFF00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9525">
            <a:solidFill>
              <a:srgbClr val="25302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0" i="0" u="none">
                <a:solidFill>
                  <a:srgbClr val="F3F0E8"/>
                </a:solidFill>
                <a:latin typeface="IBM Plex Sans"/>
                <a:ea typeface="IBM Plex Sans"/>
                <a:cs typeface="IBM Plex Sans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5302E"/>
              </a:solidFill>
              <a:prstDash val="solid"/>
            </a:ln>
          </c:spPr>
        </c:majorGridlines>
        <c:numFmt formatCode="0" sourceLinked="0"/>
        <c:majorTickMark val="out"/>
        <c:minorTickMark val="none"/>
        <c:tickLblPos val="nextTo"/>
        <c:spPr>
          <a:ln xmlns:a="http://schemas.openxmlformats.org/drawingml/2006/main" w="9525">
            <a:solidFill>
              <a:srgbClr val="25302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F3F0E8"/>
                </a:solidFill>
                <a:latin typeface="JetBrains Mono"/>
                <a:ea typeface="JetBrains Mono"/>
                <a:cs typeface="JetBrains Mono"/>
              </a:defRPr>
            </a:pPr>
          </a:p>
        </c:txPr>
        <c:crossAx val="2094734554"/>
        <c:crosses val="autoZero"/>
        <c:crossBetween val="between"/>
        <c:majorUnit val="100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07765C-15E4-4D60-9E5D-EB863006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D352A7-A7B9-4FA7-903A-3469248B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INVESTOR BRIEF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D23DF6C-CE16-41ED-B4C0-A468E512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01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C4A880E-5C30-40B1-B46D-F57B4235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05ff6391d14c06"/>
          <a:srcRect xmlns:a="http://schemas.openxmlformats.org/drawingml/2006/main" l="0" t="4999" r="0" b="49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97045587-A5B6-43C5-8D12-B883584D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6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A266DCB-3EDB-4E96-8815-D331D682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9264"/>
            <a:ext cx="1280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7EE1247-23F5-4742-BA2A-85DD417D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1872"/>
            <a:ext cx="34747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PROJECT GAUSS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8E7368C-7F6A-44CC-9970-7F662BDB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4520"/>
            <a:ext cx="67665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9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data,</a:t>
            </a:r>
            <a:endParaRPr sz="4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made decision-ready.</a:t>
            </a:r>
            <a:endParaRPr sz="4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FBEA302-EB5E-48AC-A78C-DDA1EC23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9584"/>
            <a:ext cx="5943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77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An evidence-first assurance layer for AI-augmented space operations.</a:t>
            </a:r>
            <a:endParaRPr sz="16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32C83A2-EC8E-4C86-A026-141788D1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9788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INVESTOR BRIEF  /  AUGUST 2026</a:t>
            </a:r>
            <a:endParaRPr sz="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F8F84E3-D21A-4E48-BCE2-83FC75C4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897880"/>
            <a:ext cx="4297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Ground-first. Evidence-led. Command-inert by design.</a:t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0C668B8-B67B-4EB1-B5A1-2FEB97F9805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AD75FED6-38D0-DE9C-92C0-6E7FA635581C}" type="slidenum">
              <a:rPr b="0">
                <a:solidFill>
                  <a:srgbClr val="F3F0E8"/>
                </a:solidFill>
              </a:rPr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91356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C51DBE0-3FFC-49E2-AE13-AC16F9C1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3A685D-E1C1-45E5-BD85-FB776671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PROBLEM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68C7E57-4926-49DF-859D-2C9697CA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02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08DE4F5-444A-4F23-9A15-4AF61745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05FC363-ADFC-49D7-91B7-62F0AB93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 evidence is expensive.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5FD77A8-4ED3-43CA-85AC-22925D88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The data exists. The decision context does not.</a:t>
            </a:r>
            <a:endParaRPr sz="1500"/>
          </a:p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710f0a86de4559"/>
          <a:srcRect xmlns:a="http://schemas.openxmlformats.org/drawingml/2006/main" l="9091" t="0" r="90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D6CCEDC-B014-4439-A4E4-17D2D6B5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8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C074062-9C69-42F0-94B1-671E5970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3246120"/>
            <a:ext cx="468172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0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267D19B-5BCE-4A41-80C2-DB73238F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298448"/>
            <a:ext cx="2194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WEATHER SIGNAL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01E5540-8352-4B9C-B29D-28BF8867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611880"/>
            <a:ext cx="3977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823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CME context is only useful when the operator can trace it to the decision.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B445065-26DB-43D5-9EE9-38035DC3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3697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ED37815-4E66-43B4-96D3-8D8E7E44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23697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66B0477-5416-410F-B80D-D7D9798F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23697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Telemetry, space-weather, SSA, memory, and ground-system evidence live in separate lanes.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C5A7A67-755F-4782-AD6A-9404877D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96849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4D553D8-E059-47C0-A0A7-4622A407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96849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Opaque</a:t>
            </a:r>
            <a:endParaRPr sz="1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9E18BD-3186-45E8-B26F-2FE6C973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6849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AI can flag an anomaly, but operators still need provenance, confidence, and a safe fallback.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D583D51-22D2-44E8-9774-D61AB1B1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00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16263DB-3E36-4202-9E4B-F447C936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470001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Costly</a:t>
            </a:r>
            <a:endParaRPr sz="14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3E0D0F4-9C9E-42A9-9286-2BB6696B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70001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Every delayed or disputed decision compounds mission risk, engineering time, and procurement friction.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0F21B8E-19CB-49F9-8BD9-E87A679189D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2598689-54C9-18A7-3A19-ED76AA08988F}" type="slidenum">
              <a:rPr b="0">
                <a:solidFill>
                  <a:srgbClr val="F3F0E8"/>
                </a:solidFill>
              </a:rPr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83245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EEDA6D-EDD1-443F-B3FD-54BE8A84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7F500D-A4F1-4730-A117-5DD8A555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WHY NOW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A8BF6D-7EFB-433A-9988-B21D282B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03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6D9D65C-A68A-484E-A927-95CF2F96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20C23B4-407B-4D62-8C0B-57A96AEE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Space is scaling faster than trust infrastructure.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5F4B1A6-F84E-458F-9C8F-296F5D4E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Growth, congestion, and solar activity are compressing the decision window.</a:t>
            </a:r>
            <a:endParaRPr sz="1500"/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1583a09ac546cb"/>
          <a:srcRect xmlns:a="http://schemas.openxmlformats.org/drawingml/2006/main" l="2676" t="0" r="267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B73EEBB-9FBC-49F3-ACF7-534564FE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5CB8A4A-75A8-46D1-90C4-32A69DAE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7952"/>
            <a:ext cx="5138928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30EE6EDA-EB50-43B4-9288-7B039DD5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59152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467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OPERATING SHIFT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73BAEA-6439-41DD-9B0F-1639563E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434840"/>
            <a:ext cx="4251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500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More assets. More streams. More decisions that must be explainable.</a:t>
            </a:r>
            <a:endParaRPr sz="16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C2C791F8-B197-40DF-BB06-EBE0FCDA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0578618-F993-47B6-BD01-E52F317F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ECONOMY</a:t>
            </a:r>
            <a:endParaRPr sz="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599105F-470A-4927-9F3D-B00A498D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A761B45-111C-4A24-8473-D05CFB1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400" b="1">
                <a:solidFill>
                  <a:srgbClr val="CCFF00"/>
                </a:solidFill>
              </a:defRPr>
            </a:pPr>
            <a:r>
              <a:rPr sz="2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2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87C458E-54DC-4EF3-B3BD-BC41527E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973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/ 2025</a:t>
            </a:r>
            <a:endParaRPr sz="8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1204973A-5761-459D-9828-30C87A69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B58D081-FA1F-46BD-B818-51570498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ORBITAL SCALE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2E15305-60F7-4F3A-9C55-0AF6A305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&gt;</a:t>
            </a:r>
            <a:endParaRPr sz="11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BEF28B3-9242-4832-92CA-E286247B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400" b="1">
                <a:solidFill>
                  <a:srgbClr val="CCFF00"/>
                </a:solidFill>
              </a:defRPr>
            </a:pPr>
            <a:r>
              <a:rPr sz="2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14,266</a:t>
            </a:r>
            <a:endParaRPr sz="2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39A5FA8-FAF3-4E34-946C-ACC49939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521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operational satellites / end-2025</a:t>
            </a:r>
            <a:endParaRPr sz="80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7C987F7-DC71-4BD8-B7FA-77B8412A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7776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FF5954F-5D7D-4400-A3F0-7756EC2D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WEATHER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FCD38808-DD2A-4F95-8B0F-617A960B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7936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⊘</a:t>
            </a:r>
            <a:endParaRPr sz="11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2A607FCF-B51E-4512-9148-16FDB1A6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74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SOLAR MAX</a:t>
            </a:r>
            <a:endParaRPr sz="23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7E23118-FD75-422A-AB55-BB792C7A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4857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CME + flare activity remains mission-relevant</a:t>
            </a:r>
            <a:endParaRPr sz="80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0471EC2-CF6C-43FE-A77A-A056964C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13632"/>
            <a:ext cx="53675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8129F118-57C9-4589-8DED-3236276C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224528"/>
            <a:ext cx="4206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5156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650" b="1">
                <a:solidFill>
                  <a:srgbClr val="F3F0E8"/>
                </a:solidFill>
              </a:defRPr>
            </a:pPr>
            <a:r>
              <a:rPr sz="16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Why now: the operating surface is getting larger, denser, and more consequential.</a:t>
            </a:r>
            <a:endParaRPr sz="17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BAFBE8F6-0E05-495C-BF0A-A57047D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45152"/>
            <a:ext cx="48920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350">
                <a:solidFill>
                  <a:srgbClr val="F3F0E8"/>
                </a:solidFill>
              </a:defRPr>
            </a:pPr>
            <a:r>
              <a:rPr sz="13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neutral evidence layer turns growing data volume into traceable decisions across the existing ground segment.</a:t>
            </a:r>
            <a:endParaRPr sz="12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F34083B-8045-4212-BE2A-BC7F88B92BB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202359C0-8A7A-196E-DD58-8E6569619F09}" type="slidenum">
              <a:rPr b="0">
                <a:solidFill>
                  <a:srgbClr val="F3F0E8"/>
                </a:solidFill>
              </a:rPr>
              <a:t>3</a:t>
            </a:fld>
            <a:endParaRPr/>
          </a:p>
        </p:txBody>
      </p:sp>
      <p:sp>
        <p:nvSpPr>
          <p:cNvPr id="34" name="why-now-source-rail">
            <a:extLst xmlns:a="http://schemas.openxmlformats.org/drawingml/2006/main">
              <a:ext uri="{FF2B5EF4-FFF2-40B4-BE49-F238E27FC236}">
                <a16:creationId xmlns:a16="http://schemas.microsoft.com/office/drawing/2014/main" id="{719D0056-D485-4BE2-BAE4-89BE3FD1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4102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2026  •  WEF / McKinsey 2024  •  ESA 2025  •  NOAA / NASA</a:t>
            </a:r>
          </a:p>
        </p:txBody>
      </p:sp>
    </p:spTree>
    <p:extLst>
      <p:ext uri="{BB962C8B-B14F-4D97-AF65-F5344CB8AC3E}">
        <p14:creationId xmlns:p14="http://schemas.microsoft.com/office/powerpoint/2010/main" val="15783392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B504AC-A90E-4B45-861E-07C44C88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225809-9F24-4021-9E05-3F27E53C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PRODUCT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4FEB799-D605-4460-95EE-3077B285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04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F36321-D16F-4362-8DFF-051D4812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7FD0C9-9343-4815-9481-15E9B467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makes AI decisions ready for operations.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5F8D09A-35C5-4254-A6EB-FCC8250D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neutral assurance layer that helps teams trust, explain, and safely act on mission data.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7E18CD2-A909-4902-B782-3C2E4CB0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2286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WHAT TEAMS ALREADY HAVE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0D9CBC6-6D87-4668-9DD2-ACDB54C6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 ASSURANCE</a:t>
            </a:r>
            <a:endParaRPr sz="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C8985ED-4C38-4865-9E20-F29DD1D3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WHAT OPERATORS GET</a:t>
            </a:r>
            <a:endParaRPr sz="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2E613B1-55F6-471C-9823-556F0E46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3472"/>
            <a:ext cx="257860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383C47-2AB5-4D2F-AE6F-E6D69B14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2359152"/>
            <a:ext cx="3730752" cy="2359152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1C9DA08-8DA9-4E89-BB24-700C2817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633472"/>
            <a:ext cx="271576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2F6CE56-0BCA-4C58-8E0A-91FB66B7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3547872"/>
            <a:ext cx="9235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7B1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E121EE0-86BC-4780-944A-5B1AC976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4962E76-042E-4C55-ABD6-AECC8C05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3547872"/>
            <a:ext cx="8778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2EFD8A0-8C08-40E3-A67E-B129D09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7BD71CF-08CC-4130-8D9F-E0ED8FD1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72384"/>
            <a:ext cx="1965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5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Weather context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Operator history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Existing systems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5504FAA-F30D-4FCE-A449-8EEDACC9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779776"/>
            <a:ext cx="111556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30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Validate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Explain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Gate</a:t>
            </a:r>
            <a:endParaRPr sz="23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D75F757-D416-4827-A5FD-AA7311C5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944368"/>
            <a:ext cx="135331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Confidence signals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Decision context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Safe fallback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E53F0FC-B4F8-4BD8-8D3B-058400CA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072384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437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Decision-ready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evidence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Audit trail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No command authority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AC273F-6344-434A-870D-0B608B43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with the ground segment. Earn the right to move closer to flight.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5299232-2C3E-4EED-A3E9-37F02AF0737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FD6AB9A-5F9E-5F59-51AB-3C8734130965}" type="slidenum">
              <a:rPr b="0">
                <a:solidFill>
                  <a:srgbClr val="F3F0E8"/>
                </a:solidFill>
              </a:rPr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8819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294e4ada034060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0B55E61-5329-4635-BBE3-0595F7FD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E28375C-DFD2-4868-89BB-2B534C2D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0288A37-171A-4DB8-B1F5-C947883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44D385C-F789-40C5-94EB-7FF5A739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05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39667813-D76D-41AC-8FDA-9A9C4144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0E25D64-E7EC-43F1-BBBE-723DE54E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where data quality is already a budget line.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9BD9C-CD66-4B77-A22F-DA5B4CD5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Gauss sells first to operators and integrators who cannot afford ambiguous telemetry.</a:t>
            </a:r>
            <a:endParaRPr sz="1500"/>
          </a:p>
        </p:txBody>
      </p:sp>
      <p:graphicFrame>
        <p:nvGraphicFramePr>
          <p:cNvPr id="56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77440"/>
                <a:gridCol w="2331720"/>
                <a:gridCol w="3337560"/>
                <a:gridCol w="2770632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</a:tbl>
          </a:graphicData>
        </a:graphic>
      </p:graphicFrame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EC3F4-CFAF-44A1-9660-F1870854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2392"/>
            <a:ext cx="9875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8 sourced research profiles across five buyer wedges; no signed customers.</a:t>
            </a:r>
            <a:endParaRPr sz="14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1506A5F-61EB-432F-A0F4-2D8484F0C76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E5B3003-2C54-13C6-9832-7637201064DE}" type="slidenum">
              <a:rPr b="0">
                <a:solidFill>
                  <a:srgbClr val="F3F0E8"/>
                </a:solidFill>
              </a:rPr>
              <a:t>5</a:t>
            </a:fld>
            <a:endParaRPr/>
          </a:p>
        </p:txBody>
      </p:sp>
      <p:sp>
        <p:nvSpPr>
          <p:cNvPr id="28" name="profile-mix-label">
            <a:extLst xmlns:a="http://schemas.openxmlformats.org/drawingml/2006/main">
              <a:ext uri="{FF2B5EF4-FFF2-40B4-BE49-F238E27FC236}">
                <a16:creationId xmlns:a16="http://schemas.microsoft.com/office/drawing/2014/main" id="{BA6B8842-9F8C-4636-A08B-1D77502C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PROFILE MIX  /  8 RESEARCH TARGETS</a:t>
            </a:r>
          </a:p>
        </p:txBody>
      </p:sp>
      <p:sp>
        <p:nvSpPr>
          <p:cNvPr id="29" name="profile-grid-1">
            <a:extLst xmlns:a="http://schemas.openxmlformats.org/drawingml/2006/main">
              <a:ext uri="{FF2B5EF4-FFF2-40B4-BE49-F238E27FC236}">
                <a16:creationId xmlns:a16="http://schemas.microsoft.com/office/drawing/2014/main" id="{57B3CFCB-56A3-4A2C-A5E4-F3275AA2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profile-grid-2">
            <a:extLst xmlns:a="http://schemas.openxmlformats.org/drawingml/2006/main">
              <a:ext uri="{FF2B5EF4-FFF2-40B4-BE49-F238E27FC236}">
                <a16:creationId xmlns:a16="http://schemas.microsoft.com/office/drawing/2014/main" id="{5489EA37-BD5F-4358-B4EA-AE329C53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profile-label-0">
            <a:extLst xmlns:a="http://schemas.openxmlformats.org/drawingml/2006/main">
              <a:ext uri="{FF2B5EF4-FFF2-40B4-BE49-F238E27FC236}">
                <a16:creationId xmlns:a16="http://schemas.microsoft.com/office/drawing/2014/main" id="{6F192035-CBED-4EC0-BAB3-48ADA93D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Satcom</a:t>
            </a:r>
          </a:p>
        </p:txBody>
      </p:sp>
      <p:sp>
        <p:nvSpPr>
          <p:cNvPr id="32" name="profile-bar-0">
            <a:extLst xmlns:a="http://schemas.openxmlformats.org/drawingml/2006/main">
              <a:ext uri="{FF2B5EF4-FFF2-40B4-BE49-F238E27FC236}">
                <a16:creationId xmlns:a16="http://schemas.microsoft.com/office/drawing/2014/main" id="{E481C2C6-7B39-42FD-9BCB-5430166D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2288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profile-value-0">
            <a:extLst xmlns:a="http://schemas.openxmlformats.org/drawingml/2006/main">
              <a:ext uri="{FF2B5EF4-FFF2-40B4-BE49-F238E27FC236}">
                <a16:creationId xmlns:a16="http://schemas.microsoft.com/office/drawing/2014/main" id="{ED9836B4-81D2-4052-B894-D56C4554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2383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4" name="profile-label-1">
            <a:extLst xmlns:a="http://schemas.openxmlformats.org/drawingml/2006/main">
              <a:ext uri="{FF2B5EF4-FFF2-40B4-BE49-F238E27FC236}">
                <a16:creationId xmlns:a16="http://schemas.microsoft.com/office/drawing/2014/main" id="{C6FBC265-BF20-43D0-86F1-7A4597D1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Weather</a:t>
            </a:r>
          </a:p>
        </p:txBody>
      </p:sp>
      <p:sp>
        <p:nvSpPr>
          <p:cNvPr id="35" name="profile-bar-1">
            <a:extLst xmlns:a="http://schemas.openxmlformats.org/drawingml/2006/main">
              <a:ext uri="{FF2B5EF4-FFF2-40B4-BE49-F238E27FC236}">
                <a16:creationId xmlns:a16="http://schemas.microsoft.com/office/drawing/2014/main" id="{D07CC964-AAE8-4B36-B86C-7030A73C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860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profile-value-1">
            <a:extLst xmlns:a="http://schemas.openxmlformats.org/drawingml/2006/main">
              <a:ext uri="{FF2B5EF4-FFF2-40B4-BE49-F238E27FC236}">
                <a16:creationId xmlns:a16="http://schemas.microsoft.com/office/drawing/2014/main" id="{ED7864FB-0804-4AE8-B09F-E84A7D88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6955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7" name="profile-label-2">
            <a:extLst xmlns:a="http://schemas.openxmlformats.org/drawingml/2006/main">
              <a:ext uri="{FF2B5EF4-FFF2-40B4-BE49-F238E27FC236}">
                <a16:creationId xmlns:a16="http://schemas.microsoft.com/office/drawing/2014/main" id="{2AE3D7AA-83B3-4B04-957B-D6BA109E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Earth observation</a:t>
            </a:r>
          </a:p>
        </p:txBody>
      </p:sp>
      <p:sp>
        <p:nvSpPr>
          <p:cNvPr id="38" name="profile-bar-2">
            <a:extLst xmlns:a="http://schemas.openxmlformats.org/drawingml/2006/main">
              <a:ext uri="{FF2B5EF4-FFF2-40B4-BE49-F238E27FC236}">
                <a16:creationId xmlns:a16="http://schemas.microsoft.com/office/drawing/2014/main" id="{62DAE713-5511-4B84-A26A-35873B54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432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profile-value-2">
            <a:extLst xmlns:a="http://schemas.openxmlformats.org/drawingml/2006/main">
              <a:ext uri="{FF2B5EF4-FFF2-40B4-BE49-F238E27FC236}">
                <a16:creationId xmlns:a16="http://schemas.microsoft.com/office/drawing/2014/main" id="{83B90E02-743F-4F2A-9067-D0BEAE35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527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0" name="profile-label-3">
            <a:extLst xmlns:a="http://schemas.openxmlformats.org/drawingml/2006/main">
              <a:ext uri="{FF2B5EF4-FFF2-40B4-BE49-F238E27FC236}">
                <a16:creationId xmlns:a16="http://schemas.microsoft.com/office/drawing/2014/main" id="{40E9C5AD-FEB7-4677-8D04-43BD41BA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PNT</a:t>
            </a:r>
          </a:p>
        </p:txBody>
      </p:sp>
      <p:sp>
        <p:nvSpPr>
          <p:cNvPr id="41" name="profile-bar-3">
            <a:extLst xmlns:a="http://schemas.openxmlformats.org/drawingml/2006/main">
              <a:ext uri="{FF2B5EF4-FFF2-40B4-BE49-F238E27FC236}">
                <a16:creationId xmlns:a16="http://schemas.microsoft.com/office/drawing/2014/main" id="{83769DED-4F23-46EE-8380-1A2C7A1E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004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profile-value-3">
            <a:extLst xmlns:a="http://schemas.openxmlformats.org/drawingml/2006/main">
              <a:ext uri="{FF2B5EF4-FFF2-40B4-BE49-F238E27FC236}">
                <a16:creationId xmlns:a16="http://schemas.microsoft.com/office/drawing/2014/main" id="{6ABCF6A3-55F1-4579-BA2E-871E13CA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99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3" name="profile-label-4">
            <a:extLst xmlns:a="http://schemas.openxmlformats.org/drawingml/2006/main">
              <a:ext uri="{FF2B5EF4-FFF2-40B4-BE49-F238E27FC236}">
                <a16:creationId xmlns:a16="http://schemas.microsoft.com/office/drawing/2014/main" id="{8B373A2C-17E3-4363-B686-BC2709F9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Lunar relay</a:t>
            </a:r>
          </a:p>
        </p:txBody>
      </p:sp>
      <p:sp>
        <p:nvSpPr>
          <p:cNvPr id="44" name="profile-bar-4">
            <a:extLst xmlns:a="http://schemas.openxmlformats.org/drawingml/2006/main">
              <a:ext uri="{FF2B5EF4-FFF2-40B4-BE49-F238E27FC236}">
                <a16:creationId xmlns:a16="http://schemas.microsoft.com/office/drawing/2014/main" id="{E9AA72FE-7056-4A8D-9AD6-5264869C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576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profile-value-4">
            <a:extLst xmlns:a="http://schemas.openxmlformats.org/drawingml/2006/main">
              <a:ext uri="{FF2B5EF4-FFF2-40B4-BE49-F238E27FC236}">
                <a16:creationId xmlns:a16="http://schemas.microsoft.com/office/drawing/2014/main" id="{15638DCB-ACC5-4173-8B54-B3AD050D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671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02450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3aa6a9806c4895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4D0ED68-9B2A-402A-8A98-0E9D9613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BA27EE9-3160-4668-A61D-B56E23EB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82630D-1FA1-48CF-9EE8-AA776542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D27E8BC-0E08-4CC8-A55F-CBF50C54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06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7927833-DC7F-4A82-B36A-D9C9C658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393B113-E77E-456C-9C7B-1F3ED260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The category is already large; the wedge is still focused.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5D3BD5E-6427-45D4-BF86-5FF585C7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Use external category context for TAM / SAM; keep SOM bottom-up and honest.</a:t>
            </a:r>
            <a:endParaRPr sz="15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8B22210-8477-4310-AF29-71EEE399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544"/>
            <a:ext cx="49377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SOURCED CATEGORY CONTEXT  /  INTERNAL SOM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5788EA6-EC18-48D3-8BE4-2A60E0AC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670048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10B20D4-55C0-4E6E-8BEA-D07D41DB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035808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300" b="1">
                <a:solidFill>
                  <a:srgbClr val="CCFF00"/>
                </a:solidFill>
              </a:defRPr>
            </a:pPr>
            <a:r>
              <a:rPr sz="3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4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7C36BB-EA09-4E07-84A3-2EF7D231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767328"/>
            <a:ext cx="31272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in 2025.</a:t>
            </a:r>
            <a:endParaRPr sz="1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WEF / McKinsey: $1.8T by 2035.</a:t>
            </a:r>
            <a:endParaRPr sz="1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E878C663-1427-4DB6-8920-EE2FBCB8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331720"/>
            <a:ext cx="0" cy="25877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04AD369-DE50-4A91-9F7E-BD881D27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651760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E0C6E80-0184-4287-8DD1-5C8E50F5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0EAC6E4-7815-4E5C-9E32-54B40EE2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75488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B2BF177-B763-4E1A-B226-966CDBE2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962656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31EA8CC-4EEF-4613-AACA-48E5995D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962656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/ 2025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009952A-2FF8-48DC-BBB4-4ED105CC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401568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SAM</a:t>
            </a:r>
            <a:endParaRPr sz="9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ADEC10D-E759-454A-B630-B74F0DB7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FF77215-5D21-49F6-A1D5-BC67044D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274320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A738CA7F-7D26-43D2-8D40-8E5AB1C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712464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$165.2B</a:t>
            </a:r>
            <a:endParaRPr sz="12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1C2C6F-1E49-425F-8F34-4112A100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712464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489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Satellite ground segment + GNSS equipment / 2025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DF12C80F-81B0-4F16-BCD2-18C670B3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151376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SOM</a:t>
            </a:r>
            <a:endParaRPr sz="9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05E4E24-305C-4062-BA29-C435C21E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19071F3-516C-4645-99F4-91370A4F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768096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30766A76-EF4D-4EC9-83C5-A0F0EE1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462272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$500k ARR</a:t>
            </a:r>
            <a:endParaRPr sz="12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7BDEF-759F-472C-80E7-34AFEFB6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462272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8337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Five fleet accounts × $100k annual platform value</a:t>
            </a:r>
            <a:endParaRPr sz="8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06FA87-DCB6-4964-8A43-5D15DF0E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736592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TAM / SAM are category context; SOM is an internal revenue target, not market share.</a:t>
            </a:r>
            <a:endParaRPr sz="13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D349C5-E354-4A28-B6C4-B64533ED1C2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8C630A04-5A25-9E0C-9436-126091DB86B3}" type="slidenum">
              <a:rPr b="0">
                <a:solidFill>
                  <a:srgbClr val="F3F0E8"/>
                </a:solidFill>
              </a:rPr>
              <a:t>6</a:t>
            </a:fld>
            <a:endParaRPr/>
          </a:p>
        </p:txBody>
      </p:sp>
      <p:sp>
        <p:nvSpPr>
          <p:cNvPr id="34" name="market-sizing-source-rail">
            <a:extLst xmlns:a="http://schemas.openxmlformats.org/drawingml/2006/main">
              <a:ext uri="{FF2B5EF4-FFF2-40B4-BE49-F238E27FC236}">
                <a16:creationId xmlns:a16="http://schemas.microsoft.com/office/drawing/2014/main" id="{E6EBC99A-36BC-4B4C-876F-EBDBE7BC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51054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</p:spTree>
    <p:extLst>
      <p:ext uri="{BB962C8B-B14F-4D97-AF65-F5344CB8AC3E}">
        <p14:creationId xmlns:p14="http://schemas.microsoft.com/office/powerpoint/2010/main" val="9269184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A58A04-BD85-4082-9CF2-2AD63F48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3ADECB-279E-4F13-AA6E-88A462AA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COMMERCIAL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113A158-B305-42AD-A23F-454B85FC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07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E7E2189-6260-4D5E-811C-34FE5D20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77BE3E3-2F53-451D-9ADD-3F05F335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06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FF6E996-5ACD-4D4B-850E-EB41A55D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Platform revenue compounds by fleet; services and flight work stay outside ARR.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18286FA-1A8D-4C81-842B-322191E4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3120"/>
            <a:ext cx="17373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REVENUE STACK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9C8FB36-F708-4586-AD7B-C7C4238F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057400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◒</a:t>
            </a:r>
            <a:endParaRPr sz="1400"/>
          </a:p>
        </p:txBody>
      </p:sp>
      <p:graphicFrame>
        <p:nvGraphicFramePr>
          <p:cNvPr id="39" name="Chart 0"/>
          <p:cNvGraphicFramePr/>
          <p:nvPr/>
        </p:nvGraphicFramePr>
        <p:xfrm>
          <a:off xmlns:a="http://schemas.openxmlformats.org/drawingml/2006/main" x="685800" y="2450592"/>
          <a:ext xmlns:a="http://schemas.openxmlformats.org/drawingml/2006/main" cx="5623560" cy="26517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ba6e24a5e14702"/>
          </a:graphicData>
        </a:graphic>
      </p:graphicFrame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0FE0D0A-FDF9-49CF-BBAD-9EAB32F5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$k ARR / annualized contract value</a:t>
            </a:r>
            <a:endParaRPr sz="8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CAD7B660-7CFA-4B01-9AF9-E4A2A0C3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71800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1467B98-9B99-4D31-A46E-AC4C7FD7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468880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Paid evaluation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07E76B1-2D70-4C53-BFDE-A24D8E1D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68880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$20k–$35k</a:t>
            </a:r>
            <a:endParaRPr sz="11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9F3D2FD-92C3-48CF-A6EB-D93A3B48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43200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6–10 weeks; credit toward conversion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1E9B7B3-45D6-478C-9976-CB8FCA4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630168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53CC369-F628-4DF5-AE26-C0C328F3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127248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Annual platform</a:t>
            </a:r>
            <a:endParaRPr sz="13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857CAE3-BAAE-41E1-BB8B-9E13CF75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127248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$100k–$150k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4F0367F-A84C-4F11-BF30-293760C3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401568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Fleet / mission capacity, not seats</a:t>
            </a:r>
            <a:endParaRPr sz="9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29F13F33-1E85-43F7-9611-B1EF4BB4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288536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AE1FBA0-3B3F-48BB-B795-3BA71FA4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785616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Implementation</a:t>
            </a:r>
            <a:endParaRPr sz="1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BB8B42D-29F5-48FA-9EC9-E430151B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785616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$30k–$100k</a:t>
            </a:r>
            <a:endParaRPr sz="11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BE196290-A934-4553-AC0C-8A62543D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059936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One-time adapters and onboarding</a:t>
            </a:r>
            <a:endParaRPr sz="9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BEE818CE-1B81-4889-80EB-071363A1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946904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655D5EB-D991-4DDF-A96D-392DD3EE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43984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Flight candidate</a:t>
            </a:r>
            <a:endParaRPr sz="13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80784210-424F-4EDE-BBF8-7CD17BD8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4443984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$150k–$400k</a:t>
            </a:r>
            <a:endParaRPr sz="11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D249789D-4508-4F54-84E5-2BE0E9ED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718304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NRE; external evidence gates</a:t>
            </a:r>
            <a:endParaRPr sz="90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4417E04-E870-448C-9F63-E28F1A5B796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D3D7D1C8-AE23-AA48-DF65-C742588DBE47}" type="slidenum">
              <a:rPr b="0">
                <a:solidFill>
                  <a:srgbClr val="F3F0E8"/>
                </a:solidFill>
              </a:rPr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101537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3801237ee04c21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785D1189-6ECD-437B-A2E4-81DC4F82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2F90A88-EE69-4FAF-8075-C37296BA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A482D22-9CD2-40D5-91E4-B893A1F2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POSITIONING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8EA2EC3-2B5E-42DD-BBC1-B134EF3F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08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349530C-3354-4DC1-8AD7-D7E10CFB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080AE9D-22E6-48C5-9D19-598CEE23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083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owns the seam between mission operations and AI assurance.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24C7153-5666-4D05-8EF4-EEC0D5C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Adjacent platforms solve a layer; Gauss connects the evidence needed to act.</a:t>
            </a:r>
            <a:endParaRPr sz="1500"/>
          </a:p>
        </p:txBody>
      </p:sp>
      <p:graphicFrame>
        <p:nvGraphicFramePr>
          <p:cNvPr id="178" name="Table 0"/>
          <p:cNvGraphicFramePr/>
          <p:nvPr/>
        </p:nvGraphicFramePr>
        <p:xfrm>
          <a:off xmlns:a="http://schemas.openxmlformats.org/drawingml/2006/main" x="685800" y="2176272"/>
          <a:ext xmlns:a="http://schemas.openxmlformats.org/drawingml/2006/main" cx="10817352" cy="285292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8840"/>
                <a:gridCol w="3017520"/>
                <a:gridCol w="3154680"/>
                <a:gridCol w="2496312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F9EF4FC-A92F-45FD-BB62-83D9650B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11480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2304DE2-B104-44A1-A357-53C059AD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429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POSITIONING WEDGE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250DC48-7E9F-4E6B-91AD-4B588831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468112"/>
            <a:ext cx="76809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Illustrative public positioning; not feature parity or partnership evidence.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614F266-BDBC-4E64-A1D1-5D4C58BB47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BA58DA2A-B818-18A9-29C1-B697728D5BCE}" type="slidenum">
              <a:rPr b="0">
                <a:solidFill>
                  <a:srgbClr val="F3F0E8"/>
                </a:solidFill>
              </a:rPr>
              <a:t>8</a:t>
            </a:fld>
            <a:endParaRPr/>
          </a:p>
        </p:txBody>
      </p:sp>
      <p:pic>
        <p:nvPicPr>
          <p:cNvPr id="1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76b20f543e4742">
            <a:extLst>
              <a:ext uri="{96DAC541-7B7A-43D3-8B79-37D633B846F1}">
                <asvg:svgBlip xmlns:asvg="http://schemas.microsoft.com/office/drawing/2016/SVG/main" r:embed="Rc33f3ff7984240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1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e034a0ae44c31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1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a89fc0b494fc9">
            <a:extLst>
              <a:ext uri="{96DAC541-7B7A-43D3-8B79-37D633B846F1}">
                <asvg:svgBlip xmlns:asvg="http://schemas.microsoft.com/office/drawing/2016/SVG/main" r:embed="R30b22f68a4c44cd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1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b1838c674f4919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1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3ec89555304165">
            <a:extLst>
              <a:ext uri="{96DAC541-7B7A-43D3-8B79-37D633B846F1}">
                <asvg:svgBlip xmlns:asvg="http://schemas.microsoft.com/office/drawing/2016/SVG/main" r:embed="R5568654b6cc34c5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1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e034a0ae44c31">
            <a:extLst>
              <a:ext uri="{96DAC541-7B7A-43D3-8B79-37D633B846F1}">
                <asvg:svgBlip xmlns:asvg="http://schemas.microsoft.com/office/drawing/2016/SVG/main" r:embed="R190d6d18328e455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1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b1838c674f4919">
            <a:extLst>
              <a:ext uri="{96DAC541-7B7A-43D3-8B79-37D633B846F1}">
                <asvg:svgBlip xmlns:asvg="http://schemas.microsoft.com/office/drawing/2016/SVG/main" r:embed="R576c4f0d0a094e5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1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247845a7d4ce5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1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247845a7d4ce5">
            <a:extLst>
              <a:ext uri="{96DAC541-7B7A-43D3-8B79-37D633B846F1}">
                <asvg:svgBlip xmlns:asvg="http://schemas.microsoft.com/office/drawing/2016/SVG/main" r:embed="R87133008fd124b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1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4bfddabe2948bf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1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9595bbc404870">
            <a:extLst>
              <a:ext uri="{96DAC541-7B7A-43D3-8B79-37D633B846F1}">
                <asvg:svgBlip xmlns:asvg="http://schemas.microsoft.com/office/drawing/2016/SVG/main" r:embed="R31ec40d79ef5480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1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4bfddabe2948bf">
            <a:extLst>
              <a:ext uri="{96DAC541-7B7A-43D3-8B79-37D633B846F1}">
                <asvg:svgBlip xmlns:asvg="http://schemas.microsoft.com/office/drawing/2016/SVG/main" r:embed="R240c99bd645d41b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1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bdd64a1eb24847">
            <a:extLst>
              <a:ext uri="{96DAC541-7B7A-43D3-8B79-37D633B846F1}">
                <asvg:svgBlip xmlns:asvg="http://schemas.microsoft.com/office/drawing/2016/SVG/main" r:embed="R331f8f6c46b849f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1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130edf1e04fbc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1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f96aed66642da">
            <a:extLst>
              <a:ext uri="{96DAC541-7B7A-43D3-8B79-37D633B846F1}">
                <asvg:svgBlip xmlns:asvg="http://schemas.microsoft.com/office/drawing/2016/SVG/main" r:embed="R758ce5a2cffe46d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1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ab0097f2754c04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1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130edf1e04fbc">
            <a:extLst>
              <a:ext uri="{96DAC541-7B7A-43D3-8B79-37D633B846F1}">
                <asvg:svgBlip xmlns:asvg="http://schemas.microsoft.com/office/drawing/2016/SVG/main" r:embed="Rb98ad6df331c48b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2d413e1d1b4407">
            <a:extLst>
              <a:ext uri="{96DAC541-7B7A-43D3-8B79-37D633B846F1}">
                <asvg:svgBlip xmlns:asvg="http://schemas.microsoft.com/office/drawing/2016/SVG/main" r:embed="R86290dcffd0a45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sp>
        <p:nvSpPr>
          <p:cNvPr id="148" name="competitor-table-cover">
            <a:extLst xmlns:a="http://schemas.openxmlformats.org/drawingml/2006/main">
              <a:ext uri="{FF2B5EF4-FFF2-40B4-BE49-F238E27FC236}">
                <a16:creationId xmlns:a16="http://schemas.microsoft.com/office/drawing/2014/main" id="{A6DDA8A9-11D4-4AF2-8DAE-851C13BE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17352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149" name="competitor-matrix-frame">
            <a:extLst xmlns:a="http://schemas.openxmlformats.org/drawingml/2006/main">
              <a:ext uri="{FF2B5EF4-FFF2-40B4-BE49-F238E27FC236}">
                <a16:creationId xmlns:a16="http://schemas.microsoft.com/office/drawing/2014/main" id="{7DA3309E-5ECF-46FF-919A-C0ED3D02F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99441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D0D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sp>
        <p:nvSpPr>
          <p:cNvPr id="150" name="competitor-matrix-axis-y">
            <a:extLst xmlns:a="http://schemas.openxmlformats.org/drawingml/2006/main">
              <a:ext uri="{FF2B5EF4-FFF2-40B4-BE49-F238E27FC236}">
                <a16:creationId xmlns:a16="http://schemas.microsoft.com/office/drawing/2014/main" id="{4D38BA08-5E50-4DB4-985A-F1CC205F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952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151" name="competitor-matrix-axis-x">
            <a:extLst xmlns:a="http://schemas.openxmlformats.org/drawingml/2006/main">
              <a:ext uri="{FF2B5EF4-FFF2-40B4-BE49-F238E27FC236}">
                <a16:creationId xmlns:a16="http://schemas.microsoft.com/office/drawing/2014/main" id="{3E70E8F1-7C82-40EA-A20F-B883A711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90950"/>
            <a:ext cx="9944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152" name="matrix-axis-left">
            <a:extLst xmlns:a="http://schemas.openxmlformats.org/drawingml/2006/main">
              <a:ext uri="{FF2B5EF4-FFF2-40B4-BE49-F238E27FC236}">
                <a16:creationId xmlns:a16="http://schemas.microsoft.com/office/drawing/2014/main" id="{8B14241F-A806-4B3D-B3C4-C88C8A9C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MISSION-SPECIFIC</a:t>
            </a:r>
          </a:p>
        </p:txBody>
      </p:sp>
      <p:sp>
        <p:nvSpPr>
          <p:cNvPr id="153" name="matrix-axis-top">
            <a:extLst xmlns:a="http://schemas.openxmlformats.org/drawingml/2006/main">
              <a:ext uri="{FF2B5EF4-FFF2-40B4-BE49-F238E27FC236}">
                <a16:creationId xmlns:a16="http://schemas.microsoft.com/office/drawing/2014/main" id="{AE3D845C-B10D-4AA1-A693-9D1C0DD0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ASSURANCE</a:t>
            </a:r>
          </a:p>
        </p:txBody>
      </p:sp>
      <p:sp>
        <p:nvSpPr>
          <p:cNvPr id="154" name="matrix-axis-right">
            <a:extLst xmlns:a="http://schemas.openxmlformats.org/drawingml/2006/main">
              <a:ext uri="{FF2B5EF4-FFF2-40B4-BE49-F238E27FC236}">
                <a16:creationId xmlns:a16="http://schemas.microsoft.com/office/drawing/2014/main" id="{96CD57B4-3885-436E-AE0E-53AB7F14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HORIZONTAL</a:t>
            </a:r>
          </a:p>
        </p:txBody>
      </p:sp>
      <p:sp>
        <p:nvSpPr>
          <p:cNvPr id="155" name="matrix-axis-bottom">
            <a:extLst xmlns:a="http://schemas.openxmlformats.org/drawingml/2006/main">
              <a:ext uri="{FF2B5EF4-FFF2-40B4-BE49-F238E27FC236}">
                <a16:creationId xmlns:a16="http://schemas.microsoft.com/office/drawing/2014/main" id="{BF24AC04-9E34-4AEB-9E47-647A8365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EXECUTION</a:t>
            </a:r>
          </a:p>
        </p:txBody>
      </p:sp>
      <p:sp>
        <p:nvSpPr>
          <p:cNvPr id="156" name="matrix-pill-Yamcs mission control">
            <a:extLst xmlns:a="http://schemas.openxmlformats.org/drawingml/2006/main">
              <a:ext uri="{FF2B5EF4-FFF2-40B4-BE49-F238E27FC236}">
                <a16:creationId xmlns:a16="http://schemas.microsoft.com/office/drawing/2014/main" id="{B0F1D138-4311-47A2-BEA4-7C2F9D6C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57550"/>
            <a:ext cx="1314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8430c425144272">
            <a:extLst>
              <a:ext uri="{96DAC541-7B7A-43D3-8B79-37D633B846F1}">
                <asvg:svgBlip xmlns:asvg="http://schemas.microsoft.com/office/drawing/2016/SVG/main" r:embed="R23a92413bb074af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sp>
        <p:nvSpPr>
          <p:cNvPr id="158" name="matrix-pill-OpenC3 COSMOS">
            <a:extLst xmlns:a="http://schemas.openxmlformats.org/drawingml/2006/main">
              <a:ext uri="{FF2B5EF4-FFF2-40B4-BE49-F238E27FC236}">
                <a16:creationId xmlns:a16="http://schemas.microsoft.com/office/drawing/2014/main" id="{0422F581-6916-40AE-903A-58BC9184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1314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c621e1ac8e4016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sp>
        <p:nvSpPr>
          <p:cNvPr id="160" name="matrix-pill-Slingshot Portal">
            <a:extLst xmlns:a="http://schemas.openxmlformats.org/drawingml/2006/main">
              <a:ext uri="{FF2B5EF4-FFF2-40B4-BE49-F238E27FC236}">
                <a16:creationId xmlns:a16="http://schemas.microsoft.com/office/drawing/2014/main" id="{7C931D35-F614-4B24-9282-B0187061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57500"/>
            <a:ext cx="1314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bfb2a5913e4b09">
            <a:extLst>
              <a:ext uri="{96DAC541-7B7A-43D3-8B79-37D633B846F1}">
                <asvg:svgBlip xmlns:asvg="http://schemas.microsoft.com/office/drawing/2016/SVG/main" r:embed="R5fb0328a4a764f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sp>
        <p:nvSpPr>
          <p:cNvPr id="162" name="matrix-pill-AIKO orbital_OLIVER">
            <a:extLst xmlns:a="http://schemas.openxmlformats.org/drawingml/2006/main">
              <a:ext uri="{FF2B5EF4-FFF2-40B4-BE49-F238E27FC236}">
                <a16:creationId xmlns:a16="http://schemas.microsoft.com/office/drawing/2014/main" id="{B1353E97-178F-4922-9505-20FF0C13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10050"/>
            <a:ext cx="1314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4D6972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07ae1dc22c4d8e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sp>
        <p:nvSpPr>
          <p:cNvPr id="164" name="matrix-pill-Arize AI observability">
            <a:extLst xmlns:a="http://schemas.openxmlformats.org/drawingml/2006/main">
              <a:ext uri="{FF2B5EF4-FFF2-40B4-BE49-F238E27FC236}">
                <a16:creationId xmlns:a16="http://schemas.microsoft.com/office/drawing/2014/main" id="{42B908AD-54FA-4633-A168-EDE682E8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57500"/>
            <a:ext cx="1314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8d83d24f04e06">
            <a:extLst>
              <a:ext uri="{96DAC541-7B7A-43D3-8B79-37D633B846F1}">
                <asvg:svgBlip xmlns:asvg="http://schemas.microsoft.com/office/drawing/2016/SVG/main" r:embed="Rb00b9e2072344f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sp>
        <p:nvSpPr>
          <p:cNvPr id="166" name="matrix-pill-Fiddler AI observability">
            <a:extLst xmlns:a="http://schemas.openxmlformats.org/drawingml/2006/main">
              <a:ext uri="{FF2B5EF4-FFF2-40B4-BE49-F238E27FC236}">
                <a16:creationId xmlns:a16="http://schemas.microsoft.com/office/drawing/2014/main" id="{AD8BC388-2321-4588-BBE7-4407F5F1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210050"/>
            <a:ext cx="1314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7f497f1de41e5">
            <a:extLst>
              <a:ext uri="{96DAC541-7B7A-43D3-8B79-37D633B846F1}">
                <asvg:svgBlip xmlns:asvg="http://schemas.microsoft.com/office/drawing/2016/SVG/main" r:embed="R3d95acc39681453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sp>
        <p:nvSpPr>
          <p:cNvPr id="168" name="matrix-gauss-pill">
            <a:extLst xmlns:a="http://schemas.openxmlformats.org/drawingml/2006/main">
              <a:ext uri="{FF2B5EF4-FFF2-40B4-BE49-F238E27FC236}">
                <a16:creationId xmlns:a16="http://schemas.microsoft.com/office/drawing/2014/main" id="{61AFE92C-4B92-4FA4-BE93-3388CA53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12420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169" name="matrix-gauss-label">
            <a:extLst xmlns:a="http://schemas.openxmlformats.org/drawingml/2006/main">
              <a:ext uri="{FF2B5EF4-FFF2-40B4-BE49-F238E27FC236}">
                <a16:creationId xmlns:a16="http://schemas.microsoft.com/office/drawing/2014/main" id="{ABB03417-D04A-40F2-B9BE-BF34426C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20040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GAUSS</a:t>
            </a:r>
          </a:p>
        </p:txBody>
      </p:sp>
    </p:spTree>
    <p:extLst>
      <p:ext uri="{BB962C8B-B14F-4D97-AF65-F5344CB8AC3E}">
        <p14:creationId xmlns:p14="http://schemas.microsoft.com/office/powerpoint/2010/main" val="9586821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290182cf94c3f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F587926-DCCC-4A2E-9988-38BBCF77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64F437F-DAB8-477A-B7EB-9185CF70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09B3A8-4B2A-469D-A5F8-4A8E8752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TEAM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6337744-8DCE-460E-B8EA-E24EF16A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09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0FC7B2A-D02E-49ED-98E3-077F6292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A2FC63E-2CC5-4757-8D64-46F52BF7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Three owners cover product, operators, and systems.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23F56BC-97D1-42F1-8AD0-6631FEC8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Product, operator experience, and space-systems execution are covered; customer proof is next.</a:t>
            </a:r>
            <a:endParaRPr sz="15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45129F59-1B45-4F4D-855F-DC9D8E2F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20EBDA1-3B8C-4742-A7E1-D9ACBDEA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ECFBE7B-78EC-4A2D-A4D3-4EC7E0FC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JN</a:t>
            </a:r>
            <a:endParaRPr sz="9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D45277A-7DA1-42EE-A74C-1EAD6964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4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8058F95-4F24-4F77-8B77-E369F16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Joshua Nathan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AC92DA5-6FF3-4178-A536-D187323F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CEO / Founder &amp; mission lead</a:t>
            </a:r>
            <a:endParaRPr sz="8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C6C7171-1F65-4448-ACA8-A06BF3D0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ED17EAE-B02B-4A6F-AF73-C426AB8F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direction, mission context, and commercial wedge.</a:t>
            </a:r>
            <a:endParaRPr sz="11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93CB4B89-1E0E-4108-AC2D-E625804C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DFBE11FD-2D37-4B47-8143-D4419222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E7B14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F92AA1B-31D1-4435-BD98-50B61DA2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KL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E186CFA-D407-443D-B305-855E4999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9CDEC9C-7F6D-49B3-BCCD-0E549DEC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Kristina Logunova</a:t>
            </a:r>
            <a:endParaRPr sz="14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DA268C13-E24C-4514-91A9-840356D7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COO</a:t>
            </a:r>
            <a:endParaRPr sz="8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2DEE299B-9FEC-49DA-B76C-69D9329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25A3554-3F02-4B06-BCB8-7B74A466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Human–computer interaction and operator experience.</a:t>
            </a:r>
            <a:endParaRPr sz="11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B32D540C-BB92-4E63-9C30-45DC9BC8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4D835749-C84A-44A1-8427-41483139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3DA993A-917C-469F-A7CB-68BEEA9C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SH</a:t>
            </a:r>
            <a:endParaRPr sz="9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4279494E-2E45-4FF9-98C8-231742DE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✦</a:t>
            </a:r>
            <a:endParaRPr sz="14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EF68145B-67D8-4B0C-A192-AAD88C7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Shubham Hule</a:t>
            </a:r>
            <a:endParaRPr sz="140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E52D0128-D3A7-43EE-BCBB-21267A0F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CTO</a:t>
            </a:r>
            <a:endParaRPr sz="80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18C7ABC4-7B04-46C0-B83F-31017B3A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A07186E-71C1-4247-81CC-D10BB62F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Space systems engineering and technical execution.</a:t>
            </a:r>
            <a:endParaRPr sz="110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4159CC84-8688-4B27-9775-36B588DD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817352" cy="841248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1DE99188-39AF-4CD3-89F8-AA234F0C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4336"/>
            <a:ext cx="17373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ADVISOR NETWORK</a:t>
            </a:r>
            <a:endParaRPr sz="800"/>
          </a:p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A28E7474-3D00-4D51-824D-1FF4D18C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19472"/>
            <a:ext cx="2377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Barbara J. Thompson  /  Solar physics &amp; NASA Goddard</a:t>
            </a:r>
            <a:endParaRPr sz="900"/>
          </a:p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4EDBE9A7-DE24-4522-B8B4-015B6A69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4688" y="4919472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Eleni Petrakou  /  Particle physics &amp; space weather</a:t>
            </a:r>
            <a:endParaRPr sz="900"/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1EF76CB-9A2E-4690-B276-45FB7755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4919472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59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Jamie Berry  /  Aerospace, defence &amp; space finance</a:t>
            </a:r>
            <a:endParaRPr sz="9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8FAC365-06D3-4D79-B5FD-E5274B0F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9320"/>
            <a:ext cx="10424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The team slide is factual; the next diligence layer is specific founder proof and customer evidence.</a:t>
            </a:r>
            <a:endParaRPr sz="1100"/>
          </a:p>
        </p:txBody>
      </p:sp>
      <p:sp>
        <p:nvSpPr>
          <p:cNvPr id="4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9CE116-63C5-43FD-B0F1-BF62886205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388657AE-30A1-5A7A-6A7F-315D84436430}" type="slidenum">
              <a:rPr b="0">
                <a:solidFill>
                  <a:srgbClr val="F3F0E8"/>
                </a:solidFill>
              </a:rPr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104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C4638-4F1D-4F9A-927A-BD256736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EC2A040-B9B4-4CE8-A1DA-5E15E50B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ASK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81939C5-95D2-42FE-BEE5-5A69C3C9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10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41134AA-76D6-458B-BBAD-D84E640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11aaf799374d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20642337-2EE1-4D77-8CC8-CA32FE5D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FDB0853-3B40-4DF5-A4D0-DA7ADF8E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77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5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$1.5M</a:t>
            </a:r>
            <a:endParaRPr sz="5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F7088F9-07CE-4AE6-BDCE-67605851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59436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782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to make mission-data assurance a repeatable commercial category.</a:t>
            </a:r>
            <a:endParaRPr sz="2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7C3674C-0E7C-4E6B-A105-47C91750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493008"/>
            <a:ext cx="2194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439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USE OF FUNDS  /  $1.5M INTERNAL PLAN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93DD0B6-8AB0-407C-95FD-2BB7B87F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886200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+ integrations</a:t>
            </a:r>
            <a:endParaRPr sz="11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78B1B6-E8BE-412E-A766-348C68B4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F7F7688-159C-43F9-B87E-803CE69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4DC7934-8F07-453A-83E7-99724EB9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886200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45%</a:t>
            </a:r>
            <a:endParaRPr sz="10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4625EC8-2F68-4463-BCAB-AC80BAAD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233672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Security + compliance</a:t>
            </a:r>
            <a:endParaRPr sz="11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D2D7EA-8538-471F-804E-EBA3EAB3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2EFD5DD0-1D90-429C-A63D-5CF4F1C6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AD32F52-F865-47BC-8D97-A53D543A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23367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E02AC7F-A5B9-4C67-BA31-983E3C53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581144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GTM + design partners</a:t>
            </a:r>
            <a:endParaRPr sz="1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4B37A9E-1082-487E-B0FA-D529CE8B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4E14E502-3202-4003-821A-AE5ADDE6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4BD7F1E-4D0E-40C4-B882-4299EE6B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581144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C2A1C0A8-C752-436B-9527-8E02028F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928616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Operations + runway</a:t>
            </a:r>
            <a:endParaRPr sz="11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28148F8-E958-45A0-BD29-4216539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963EBD8-8ACE-4F48-8271-D3EF092D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74676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A66252A-986A-4265-9EA0-B3FC1366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928616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15%</a:t>
            </a:r>
            <a:endParaRPr sz="10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20CFE3C4-37FD-43D3-A8D8-09855E19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65960"/>
            <a:ext cx="3017520" cy="260604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4C63FF3-C9AA-4835-B4AF-29A6018A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286000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PROOF POINT</a:t>
            </a:r>
            <a:endParaRPr sz="8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1F66DD55-86C7-47F5-B2D0-8093D34E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697480"/>
            <a:ext cx="2286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9677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3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5 fleet</a:t>
            </a:r>
            <a:endParaRPr sz="3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3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accounts</a:t>
            </a:r>
            <a:endParaRPr sz="310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EB44EE04-12E7-4D16-963D-EC0978D9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703320"/>
            <a:ext cx="2377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B3DBE80-14D8-4F4D-95E0-D5EB6736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50208"/>
            <a:ext cx="22860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$500k ARR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Ground-first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Evidence-ready</a:t>
            </a:r>
            <a:endParaRPr sz="140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4B4CE7DB-9CCA-474B-BC3D-C047C467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181344"/>
            <a:ext cx="7132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Gauss gives space operators a safer path from data abundance to trusted action.</a:t>
            </a:r>
            <a:endParaRPr sz="100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8EA657D-CD3C-4FB3-AE80-20AE402ECB8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DB7BEEEC-A170-5376-2B6E-CB54687B0CB1}" type="slidenum">
              <a:rPr b="0">
                <a:solidFill>
                  <a:srgbClr val="F3F0E8"/>
                </a:solidFill>
              </a:rPr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255421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472517680342c4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A5D16EA-A594-4940-ADBD-A0CE7C56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2E42D30-4FE5-4659-9713-1FF18A2B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FB60255-380F-4608-9E19-40541833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READINESS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840C083-8E58-4D9B-BAEF-3E7AB582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11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3FFD099-4698-4FB0-A813-DE627477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EF7924A-0FC7-4F88-8358-385D7162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Investor-ready story; diligence-ready evidence is next.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A3D415A-9CE2-48E7-A639-F2EDC69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practical readiness scorecard for a space-software raise.</a:t>
            </a:r>
            <a:endParaRPr sz="1500"/>
          </a:p>
        </p:txBody>
      </p:sp>
      <p:graphicFrame>
        <p:nvGraphicFramePr>
          <p:cNvPr id="36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8803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91640"/>
                <a:gridCol w="2880360"/>
                <a:gridCol w="4983480"/>
                <a:gridCol w="1261872"/>
              </a:tblGrid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LENS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MUST SHOW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GAUSS TODAY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STATUS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FIT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problem; viable plan; credible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Ground-first wedge; product packages; 18-month plan.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PRODUCT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Clear product; progress; model; founders; ask.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Wedge, pricing, ARR path; customer proof remains thin.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SCALE + DEFENSE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Market; team; scalable model; defensibility.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 wedge + team visible; IP / TRL proof next.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VISUAL + PROOF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One claim per slide; hard proof; clear next action.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Source-backed visuals, native charts/tables, clear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PASS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DECISION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Why now; why team; why this round.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Ask, use of funds, and $500k ARR path are clear.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FEA6530-C859-460B-968C-CBC75AAA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20624"/>
          </a:xfrm>
          <a:prstGeom xmlns:a="http://schemas.openxmlformats.org/drawingml/2006/main" prst="roundRect">
            <a:avLst>
              <a:gd name="adj" fmla="val 30435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AB3C1DB-C6EA-4F81-BA8F-7045FE4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188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NEXT UNLOCKS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7A413BE-7367-4A8D-BDAA-4AECDFFA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5468112"/>
            <a:ext cx="8503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Founder proof  •  customer LOI / pilot evidence  •  prototype + TRL / IRL  •  IP / moat map  •  CAC, payback, and gross-margin evidence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60EE302-4D6A-4117-B8F0-190DFBFF871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30394428-F1DC-E5F6-DB0C-7DE31F3D8A23}" type="slidenum">
              <a:rPr b="0">
                <a:solidFill>
                  <a:srgbClr val="F3F0E8"/>
                </a:solidFill>
              </a:rPr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03538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2026-08-21T07:51:56.1610000Z</dcterms:created>
  <dcterms:modified xsi:type="dcterms:W3CDTF">2026-08-21T07:51:56.1610000Z</dcterms:modified>
</coreProperties>
</file>