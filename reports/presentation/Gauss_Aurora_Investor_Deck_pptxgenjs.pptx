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f7b4ee62754479" /><Relationship Type="http://schemas.openxmlformats.org/officeDocument/2006/relationships/extended-properties" Target="/docProps/app.xml" Id="R8c047a90ddcc41ab" /><Relationship Type="http://schemas.openxmlformats.org/officeDocument/2006/relationships/officeDocument" Target="/ppt/presentation.xml" Id="R42792e28380940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b89e5f35f042a8"/>
  </p:sldMasterIdLst>
  <p:notesMasterIdLst>
    <p:notesMasterId xmlns:r="http://schemas.openxmlformats.org/officeDocument/2006/relationships" r:id="R631121548f634e58"/>
  </p:notesMasterIdLst>
  <p:sldIdLst>
    <p:sldId xmlns:r="http://schemas.openxmlformats.org/officeDocument/2006/relationships" id="256" r:id="Rc2a836aa18f243c8"/>
    <p:sldId xmlns:r="http://schemas.openxmlformats.org/officeDocument/2006/relationships" id="257" r:id="R48df2ee38d5b4d9a"/>
    <p:sldId xmlns:r="http://schemas.openxmlformats.org/officeDocument/2006/relationships" id="258" r:id="Rf0cce12c19ac4ca1"/>
    <p:sldId xmlns:r="http://schemas.openxmlformats.org/officeDocument/2006/relationships" id="259" r:id="Rb89ee2f7a1bf4579"/>
    <p:sldId xmlns:r="http://schemas.openxmlformats.org/officeDocument/2006/relationships" id="260" r:id="R2f168ac0b1c749c5"/>
    <p:sldId xmlns:r="http://schemas.openxmlformats.org/officeDocument/2006/relationships" id="261" r:id="Rfb06b9cb31f1434f"/>
    <p:sldId xmlns:r="http://schemas.openxmlformats.org/officeDocument/2006/relationships" id="262" r:id="Rdd2cc8ed9c0543f1"/>
    <p:sldId xmlns:r="http://schemas.openxmlformats.org/officeDocument/2006/relationships" id="263" r:id="R5640c51fa33a435d"/>
    <p:sldId xmlns:r="http://schemas.openxmlformats.org/officeDocument/2006/relationships" id="264" r:id="Rb47ccb90006a4158"/>
    <p:sldId xmlns:r="http://schemas.openxmlformats.org/officeDocument/2006/relationships" id="265" r:id="R0c27a33260954444"/>
    <p:sldId xmlns:r="http://schemas.openxmlformats.org/officeDocument/2006/relationships" id="266" r:id="R0b5bee59ff184a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d5c4f9aeaa4d8a" /><Relationship Type="http://schemas.openxmlformats.org/officeDocument/2006/relationships/slideMaster" Target="/ppt/slideMasters/slideMaster1.xml" Id="Rb6b89e5f35f042a8" /><Relationship Type="http://schemas.openxmlformats.org/officeDocument/2006/relationships/notesMaster" Target="/ppt/notesMasters/notesMaster1.xml" Id="R631121548f634e58" /><Relationship Type="http://schemas.openxmlformats.org/officeDocument/2006/relationships/presProps" Target="/ppt/presProps.xml" Id="R3bc76e1d679f48e6" /><Relationship Type="http://schemas.openxmlformats.org/officeDocument/2006/relationships/viewProps" Target="/ppt/viewProps.xml" Id="Re207be8f8ef14c89" /><Relationship Type="http://schemas.openxmlformats.org/officeDocument/2006/relationships/tableStyles" Target="/ppt/tableStyles.xml" Id="Rf5ad9855b5c64e30" /><Relationship Type="http://schemas.openxmlformats.org/officeDocument/2006/relationships/slide" Target="/ppt/slides/slide1.xml" Id="Rc2a836aa18f243c8" /><Relationship Type="http://schemas.openxmlformats.org/officeDocument/2006/relationships/slide" Target="/ppt/slides/slide2.xml" Id="R48df2ee38d5b4d9a" /><Relationship Type="http://schemas.openxmlformats.org/officeDocument/2006/relationships/slide" Target="/ppt/slides/slide3.xml" Id="Rf0cce12c19ac4ca1" /><Relationship Type="http://schemas.openxmlformats.org/officeDocument/2006/relationships/slide" Target="/ppt/slides/slide4.xml" Id="Rb89ee2f7a1bf4579" /><Relationship Type="http://schemas.openxmlformats.org/officeDocument/2006/relationships/slide" Target="/ppt/slides/slide5.xml" Id="R2f168ac0b1c749c5" /><Relationship Type="http://schemas.openxmlformats.org/officeDocument/2006/relationships/slide" Target="/ppt/slides/slide6.xml" Id="Rfb06b9cb31f1434f" /><Relationship Type="http://schemas.openxmlformats.org/officeDocument/2006/relationships/slide" Target="/ppt/slides/slide7.xml" Id="Rdd2cc8ed9c0543f1" /><Relationship Type="http://schemas.openxmlformats.org/officeDocument/2006/relationships/slide" Target="/ppt/slides/slide8.xml" Id="R5640c51fa33a435d" /><Relationship Type="http://schemas.openxmlformats.org/officeDocument/2006/relationships/slide" Target="/ppt/slides/slide9.xml" Id="Rb47ccb90006a4158" /><Relationship Type="http://schemas.openxmlformats.org/officeDocument/2006/relationships/slide" Target="/ppt/slides/slide10.xml" Id="R0c27a33260954444" /><Relationship Type="http://schemas.openxmlformats.org/officeDocument/2006/relationships/slide" Target="/ppt/slides/slide11.xml" Id="R0b5bee59ff184a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760e6e918846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290098980245a9" /><Relationship Type="http://schemas.openxmlformats.org/officeDocument/2006/relationships/notesMaster" Target="/ppt/notesMasters/notesMaster1.xml" Id="R1adee9cf31044c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a772dff1524718" /><Relationship Type="http://schemas.openxmlformats.org/officeDocument/2006/relationships/notesMaster" Target="/ppt/notesMasters/notesMaster1.xml" Id="R65efe78d606849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f688d59f6b42d1" /><Relationship Type="http://schemas.openxmlformats.org/officeDocument/2006/relationships/notesMaster" Target="/ppt/notesMasters/notesMaster1.xml" Id="R14c5935d39784f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aeb18ba08840ef" /><Relationship Type="http://schemas.openxmlformats.org/officeDocument/2006/relationships/notesMaster" Target="/ppt/notesMasters/notesMaster1.xml" Id="Rd0b09626392d41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41abbe1c3a461a" /><Relationship Type="http://schemas.openxmlformats.org/officeDocument/2006/relationships/notesMaster" Target="/ppt/notesMasters/notesMaster1.xml" Id="R89fdd9e9aa4b4f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90f94e55de4b67" /><Relationship Type="http://schemas.openxmlformats.org/officeDocument/2006/relationships/notesMaster" Target="/ppt/notesMasters/notesMaster1.xml" Id="Rbf8cd0676ef947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4a7da6623944dc" /><Relationship Type="http://schemas.openxmlformats.org/officeDocument/2006/relationships/notesMaster" Target="/ppt/notesMasters/notesMaster1.xml" Id="R80d092f62eec41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d2bab2935e45fa" /><Relationship Type="http://schemas.openxmlformats.org/officeDocument/2006/relationships/notesMaster" Target="/ppt/notesMasters/notesMaster1.xml" Id="R86195c21561f47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7da10ee694417b" /><Relationship Type="http://schemas.openxmlformats.org/officeDocument/2006/relationships/notesMaster" Target="/ppt/notesMasters/notesMaster1.xml" Id="Re3ec21487e0240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b2483178fb45d0" /><Relationship Type="http://schemas.openxmlformats.org/officeDocument/2006/relationships/notesMaster" Target="/ppt/notesMasters/notesMaster1.xml" Id="R7d55e0dec6ed41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7788d187aa48d3" /><Relationship Type="http://schemas.openxmlformats.org/officeDocument/2006/relationships/notesMaster" Target="/ppt/notesMasters/notesMaster1.xml" Id="R1e549356b38341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shift: space operators have more data, more autonomy pressure, and less tolerance for untraceable decisions. The visible promise is deliberately ground-first and evidence-led; flight-candidate work remains an external gate.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NASA Earthrise image: https://science.nasa.gov/resource/image-earthrise/</a:t>
            </a:r>
            <a:endParaRPr/>
          </a:p>
          <a:p xmlns:a="http://schemas.openxmlformats.org/drawingml/2006/main">
            <a:r>
              <a:t>- Image asset: https://assets.science.nasa.gov/dynamicimage/assets/science/esd/climate/2023/12/August-2013_1920x1200.jpg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operational evidence fragmentation, not a generic AI opportunity. The buyer is paying to reduce decision latency and audit friction.
[Sources]
- User-provided: Project_Gauss_Data_Architecture_for_AI_Automation_in_Space.pdf
- Repo: config/product-packages.json and config/product-packages.schema.json</a:t>
            </a:r>
            <a:endParaRPr/>
          </a:p>
          <a:p xmlns:a="http://schemas.openxmlformats.org/drawingml/2006/main">
            <a:r>
              <a:t>
[Sources]
- NASA solar-flare / space-weather asset in repository: research/documentation-rag/What Is the Solar Wind_ - NASA Science.html
- NASA SOHO CME gallery: https://soho.nascom.nasa.gov/bestofsoho/SolarCorona/las021.html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now is grounded in external market and operating signals, not a claim of current customer traction. The $429B figure is the 2025 global space economy; 14,266 is the SIA/BryceTech count of operational satellites at the end of 2025. NOAA/NASA announced Solar Cycle 25 had reached its solar maximum period in October 2024; the current NOAA progression page retains a maximum window extending into March 2026.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ESA Space Environment Report 2025: https://www.esa.int/Space_Safety/Space_Debris/ESA_Space_Environment_Report_2025</a:t>
            </a:r>
            <a:endParaRPr/>
          </a:p>
          <a:p xmlns:a="http://schemas.openxmlformats.org/drawingml/2006/main">
            <a:r>
              <a:t>- NOAA/NASA Joint Solar Maximum Announcement: https://prod-01-alb-www-swpc.woc.noaa.gov/news/joint-solar-maximum-announcement-nasa-and-noaa</a:t>
            </a:r>
            <a:endParaRPr/>
          </a:p>
          <a:p xmlns:a="http://schemas.openxmlformats.org/drawingml/2006/main">
            <a:r>
              <a:t>- NOAA Solar Cycle Progression: https://update-swpc.woc.noaa.gov/products/solar-cycle-progression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Visible copy is investor-facing. The underlying product boundary remains quality, provenance, correlation, replay, bounded inference, and approval-gated safety. Partners retain sensors, mission control, communications hardware, trust roots, and command authority.
[Sources]
- Repo: config/product-packages.json and config/product-packages.schema.json
- User-provided: Project_Gauss_Data_Architecture_for_AI_Automation_in_Space.pdf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profile mix is counted from the repository's eight research_profile entries: 2 satcom, 2 weather/space weather, 1 Earth observation, 1 PNT, and 2 lunar relay. These are research targets, not signed customers.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repo: config/mission-targets.json</a:t>
            </a:r>
            <a:endParaRPr/>
          </a:p>
          <a:p xmlns:a="http://schemas.openxmlformats.org/drawingml/2006/main">
            <a:r>
              <a:t>- Internal repo: development/memory/DECISIONS.md (D-110, D-124)</a:t>
            </a:r>
            <a:endParaRPr/>
          </a:p>
          <a:p xmlns:a="http://schemas.openxmlformats.org/drawingml/2006/main">
            <a:r>
              <a:t>- Visual design reference: https://investors.seraphim.vc/wp-content/uploads/2022/05/Seraphim-Prospectus-PDF.pdf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TAM and SAM are category context, not a claim that Gauss captures the full category. The SOM is an internal bottom-up target: five fleet accounts at $100k annual platform value equals $500k ARR.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SIA / BryceTech, 29th State of the Satellite Industry Report (2026; FY2025 results): https://sia.org/affordability-productivity-drive-historic-satellite-industry-growth-satellite-industry-association-releases-29th-annual-state-of-the-satellite-industry-report/</a:t>
            </a:r>
            <a:endParaRPr/>
          </a:p>
          <a:p xmlns:a="http://schemas.openxmlformats.org/drawingml/2006/main">
            <a:r>
              <a:t>- World Economic Forum / McKinsey, Space: The $1.8 Trillion Opportunity for Global Economic Growth: https://www.weforum.org/press/2024/04/space-economy-set-to-triple-to-1-8-trillion-by-2035-new-research-reveals/</a:t>
            </a:r>
            <a:endParaRPr/>
          </a:p>
          <a:p xmlns:a="http://schemas.openxmlformats.org/drawingml/2006/main">
            <a:r>
              <a:t>- Internal Gauss model: development/memory/DECISIONS.md (D-110, D-124, D-126)</a:t>
            </a:r>
            <a:endParaRPr/>
          </a:p>
          <a:p xmlns:a="http://schemas.openxmlformats.org/drawingml/2006/main">
            <a:r>
              <a:t>- Internal Gauss target catalog: config/mission-targets.json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Commercial return is an internal planning scenario, not signed pipeline: five paid ground/integration accounts can establish $500k ARR. The first off-takers are mission-data, ground-segment and systems-integration teams with continuity, telemetry-quality or anomaly-review problems. Planning prices remain subject to customer discovery.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D-126, D-127)</a:t>
            </a:r>
            <a:endParaRPr/>
          </a:p>
          <a:p xmlns:a="http://schemas.openxmlformats.org/drawingml/2006/main">
            <a:r>
              <a:t>- Internal target catalog: config/mission-targets.json</a:t>
            </a:r>
            <a:endParaRPr/>
          </a:p>
          <a:p xmlns:a="http://schemas.openxmlformats.org/drawingml/2006/main">
            <a:r>
              <a:t>- SIA / BryceTech industry context: https://sia.org/affordability-productivity-drive-historic-satellite-industry-growth-satellite-industry-association-releases-29th-annual-state-of-the-satellite-industry-report/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positioning based on public product descriptions. The x-axis compares mission-specific depth with horizontal applicability; the y-axis compares execution/control surfaces with assurance/observability surfaces. This is a narrative positioning aid, not a feature-parity scorecard.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Yamcs official product overview and logo: https://yamcs.org/</a:t>
            </a:r>
            <a:endParaRPr/>
          </a:p>
          <a:p xmlns:a="http://schemas.openxmlformats.org/drawingml/2006/main">
            <a:r>
              <a:t>- OpenC3 COSMOS official overview and logo: https://openc3.com/</a:t>
            </a:r>
            <a:endParaRPr/>
          </a:p>
          <a:p xmlns:a="http://schemas.openxmlformats.org/drawingml/2006/main">
            <a:r>
              <a:t>- Slingshot Portal official product overview and logo: https://www.slingshot.space/product-portal</a:t>
            </a:r>
            <a:endParaRPr/>
          </a:p>
          <a:p xmlns:a="http://schemas.openxmlformats.org/drawingml/2006/main">
            <a:r>
              <a:t>- Arize official AI observability overview and logo: https://arize.com/</a:t>
            </a:r>
            <a:endParaRPr/>
          </a:p>
          <a:p xmlns:a="http://schemas.openxmlformats.org/drawingml/2006/main">
            <a:r>
              <a:t>- Fiddler official observability overview and logo: https://docs.fiddler.ai/observability/monitoring</a:t>
            </a:r>
            <a:endParaRPr/>
          </a:p>
          <a:p xmlns:a="http://schemas.openxmlformats.org/drawingml/2006/main">
            <a:r>
              <a:t>- AIKO orbital_OLIVER official product overview and logo: https://aikospace.com/solutions/oliver</a:t>
            </a:r>
            <a:endParaRPr/>
          </a:p>
          <a:p xmlns:a="http://schemas.openxmlformats.org/drawingml/2006/main">
            <a:r>
              <a:t>- Gauss positioning is an internal, partner-neutral thesis; no partnership or feature-parity claim is implied.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Named team members and advisor network are taken from the user-provided Gauss_Aurora_Pitch_Deck_v1.pptx. The visible slide intentionally does not invent founder metrics, customer references, or formal advisor status; those remain diligence unlocks.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ask is $1.5M. Purpose: fund a 6–12 month ground-first programme covering product and integrations, security/compliance, go-to-market/design partners, and runway. The commercial return is a planning case of five paid ground/integration accounts producing $500k ARR; no signed pipeline is claimed.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D-127)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duration is framed as a 6–12 month ground-first programme. The first 90 days follow the repository operating plan: evidence and conversion, paid pilot readiness, then commercial proof. Flight-candidate and federated bridge work are expansion gates, not current claims, and require a named mission, target processor, partner and hardware evidence.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Gauss business memo: docs/BUSINESS_MEMO_GAUSS_GROUND_FIRST_2026-08-21.md</a:t>
            </a:r>
            <a:endParaRPr/>
          </a:p>
          <a:p xmlns:a="http://schemas.openxmlformats.org/drawingml/2006/main">
            <a:r>
              <a:t>- Internal Gauss decision log: development/memory/DECISIONS.md (D-110, D-124, D-127)</a:t>
            </a:r>
            <a:endParaRPr/>
          </a:p>
          <a:p xmlns:a="http://schemas.openxmlformats.org/drawingml/2006/main">
            <a:r>
              <a:t>- Internal target catalog: config/mission-targets.json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ebaf6c821443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889ff7a7974be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GAUSS_MASTER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90EF9-5E2F-4119-A9F8-4F65435750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58f213ccce41ce" /><Relationship Type="http://schemas.openxmlformats.org/officeDocument/2006/relationships/slideLayout" Target="/ppt/slideLayouts/slideLayout1.xml" Id="R3be761711cd14fb2" /><Relationship Type="http://schemas.openxmlformats.org/officeDocument/2006/relationships/slideLayout" Target="/ppt/slideLayouts/slideLayout2.xml" Id="R8ea7d5d1cd5f483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67DDE8-D0D5-4412-840E-FEB2670035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e761711cd14fb2"/>
    <p:sldLayoutId xmlns:r="http://schemas.openxmlformats.org/officeDocument/2006/relationships" id="2147483650" r:id="R8ea7d5d1cd5f483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58bd39c5b94714" /><Relationship Type="http://schemas.openxmlformats.org/officeDocument/2006/relationships/image" Target="/ppt/media/image.jpeg" Id="Re7b070048a3445d8" /><Relationship Type="http://schemas.openxmlformats.org/officeDocument/2006/relationships/notesSlide" Target="/ppt/notesSlides/notesSlide1.xml" Id="Rb270b8dcaa424f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4f0f7611d247bc" /><Relationship Type="http://schemas.openxmlformats.org/officeDocument/2006/relationships/image" Target="/ppt/media/image2.jpeg" Id="R7228f170a9c549b2" /><Relationship Type="http://schemas.openxmlformats.org/officeDocument/2006/relationships/notesSlide" Target="/ppt/notesSlides/notesSlide2.xml" Id="R033200d373cb4f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104b3d0d424845" /><Relationship Type="http://schemas.openxmlformats.org/officeDocument/2006/relationships/image" Target="/ppt/media/image3.jpeg" Id="R92174d41ce7c416b" /><Relationship Type="http://schemas.openxmlformats.org/officeDocument/2006/relationships/notesSlide" Target="/ppt/notesSlides/notesSlide3.xml" Id="Rb298c739b20444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69448b878349fa" /><Relationship Type="http://schemas.openxmlformats.org/officeDocument/2006/relationships/notesSlide" Target="/ppt/notesSlides/notesSlide4.xml" Id="R60cbe92455f548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391ad7242047f0" /><Relationship Type="http://schemas.openxmlformats.org/officeDocument/2006/relationships/image" Target="/ppt/media/image.png" Id="Rde50a615cd084caa" /><Relationship Type="http://schemas.openxmlformats.org/officeDocument/2006/relationships/notesSlide" Target="/ppt/notesSlides/notesSlide5.xml" Id="Rf39f54775e0748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6fcb7ee21641a6" /><Relationship Type="http://schemas.openxmlformats.org/officeDocument/2006/relationships/image" Target="/ppt/media/image2.png" Id="R4baafe3570304564" /><Relationship Type="http://schemas.openxmlformats.org/officeDocument/2006/relationships/notesSlide" Target="/ppt/notesSlides/notesSlide6.xml" Id="R6db2e1ca4fa243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583f67fcd347a2" /><Relationship Type="http://schemas.openxmlformats.org/officeDocument/2006/relationships/chart" Target="/ppt/slides/charts/chart1.xml" Id="R59333eb8a6b44bba" /><Relationship Type="http://schemas.openxmlformats.org/officeDocument/2006/relationships/notesSlide" Target="/ppt/notesSlides/notesSlide7.xml" Id="Redbff5ba8a5d4c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b371ab723e47d2" /><Relationship Type="http://schemas.openxmlformats.org/officeDocument/2006/relationships/image" Target="/ppt/media/image3.png" Id="Ra92002365a2a48b6" /><Relationship Type="http://schemas.openxmlformats.org/officeDocument/2006/relationships/image" Target="/ppt/media/image.svg" Id="R9224cd77207549ca" /><Relationship Type="http://schemas.openxmlformats.org/officeDocument/2006/relationships/image" Target="/ppt/media/image.jpeg" Id="R1ad26c5d9a6341e4" /><Relationship Type="http://schemas.openxmlformats.org/officeDocument/2006/relationships/image" Target="/ppt/media/image4.png" Id="Rebdaf05e8b564eb1" /><Relationship Type="http://schemas.openxmlformats.org/officeDocument/2006/relationships/image" Target="/ppt/media/image2.svg" Id="R456a058017b74eec" /><Relationship Type="http://schemas.openxmlformats.org/officeDocument/2006/relationships/image" Target="/ppt/media/image2.jpeg" Id="R5bc3d8f25eba448c" /><Relationship Type="http://schemas.openxmlformats.org/officeDocument/2006/relationships/image" Target="/ppt/media/image5.png" Id="Rcd9785bd26054010" /><Relationship Type="http://schemas.openxmlformats.org/officeDocument/2006/relationships/image" Target="/ppt/media/image3.svg" Id="Rcb1ea9f75e6b4508" /><Relationship Type="http://schemas.openxmlformats.org/officeDocument/2006/relationships/image" Target="/ppt/media/image3.jpeg" Id="R021a95392fa848e6" /><Relationship Type="http://schemas.openxmlformats.org/officeDocument/2006/relationships/image" Target="/ppt/media/image4.svg" Id="Raad2f42d402b4907" /><Relationship Type="http://schemas.openxmlformats.org/officeDocument/2006/relationships/image" Target="/ppt/media/image5.svg" Id="R6bb7e10180df45e7" /><Relationship Type="http://schemas.openxmlformats.org/officeDocument/2006/relationships/image" Target="/ppt/media/image6.png" Id="Rab17bc85b2be447f" /><Relationship Type="http://schemas.openxmlformats.org/officeDocument/2006/relationships/image" Target="/ppt/media/image6.svg" Id="R0262aa8bf7ae4e10" /><Relationship Type="http://schemas.openxmlformats.org/officeDocument/2006/relationships/image" Target="/ppt/media/image7.png" Id="Rf7eb9e38aa654188" /><Relationship Type="http://schemas.openxmlformats.org/officeDocument/2006/relationships/image" Target="/ppt/media/image7.svg" Id="R7e83a6e623804f2f" /><Relationship Type="http://schemas.openxmlformats.org/officeDocument/2006/relationships/image" Target="/ppt/media/image8.png" Id="Rf91c26f344c3426d" /><Relationship Type="http://schemas.openxmlformats.org/officeDocument/2006/relationships/image" Target="/ppt/media/image8.svg" Id="Rc574c069d05f4d24" /><Relationship Type="http://schemas.openxmlformats.org/officeDocument/2006/relationships/image" Target="/ppt/media/image9.png" Id="R023a4da59c3b44df" /><Relationship Type="http://schemas.openxmlformats.org/officeDocument/2006/relationships/image" Target="/ppt/media/image9.svg" Id="R605b8b7dc6514fcf" /><Relationship Type="http://schemas.openxmlformats.org/officeDocument/2006/relationships/image" Target="/ppt/media/image10.png" Id="R8eb44ef50215408e" /><Relationship Type="http://schemas.openxmlformats.org/officeDocument/2006/relationships/image" Target="/ppt/media/image10.svg" Id="R97d4ac630fec4a8e" /><Relationship Type="http://schemas.openxmlformats.org/officeDocument/2006/relationships/image" Target="/ppt/media/image11.png" Id="Ra98ef0780eff47dd" /><Relationship Type="http://schemas.openxmlformats.org/officeDocument/2006/relationships/image" Target="/ppt/media/image11.svg" Id="R00b049adb24c464d" /><Relationship Type="http://schemas.openxmlformats.org/officeDocument/2006/relationships/image" Target="/ppt/media/image12.png" Id="R0734a0a83a59495b" /><Relationship Type="http://schemas.openxmlformats.org/officeDocument/2006/relationships/image" Target="/ppt/media/image12.svg" Id="R0795dc343c4d4dce" /><Relationship Type="http://schemas.openxmlformats.org/officeDocument/2006/relationships/image" Target="/ppt/media/image13.png" Id="R94eaefaa299b4b9b" /><Relationship Type="http://schemas.openxmlformats.org/officeDocument/2006/relationships/image" Target="/ppt/media/image13.svg" Id="R9f29a5c721f546c4" /><Relationship Type="http://schemas.openxmlformats.org/officeDocument/2006/relationships/image" Target="/ppt/media/image14.png" Id="R8f44c3db6ce04ec8" /><Relationship Type="http://schemas.openxmlformats.org/officeDocument/2006/relationships/image" Target="/ppt/media/image14.svg" Id="Re12d21012e75439d" /><Relationship Type="http://schemas.openxmlformats.org/officeDocument/2006/relationships/image" Target="/ppt/media/image15.png" Id="Rb09e17e3cdcf4d91" /><Relationship Type="http://schemas.openxmlformats.org/officeDocument/2006/relationships/image" Target="/ppt/media/image15.svg" Id="R7c014326f22c4686" /><Relationship Type="http://schemas.openxmlformats.org/officeDocument/2006/relationships/image" Target="/ppt/media/image16.png" Id="Rf57ae2c91f7e4eaf" /><Relationship Type="http://schemas.openxmlformats.org/officeDocument/2006/relationships/image" Target="/ppt/media/image16.svg" Id="Rfc44bff6ed2b492e" /><Relationship Type="http://schemas.openxmlformats.org/officeDocument/2006/relationships/image" Target="/ppt/media/image17.png" Id="R1609c926854b47d1" /><Relationship Type="http://schemas.openxmlformats.org/officeDocument/2006/relationships/image" Target="/ppt/media/image18.png" Id="R89d210e2d9b14c78" /><Relationship Type="http://schemas.openxmlformats.org/officeDocument/2006/relationships/image" Target="/ppt/media/image19.png" Id="Re7ce67b17f36417e" /><Relationship Type="http://schemas.openxmlformats.org/officeDocument/2006/relationships/image" Target="/ppt/media/image20.png" Id="R10fd4bfebac043f5" /><Relationship Type="http://schemas.openxmlformats.org/officeDocument/2006/relationships/image" Target="/ppt/media/image21.png" Id="Rc6076f242b824c91" /><Relationship Type="http://schemas.openxmlformats.org/officeDocument/2006/relationships/image" Target="/ppt/media/image22.png" Id="Rce87d06a77b5484c" /><Relationship Type="http://schemas.openxmlformats.org/officeDocument/2006/relationships/notesSlide" Target="/ppt/notesSlides/notesSlide8.xml" Id="Re6f2b0e2f98a40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a0f78038a847ea" /><Relationship Type="http://schemas.openxmlformats.org/officeDocument/2006/relationships/image" Target="/ppt/media/image23.png" Id="R6885221264bc44a8" /><Relationship Type="http://schemas.openxmlformats.org/officeDocument/2006/relationships/notesSlide" Target="/ppt/notesSlides/notesSlide9.xml" Id="Rd4ce7e85126c4a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6e3467e2f04778" /><Relationship Type="http://schemas.openxmlformats.org/officeDocument/2006/relationships/image" Target="/ppt/media/image24.png" Id="Re4d18b7f556b41af" /><Relationship Type="http://schemas.openxmlformats.org/officeDocument/2006/relationships/notesSlide" Target="/ppt/notesSlides/notesSlide10.xml" Id="R91fdb9cdddd84c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22f4ec3a5f4cb3" /><Relationship Type="http://schemas.openxmlformats.org/officeDocument/2006/relationships/image" Target="/ppt/media/image25.png" Id="R6389500a4022421e" /><Relationship Type="http://schemas.openxmlformats.org/officeDocument/2006/relationships/notesSlide" Target="/ppt/notesSlides/notesSlide11.xml" Id="Ra9a18e3c583f4d31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value</c:v>
                </c:pt>
              </c:strCache>
            </c:strRef>
          </c:tx>
          <c:spPr>
            <a:solidFill xmlns:a="http://schemas.openxmlformats.org/drawingml/2006/main">
              <a:srgbClr val="CCFF00"/>
            </a:solidFill>
          </c:spPr>
          <c:dLbls>
            <c:numFmt formatCode="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F3F0E8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Pilot</c:v>
                </c:pt>
                <c:pt idx="1">
                  <c:v>Fleet 1</c:v>
                </c:pt>
                <c:pt idx="2">
                  <c:v>Fleet 2</c:v>
                </c:pt>
                <c:pt idx="3">
                  <c:v>Fleet 3</c:v>
                </c:pt>
                <c:pt idx="4">
                  <c:v>Fleet 4</c:v>
                </c:pt>
                <c:pt idx="5">
                  <c:v>Fleet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 i="0" u="none">
                  <a:solidFill>
                    <a:srgbClr val="CCFF0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 i="0" u="none">
                <a:solidFill>
                  <a:srgbClr val="F3F0E8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5302E"/>
              </a:solidFill>
              <a:prstDash val="solid"/>
            </a:ln>
          </c:spPr>
        </c:majorGridlines>
        <c:numFmt formatCode="0" sourceLinked="0"/>
        <c:majorTickMark val="out"/>
        <c:minorTickMark val="none"/>
        <c:tickLblPos val="nextTo"/>
        <c:spPr>
          <a:ln xmlns:a="http://schemas.openxmlformats.org/drawingml/2006/main" w="9525">
            <a:solidFill>
              <a:srgbClr val="25302E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F3F0E8"/>
                </a:solidFill>
                <a:latin typeface="JetBrains Mono"/>
                <a:ea typeface="JetBrains Mono"/>
                <a:cs typeface="JetBrains Mono"/>
              </a:defRPr>
            </a:pPr>
          </a:p>
        </c:txPr>
        <c:crossAx val="2094734554"/>
        <c:crosses val="autoZero"/>
        <c:crossBetween val="between"/>
        <c:majorUnit val="10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07765C-15E4-4D60-9E5D-EB863006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D352A7-A7B9-4FA7-903A-3469248B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D23DF6C-CE16-41ED-B4C0-A468E5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4A880E-5C30-40B1-B46D-F57B423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070048a3445d8"/>
          <a:srcRect xmlns:a="http://schemas.openxmlformats.org/drawingml/2006/main" l="0" t="4999" r="0" b="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7045587-A5B6-43C5-8D12-B883584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6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266DCB-3EDB-4E96-8815-D331D68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9264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EE1247-23F5-4742-BA2A-85DD417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1872"/>
            <a:ext cx="34747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PROJECT GAUSS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8E7368C-7F6A-44CC-9970-7F662BD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6766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9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data,</a:t>
            </a:r>
            <a:endParaRPr sz="4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made decision-ready.</a:t>
            </a:r>
            <a:endParaRPr sz="4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BEA302-EB5E-48AC-A78C-DDA1EC2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9584"/>
            <a:ext cx="5943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7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An evidence-first assurance layer for AI-augmented space operations.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32C83A2-EC8E-4C86-A026-141788D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9788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INVESTOR BRIEF  /  AUGUST 2026</a:t>
            </a:r>
            <a:endParaRPr sz="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8F84E3-D21A-4E48-BCE2-83FC75C4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897880"/>
            <a:ext cx="4297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Ground-first. Evidence-led. Command-inert by design.</a:t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668B8-B67B-4EB1-B5A1-2FEB97F9805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AD75FED6-38D0-DE9C-92C0-6E7FA635581C}" type="slidenum">
              <a:rPr b="0">
                <a:solidFill>
                  <a:srgbClr val="F3F0E8"/>
                </a:solidFill>
              </a:rPr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9135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51DBE0-3FFC-49E2-AE13-AC16F9C1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A685D-E1C1-45E5-BD85-FB7766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PROBLEM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8C7E57-4926-49DF-859D-2C9697C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08DE4F5-444A-4F23-9A15-4AF617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5FC363-ADFC-49D7-91B7-62F0AB9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 evidence is expensive.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FD77A8-4ED3-43CA-85AC-22925D8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data exists. The decision context does not.</a:t>
            </a:r>
            <a:endParaRPr sz="15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8f170a9c549b2"/>
          <a:srcRect xmlns:a="http://schemas.openxmlformats.org/drawingml/2006/main" l="9091" t="0" r="90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D6CCEDC-B014-4439-A4E4-17D2D6B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8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074062-9C69-42F0-94B1-671E597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46120"/>
            <a:ext cx="468172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0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267D19B-5BCE-4A41-80C2-DB73238F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29844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 SIGNAL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1E5540-8352-4B9C-B29D-28BF8867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1188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823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CME context is only useful when the operator can trace it to the decision.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445065-26DB-43D5-9EE9-38035DC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3697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ED37815-4E66-43B4-96D3-8D8E7E4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23697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6B0477-5416-410F-B80D-D7D9798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23697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Telemetry, space-weather, SSA, memory, and ground-system evidence live in separate lanes.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5A7A67-755F-4782-AD6A-9404877D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6849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D553D8-E059-47C0-A0A7-4622A40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96849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Opaque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9E18BD-3186-45E8-B26F-2FE6C97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AI can flag an anomaly, but operators still need provenance, confidence, and a safe fallback.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D51-22D2-44E8-9774-D61AB1B1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0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16263DB-3E36-4202-9E4B-F447C93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70001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Costly</a:t>
            </a:r>
            <a:endParaRPr sz="1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3E0D0F4-9C9E-42A9-9286-2BB6696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70001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Every delayed or disputed decision compounds mission risk, engineering time, and procurement friction.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21B8E-19CB-49F9-8BD9-E87A679189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2598689-54C9-18A7-3A19-ED76AA08988F}" type="slidenum">
              <a:rPr b="0">
                <a:solidFill>
                  <a:srgbClr val="F3F0E8"/>
                </a:solidFill>
              </a:rPr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24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EEDA6D-EDD1-443F-B3FD-54BE8A84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7F500D-A4F1-4730-A117-5DD8A55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WHY NOW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A8BF6D-7EFB-433A-9988-B21D282B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D9D65C-A68A-484E-A927-95CF2F9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0C23B4-407B-4D62-8C0B-57A96AE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Space is scaling faster than trust infrastructure.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F4B1A6-F84E-458F-9C8F-296F5D4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Growth, congestion, and solar activity are compressing the decision window.</a:t>
            </a:r>
            <a:endParaRPr sz="1500"/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74d41ce7c416b"/>
          <a:srcRect xmlns:a="http://schemas.openxmlformats.org/drawingml/2006/main" l="2676" t="0" r="26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B73EEBB-9FBC-49F3-ACF7-534564F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5CB8A4A-75A8-46D1-90C4-32A69DA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7952"/>
            <a:ext cx="5138928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0EE6EDA-EB50-43B4-9288-7B039DD5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59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67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OPERATING SHIFT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73BAEA-6439-41DD-9B0F-1639563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434840"/>
            <a:ext cx="4251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500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More assets. More streams. More decisions that must be explainable.</a:t>
            </a:r>
            <a:endParaRPr sz="16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C2C791F8-B197-40DF-BB06-EBE0FCD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0578618-F993-47B6-BD01-E52F317F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ECONOMY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599105F-470A-4927-9F3D-B00A498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A761B45-111C-4A24-8473-D05CFB1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2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87C458E-54DC-4EF3-B3BD-BC41527E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97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204973A-5761-459D-9828-30C87A69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58D081-FA1F-46BD-B818-5157049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ORBITAL SCALE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2E15305-60F7-4F3A-9C55-0AF6A305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BEF28B3-9242-4832-92CA-E286247B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400" b="1">
                <a:solidFill>
                  <a:srgbClr val="CCFF00"/>
                </a:solidFill>
              </a:defRPr>
            </a:pPr>
            <a:r>
              <a:rPr sz="2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14,266</a:t>
            </a:r>
            <a:endParaRPr sz="2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9A5FA8-FAF3-4E34-946C-ACC49939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521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operational satellites / end-2025</a:t>
            </a:r>
            <a:endParaRPr sz="8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7C987F7-DC71-4BD8-B7FA-77B8412A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FF5954F-5D7D-4400-A3F0-7756EC2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SPACE WEATHER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D38808-DD2A-4F95-8B0F-617A960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⊘</a:t>
            </a:r>
            <a:endParaRPr sz="1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2A607FCF-B51E-4512-9148-16FDB1A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4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SOLAR MAX</a:t>
            </a:r>
            <a:endParaRPr sz="23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7E23118-FD75-422A-AB55-BB792C7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48571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CME + flare activity remains mission-relevant</a:t>
            </a:r>
            <a:endParaRPr sz="8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0471EC2-CF6C-43FE-A77A-A056964C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13632"/>
            <a:ext cx="53675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8129F118-57C9-4589-8DED-3236276C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24528"/>
            <a:ext cx="4206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156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650" b="1">
                <a:solidFill>
                  <a:srgbClr val="F3F0E8"/>
                </a:solidFill>
              </a:defRPr>
            </a:pPr>
            <a:r>
              <a:rPr sz="16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Why now: the operating surface is getting larger, denser, and more consequential.</a:t>
            </a:r>
            <a:endParaRPr sz="17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AFBE8F6-0E05-495C-BF0A-A57047D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4892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350">
                <a:solidFill>
                  <a:srgbClr val="F3F0E8"/>
                </a:solidFill>
              </a:defRPr>
            </a:pPr>
            <a:r>
              <a:rPr sz="13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evidence layer turns growing data volume into traceable decisions across the existing ground segment.</a:t>
            </a:r>
            <a:endParaRPr sz="12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F34083B-8045-4212-BE2A-BC7F88B9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202359C0-8A7A-196E-DD58-8E6569619F09}" type="slidenum">
              <a:rPr b="0">
                <a:solidFill>
                  <a:srgbClr val="F3F0E8"/>
                </a:solidFill>
              </a:rPr>
              <a:t>3</a:t>
            </a:fld>
            <a:endParaRPr/>
          </a:p>
        </p:txBody>
      </p:sp>
      <p:sp>
        <p:nvSpPr>
          <p:cNvPr id="34" name="why-now-source-rail">
            <a:extLst xmlns:a="http://schemas.openxmlformats.org/drawingml/2006/main">
              <a:ext uri="{FF2B5EF4-FFF2-40B4-BE49-F238E27FC236}">
                <a16:creationId xmlns:a16="http://schemas.microsoft.com/office/drawing/2014/main" id="{719D0056-D485-4BE2-BAE4-89BE3FD1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4102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2026  •  WEF / McKinsey 2024  •  ESA 2025  •  NOAA / NASA</a:t>
            </a:r>
          </a:p>
        </p:txBody>
      </p:sp>
    </p:spTree>
    <p:extLst>
      <p:ext uri="{BB962C8B-B14F-4D97-AF65-F5344CB8AC3E}">
        <p14:creationId xmlns:p14="http://schemas.microsoft.com/office/powerpoint/2010/main" val="1578339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504AC-A90E-4B45-861E-07C44C88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225809-9F24-4021-9E05-3F27E53C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FEB799-D605-4460-95EE-3077B285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F36321-D16F-4362-8DFF-051D4812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7FD0C9-9343-4815-9481-15E9B467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makes AI decisions ready for operations.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F8D09A-35C5-4254-A6EB-FCC825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 neutral assurance layer that helps teams trust, explain, and safely act on mission data.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E18CD2-A909-4902-B782-3C2E4C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TEAMS ALREADY HAVE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D9CBC6-6D87-4668-9DD2-ACDB54C6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 ASSURANCE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8985ED-4C38-4865-9E20-F29DD1D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WHAT OPERATORS GET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2E613B1-55F6-471C-9823-556F0E46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3472"/>
            <a:ext cx="257860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383C47-2AB5-4D2F-AE6F-E6D69B14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359152"/>
            <a:ext cx="3730752" cy="2359152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1C9DA08-8DA9-4E89-BB24-700C281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633472"/>
            <a:ext cx="271576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2F6CE56-0BCA-4C58-8E0A-91FB66B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547872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121EE0-86BC-4780-944A-5B1AC9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4962E76-042E-4C55-ABD6-AECC8C0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547872"/>
            <a:ext cx="8778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EFD8A0-8C08-40E3-A67E-B129D09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7BD71CF-08CC-4130-8D9F-E0ED8FD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72384"/>
            <a:ext cx="1965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25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Weather context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Operator history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Existing systems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5504FAA-F30D-4FCE-A449-8EEDACC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779776"/>
            <a:ext cx="111556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304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Validate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Explain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Gate</a:t>
            </a:r>
            <a:endParaRPr sz="2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75F757-D416-4827-A5FD-AA7311C5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44368"/>
            <a:ext cx="13533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Confidence signals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Decision context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Safe fallback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53F0FC-B4F8-4BD8-8D3B-058400CA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072384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4375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Decision-ready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evidence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Audit trail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No command authority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AC273F-6344-434A-870D-0B608B4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with the ground segment. Earn the right to move closer to flight.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5299232-2C3E-4EED-A3E9-37F02AF0737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FD6AB9A-5F9E-5F59-51AB-3C8734130965}" type="slidenum">
              <a:rPr b="0">
                <a:solidFill>
                  <a:srgbClr val="F3F0E8"/>
                </a:solidFill>
              </a:rPr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81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0a615cd084caa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B55E61-5329-4635-BBE3-0595F7F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E28375C-DFD2-4868-89BB-2B534C2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0288A37-171A-4DB8-B1F5-C947883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4D385C-F789-40C5-94EB-7FF5A73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9667813-D76D-41AC-8FDA-9A9C414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0E25D64-E7EC-43F1-BBBE-723DE54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where data quality is already a budget line.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9BD9C-CD66-4B77-A22F-DA5B4CD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Gauss sells first to operators and integrators who cannot afford ambiguous telemetry.</a:t>
            </a:r>
            <a:endParaRPr sz="1500"/>
          </a:p>
        </p:txBody>
      </p:sp>
      <p:graphicFrame>
        <p:nvGraphicFramePr>
          <p:cNvPr id="5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2331720"/>
                <a:gridCol w="3337560"/>
                <a:gridCol w="27706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EC3F4-CFAF-44A1-9660-F18708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2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8 sourced research profiles across five buyer wedges; no signed customers.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506A5F-61EB-432F-A0F4-2D8484F0C76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EE5B3003-2C54-13C6-9832-7637201064DE}" type="slidenum">
              <a:rPr b="0">
                <a:solidFill>
                  <a:srgbClr val="F3F0E8"/>
                </a:solidFill>
              </a:rPr>
              <a:t>5</a:t>
            </a:fld>
            <a:endParaRPr/>
          </a:p>
        </p:txBody>
      </p:sp>
      <p:sp>
        <p:nvSpPr>
          <p:cNvPr id="28" name="profile-mix-label">
            <a:extLst xmlns:a="http://schemas.openxmlformats.org/drawingml/2006/main">
              <a:ext uri="{FF2B5EF4-FFF2-40B4-BE49-F238E27FC236}">
                <a16:creationId xmlns:a16="http://schemas.microsoft.com/office/drawing/2014/main" id="{BA6B8842-9F8C-4636-A08B-1D77502C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PROFILE MIX  /  8 RESEARCH TARGETS</a:t>
            </a:r>
          </a:p>
        </p:txBody>
      </p:sp>
      <p:sp>
        <p:nvSpPr>
          <p:cNvPr id="29" name="profile-grid-1">
            <a:extLst xmlns:a="http://schemas.openxmlformats.org/drawingml/2006/main">
              <a:ext uri="{FF2B5EF4-FFF2-40B4-BE49-F238E27FC236}">
                <a16:creationId xmlns:a16="http://schemas.microsoft.com/office/drawing/2014/main" id="{57B3CFCB-56A3-4A2C-A5E4-F3275AA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profile-grid-2">
            <a:extLst xmlns:a="http://schemas.openxmlformats.org/drawingml/2006/main">
              <a:ext uri="{FF2B5EF4-FFF2-40B4-BE49-F238E27FC236}">
                <a16:creationId xmlns:a16="http://schemas.microsoft.com/office/drawing/2014/main" id="{5489EA37-BD5F-4358-B4EA-AE329C53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profile-label-0">
            <a:extLst xmlns:a="http://schemas.openxmlformats.org/drawingml/2006/main">
              <a:ext uri="{FF2B5EF4-FFF2-40B4-BE49-F238E27FC236}">
                <a16:creationId xmlns:a16="http://schemas.microsoft.com/office/drawing/2014/main" id="{6F192035-CBED-4EC0-BAB3-48ADA93D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Satcom</a:t>
            </a:r>
          </a:p>
        </p:txBody>
      </p:sp>
      <p:sp>
        <p:nvSpPr>
          <p:cNvPr id="32" name="profile-bar-0">
            <a:extLst xmlns:a="http://schemas.openxmlformats.org/drawingml/2006/main">
              <a:ext uri="{FF2B5EF4-FFF2-40B4-BE49-F238E27FC236}">
                <a16:creationId xmlns:a16="http://schemas.microsoft.com/office/drawing/2014/main" id="{E481C2C6-7B39-42FD-9BCB-5430166D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288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profile-value-0">
            <a:extLst xmlns:a="http://schemas.openxmlformats.org/drawingml/2006/main">
              <a:ext uri="{FF2B5EF4-FFF2-40B4-BE49-F238E27FC236}">
                <a16:creationId xmlns:a16="http://schemas.microsoft.com/office/drawing/2014/main" id="{ED9836B4-81D2-4052-B894-D56C455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2383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4" name="profile-label-1">
            <a:extLst xmlns:a="http://schemas.openxmlformats.org/drawingml/2006/main">
              <a:ext uri="{FF2B5EF4-FFF2-40B4-BE49-F238E27FC236}">
                <a16:creationId xmlns:a16="http://schemas.microsoft.com/office/drawing/2014/main" id="{C6FBC265-BF20-43D0-86F1-7A4597D1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Weather</a:t>
            </a:r>
          </a:p>
        </p:txBody>
      </p:sp>
      <p:sp>
        <p:nvSpPr>
          <p:cNvPr id="35" name="profile-bar-1">
            <a:extLst xmlns:a="http://schemas.openxmlformats.org/drawingml/2006/main">
              <a:ext uri="{FF2B5EF4-FFF2-40B4-BE49-F238E27FC236}">
                <a16:creationId xmlns:a16="http://schemas.microsoft.com/office/drawing/2014/main" id="{D07CC964-AAE8-4B36-B86C-7030A73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profile-value-1">
            <a:extLst xmlns:a="http://schemas.openxmlformats.org/drawingml/2006/main">
              <a:ext uri="{FF2B5EF4-FFF2-40B4-BE49-F238E27FC236}">
                <a16:creationId xmlns:a16="http://schemas.microsoft.com/office/drawing/2014/main" id="{ED7864FB-0804-4AE8-B09F-E84A7D8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6955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7" name="profile-label-2">
            <a:extLst xmlns:a="http://schemas.openxmlformats.org/drawingml/2006/main">
              <a:ext uri="{FF2B5EF4-FFF2-40B4-BE49-F238E27FC236}">
                <a16:creationId xmlns:a16="http://schemas.microsoft.com/office/drawing/2014/main" id="{2AE3D7AA-83B3-4B04-957B-D6BA109E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Earth observation</a:t>
            </a:r>
          </a:p>
        </p:txBody>
      </p:sp>
      <p:sp>
        <p:nvSpPr>
          <p:cNvPr id="38" name="profile-bar-2">
            <a:extLst xmlns:a="http://schemas.openxmlformats.org/drawingml/2006/main">
              <a:ext uri="{FF2B5EF4-FFF2-40B4-BE49-F238E27FC236}">
                <a16:creationId xmlns:a16="http://schemas.microsoft.com/office/drawing/2014/main" id="{62DAE713-5511-4B84-A26A-35873B5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432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profile-value-2">
            <a:extLst xmlns:a="http://schemas.openxmlformats.org/drawingml/2006/main">
              <a:ext uri="{FF2B5EF4-FFF2-40B4-BE49-F238E27FC236}">
                <a16:creationId xmlns:a16="http://schemas.microsoft.com/office/drawing/2014/main" id="{83B90E02-743F-4F2A-9067-D0BEAE35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0" name="profile-label-3">
            <a:extLst xmlns:a="http://schemas.openxmlformats.org/drawingml/2006/main">
              <a:ext uri="{FF2B5EF4-FFF2-40B4-BE49-F238E27FC236}">
                <a16:creationId xmlns:a16="http://schemas.microsoft.com/office/drawing/2014/main" id="{40E9C5AD-FEB7-4677-8D04-43BD41B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PNT</a:t>
            </a:r>
          </a:p>
        </p:txBody>
      </p:sp>
      <p:sp>
        <p:nvSpPr>
          <p:cNvPr id="41" name="profile-bar-3">
            <a:extLst xmlns:a="http://schemas.openxmlformats.org/drawingml/2006/main">
              <a:ext uri="{FF2B5EF4-FFF2-40B4-BE49-F238E27FC236}">
                <a16:creationId xmlns:a16="http://schemas.microsoft.com/office/drawing/2014/main" id="{83769DED-4F23-46EE-8380-1A2C7A1E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profile-value-3">
            <a:extLst xmlns:a="http://schemas.openxmlformats.org/drawingml/2006/main">
              <a:ext uri="{FF2B5EF4-FFF2-40B4-BE49-F238E27FC236}">
                <a16:creationId xmlns:a16="http://schemas.microsoft.com/office/drawing/2014/main" id="{6ABCF6A3-55F1-4579-BA2E-871E13CA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99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3" name="profile-label-4">
            <a:extLst xmlns:a="http://schemas.openxmlformats.org/drawingml/2006/main">
              <a:ext uri="{FF2B5EF4-FFF2-40B4-BE49-F238E27FC236}">
                <a16:creationId xmlns:a16="http://schemas.microsoft.com/office/drawing/2014/main" id="{8B373A2C-17E3-4363-B686-BC2709F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Lunar relay</a:t>
            </a:r>
          </a:p>
        </p:txBody>
      </p:sp>
      <p:sp>
        <p:nvSpPr>
          <p:cNvPr id="44" name="profile-bar-4">
            <a:extLst xmlns:a="http://schemas.openxmlformats.org/drawingml/2006/main">
              <a:ext uri="{FF2B5EF4-FFF2-40B4-BE49-F238E27FC236}">
                <a16:creationId xmlns:a16="http://schemas.microsoft.com/office/drawing/2014/main" id="{E9AA72FE-7056-4A8D-9AD6-5264869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576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profile-value-4">
            <a:extLst xmlns:a="http://schemas.openxmlformats.org/drawingml/2006/main">
              <a:ext uri="{FF2B5EF4-FFF2-40B4-BE49-F238E27FC236}">
                <a16:creationId xmlns:a16="http://schemas.microsoft.com/office/drawing/2014/main" id="{15638DCB-ACC5-4173-8B54-B3AD050D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671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02450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afe3570304564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D0ED68-9B2A-402A-8A98-0E9D961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BA27EE9-3160-4668-A61D-B56E23E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82630D-1FA1-48CF-9EE8-AA776542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D27E8BC-0E08-4CC8-A55F-CBF50C5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06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7927833-DC7F-4A82-B36A-D9C9C658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3B113-E77E-456C-9C7B-1F3ED260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category is already large; the wedge is still focused.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5D3BD5E-6427-45D4-BF86-5FF585C7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Use external category context for TAM / SAM; keep SOM bottom-up and honest.</a:t>
            </a:r>
            <a:endParaRPr sz="1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8B22210-8477-4310-AF29-71EEE399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544"/>
            <a:ext cx="49377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SOURCED CATEGORY CONTEXT  /  INTERNAL SOM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5788EA6-EC18-48D3-8BE4-2A60E0A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10B20D4-55C0-4E6E-8BEA-D07D41D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035808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300" b="1">
                <a:solidFill>
                  <a:srgbClr val="CCFF00"/>
                </a:solidFill>
              </a:defRPr>
            </a:pPr>
            <a:r>
              <a:rPr sz="3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4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7C36BB-EA09-4E07-84A3-2EF7D23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767328"/>
            <a:ext cx="31272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in 2025.</a:t>
            </a:r>
            <a:endParaRPr sz="1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WEF / McKinsey: $1.8T by 2035.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78C663-1427-4DB6-8920-EE2FBCB8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31720"/>
            <a:ext cx="0" cy="2587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04AD369-DE50-4A91-9F7E-BD881D2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651760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E0C6E80-0184-4287-8DD1-5C8E50F5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0EAC6E4-7815-4E5C-9E32-54B40EE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75488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2BF177-B763-4E1A-B226-966CDBE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962656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$429B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31EA8CC-4EEF-4613-AACA-48E5995D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962656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200">
                <a:solidFill>
                  <a:srgbClr val="F3F0E8"/>
                </a:solidFill>
              </a:defRPr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Global space economy / 2025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009952A-2FF8-48DC-BBB4-4ED105CC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40156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SAM</a:t>
            </a:r>
            <a:endParaRPr sz="9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ADEC10D-E759-454A-B630-B74F0DB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FF77215-5D21-49F6-A1D5-BC67044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274320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738CA7F-7D26-43D2-8D40-8E5AB1C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71246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$165.2B</a:t>
            </a:r>
            <a:endParaRPr sz="12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1C2C6F-1E49-425F-8F34-4112A1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712464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489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Satellite ground segment + GNSS equipment / 2025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F12C80F-81B0-4F16-BCD2-18C670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151376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SOM</a:t>
            </a:r>
            <a:endParaRPr sz="9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05E4E24-305C-4062-BA29-C435C21E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19071F3-516C-4645-99F4-91370A4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768096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0766A76-EF4D-4EC9-83C5-A0F0EE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462272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1">
                <a:solidFill>
                  <a:srgbClr val="CCFF00"/>
                </a:solidFill>
              </a:defRPr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12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7BDEF-759F-472C-80E7-34AFEFB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62272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8337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fleet accounts × $100k annual platform value</a:t>
            </a:r>
            <a:endParaRPr sz="8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06FA87-DCB6-4964-8A43-5D15DF0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736592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TAM / SAM are category context; SOM is an internal revenue target, not market share.</a:t>
            </a:r>
            <a:endParaRPr sz="13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D349C5-E354-4A28-B6C4-B64533ED1C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8C630A04-5A25-9E0C-9436-126091DB86B3}" type="slidenum">
              <a:rPr b="0">
                <a:solidFill>
                  <a:srgbClr val="F3F0E8"/>
                </a:solidFill>
              </a:rPr>
              <a:t>6</a:t>
            </a:fld>
            <a:endParaRPr/>
          </a:p>
        </p:txBody>
      </p:sp>
      <p:sp>
        <p:nvSpPr>
          <p:cNvPr id="34" name="market-sizing-source-rail">
            <a:extLst xmlns:a="http://schemas.openxmlformats.org/drawingml/2006/main">
              <a:ext uri="{FF2B5EF4-FFF2-40B4-BE49-F238E27FC236}">
                <a16:creationId xmlns:a16="http://schemas.microsoft.com/office/drawing/2014/main" id="{E6EBC99A-36BC-4B4C-876F-EBDBE7BC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51054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36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A0EFAA6E-DA1F-4B35-941E-F8200EFE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37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8B3CBF22-A64F-46FC-ACBC-F12E3D45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38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FB53A703-F713-42F5-951B-C63D2002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39" name="tam-circle">
            <a:extLst xmlns:a="http://schemas.openxmlformats.org/drawingml/2006/main">
              <a:ext uri="{FF2B5EF4-FFF2-40B4-BE49-F238E27FC236}">
                <a16:creationId xmlns:a16="http://schemas.microsoft.com/office/drawing/2014/main" id="{F15158F9-7BA9-4DA9-988D-9E6D685D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40" name="sam-circle">
            <a:extLst xmlns:a="http://schemas.openxmlformats.org/drawingml/2006/main">
              <a:ext uri="{FF2B5EF4-FFF2-40B4-BE49-F238E27FC236}">
                <a16:creationId xmlns:a16="http://schemas.microsoft.com/office/drawing/2014/main" id="{9FE649E7-F725-455F-93EB-6EEEA3EB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41" name="som-circle">
            <a:extLst xmlns:a="http://schemas.openxmlformats.org/drawingml/2006/main">
              <a:ext uri="{FF2B5EF4-FFF2-40B4-BE49-F238E27FC236}">
                <a16:creationId xmlns:a16="http://schemas.microsoft.com/office/drawing/2014/main" id="{08D5CA1B-A76B-4D63-AF61-877F3F31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42" name="tam-label">
            <a:extLst xmlns:a="http://schemas.openxmlformats.org/drawingml/2006/main">
              <a:ext uri="{FF2B5EF4-FFF2-40B4-BE49-F238E27FC236}">
                <a16:creationId xmlns:a16="http://schemas.microsoft.com/office/drawing/2014/main" id="{E4203463-C126-445B-8E39-4B5B7FB5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43" name="tam-value">
            <a:extLst xmlns:a="http://schemas.openxmlformats.org/drawingml/2006/main">
              <a:ext uri="{FF2B5EF4-FFF2-40B4-BE49-F238E27FC236}">
                <a16:creationId xmlns:a16="http://schemas.microsoft.com/office/drawing/2014/main" id="{CD0FA7BB-0438-4C12-BB7B-EAB5D867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44" name="sam-label">
            <a:extLst xmlns:a="http://schemas.openxmlformats.org/drawingml/2006/main">
              <a:ext uri="{FF2B5EF4-FFF2-40B4-BE49-F238E27FC236}">
                <a16:creationId xmlns:a16="http://schemas.microsoft.com/office/drawing/2014/main" id="{0EB42066-324C-402F-82FF-D6A87E55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45" name="sam-value">
            <a:extLst xmlns:a="http://schemas.openxmlformats.org/drawingml/2006/main">
              <a:ext uri="{FF2B5EF4-FFF2-40B4-BE49-F238E27FC236}">
                <a16:creationId xmlns:a16="http://schemas.microsoft.com/office/drawing/2014/main" id="{5C90AF37-8446-42E2-A879-B78AB1CF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46" name="som-label">
            <a:extLst xmlns:a="http://schemas.openxmlformats.org/drawingml/2006/main">
              <a:ext uri="{FF2B5EF4-FFF2-40B4-BE49-F238E27FC236}">
                <a16:creationId xmlns:a16="http://schemas.microsoft.com/office/drawing/2014/main" id="{A6F1F002-1E6B-437F-A3BE-CD6207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47" name="som-value">
            <a:extLst xmlns:a="http://schemas.openxmlformats.org/drawingml/2006/main">
              <a:ext uri="{FF2B5EF4-FFF2-40B4-BE49-F238E27FC236}">
                <a16:creationId xmlns:a16="http://schemas.microsoft.com/office/drawing/2014/main" id="{78793726-F8B2-49B5-8A3B-D37C1109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48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6D7973CC-0E73-4309-A360-02537653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49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94208D2A-B891-4B01-8419-ACB3A461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50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5CEA3226-C27A-4DF2-809A-B4BA2D83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51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55EF4965-B6A0-447C-B6AE-AE7875C8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52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0B444715-BB72-4F9B-A3DF-56C45872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3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2DB5413A-3B2D-4F18-A94C-560C2676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54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72E5719D-05A7-4FC8-BDBE-69D9BD41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55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E3865DFE-50E6-4A64-8B1E-95598C30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56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602BBBB3-1127-4CE0-BDC3-4375DF24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57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74400939-7645-431D-914D-6FC34138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58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C781EEC0-D5CC-49D5-964E-EE094290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59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4638959F-218A-447F-9F34-F4AA3EE3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60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486CE136-7F41-4A33-AFD7-F61C3626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61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C1531EBE-8DA6-4B39-963C-4393001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  <p:sp>
        <p:nvSpPr>
          <p:cNvPr id="63" name="tam-sam-som-cover">
            <a:extLst xmlns:a="http://schemas.openxmlformats.org/drawingml/2006/main">
              <a:ext uri="{FF2B5EF4-FFF2-40B4-BE49-F238E27FC236}">
                <a16:creationId xmlns:a16="http://schemas.microsoft.com/office/drawing/2014/main" id="{D6331308-A790-438C-AB29-2B574C84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17352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64" name="tam-sam-som-kicker">
            <a:extLst xmlns:a="http://schemas.openxmlformats.org/drawingml/2006/main">
              <a:ext uri="{FF2B5EF4-FFF2-40B4-BE49-F238E27FC236}">
                <a16:creationId xmlns:a16="http://schemas.microsoft.com/office/drawing/2014/main" id="{2662F969-85D5-48B0-9C1C-0C429CF7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MARKET CONTEXT  →  REVENUE WEDGE</a:t>
            </a:r>
          </a:p>
        </p:txBody>
      </p:sp>
      <p:sp>
        <p:nvSpPr>
          <p:cNvPr id="65" name="tam-sam-som-scale-note">
            <a:extLst xmlns:a="http://schemas.openxmlformats.org/drawingml/2006/main">
              <a:ext uri="{FF2B5EF4-FFF2-40B4-BE49-F238E27FC236}">
                <a16:creationId xmlns:a16="http://schemas.microsoft.com/office/drawing/2014/main" id="{1BC35C33-891D-49C0-A58C-CD42B4E5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Illustrative nesting; not a proportional market-share claim.</a:t>
            </a:r>
          </a:p>
        </p:txBody>
      </p:sp>
      <p:sp>
        <p:nvSpPr>
          <p:cNvPr id="66" name="tam-circle">
            <a:extLst xmlns:a="http://schemas.openxmlformats.org/drawingml/2006/main">
              <a:ext uri="{FF2B5EF4-FFF2-40B4-BE49-F238E27FC236}">
                <a16:creationId xmlns:a16="http://schemas.microsoft.com/office/drawing/2014/main" id="{E8FE0661-670B-4F1F-8CF5-A9ED45BF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512"/>
          </a:solidFill>
          <a:ln xmlns:a="http://schemas.openxmlformats.org/drawingml/2006/main" w="9525">
            <a:solidFill>
              <a:srgbClr val="2B4434"/>
            </a:solidFill>
            <a:prstDash val="solid"/>
          </a:ln>
        </p:spPr>
      </p:sp>
      <p:sp>
        <p:nvSpPr>
          <p:cNvPr id="67" name="sam-circle">
            <a:extLst xmlns:a="http://schemas.openxmlformats.org/drawingml/2006/main">
              <a:ext uri="{FF2B5EF4-FFF2-40B4-BE49-F238E27FC236}">
                <a16:creationId xmlns:a16="http://schemas.microsoft.com/office/drawing/2014/main" id="{5025CC37-63AA-4DD9-93AD-9853DD41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52800"/>
            <a:ext cx="2152650" cy="2152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C2A"/>
          </a:solidFill>
          <a:ln xmlns:a="http://schemas.openxmlformats.org/drawingml/2006/main" w="9525">
            <a:solidFill>
              <a:srgbClr val="5D8C2D"/>
            </a:solidFill>
            <a:prstDash val="solid"/>
          </a:ln>
        </p:spPr>
      </p:sp>
      <p:sp>
        <p:nvSpPr>
          <p:cNvPr id="68" name="som-circle">
            <a:extLst xmlns:a="http://schemas.openxmlformats.org/drawingml/2006/main">
              <a:ext uri="{FF2B5EF4-FFF2-40B4-BE49-F238E27FC236}">
                <a16:creationId xmlns:a16="http://schemas.microsoft.com/office/drawing/2014/main" id="{F4FB33BA-3ADB-4FA3-B54D-29DCF4C1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009650" cy="1009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69" name="tam-label">
            <a:extLst xmlns:a="http://schemas.openxmlformats.org/drawingml/2006/main">
              <a:ext uri="{FF2B5EF4-FFF2-40B4-BE49-F238E27FC236}">
                <a16:creationId xmlns:a16="http://schemas.microsoft.com/office/drawing/2014/main" id="{88B40003-23E9-4C87-A533-8E712CB3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051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0" name="tam-value">
            <a:extLst xmlns:a="http://schemas.openxmlformats.org/drawingml/2006/main">
              <a:ext uri="{FF2B5EF4-FFF2-40B4-BE49-F238E27FC236}">
                <a16:creationId xmlns:a16="http://schemas.microsoft.com/office/drawing/2014/main" id="{2F46CB14-9A59-423A-9501-A6DF4683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524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1" name="sam-label">
            <a:extLst xmlns:a="http://schemas.openxmlformats.org/drawingml/2006/main">
              <a:ext uri="{FF2B5EF4-FFF2-40B4-BE49-F238E27FC236}">
                <a16:creationId xmlns:a16="http://schemas.microsoft.com/office/drawing/2014/main" id="{C18A713F-9218-453A-AC54-97EC8B21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48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72" name="sam-value">
            <a:extLst xmlns:a="http://schemas.openxmlformats.org/drawingml/2006/main">
              <a:ext uri="{FF2B5EF4-FFF2-40B4-BE49-F238E27FC236}">
                <a16:creationId xmlns:a16="http://schemas.microsoft.com/office/drawing/2014/main" id="{4B25513A-8837-4E62-ACBF-DC10412E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76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CCFF00"/>
                </a:solidFill>
              </a:defRPr>
            </a:pPr>
            <a:r>
              <a:rPr sz="15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73" name="som-label">
            <a:extLst xmlns:a="http://schemas.openxmlformats.org/drawingml/2006/main">
              <a:ext uri="{FF2B5EF4-FFF2-40B4-BE49-F238E27FC236}">
                <a16:creationId xmlns:a16="http://schemas.microsoft.com/office/drawing/2014/main" id="{EF2EEC7B-B8F8-4B44-B906-AED0F855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719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3F0E8"/>
                </a:solidFill>
              </a:defRPr>
            </a:pPr>
            <a:r>
              <a:rPr sz="975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74" name="som-value">
            <a:extLst xmlns:a="http://schemas.openxmlformats.org/drawingml/2006/main">
              <a:ext uri="{FF2B5EF4-FFF2-40B4-BE49-F238E27FC236}">
                <a16:creationId xmlns:a16="http://schemas.microsoft.com/office/drawing/2014/main" id="{7D2C6529-93C3-450F-8F53-9A66C528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005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$500k</a:t>
            </a:r>
          </a:p>
        </p:txBody>
      </p:sp>
      <p:sp>
        <p:nvSpPr>
          <p:cNvPr id="75" name="tam-sam-som-divider">
            <a:extLst xmlns:a="http://schemas.openxmlformats.org/drawingml/2006/main">
              <a:ext uri="{FF2B5EF4-FFF2-40B4-BE49-F238E27FC236}">
                <a16:creationId xmlns:a16="http://schemas.microsoft.com/office/drawing/2014/main" id="{06DBEEC6-7C34-45E8-A7E4-47EBD281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24150"/>
            <a:ext cx="9525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76" name="tam-legend-label">
            <a:extLst xmlns:a="http://schemas.openxmlformats.org/drawingml/2006/main">
              <a:ext uri="{FF2B5EF4-FFF2-40B4-BE49-F238E27FC236}">
                <a16:creationId xmlns:a16="http://schemas.microsoft.com/office/drawing/2014/main" id="{EE954E91-1528-4149-A6AF-FD5B2A89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TAM</a:t>
            </a:r>
          </a:p>
        </p:txBody>
      </p:sp>
      <p:sp>
        <p:nvSpPr>
          <p:cNvPr id="77" name="tam-legend-value">
            <a:extLst xmlns:a="http://schemas.openxmlformats.org/drawingml/2006/main">
              <a:ext uri="{FF2B5EF4-FFF2-40B4-BE49-F238E27FC236}">
                <a16:creationId xmlns:a16="http://schemas.microsoft.com/office/drawing/2014/main" id="{1FF898FF-7ED1-4AA6-AC52-029735A3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09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$429B</a:t>
            </a:r>
          </a:p>
        </p:txBody>
      </p:sp>
      <p:sp>
        <p:nvSpPr>
          <p:cNvPr id="78" name="tam-legend-copy">
            <a:extLst xmlns:a="http://schemas.openxmlformats.org/drawingml/2006/main">
              <a:ext uri="{FF2B5EF4-FFF2-40B4-BE49-F238E27FC236}">
                <a16:creationId xmlns:a16="http://schemas.microsoft.com/office/drawing/2014/main" id="{DD8871B9-7DE8-493E-B38F-5C03934F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Global space economy / 2025</a:t>
            </a:r>
          </a:p>
        </p:txBody>
      </p:sp>
      <p:sp>
        <p:nvSpPr>
          <p:cNvPr id="79" name="tam-legend-rule-1">
            <a:extLst xmlns:a="http://schemas.openxmlformats.org/drawingml/2006/main">
              <a:ext uri="{FF2B5EF4-FFF2-40B4-BE49-F238E27FC236}">
                <a16:creationId xmlns:a16="http://schemas.microsoft.com/office/drawing/2014/main" id="{7DC4FF44-B039-4C4B-AC26-4B0C2222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0" name="sam-legend-label">
            <a:extLst xmlns:a="http://schemas.openxmlformats.org/drawingml/2006/main">
              <a:ext uri="{FF2B5EF4-FFF2-40B4-BE49-F238E27FC236}">
                <a16:creationId xmlns:a16="http://schemas.microsoft.com/office/drawing/2014/main" id="{669AC8F2-B0DD-487C-BC68-60256E3B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SAM</a:t>
            </a:r>
          </a:p>
        </p:txBody>
      </p:sp>
      <p:sp>
        <p:nvSpPr>
          <p:cNvPr id="81" name="sam-legend-value">
            <a:extLst xmlns:a="http://schemas.openxmlformats.org/drawingml/2006/main">
              <a:ext uri="{FF2B5EF4-FFF2-40B4-BE49-F238E27FC236}">
                <a16:creationId xmlns:a16="http://schemas.microsoft.com/office/drawing/2014/main" id="{1A203243-C2C5-4B4D-B9C0-93D65D3D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67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$165.2B</a:t>
            </a:r>
          </a:p>
        </p:txBody>
      </p:sp>
      <p:sp>
        <p:nvSpPr>
          <p:cNvPr id="82" name="sam-legend-copy">
            <a:extLst xmlns:a="http://schemas.openxmlformats.org/drawingml/2006/main">
              <a:ext uri="{FF2B5EF4-FFF2-40B4-BE49-F238E27FC236}">
                <a16:creationId xmlns:a16="http://schemas.microsoft.com/office/drawing/2014/main" id="{B307FABB-4C80-4D39-A5B6-9D773526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Satellite ground segment + GNSS equipment / 2025</a:t>
            </a:r>
          </a:p>
        </p:txBody>
      </p:sp>
      <p:sp>
        <p:nvSpPr>
          <p:cNvPr id="83" name="tam-legend-rule-2">
            <a:extLst xmlns:a="http://schemas.openxmlformats.org/drawingml/2006/main">
              <a:ext uri="{FF2B5EF4-FFF2-40B4-BE49-F238E27FC236}">
                <a16:creationId xmlns:a16="http://schemas.microsoft.com/office/drawing/2014/main" id="{9C4D61BB-E356-43F8-97CB-36FE43AB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502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84" name="som-legend-label">
            <a:extLst xmlns:a="http://schemas.openxmlformats.org/drawingml/2006/main">
              <a:ext uri="{FF2B5EF4-FFF2-40B4-BE49-F238E27FC236}">
                <a16:creationId xmlns:a16="http://schemas.microsoft.com/office/drawing/2014/main" id="{DB6CBFCB-ED27-4EB0-902F-E39949AA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SOM</a:t>
            </a:r>
          </a:p>
        </p:txBody>
      </p:sp>
      <p:sp>
        <p:nvSpPr>
          <p:cNvPr id="85" name="som-legend-value">
            <a:extLst xmlns:a="http://schemas.openxmlformats.org/drawingml/2006/main">
              <a:ext uri="{FF2B5EF4-FFF2-40B4-BE49-F238E27FC236}">
                <a16:creationId xmlns:a16="http://schemas.microsoft.com/office/drawing/2014/main" id="{97EF1BCF-28CF-4EA9-9812-C48187E6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006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CCFF00"/>
                </a:solidFill>
              </a:defRPr>
            </a:pPr>
            <a:r>
              <a:rPr sz="2100" b="1">
                <a:solidFill>
                  <a:srgbClr val="CCFF00"/>
                </a:solidFill>
              </a:rPr>
              <a:t>$500k ARR</a:t>
            </a:r>
          </a:p>
        </p:txBody>
      </p:sp>
      <p:sp>
        <p:nvSpPr>
          <p:cNvPr id="86" name="som-legend-copy">
            <a:extLst xmlns:a="http://schemas.openxmlformats.org/drawingml/2006/main">
              <a:ext uri="{FF2B5EF4-FFF2-40B4-BE49-F238E27FC236}">
                <a16:creationId xmlns:a16="http://schemas.microsoft.com/office/drawing/2014/main" id="{2D98C380-77D9-4BF5-A65F-49BF4B0C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577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Five fleet accounts × $100k annual platform value</a:t>
            </a:r>
          </a:p>
        </p:txBody>
      </p:sp>
      <p:sp>
        <p:nvSpPr>
          <p:cNvPr id="87" name="tam-sam-som-caveat">
            <a:extLst xmlns:a="http://schemas.openxmlformats.org/drawingml/2006/main">
              <a:ext uri="{FF2B5EF4-FFF2-40B4-BE49-F238E27FC236}">
                <a16:creationId xmlns:a16="http://schemas.microsoft.com/office/drawing/2014/main" id="{B489445C-C1E5-402F-9672-FCE08486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502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</a:rPr>
              <a:t>TAM / SAM are category context; SOM is an internal revenue target, not market share.</a:t>
            </a:r>
          </a:p>
        </p:txBody>
      </p:sp>
      <p:sp>
        <p:nvSpPr>
          <p:cNvPr id="88" name="tam-sam-som-source-rail">
            <a:extLst xmlns:a="http://schemas.openxmlformats.org/drawingml/2006/main">
              <a:ext uri="{FF2B5EF4-FFF2-40B4-BE49-F238E27FC236}">
                <a16:creationId xmlns:a16="http://schemas.microsoft.com/office/drawing/2014/main" id="{985EE9CC-AA61-4157-9CA8-DB6BAB5A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293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Sources: SIA / BryceTech SSIR 2026  •  WEF / McKinsey 2024  •  internal SOM model</a:t>
            </a:r>
          </a:p>
        </p:txBody>
      </p:sp>
    </p:spTree>
    <p:extLst>
      <p:ext uri="{BB962C8B-B14F-4D97-AF65-F5344CB8AC3E}">
        <p14:creationId xmlns:p14="http://schemas.microsoft.com/office/powerpoint/2010/main" val="9269184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A58A04-BD85-4082-9CF2-2AD63F4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3ADECB-279E-4F13-AA6E-88A462A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13A158-B305-42AD-A23F-454B85FC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07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7E2189-6260-4D5E-811C-34FE5D2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77BE3E3-2F53-451D-9ADD-3F05F33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CCFF00"/>
                </a:solidFill>
              </a:defRPr>
            </a:pPr>
            <a:r>
              <a:rPr sz="315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$500k ARR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F6E996-5ACD-4D4B-850E-EB41A55D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Five paid ground / integration accounts can establish the first recurring revenue base.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8286FA-1A8D-4C81-842B-322191E4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3120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RETURN + OFF-TAKERS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C8FB36-F708-4586-AD7B-C7C423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057400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◒</a:t>
            </a:r>
            <a:endParaRPr sz="1400"/>
          </a:p>
        </p:txBody>
      </p:sp>
      <p:graphicFrame>
        <p:nvGraphicFramePr>
          <p:cNvPr id="39" name="Chart 0"/>
          <p:cNvGraphicFramePr/>
          <p:nvPr/>
        </p:nvGraphicFramePr>
        <p:xfrm>
          <a:off xmlns:a="http://schemas.openxmlformats.org/drawingml/2006/main" x="685800" y="2450592"/>
          <a:ext xmlns:a="http://schemas.openxmlformats.org/drawingml/2006/main" cx="5623560" cy="26517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333eb8a6b44bba"/>
          </a:graphicData>
        </a:graphic>
      </p:graphicFrame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0FE0D0A-FDF9-49CF-BBAD-9EAB32F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6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900"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OFF-TAKERS: mission-control  •  ground-segment  •  systems integrators</a:t>
            </a:r>
            <a:endParaRPr sz="8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900"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Planning case; not signed pipeline.</a:t>
            </a:r>
            <a:endParaRPr sz="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AD7B660-7CFA-4B01-9AF9-E4A2A0C3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71800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467B98-9B99-4D31-A46E-AC4C7FD7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68880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Paid evaluation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07E76B1-2D70-4C53-BFDE-A24D8E1D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68880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$20k–$35k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9F3D2FD-92C3-48CF-A6EB-D93A3B4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43200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6–10 weeks; credit toward conversion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1E9B7B3-45D6-478C-9976-CB8FCA4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630168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53CC369-F628-4DF5-AE26-C0C328F3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127248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Annual platform</a:t>
            </a:r>
            <a:endParaRPr sz="1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57CAE3-BAAE-41E1-BB8B-9E13CF7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127248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$100k–$150k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4F0367F-A84C-4F11-BF30-293760C3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401568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Fleet / mission capacity, not seats</a:t>
            </a:r>
            <a:endParaRPr sz="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29F13F33-1E85-43F7-9611-B1EF4BB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88536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AE1FBA0-3B3F-48BB-B795-3BA71FA4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85616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Implementation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B8B42D-29F5-48FA-9EC9-E430151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785616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$30k–$100k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E196290-A934-4553-AC0C-8A62543D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059936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One-time adapters and onboarding</a:t>
            </a:r>
            <a:endParaRPr sz="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EE818CE-1B81-4889-80EB-071363A1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46904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655D5EB-D991-4DDF-A96D-392DD3E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43984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</a:t>
            </a:r>
            <a:endParaRPr sz="13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80784210-424F-4EDE-BBF8-7CD17BD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44398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$150k–$400k</a:t>
            </a:r>
            <a:endParaRPr sz="11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249789D-4508-4F54-84E5-2BE0E9E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18304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NRE; external evidence gates</a:t>
            </a:r>
            <a:endParaRPr sz="9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417E04-E870-448C-9F63-E28F1A5B796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3D7D1C8-AE23-AA48-DF65-C742588DBE47}" type="slidenum">
              <a:rPr b="0">
                <a:solidFill>
                  <a:srgbClr val="F3F0E8"/>
                </a:solidFill>
              </a:rPr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01537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002365a2a48b6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785D1189-6ECD-437B-A2E4-81DC4F8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2F90A88-EE69-4FAF-8075-C37296B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A482D22-9CD2-40D5-91E4-B893A1F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EA2EC3-2B5E-42DD-BBC1-B134EF3F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08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49530C-3354-4DC1-8AD7-D7E10CFB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080AE9D-22E6-48C5-9D19-598CEE2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083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owns the seam between mission operations and AI assurance.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4C7153-5666-4D05-8EF4-EEC0D5C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Adjacent platforms solve a layer; Gauss connects the evidence needed to act.</a:t>
            </a:r>
            <a:endParaRPr sz="1500"/>
          </a:p>
        </p:txBody>
      </p:sp>
      <p:graphicFrame>
        <p:nvGraphicFramePr>
          <p:cNvPr id="258" name="Table 0"/>
          <p:cNvGraphicFramePr/>
          <p:nvPr/>
        </p:nvGraphicFramePr>
        <p:xfrm>
          <a:off xmlns:a="http://schemas.openxmlformats.org/drawingml/2006/main" x="685800" y="2176272"/>
          <a:ext xmlns:a="http://schemas.openxmlformats.org/drawingml/2006/main" cx="10817352" cy="28529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8840"/>
                <a:gridCol w="3017520"/>
                <a:gridCol w="3154680"/>
                <a:gridCol w="249631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EF4FC-A92F-45FD-BB62-83D9650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11480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304DE2-B104-44A1-A357-53C059A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POSITIONING WEDGE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250DC48-7E9F-4E6B-91AD-4B58883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468112"/>
            <a:ext cx="76809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5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>
                <a:solidFill>
                  <a:srgbClr val="F3F0E8"/>
                </a:solidFill>
              </a:defRPr>
            </a:pPr>
            <a:r>
              <a:rPr sz="1125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Illustrative public positioning; not feature parity or partnership evidence.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14F266-BDBC-4E64-A1D1-5D4C58BB47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BA58DA2A-B818-18A9-29C1-B697728D5BCE}" type="slidenum">
              <a:rPr b="0">
                <a:solidFill>
                  <a:srgbClr val="F3F0E8"/>
                </a:solidFill>
              </a:rPr>
              <a:t>8</a:t>
            </a:fld>
            <a:endParaRPr/>
          </a:p>
        </p:txBody>
      </p:sp>
      <p:pic>
        <p:nvPicPr>
          <p:cNvPr id="2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d26c5d9a6341e4">
            <a:extLst>
              <a:ext uri="{96DAC541-7B7A-43D3-8B79-37D633B846F1}">
                <asvg:svgBlip xmlns:asvg="http://schemas.microsoft.com/office/drawing/2016/SVG/main" r:embed="R9224cd77207549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af05e8b564eb1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3d8f25eba448c">
            <a:extLst>
              <a:ext uri="{96DAC541-7B7A-43D3-8B79-37D633B846F1}">
                <asvg:svgBlip xmlns:asvg="http://schemas.microsoft.com/office/drawing/2016/SVG/main" r:embed="R456a058017b74e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785bd26054010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a95392fa848e6">
            <a:extLst>
              <a:ext uri="{96DAC541-7B7A-43D3-8B79-37D633B846F1}">
                <asvg:svgBlip xmlns:asvg="http://schemas.microsoft.com/office/drawing/2016/SVG/main" r:embed="Rcb1ea9f75e6b45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af05e8b564eb1">
            <a:extLst>
              <a:ext uri="{96DAC541-7B7A-43D3-8B79-37D633B846F1}">
                <asvg:svgBlip xmlns:asvg="http://schemas.microsoft.com/office/drawing/2016/SVG/main" r:embed="Raad2f42d402b49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785bd26054010">
            <a:extLst>
              <a:ext uri="{96DAC541-7B7A-43D3-8B79-37D633B846F1}">
                <asvg:svgBlip xmlns:asvg="http://schemas.microsoft.com/office/drawing/2016/SVG/main" r:embed="R6bb7e10180df45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17bc85b2be447f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17bc85b2be447f">
            <a:extLst>
              <a:ext uri="{96DAC541-7B7A-43D3-8B79-37D633B846F1}">
                <asvg:svgBlip xmlns:asvg="http://schemas.microsoft.com/office/drawing/2016/SVG/main" r:embed="R0262aa8bf7ae4e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b9e38aa654188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b9e38aa654188">
            <a:extLst>
              <a:ext uri="{96DAC541-7B7A-43D3-8B79-37D633B846F1}">
                <asvg:svgBlip xmlns:asvg="http://schemas.microsoft.com/office/drawing/2016/SVG/main" r:embed="R7e83a6e623804f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c26f344c3426d">
            <a:extLst>
              <a:ext uri="{96DAC541-7B7A-43D3-8B79-37D633B846F1}">
                <asvg:svgBlip xmlns:asvg="http://schemas.microsoft.com/office/drawing/2016/SVG/main" r:embed="Rc574c069d05f4d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a4da59c3b44df">
            <a:extLst>
              <a:ext uri="{96DAC541-7B7A-43D3-8B79-37D633B846F1}">
                <asvg:svgBlip xmlns:asvg="http://schemas.microsoft.com/office/drawing/2016/SVG/main" r:embed="R605b8b7dc6514f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44ef50215408e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44ef50215408e">
            <a:extLst>
              <a:ext uri="{96DAC541-7B7A-43D3-8B79-37D633B846F1}">
                <asvg:svgBlip xmlns:asvg="http://schemas.microsoft.com/office/drawing/2016/SVG/main" r:embed="R97d4ac630fec4a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ef0780eff47dd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ef0780eff47dd">
            <a:extLst>
              <a:ext uri="{96DAC541-7B7A-43D3-8B79-37D633B846F1}">
                <asvg:svgBlip xmlns:asvg="http://schemas.microsoft.com/office/drawing/2016/SVG/main" r:embed="R00b049adb24c46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4a0a83a59495b">
            <a:extLst>
              <a:ext uri="{96DAC541-7B7A-43D3-8B79-37D633B846F1}">
                <asvg:svgBlip xmlns:asvg="http://schemas.microsoft.com/office/drawing/2016/SVG/main" r:embed="R0795dc343c4d4dc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eaefaa299b4b9b">
            <a:extLst>
              <a:ext uri="{96DAC541-7B7A-43D3-8B79-37D633B846F1}">
                <asvg:svgBlip xmlns:asvg="http://schemas.microsoft.com/office/drawing/2016/SVG/main" r:embed="R9f29a5c721f546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90700" y="328612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4c3db6ce04ec8"/>
          <a:stretch xmlns:a="http://schemas.openxmlformats.org/drawingml/2006/main"/>
        </p:blipFill>
        <p:spPr>
          <a:xfrm xmlns:a="http://schemas.openxmlformats.org/drawingml/2006/main">
            <a:off x="3536871" y="4238625"/>
            <a:ext cx="908208" cy="209550"/>
          </a:xfrm>
          <a:prstGeom xmlns:a="http://schemas.openxmlformats.org/drawingml/2006/main" prst="rect">
            <a:avLst/>
          </a:prstGeom>
        </p:spPr>
      </p:pic>
      <p:pic>
        <p:nvPicPr>
          <p:cNvPr id="2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4c3db6ce04ec8">
            <a:extLst>
              <a:ext uri="{96DAC541-7B7A-43D3-8B79-37D633B846F1}">
                <asvg:svgBlip xmlns:asvg="http://schemas.microsoft.com/office/drawing/2016/SVG/main" r:embed="Re12d21012e7543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19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e17e3cdcf4d91"/>
          <a:stretch xmlns:a="http://schemas.openxmlformats.org/drawingml/2006/main"/>
        </p:blipFill>
        <p:spPr>
          <a:xfrm xmlns:a="http://schemas.openxmlformats.org/drawingml/2006/main">
            <a:off x="4678781" y="4238625"/>
            <a:ext cx="1005639" cy="209550"/>
          </a:xfrm>
          <a:prstGeom xmlns:a="http://schemas.openxmlformats.org/drawingml/2006/main" prst="rect">
            <a:avLst/>
          </a:prstGeom>
        </p:spPr>
      </p:pic>
      <p:pic>
        <p:nvPicPr>
          <p:cNvPr id="2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e17e3cdcf4d91">
            <a:extLst>
              <a:ext uri="{96DAC541-7B7A-43D3-8B79-37D633B846F1}">
                <asvg:svgBlip xmlns:asvg="http://schemas.microsoft.com/office/drawing/2016/SVG/main" r:embed="R7c014326f22c46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10450" y="2886075"/>
            <a:ext cx="1162050" cy="209550"/>
          </a:xfrm>
          <a:prstGeom xmlns:a="http://schemas.openxmlformats.org/drawingml/2006/main" prst="rect">
            <a:avLst/>
          </a:prstGeom>
        </p:spPr>
      </p:pic>
      <p:pic>
        <p:nvPicPr>
          <p:cNvPr id="2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ae2c91f7e4eaf">
            <a:extLst>
              <a:ext uri="{96DAC541-7B7A-43D3-8B79-37D633B846F1}">
                <asvg:svgBlip xmlns:asvg="http://schemas.microsoft.com/office/drawing/2016/SVG/main" r:embed="Rfc44bff6ed2b49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696325" y="4238625"/>
            <a:ext cx="1162050" cy="209550"/>
          </a:xfrm>
          <a:prstGeom xmlns:a="http://schemas.openxmlformats.org/drawingml/2006/main" prst="rect">
            <a:avLst/>
          </a:prstGeom>
        </p:spPr>
      </p:pic>
      <p:sp>
        <p:nvSpPr>
          <p:cNvPr id="196" name="competitor-table-cover">
            <a:extLst xmlns:a="http://schemas.openxmlformats.org/drawingml/2006/main">
              <a:ext uri="{FF2B5EF4-FFF2-40B4-BE49-F238E27FC236}">
                <a16:creationId xmlns:a16="http://schemas.microsoft.com/office/drawing/2014/main" id="{7B71F5B7-1081-43B4-8697-83DB9024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17352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197" name="competitor-matrix-frame">
            <a:extLst xmlns:a="http://schemas.openxmlformats.org/drawingml/2006/main">
              <a:ext uri="{FF2B5EF4-FFF2-40B4-BE49-F238E27FC236}">
                <a16:creationId xmlns:a16="http://schemas.microsoft.com/office/drawing/2014/main" id="{3CD87437-A97A-43A2-AFB1-8D2CE86C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99441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D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198" name="competitor-matrix-axis-y">
            <a:extLst xmlns:a="http://schemas.openxmlformats.org/drawingml/2006/main">
              <a:ext uri="{FF2B5EF4-FFF2-40B4-BE49-F238E27FC236}">
                <a16:creationId xmlns:a16="http://schemas.microsoft.com/office/drawing/2014/main" id="{91782250-7E22-404F-A997-FC4D3C4F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95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199" name="competitor-matrix-axis-x">
            <a:extLst xmlns:a="http://schemas.openxmlformats.org/drawingml/2006/main">
              <a:ext uri="{FF2B5EF4-FFF2-40B4-BE49-F238E27FC236}">
                <a16:creationId xmlns:a16="http://schemas.microsoft.com/office/drawing/2014/main" id="{CF4DD817-6381-4653-AFFD-99078A63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90950"/>
            <a:ext cx="994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200" name="matrix-axis-left">
            <a:extLst xmlns:a="http://schemas.openxmlformats.org/drawingml/2006/main">
              <a:ext uri="{FF2B5EF4-FFF2-40B4-BE49-F238E27FC236}">
                <a16:creationId xmlns:a16="http://schemas.microsoft.com/office/drawing/2014/main" id="{77C27F64-C945-4ED8-A1EB-250A7659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MISSION-SPECIFIC</a:t>
            </a:r>
          </a:p>
        </p:txBody>
      </p:sp>
      <p:sp>
        <p:nvSpPr>
          <p:cNvPr id="201" name="matrix-axis-top">
            <a:extLst xmlns:a="http://schemas.openxmlformats.org/drawingml/2006/main">
              <a:ext uri="{FF2B5EF4-FFF2-40B4-BE49-F238E27FC236}">
                <a16:creationId xmlns:a16="http://schemas.microsoft.com/office/drawing/2014/main" id="{BF998FCF-3FF0-4FA4-8D13-EC0E616A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ASSURANCE</a:t>
            </a:r>
          </a:p>
        </p:txBody>
      </p:sp>
      <p:sp>
        <p:nvSpPr>
          <p:cNvPr id="202" name="matrix-axis-right">
            <a:extLst xmlns:a="http://schemas.openxmlformats.org/drawingml/2006/main">
              <a:ext uri="{FF2B5EF4-FFF2-40B4-BE49-F238E27FC236}">
                <a16:creationId xmlns:a16="http://schemas.microsoft.com/office/drawing/2014/main" id="{6E44C19A-B04E-4414-B7A7-B9596418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HORIZONTAL</a:t>
            </a:r>
          </a:p>
        </p:txBody>
      </p:sp>
      <p:sp>
        <p:nvSpPr>
          <p:cNvPr id="203" name="matrix-axis-bottom">
            <a:extLst xmlns:a="http://schemas.openxmlformats.org/drawingml/2006/main">
              <a:ext uri="{FF2B5EF4-FFF2-40B4-BE49-F238E27FC236}">
                <a16:creationId xmlns:a16="http://schemas.microsoft.com/office/drawing/2014/main" id="{1FBB797E-BA2D-47A5-AEFE-6EA73428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</a:rPr>
              <a:t>EXECUTION</a:t>
            </a:r>
          </a:p>
        </p:txBody>
      </p:sp>
      <p:sp>
        <p:nvSpPr>
          <p:cNvPr id="204" name="matrix-pill-Yamcs mission control">
            <a:extLst xmlns:a="http://schemas.openxmlformats.org/drawingml/2006/main">
              <a:ext uri="{FF2B5EF4-FFF2-40B4-BE49-F238E27FC236}">
                <a16:creationId xmlns:a16="http://schemas.microsoft.com/office/drawing/2014/main" id="{3C648652-5600-4EAC-863A-90E21CDF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9c926854b47d1"/>
          <a:stretch xmlns:a="http://schemas.openxmlformats.org/drawingml/2006/main"/>
        </p:blipFill>
        <p:spPr>
          <a:xfrm xmlns:a="http://schemas.openxmlformats.org/drawingml/2006/main">
            <a:off x="2085975" y="3314700"/>
            <a:ext cx="685800" cy="285750"/>
          </a:xfrm>
          <a:prstGeom xmlns:a="http://schemas.openxmlformats.org/drawingml/2006/main" prst="rect">
            <a:avLst/>
          </a:prstGeom>
        </p:spPr>
      </p:pic>
      <p:sp>
        <p:nvSpPr>
          <p:cNvPr id="206" name="matrix-pill-OpenC3 COSMOS">
            <a:extLst xmlns:a="http://schemas.openxmlformats.org/drawingml/2006/main">
              <a:ext uri="{FF2B5EF4-FFF2-40B4-BE49-F238E27FC236}">
                <a16:creationId xmlns:a16="http://schemas.microsoft.com/office/drawing/2014/main" id="{289BB2E7-7B10-4612-BB3B-4D0CA654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2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d210e2d9b14c78"/>
          <a:stretch xmlns:a="http://schemas.openxmlformats.org/drawingml/2006/main"/>
        </p:blipFill>
        <p:spPr>
          <a:xfrm xmlns:a="http://schemas.openxmlformats.org/drawingml/2006/main">
            <a:off x="3047426" y="4267200"/>
            <a:ext cx="1239398" cy="285750"/>
          </a:xfrm>
          <a:prstGeom xmlns:a="http://schemas.openxmlformats.org/drawingml/2006/main" prst="rect">
            <a:avLst/>
          </a:prstGeom>
        </p:spPr>
      </p:pic>
      <p:sp>
        <p:nvSpPr>
          <p:cNvPr id="208" name="matrix-pill-Slingshot Portal">
            <a:extLst xmlns:a="http://schemas.openxmlformats.org/drawingml/2006/main">
              <a:ext uri="{FF2B5EF4-FFF2-40B4-BE49-F238E27FC236}">
                <a16:creationId xmlns:a16="http://schemas.microsoft.com/office/drawing/2014/main" id="{16ADDABC-DC77-4DF1-8230-370A9CE1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e67b17f36417e"/>
          <a:stretch xmlns:a="http://schemas.openxmlformats.org/drawingml/2006/main"/>
        </p:blipFill>
        <p:spPr>
          <a:xfrm xmlns:a="http://schemas.openxmlformats.org/drawingml/2006/main">
            <a:off x="3081305" y="2838450"/>
            <a:ext cx="1171640" cy="285750"/>
          </a:xfrm>
          <a:prstGeom xmlns:a="http://schemas.openxmlformats.org/drawingml/2006/main" prst="rect">
            <a:avLst/>
          </a:prstGeom>
        </p:spPr>
      </p:pic>
      <p:sp>
        <p:nvSpPr>
          <p:cNvPr id="210" name="matrix-pill-AIKO orbital_OLIVER">
            <a:extLst xmlns:a="http://schemas.openxmlformats.org/drawingml/2006/main">
              <a:ext uri="{FF2B5EF4-FFF2-40B4-BE49-F238E27FC236}">
                <a16:creationId xmlns:a16="http://schemas.microsoft.com/office/drawing/2014/main" id="{89A8AB5E-4A8F-4FEB-8D27-3D708BCD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4D6972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d4bfebac043f5"/>
          <a:stretch xmlns:a="http://schemas.openxmlformats.org/drawingml/2006/main"/>
        </p:blipFill>
        <p:spPr>
          <a:xfrm xmlns:a="http://schemas.openxmlformats.org/drawingml/2006/main">
            <a:off x="4791075" y="4267200"/>
            <a:ext cx="1371600" cy="285750"/>
          </a:xfrm>
          <a:prstGeom xmlns:a="http://schemas.openxmlformats.org/drawingml/2006/main" prst="rect">
            <a:avLst/>
          </a:prstGeom>
        </p:spPr>
      </p:pic>
      <p:sp>
        <p:nvSpPr>
          <p:cNvPr id="212" name="matrix-pill-Arize AI observability">
            <a:extLst xmlns:a="http://schemas.openxmlformats.org/drawingml/2006/main">
              <a:ext uri="{FF2B5EF4-FFF2-40B4-BE49-F238E27FC236}">
                <a16:creationId xmlns:a16="http://schemas.microsoft.com/office/drawing/2014/main" id="{02D4F407-8847-4FC0-B8FD-1008E999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76f242b824c91"/>
          <a:stretch xmlns:a="http://schemas.openxmlformats.org/drawingml/2006/main"/>
        </p:blipFill>
        <p:spPr>
          <a:xfrm xmlns:a="http://schemas.openxmlformats.org/drawingml/2006/main">
            <a:off x="7705567" y="2838450"/>
            <a:ext cx="1067116" cy="285750"/>
          </a:xfrm>
          <a:prstGeom xmlns:a="http://schemas.openxmlformats.org/drawingml/2006/main" prst="rect">
            <a:avLst/>
          </a:prstGeom>
        </p:spPr>
      </p:pic>
      <p:sp>
        <p:nvSpPr>
          <p:cNvPr id="214" name="matrix-pill-Fiddler AI observability">
            <a:extLst xmlns:a="http://schemas.openxmlformats.org/drawingml/2006/main">
              <a:ext uri="{FF2B5EF4-FFF2-40B4-BE49-F238E27FC236}">
                <a16:creationId xmlns:a16="http://schemas.microsoft.com/office/drawing/2014/main" id="{CE441D4B-5FEC-45DB-895D-BC52223E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pic>
        <p:nvPicPr>
          <p:cNvPr id="3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7d06a77b5484c"/>
          <a:stretch xmlns:a="http://schemas.openxmlformats.org/drawingml/2006/main"/>
        </p:blipFill>
        <p:spPr>
          <a:xfrm xmlns:a="http://schemas.openxmlformats.org/drawingml/2006/main">
            <a:off x="8743974" y="4267200"/>
            <a:ext cx="1276303" cy="285750"/>
          </a:xfrm>
          <a:prstGeom xmlns:a="http://schemas.openxmlformats.org/drawingml/2006/main" prst="rect">
            <a:avLst/>
          </a:prstGeom>
        </p:spPr>
      </p:pic>
      <p:sp>
        <p:nvSpPr>
          <p:cNvPr id="216" name="matrix-gauss-pill">
            <a:extLst xmlns:a="http://schemas.openxmlformats.org/drawingml/2006/main">
              <a:ext uri="{FF2B5EF4-FFF2-40B4-BE49-F238E27FC236}">
                <a16:creationId xmlns:a16="http://schemas.microsoft.com/office/drawing/2014/main" id="{E7873DC8-8B48-4072-947A-60A7BEFC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1619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B1400"/>
          </a:solidFill>
          <a:ln xmlns:a="http://schemas.openxmlformats.org/drawingml/2006/main" w="19050">
            <a:solidFill>
              <a:srgbClr val="CCFF00"/>
            </a:solidFill>
            <a:prstDash val="solid"/>
          </a:ln>
        </p:spPr>
      </p:sp>
      <p:sp>
        <p:nvSpPr>
          <p:cNvPr id="217" name="matrix-gauss-label">
            <a:extLst xmlns:a="http://schemas.openxmlformats.org/drawingml/2006/main">
              <a:ext uri="{FF2B5EF4-FFF2-40B4-BE49-F238E27FC236}">
                <a16:creationId xmlns:a16="http://schemas.microsoft.com/office/drawing/2014/main" id="{002E9A79-4AB2-4219-9EF3-38EBFCED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3432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CCFF00"/>
                </a:solidFill>
              </a:defRPr>
            </a:pPr>
            <a:r>
              <a:rPr sz="1350" b="1">
                <a:solidFill>
                  <a:srgbClr val="CCFF00"/>
                </a:solidFill>
              </a:rPr>
              <a:t>GAUSS</a:t>
            </a:r>
          </a:p>
        </p:txBody>
      </p:sp>
    </p:spTree>
    <p:extLst>
      <p:ext uri="{BB962C8B-B14F-4D97-AF65-F5344CB8AC3E}">
        <p14:creationId xmlns:p14="http://schemas.microsoft.com/office/powerpoint/2010/main" val="9586821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85221264bc44a8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F587926-DCCC-4A2E-9988-38BBCF7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64F437F-DAB8-477A-B7EB-9185CF70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09B3A8-4B2A-469D-A5F8-4A8E875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TEAM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6337744-8DCE-460E-B8EA-E24EF16A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09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0FC7B2A-D02E-49ED-98E3-077F629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A2FC63E-2CC5-4757-8D64-46F52BF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owners cover product, operators, and systems.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23F56BC-97D1-42F1-8AD0-6631FEC8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5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Product, operator experience, and space-systems execution are covered; customer proof is next.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5129F59-1B45-4F4D-855F-DC9D8E2F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20EBDA1-3B8C-4742-A7E1-D9ACBDE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FBE7B-78EC-4A2D-A4D3-4EC7E0F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JN</a:t>
            </a:r>
            <a:endParaRPr sz="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D45277A-7DA1-42EE-A74C-1EAD696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8058F95-4F24-4F77-8B77-E369F16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Joshua Nathan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C92DA5-6FF3-4178-A536-D187323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CEO / Founder &amp; mission lead</a:t>
            </a:r>
            <a:endParaRPr sz="8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C6C7171-1F65-4448-ACA8-A06BF3D0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ED17EAE-B02B-4A6F-AF73-C426AB8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direction, mission context, and commercial wedge.</a:t>
            </a:r>
            <a:endParaRPr sz="1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3CB4B89-1E0E-4108-AC2D-E625804C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FBE11FD-2D37-4B47-8143-D4419222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E7B1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92AA1B-31D1-4435-BD98-50B61DA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KL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E186CFA-D407-443D-B305-855E499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9CDEC9C-7F6D-49B3-BCCD-0E549DE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Kristina Logunova</a:t>
            </a:r>
            <a:endParaRPr sz="1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268C13-E24C-4514-91A9-840356D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COO</a:t>
            </a:r>
            <a:endParaRPr sz="8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EE299B-9FEC-49DA-B76C-69D9329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5A3554-3F02-4B06-BCB8-7B74A46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Human–computer interaction and operator experience.</a:t>
            </a:r>
            <a:endParaRPr sz="1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B32D540C-BB92-4E63-9C30-45DC9BC8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4D835749-C84A-44A1-8427-4148313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3DA993A-917C-469F-A7CB-68BEEA9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SH</a:t>
            </a:r>
            <a:endParaRPr sz="9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279494E-2E45-4FF9-98C8-231742DE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✦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EF68145B-67D8-4B0C-A192-AAD88C7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Shubham Hule</a:t>
            </a:r>
            <a:endParaRPr sz="14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52D0128-D3A7-43EE-BCBB-21267A0F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CTO</a:t>
            </a:r>
            <a:endParaRPr sz="8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8C7ABC4-7B04-46C0-B83F-31017B3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A07186E-71C1-4247-81CC-D10BB62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Space systems engineering and technical execution.</a:t>
            </a:r>
            <a:endParaRPr sz="11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159CC84-8688-4B27-9775-36B588D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817352" cy="841248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1DE99188-39AF-4CD3-89F8-AA234F0C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4336"/>
            <a:ext cx="17373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ADVISOR NETWORK</a:t>
            </a:r>
            <a:endParaRPr sz="80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A28E7474-3D00-4D51-824D-1FF4D18C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1947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Barbara J. Thompson  /  Solar physics &amp; NASA Goddard</a:t>
            </a:r>
            <a:endParaRPr sz="900"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EDBE9A7-DE24-4522-B8B4-015B6A6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491947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Eleni Petrakou  /  Particle physics &amp; space weather</a:t>
            </a:r>
            <a:endParaRPr sz="900"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1EF76CB-9A2E-4690-B276-45FB775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4919472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359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Jamie Berry  /  Aerospace, defence &amp; space finance</a:t>
            </a:r>
            <a:endParaRPr sz="9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8FAC365-06D3-4D79-B5FD-E5274B0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24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The team slide is factual; the next diligence layer is specific founder proof and customer evidence.</a:t>
            </a:r>
            <a:endParaRPr sz="11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9CE116-63C5-43FD-B0F1-BF62886205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88657AE-30A1-5A7A-6A7F-315D84436430}" type="slidenum">
              <a:rPr b="0">
                <a:solidFill>
                  <a:srgbClr val="F3F0E8"/>
                </a:solidFill>
              </a:rPr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104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C4638-4F1D-4F9A-927A-BD25673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C2A040-B9B4-4CE8-A1DA-5E15E50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THE ASK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1939C5-95D2-42FE-BEE5-5A69C3C9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10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1134AA-76D6-458B-BBAD-D84E640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18b7f556b41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0642337-2EE1-4D77-8CC8-CA32FE5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FDB0853-3B40-4DF5-A4D0-DA7ADF8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77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5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$1.5M</a:t>
            </a:r>
            <a:endParaRPr sz="5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7088F9-07CE-4AE6-BDCE-6760585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59436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20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 b="1">
                <a:solidFill>
                  <a:srgbClr val="F3F0E8"/>
                </a:solidFill>
              </a:defRPr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to fund a 6–12 month ground-first programme to paid pilots.</a:t>
            </a:r>
            <a:endParaRPr sz="2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7C3674C-0E7C-4E6B-A105-47C9175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098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PURPOSE  /  USE OF FUNDS  /  $1.5M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93DD0B6-8AB0-407C-95FD-2BB7B87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86200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+ integrations</a:t>
            </a:r>
            <a:endParaRPr sz="1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78B1B6-E8BE-412E-A766-348C68B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F7F7688-159C-43F9-B87E-803CE69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4DC7934-8F07-453A-83E7-99724EB9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86200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45%</a:t>
            </a:r>
            <a:endParaRPr sz="10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625EC8-2F68-4463-BCAB-AC80BAAD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33672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Security + compliance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D2D7EA-8538-471F-804E-EBA3EAB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EFD5DD0-1D90-429C-A63D-5CF4F1C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AD32F52-F865-47BC-8D97-A53D543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23367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E02AC7F-A5B9-4C67-BA31-983E3C5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581144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GTM + design partners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4B37A9E-1082-487E-B0FA-D529CE8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4E14E502-3202-4003-821A-AE5ADDE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4BD7F1E-4D0E-40C4-B882-4299EE6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811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2A1C0A8-C752-436B-9527-8E02028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28616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182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Operations + runway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28148F8-E958-45A0-BD29-4216539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963EBD8-8ACE-4F48-8271-D3EF092D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74676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A66252A-986A-4265-9EA0-B3FC1366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92861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15%</a:t>
            </a:r>
            <a:endParaRPr sz="10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0CFE3C4-37FD-43D3-A8D8-09855E1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65960"/>
            <a:ext cx="301752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4C63FF3-C9AA-4835-B4AF-29A6018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286000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1429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COMMERCIAL RETURN</a:t>
            </a:r>
            <a:endParaRPr sz="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F66DD55-86C7-47F5-B2D0-8093D34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974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F3F0E8"/>
                </a:solidFill>
              </a:defRPr>
            </a:pPr>
            <a:r>
              <a:rPr sz="2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5 paid</a:t>
            </a:r>
            <a:endParaRPr sz="3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sz="2100" b="1">
                <a:solidFill>
                  <a:srgbClr val="F3F0E8"/>
                </a:solidFill>
              </a:defRPr>
            </a:pPr>
            <a:r>
              <a:rPr sz="2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accounts</a:t>
            </a:r>
            <a:endParaRPr sz="31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B44EE04-12E7-4D16-963D-EC0978D9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703320"/>
            <a:ext cx="2377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B3DBE80-14D8-4F4D-95E0-D5EB673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50208"/>
            <a:ext cx="22860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$500k ARR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Ground-first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  <a:defRPr b="1">
                <a:solidFill>
                  <a:srgbClr val="CCFF00"/>
                </a:solidFill>
              </a:defRPr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Evidence-ready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4B4CE7DB-9CCA-474B-BC3D-C047C46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181344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>
                <a:solidFill>
                  <a:srgbClr val="F3F0E8"/>
                </a:solidFill>
              </a:defRPr>
            </a:pPr>
            <a:r>
              <a:rPr sz="105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Return case: five paid ground / integration accounts → $500k ARR.</a:t>
            </a:r>
            <a:endParaRPr sz="10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EA657D-CD3C-4FB3-AE80-20AE402ECB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DB7BEEEC-A170-5376-2B6E-CB54687B0CB1}" type="slidenum">
              <a:rPr b="0">
                <a:solidFill>
                  <a:srgbClr val="F3F0E8"/>
                </a:solidFill>
              </a:rPr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55421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9500a4022421e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A5D16EA-A594-4940-ADBD-A0CE7C5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>
                <a:solidFill>
                  <a:srgbClr val="F3F0E8"/>
                </a:solidFill>
              </a:defRPr>
            </a:pPr>
            <a:r>
              <a:rPr>
                <a:solidFill>
                  <a:srgbClr val="F3F0E8"/>
                </a:solidFill>
              </a:rPr>
              <a:t/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2E42D30-4FE5-4659-9713-1FF18A2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10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FB60255-380F-4608-9E19-4054183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PROGRAMME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840C083-8E58-4D9B-BAEF-3E7AB58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11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3FFD099-4698-4FB0-A813-DE6274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F7924A-0FC7-4F88-8358-385D716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048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3150" b="1">
                <a:solidFill>
                  <a:srgbClr val="F3F0E8"/>
                </a:solidFill>
              </a:defRPr>
            </a:pPr>
            <a:r>
              <a:rPr sz="315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Six to twelve months to commercial proof.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D415A-9CE2-48E7-A639-F2EDC69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800">
                <a:solidFill>
                  <a:srgbClr val="F3F0E8"/>
                </a:solidFill>
              </a:defRPr>
            </a:pPr>
            <a:r>
              <a:rPr sz="18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Ground-first milestones; flight and IOD remain evidence-gated.</a:t>
            </a:r>
            <a:endParaRPr sz="1500"/>
          </a:p>
        </p:txBody>
      </p:sp>
      <p:graphicFrame>
        <p:nvGraphicFramePr>
          <p:cNvPr id="58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2880360"/>
                <a:gridCol w="4983480"/>
                <a:gridCol w="1261872"/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LENS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MUST SHOW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TODAY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STATUS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FIT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problem; viable plan; credible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wedge; product packages; 18-month plan.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PRODUCT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Clear product; progress; model; founders; ask.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Wedge, pricing, ARR path; customer proof remains thin.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SCALE + DEFENSE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Market; team; scalable model; defensibility.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 wedge + team visible; IP / TRL proof next.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VISUAL + PROOF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One claim per slide; hard proof; clear next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Source-backed visuals, native charts/tables, clear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DECISION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Why now; why team; why this round.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Ask, use of funds, and $500k ARR path are clear.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EA6530-C859-460B-968C-CBC75AA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20624"/>
          </a:xfrm>
          <a:prstGeom xmlns:a="http://schemas.openxmlformats.org/drawingml/2006/main" prst="roundRect">
            <a:avLst>
              <a:gd name="adj" fmla="val 30435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B3C1DB-C6EA-4F81-BA8F-7045FE4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188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800" b="1">
                <a:solidFill>
                  <a:srgbClr val="F3F0E8"/>
                </a:solidFill>
                <a:latin typeface="JetBrains Mono"/>
                <a:ea typeface="JetBrains Mono"/>
                <a:cs typeface="JetBrains Mono"/>
              </a:rPr>
              <a:t>NEXT UNLOCKS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A413BE-7367-4A8D-BDAA-4AECDFFA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46811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>
                <a:solidFill>
                  <a:srgbClr val="F3F0E8"/>
                </a:solidFill>
              </a:defRPr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Founder proof  •  customer LOI / pilot evidence  •  prototype + TRL / IRL  •  IP / moat map  •  CAC, payback, and gross-margin evidence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60EE302-4D6A-4117-B8F0-190DFBFF871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F3F0E8"/>
                </a:solidFill>
              </a:defRPr>
            </a:pPr>
            <a:fld id="{30394428-F1DC-E5F6-DB0C-7DE31F3D8A23}" type="slidenum">
              <a:rPr b="0">
                <a:solidFill>
                  <a:srgbClr val="F3F0E8"/>
                </a:solidFill>
              </a:rPr>
              <a:t>11</a:t>
            </a:fld>
            <a:endParaRPr/>
          </a:p>
        </p:txBody>
      </p:sp>
      <p:sp>
        <p:nvSpPr>
          <p:cNvPr id="28" name="programme-cover">
            <a:extLst xmlns:a="http://schemas.openxmlformats.org/drawingml/2006/main">
              <a:ext uri="{FF2B5EF4-FFF2-40B4-BE49-F238E27FC236}">
                <a16:creationId xmlns:a16="http://schemas.microsoft.com/office/drawing/2014/main" id="{B26E19C1-4BE6-43B7-818D-083F5F5F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17352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0">
            <a:solidFill>
              <a:srgbClr val="050505"/>
            </a:solidFill>
            <a:prstDash val="solid"/>
          </a:ln>
        </p:spPr>
      </p:sp>
      <p:sp>
        <p:nvSpPr>
          <p:cNvPr id="29" name="programme-duration-label">
            <a:extLst xmlns:a="http://schemas.openxmlformats.org/drawingml/2006/main">
              <a:ext uri="{FF2B5EF4-FFF2-40B4-BE49-F238E27FC236}">
                <a16:creationId xmlns:a16="http://schemas.microsoft.com/office/drawing/2014/main" id="{0AA88DCA-97FA-4179-AD7A-1B9F2A96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3F0E8"/>
                </a:solidFill>
              </a:defRPr>
            </a:pPr>
            <a:r>
              <a:rPr sz="1050" b="1">
                <a:solidFill>
                  <a:srgbClr val="F3F0E8"/>
                </a:solidFill>
              </a:rPr>
              <a:t>PROJECT DURATION</a:t>
            </a:r>
          </a:p>
        </p:txBody>
      </p:sp>
      <p:sp>
        <p:nvSpPr>
          <p:cNvPr id="30" name="programme-duration-value">
            <a:extLst xmlns:a="http://schemas.openxmlformats.org/drawingml/2006/main">
              <a:ext uri="{FF2B5EF4-FFF2-40B4-BE49-F238E27FC236}">
                <a16:creationId xmlns:a16="http://schemas.microsoft.com/office/drawing/2014/main" id="{6B2D23AA-058F-479E-B0CE-1FA281C1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66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CFF00"/>
                </a:solidFill>
              </a:defRPr>
            </a:pPr>
            <a:r>
              <a:rPr sz="1650" b="1">
                <a:solidFill>
                  <a:srgbClr val="CCFF00"/>
                </a:solidFill>
              </a:rPr>
              <a:t>6–12 MONTHS</a:t>
            </a:r>
          </a:p>
        </p:txBody>
      </p:sp>
      <p:sp>
        <p:nvSpPr>
          <p:cNvPr id="31" name="programme-timeline">
            <a:extLst xmlns:a="http://schemas.openxmlformats.org/drawingml/2006/main">
              <a:ext uri="{FF2B5EF4-FFF2-40B4-BE49-F238E27FC236}">
                <a16:creationId xmlns:a16="http://schemas.microsoft.com/office/drawing/2014/main" id="{D00BD1E0-722F-4937-B77D-75DFA230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24200"/>
            <a:ext cx="8610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32" name="programme-node-1">
            <a:extLst xmlns:a="http://schemas.openxmlformats.org/drawingml/2006/main">
              <a:ext uri="{FF2B5EF4-FFF2-40B4-BE49-F238E27FC236}">
                <a16:creationId xmlns:a16="http://schemas.microsoft.com/office/drawing/2014/main" id="{218BAB5E-B612-42A1-9947-3F111303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3" name="programme-node-2">
            <a:extLst xmlns:a="http://schemas.openxmlformats.org/drawingml/2006/main">
              <a:ext uri="{FF2B5EF4-FFF2-40B4-BE49-F238E27FC236}">
                <a16:creationId xmlns:a16="http://schemas.microsoft.com/office/drawing/2014/main" id="{3F11DBFD-40E0-4412-994A-5F51D9C2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4" name="programme-node-3">
            <a:extLst xmlns:a="http://schemas.openxmlformats.org/drawingml/2006/main">
              <a:ext uri="{FF2B5EF4-FFF2-40B4-BE49-F238E27FC236}">
                <a16:creationId xmlns:a16="http://schemas.microsoft.com/office/drawing/2014/main" id="{833812B2-0ED7-452B-8D9F-A9E2D69C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289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9525">
            <a:solidFill>
              <a:srgbClr val="CCFF00"/>
            </a:solidFill>
            <a:prstDash val="solid"/>
          </a:ln>
        </p:spPr>
      </p:sp>
      <p:sp>
        <p:nvSpPr>
          <p:cNvPr id="35" name="programme-step-1">
            <a:extLst xmlns:a="http://schemas.openxmlformats.org/drawingml/2006/main">
              <a:ext uri="{FF2B5EF4-FFF2-40B4-BE49-F238E27FC236}">
                <a16:creationId xmlns:a16="http://schemas.microsoft.com/office/drawing/2014/main" id="{F12E2EE4-1EEC-451C-8318-6F21B55E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01  /  DAYS 0–30</a:t>
            </a:r>
          </a:p>
        </p:txBody>
      </p:sp>
      <p:sp>
        <p:nvSpPr>
          <p:cNvPr id="36" name="programme-title-1">
            <a:extLst xmlns:a="http://schemas.openxmlformats.org/drawingml/2006/main">
              <a:ext uri="{FF2B5EF4-FFF2-40B4-BE49-F238E27FC236}">
                <a16:creationId xmlns:a16="http://schemas.microsoft.com/office/drawing/2014/main" id="{E53378A8-8FC5-4899-AC41-AC684649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Evidence + conversion</a:t>
            </a:r>
          </a:p>
        </p:txBody>
      </p:sp>
      <p:sp>
        <p:nvSpPr>
          <p:cNvPr id="37" name="programme-body-1">
            <a:extLst xmlns:a="http://schemas.openxmlformats.org/drawingml/2006/main">
              <a:ext uri="{FF2B5EF4-FFF2-40B4-BE49-F238E27FC236}">
                <a16:creationId xmlns:a16="http://schemas.microsoft.com/office/drawing/2014/main" id="{553F96E7-33D7-4965-9A47-EB0CBEBD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Radiation-resilience pack, ESA BIC framing, and scoped partner work with mission-control / Yamcs and SSA data.</a:t>
            </a:r>
          </a:p>
        </p:txBody>
      </p:sp>
      <p:sp>
        <p:nvSpPr>
          <p:cNvPr id="38" name="programme-step-2">
            <a:extLst xmlns:a="http://schemas.openxmlformats.org/drawingml/2006/main">
              <a:ext uri="{FF2B5EF4-FFF2-40B4-BE49-F238E27FC236}">
                <a16:creationId xmlns:a16="http://schemas.microsoft.com/office/drawing/2014/main" id="{9FFAFD0B-396D-42F2-895D-D76A0A16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02  /  DAYS 31–60</a:t>
            </a:r>
          </a:p>
        </p:txBody>
      </p:sp>
      <p:sp>
        <p:nvSpPr>
          <p:cNvPr id="39" name="programme-title-2">
            <a:extLst xmlns:a="http://schemas.openxmlformats.org/drawingml/2006/main">
              <a:ext uri="{FF2B5EF4-FFF2-40B4-BE49-F238E27FC236}">
                <a16:creationId xmlns:a16="http://schemas.microsoft.com/office/drawing/2014/main" id="{6AEB2C5A-F278-4C58-BA37-0FD13608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Paid pilot readiness</a:t>
            </a:r>
          </a:p>
        </p:txBody>
      </p:sp>
      <p:sp>
        <p:nvSpPr>
          <p:cNvPr id="40" name="programme-body-2">
            <a:extLst xmlns:a="http://schemas.openxmlformats.org/drawingml/2006/main">
              <a:ext uri="{FF2B5EF4-FFF2-40B4-BE49-F238E27FC236}">
                <a16:creationId xmlns:a16="http://schemas.microsoft.com/office/drawing/2014/main" id="{AD80D1DB-FDC5-481F-AAA5-5890A4E1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Replay review, bounded data integration, target-compute benchmark, and security / data-residency pack.</a:t>
            </a:r>
          </a:p>
        </p:txBody>
      </p:sp>
      <p:sp>
        <p:nvSpPr>
          <p:cNvPr id="41" name="programme-step-3">
            <a:extLst xmlns:a="http://schemas.openxmlformats.org/drawingml/2006/main">
              <a:ext uri="{FF2B5EF4-FFF2-40B4-BE49-F238E27FC236}">
                <a16:creationId xmlns:a16="http://schemas.microsoft.com/office/drawing/2014/main" id="{CC94F305-FAEA-44AB-B95F-AD33F969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479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03  /  DAYS 61–90</a:t>
            </a:r>
          </a:p>
        </p:txBody>
      </p:sp>
      <p:sp>
        <p:nvSpPr>
          <p:cNvPr id="42" name="programme-title-3">
            <a:extLst xmlns:a="http://schemas.openxmlformats.org/drawingml/2006/main">
              <a:ext uri="{FF2B5EF4-FFF2-40B4-BE49-F238E27FC236}">
                <a16:creationId xmlns:a16="http://schemas.microsoft.com/office/drawing/2014/main" id="{1B57BC3D-BC87-492A-90E1-CA7DA659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76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3F0E8"/>
                </a:solidFill>
              </a:defRPr>
            </a:pPr>
            <a:r>
              <a:rPr sz="1500" b="1">
                <a:solidFill>
                  <a:srgbClr val="F3F0E8"/>
                </a:solidFill>
              </a:rPr>
              <a:t>Commercial proof</a:t>
            </a:r>
          </a:p>
        </p:txBody>
      </p:sp>
      <p:sp>
        <p:nvSpPr>
          <p:cNvPr id="43" name="programme-body-3">
            <a:extLst xmlns:a="http://schemas.openxmlformats.org/drawingml/2006/main">
              <a:ext uri="{FF2B5EF4-FFF2-40B4-BE49-F238E27FC236}">
                <a16:creationId xmlns:a16="http://schemas.microsoft.com/office/drawing/2014/main" id="{9C732FA4-8043-4FA3-B33A-DE352E98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5762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Two design partners, one paid ground or integration pilot, and validated price / acceptance criteria.</a:t>
            </a:r>
          </a:p>
        </p:txBody>
      </p:sp>
      <p:sp>
        <p:nvSpPr>
          <p:cNvPr id="44" name="programme-expansion-gate">
            <a:extLst xmlns:a="http://schemas.openxmlformats.org/drawingml/2006/main">
              <a:ext uri="{FF2B5EF4-FFF2-40B4-BE49-F238E27FC236}">
                <a16:creationId xmlns:a16="http://schemas.microsoft.com/office/drawing/2014/main" id="{1D1E55C8-B644-4474-A00C-8CCAA91F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10058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9525">
            <a:solidFill>
              <a:srgbClr val="25302E"/>
            </a:solidFill>
            <a:prstDash val="solid"/>
          </a:ln>
        </p:spPr>
      </p:sp>
      <p:sp>
        <p:nvSpPr>
          <p:cNvPr id="45" name="programme-gate-label">
            <a:extLst xmlns:a="http://schemas.openxmlformats.org/drawingml/2006/main">
              <a:ext uri="{FF2B5EF4-FFF2-40B4-BE49-F238E27FC236}">
                <a16:creationId xmlns:a16="http://schemas.microsoft.com/office/drawing/2014/main" id="{DF33AF5A-C2E9-4095-90B8-B4A7A542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CCFF00"/>
                </a:solidFill>
              </a:defRPr>
            </a:pPr>
            <a:r>
              <a:rPr sz="1050" b="1">
                <a:solidFill>
                  <a:srgbClr val="CCFF00"/>
                </a:solidFill>
              </a:rPr>
              <a:t>GATE TO EXPANSION</a:t>
            </a:r>
          </a:p>
        </p:txBody>
      </p:sp>
      <p:sp>
        <p:nvSpPr>
          <p:cNvPr id="46" name="programme-gate-copy">
            <a:extLst xmlns:a="http://schemas.openxmlformats.org/drawingml/2006/main">
              <a:ext uri="{FF2B5EF4-FFF2-40B4-BE49-F238E27FC236}">
                <a16:creationId xmlns:a16="http://schemas.microsoft.com/office/drawing/2014/main" id="{F915B4ED-5D2E-4E99-9088-9BC30F47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816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F3F0E8"/>
                </a:solidFill>
              </a:defRPr>
            </a:pPr>
            <a:r>
              <a:rPr sz="1050" b="0">
                <a:solidFill>
                  <a:srgbClr val="F3F0E8"/>
                </a:solidFill>
              </a:rPr>
              <a:t>Flight Candidate Adapter / Federated Bridge Node only after named mission, target processor, partner and hardware evidence.</a:t>
            </a:r>
          </a:p>
        </p:txBody>
      </p:sp>
      <p:sp>
        <p:nvSpPr>
          <p:cNvPr id="47" name="programme-source-rail">
            <a:extLst xmlns:a="http://schemas.openxmlformats.org/drawingml/2006/main">
              <a:ext uri="{FF2B5EF4-FFF2-40B4-BE49-F238E27FC236}">
                <a16:creationId xmlns:a16="http://schemas.microsoft.com/office/drawing/2014/main" id="{3C186ABE-ADBF-4A36-9BB6-53B5C67B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1005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F3F0E8"/>
                </a:solidFill>
              </a:defRPr>
            </a:pPr>
            <a:r>
              <a:rPr sz="900" b="0">
                <a:solidFill>
                  <a:srgbClr val="F3F0E8"/>
                </a:solidFill>
              </a:rPr>
              <a:t>Plan follows the repository ground-first commercial memo; expansion claims remain explicitly gated.</a:t>
            </a:r>
          </a:p>
        </p:txBody>
      </p:sp>
    </p:spTree>
    <p:extLst>
      <p:ext uri="{BB962C8B-B14F-4D97-AF65-F5344CB8AC3E}">
        <p14:creationId xmlns:p14="http://schemas.microsoft.com/office/powerpoint/2010/main" val="840353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2026-08-21T13:50:44.6380000Z</dcterms:created>
  <dcterms:modified xsi:type="dcterms:W3CDTF">2026-08-21T13:50:44.6380000Z</dcterms:modified>
</coreProperties>
</file>