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1af00091414001" /><Relationship Type="http://schemas.openxmlformats.org/officeDocument/2006/relationships/extended-properties" Target="/docProps/app.xml" Id="R9b7f5f94f5d34ca9" /><Relationship Type="http://schemas.openxmlformats.org/officeDocument/2006/relationships/officeDocument" Target="/ppt/presentation.xml" Id="Rebd2aa98d5144c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d976ce2fa7491e"/>
  </p:sldMasterIdLst>
  <p:notesMasterIdLst>
    <p:notesMasterId xmlns:r="http://schemas.openxmlformats.org/officeDocument/2006/relationships" r:id="R244297f47e6842e9"/>
  </p:notesMasterIdLst>
  <p:sldIdLst>
    <p:sldId xmlns:r="http://schemas.openxmlformats.org/officeDocument/2006/relationships" id="256" r:id="R66a798ca29494cd3"/>
    <p:sldId xmlns:r="http://schemas.openxmlformats.org/officeDocument/2006/relationships" id="257" r:id="R4d394c4446174ede"/>
    <p:sldId xmlns:r="http://schemas.openxmlformats.org/officeDocument/2006/relationships" id="258" r:id="Ra4cddcb616034270"/>
    <p:sldId xmlns:r="http://schemas.openxmlformats.org/officeDocument/2006/relationships" id="259" r:id="Rdb6cf96764354ad2"/>
    <p:sldId xmlns:r="http://schemas.openxmlformats.org/officeDocument/2006/relationships" id="260" r:id="Rdc93720ad3634a11"/>
    <p:sldId xmlns:r="http://schemas.openxmlformats.org/officeDocument/2006/relationships" id="261" r:id="Rf0780a5b0e924cc2"/>
    <p:sldId xmlns:r="http://schemas.openxmlformats.org/officeDocument/2006/relationships" id="262" r:id="R9f55e4c392ab44f0"/>
    <p:sldId xmlns:r="http://schemas.openxmlformats.org/officeDocument/2006/relationships" id="263" r:id="Rb5e196d21d644abe"/>
    <p:sldId xmlns:r="http://schemas.openxmlformats.org/officeDocument/2006/relationships" id="264" r:id="R69b8739d4db042f5"/>
    <p:sldId xmlns:r="http://schemas.openxmlformats.org/officeDocument/2006/relationships" id="265" r:id="R8df737671ac643e9"/>
    <p:sldId xmlns:r="http://schemas.openxmlformats.org/officeDocument/2006/relationships" id="266" r:id="Rdb4a1a7e917d4f56"/>
    <p:sldId xmlns:r="http://schemas.openxmlformats.org/officeDocument/2006/relationships" id="267" r:id="R071eec82ec904227"/>
    <p:sldId xmlns:r="http://schemas.openxmlformats.org/officeDocument/2006/relationships" id="268" r:id="Reabb6bbe67d54567"/>
    <p:sldId xmlns:r="http://schemas.openxmlformats.org/officeDocument/2006/relationships" id="269" r:id="R5374b46e0fbc4a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c533b19617469c" /><Relationship Type="http://schemas.openxmlformats.org/officeDocument/2006/relationships/slideMaster" Target="/ppt/slideMasters/slideMaster1.xml" Id="R6fd976ce2fa7491e" /><Relationship Type="http://schemas.openxmlformats.org/officeDocument/2006/relationships/notesMaster" Target="/ppt/notesMasters/notesMaster1.xml" Id="R244297f47e6842e9" /><Relationship Type="http://schemas.openxmlformats.org/officeDocument/2006/relationships/presProps" Target="/ppt/presProps.xml" Id="Reeb8129710054157" /><Relationship Type="http://schemas.openxmlformats.org/officeDocument/2006/relationships/viewProps" Target="/ppt/viewProps.xml" Id="Rd6aecbfe2eed4873" /><Relationship Type="http://schemas.openxmlformats.org/officeDocument/2006/relationships/tableStyles" Target="/ppt/tableStyles.xml" Id="R846fb89583f94761" /><Relationship Type="http://schemas.openxmlformats.org/officeDocument/2006/relationships/slide" Target="/ppt/slides/slide1.xml" Id="R66a798ca29494cd3" /><Relationship Type="http://schemas.openxmlformats.org/officeDocument/2006/relationships/slide" Target="/ppt/slides/slide2.xml" Id="R4d394c4446174ede" /><Relationship Type="http://schemas.openxmlformats.org/officeDocument/2006/relationships/slide" Target="/ppt/slides/slide3.xml" Id="Ra4cddcb616034270" /><Relationship Type="http://schemas.openxmlformats.org/officeDocument/2006/relationships/slide" Target="/ppt/slides/slide4.xml" Id="Rdb6cf96764354ad2" /><Relationship Type="http://schemas.openxmlformats.org/officeDocument/2006/relationships/slide" Target="/ppt/slides/slide5.xml" Id="Rdc93720ad3634a11" /><Relationship Type="http://schemas.openxmlformats.org/officeDocument/2006/relationships/slide" Target="/ppt/slides/slide6.xml" Id="Rf0780a5b0e924cc2" /><Relationship Type="http://schemas.openxmlformats.org/officeDocument/2006/relationships/slide" Target="/ppt/slides/slide7.xml" Id="R9f55e4c392ab44f0" /><Relationship Type="http://schemas.openxmlformats.org/officeDocument/2006/relationships/slide" Target="/ppt/slides/slide8.xml" Id="Rb5e196d21d644abe" /><Relationship Type="http://schemas.openxmlformats.org/officeDocument/2006/relationships/slide" Target="/ppt/slides/slide9.xml" Id="R69b8739d4db042f5" /><Relationship Type="http://schemas.openxmlformats.org/officeDocument/2006/relationships/slide" Target="/ppt/slides/slide10.xml" Id="R8df737671ac643e9" /><Relationship Type="http://schemas.openxmlformats.org/officeDocument/2006/relationships/slide" Target="/ppt/slides/slide11.xml" Id="Rdb4a1a7e917d4f56" /><Relationship Type="http://schemas.openxmlformats.org/officeDocument/2006/relationships/slide" Target="/ppt/slides/slide12.xml" Id="R071eec82ec904227" /><Relationship Type="http://schemas.openxmlformats.org/officeDocument/2006/relationships/slide" Target="/ppt/slides/slide13.xml" Id="Reabb6bbe67d54567" /><Relationship Type="http://schemas.openxmlformats.org/officeDocument/2006/relationships/slide" Target="/ppt/slides/slide14.xml" Id="R5374b46e0fbc4a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2925f3a45041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ee9551ade04afd" /><Relationship Type="http://schemas.openxmlformats.org/officeDocument/2006/relationships/notesMaster" Target="/ppt/notesMasters/notesMaster1.xml" Id="Rddea034bf43c45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dc5ca6b57a4022" /><Relationship Type="http://schemas.openxmlformats.org/officeDocument/2006/relationships/notesMaster" Target="/ppt/notesMasters/notesMaster1.xml" Id="R2308bee7e8a542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39d9f22bee499b" /><Relationship Type="http://schemas.openxmlformats.org/officeDocument/2006/relationships/notesMaster" Target="/ppt/notesMasters/notesMaster1.xml" Id="R286cd31eba264f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1fe24faa54dc9" /><Relationship Type="http://schemas.openxmlformats.org/officeDocument/2006/relationships/notesMaster" Target="/ppt/notesMasters/notesMaster1.xml" Id="R428c8cae061e45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588ba6edc34aa6" /><Relationship Type="http://schemas.openxmlformats.org/officeDocument/2006/relationships/notesMaster" Target="/ppt/notesMasters/notesMaster1.xml" Id="R76698fa71c574e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f4a857eeef4f2b" /><Relationship Type="http://schemas.openxmlformats.org/officeDocument/2006/relationships/notesMaster" Target="/ppt/notesMasters/notesMaster1.xml" Id="R60a4c4b9ca1549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2afe557a774bfd" /><Relationship Type="http://schemas.openxmlformats.org/officeDocument/2006/relationships/notesMaster" Target="/ppt/notesMasters/notesMaster1.xml" Id="R05dbb4ec1d8d41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cb4e32a17e4cf4" /><Relationship Type="http://schemas.openxmlformats.org/officeDocument/2006/relationships/notesMaster" Target="/ppt/notesMasters/notesMaster1.xml" Id="R6a33c71149034a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43e0553defd40f8" /><Relationship Type="http://schemas.openxmlformats.org/officeDocument/2006/relationships/notesMaster" Target="/ppt/notesMasters/notesMaster1.xml" Id="Rfac4806913e049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ca5732cfcf40a7" /><Relationship Type="http://schemas.openxmlformats.org/officeDocument/2006/relationships/notesMaster" Target="/ppt/notesMasters/notesMaster1.xml" Id="R30896a3ce58c447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896cf10c443497d" /><Relationship Type="http://schemas.openxmlformats.org/officeDocument/2006/relationships/notesMaster" Target="/ppt/notesMasters/notesMaster1.xml" Id="R60b71fbeca7a44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54e8a5e79044d1" /><Relationship Type="http://schemas.openxmlformats.org/officeDocument/2006/relationships/notesMaster" Target="/ppt/notesMasters/notesMaster1.xml" Id="R7cb7f19eb6f049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055f491dbb4ee1" /><Relationship Type="http://schemas.openxmlformats.org/officeDocument/2006/relationships/notesMaster" Target="/ppt/notesMasters/notesMaster1.xml" Id="Re853c91bcd3f49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061682e60947e2" /><Relationship Type="http://schemas.openxmlformats.org/officeDocument/2006/relationships/notesMaster" Target="/ppt/notesMasters/notesMaster1.xml" Id="Rad7384bb684840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space operators have more data, more autonomy pressure, and less tolerance for untraceable decisions. The visible promise is deliberately ground-first and evidence-led; flight-candidate work remains an external gate.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
[Sources]
- User-provided: Project_Gauss_Data_Architecture_for_AI_Automation_in_Space.pdf
- Repo: config/product-packages.json and config/product-packages.schema.json</a:t>
            </a:r>
            <a:endParaRPr/>
          </a:p>
          <a:p xmlns:a="http://schemas.openxmlformats.org/drawingml/2006/main">
            <a:r>
              <a:t>
[Sources]
- NASA solar-flare / space-weather asset in repository: research/documentation-rag/What Is the Solar Wind_ - NASA Science.html
- NASA SOHO CME gallery: https://soho.nascom.nasa.gov/bestofsoho/SolarCorona/las021.html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target count as research coverage, not traction. The commercial wedge is explicitly ground-first; flight-candidate work remains an external evidence gate.
[Sources]
- Repo: config/mission-targets.json and config/mission-target.schema.json
- Repo: development/memory/DECISIONS.md, D-110 (2026-08-19)
- User-provided: Gauss_Aurora_Pitch_Deck_v1.pptx</a:t>
            </a:r>
            <a:endParaRPr/>
          </a:p>
          <a:p xmlns:a="http://schemas.openxmlformats.org/drawingml/2006/main">
            <a:r>
              <a:t>
[Sources]
- NASA magnetosphere visualization asset in repository: research/documentation-rag/What Is the Solar Wind_ - NASA Science.html
- NASA radiation-belt context: https://svs.gsfc.nasa.gov/4241/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Package names and boundaries are from the repository product catalog. The visible copy is intentionally non-technical; do not describe the flight-candidate adapter as flight-qualified.
[Sources]
- Repo: config/product-packages.json and config/product-packages.schema.json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research profiles and segment hypotheses, not signed customers. The first commercial motion is mission-data and integration buyers serving communications, weather, EO, and cislunar relay systems.
[Sources]
- Repo: config/mission-targets.json and config/mission-target.schema.json
- Repo: development/memory/DECISIONS.md, D-110 (2026-08-19)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internal planning ranges and should be presented as a scenario, not audited market research. SOM is tied to the current five-account ARR model; it is not a market-share forecast.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Repo: development/memory/DECISIONS.md, D-110 (2026-08-19)</a:t>
            </a:r>
            <a:endParaRPr/>
          </a:p>
          <a:p xmlns:a="http://schemas.openxmlformats.org/drawingml/2006/main">
            <a:r>
              <a:t>- Repo: config/mission-targets.json and config/mission-target.schema.json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Pricing is a starting hypothesis for customer validation. The $500k ARR path is five $100k annual fleet accounts; pilots, implementation, and NRE are not ARR.
[Sources]
- Repo: development/memory/DECISIONS.md, D-110 (2026-08-19)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product workflow, not a legal conclusion. Keep payment separate from clearance. Stripe webhooks should drive internal entitlements; regulatory applicability requires customer-specific review.
[Sources]
- https://docs.stripe.com/billing/subscriptions/webhooks and https://docs.stripe.com/billing/entitlements
- https://eur-lex.europa.eu/legal-content/EN/TXT/?from=FI&amp;uri=CELEX%3A32022L2555; https://eur-lex.europa.eu/legal-content/EN/TXT/?qid=1590424137028&amp;uri=CELEX%3A32016R0679; https://csrc.nist.gov/pubs/sp/800/171/r3/final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positioning, not feature parity. Named companies are category references only; no partnership or endorsement is implied. Publicly positioned strengths are summarised from official product pages.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not a claim of feature parity.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internal milestones, not achieved traction. Keep the hosted-payload path bounded and avoid claiming flight qualification.
[Sources]
- Repo: development/memory/DECISIONS.md, D-110 (2026-08-19)
- Repo: config/product-packages.json and config/product-packages.schema.json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proof point: five paid fleet accounts and a repeatable evidence contract. Funding allocation is an internal planning scenario.
[Sources]
- Repo: development/memory/DECISIONS.md, D-110 (2026-08-19)
- Repo: config/product-packages.json and config/product-packages.schema.json
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internal readiness scorecard for the current investor deck, not an eligibility determination. The next diligence unlocks are founder credibility, customer proof, explicit readiness evidence, and IP defensibility.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Gauss_Aurora_Pitch_Deck_v1.pptx</a:t>
            </a:r>
            <a:endParaRPr/>
          </a:p>
          <a:p xmlns:a="http://schemas.openxmlformats.org/drawingml/2006/main">
            <a:r>
              <a:t>- Internal Gauss repository planning model and product notes</a:t>
            </a:r>
            <a:endParaRPr/>
          </a:p>
          <a:p xmlns:a="http://schemas.openxmlformats.org/drawingml/2006/main">
            <a:r>
              <a:t>- https://www.starcloud.com/</a:t>
            </a:r>
            <a:endParaRPr/>
          </a:p>
          <a:p xmlns:a="http://schemas.openxmlformats.org/drawingml/2006/main">
            <a:r>
              <a:t>- https://investors.rocketlabcorp.com/</a:t>
            </a:r>
            <a:endParaRPr/>
          </a:p>
          <a:p xmlns:a="http://schemas.openxmlformats.org/drawingml/2006/main">
            <a:r>
              <a:t>- https://www.relativityspace.com/about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72b6d7806c42c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70574a5220455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d4c6f59abb45ad" /><Relationship Type="http://schemas.openxmlformats.org/officeDocument/2006/relationships/slideLayout" Target="/ppt/slideLayouts/slideLayout1.xml" Id="Rdd544dd8a630473f" /><Relationship Type="http://schemas.openxmlformats.org/officeDocument/2006/relationships/slideLayout" Target="/ppt/slideLayouts/slideLayout2.xml" Id="Rc82f8c745ad149e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544dd8a630473f"/>
    <p:sldLayoutId xmlns:r="http://schemas.openxmlformats.org/officeDocument/2006/relationships" id="2147483650" r:id="Rc82f8c745ad149e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16c46dac5d4928" /><Relationship Type="http://schemas.openxmlformats.org/officeDocument/2006/relationships/image" Target="/ppt/media/image.jpeg" Id="R5b01872d0b744017" /><Relationship Type="http://schemas.openxmlformats.org/officeDocument/2006/relationships/notesSlide" Target="/ppt/notesSlides/notesSlide1.xml" Id="R3cf78fa4113141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a7a65f61ff483b" /><Relationship Type="http://schemas.openxmlformats.org/officeDocument/2006/relationships/image" Target="/ppt/media/image2.jpeg" Id="R2b051c852ef64b67" /><Relationship Type="http://schemas.openxmlformats.org/officeDocument/2006/relationships/notesSlide" Target="/ppt/notesSlides/notesSlide2.xml" Id="Re86be92d0b8a47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a701c5fcfd4f21" /><Relationship Type="http://schemas.openxmlformats.org/officeDocument/2006/relationships/image" Target="/ppt/media/image3.jpeg" Id="Rba18127e2d3447d6" /><Relationship Type="http://schemas.openxmlformats.org/officeDocument/2006/relationships/notesSlide" Target="/ppt/notesSlides/notesSlide3.xml" Id="R4fbd83ebc4c94d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9343a16ad343b8" /><Relationship Type="http://schemas.openxmlformats.org/officeDocument/2006/relationships/notesSlide" Target="/ppt/notesSlides/notesSlide4.xml" Id="Rf898d14eab6a4c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5ad55b7ee046eb" /><Relationship Type="http://schemas.openxmlformats.org/officeDocument/2006/relationships/notesSlide" Target="/ppt/notesSlides/notesSlide5.xml" Id="R0ff1d25c6b3b41e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2bf412d4f4402a" /><Relationship Type="http://schemas.openxmlformats.org/officeDocument/2006/relationships/image" Target="/ppt/media/image.png" Id="Ref8ea0f3198c45a3" /><Relationship Type="http://schemas.openxmlformats.org/officeDocument/2006/relationships/notesSlide" Target="/ppt/notesSlides/notesSlide6.xml" Id="Reb35b2c76b8948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5c2986e343437b" /><Relationship Type="http://schemas.openxmlformats.org/officeDocument/2006/relationships/image" Target="/ppt/media/image2.png" Id="Ra79c8673cb854822" /><Relationship Type="http://schemas.openxmlformats.org/officeDocument/2006/relationships/notesSlide" Target="/ppt/notesSlides/notesSlide7.xml" Id="R8e9e40ce6df448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a343f0464e463f" /><Relationship Type="http://schemas.openxmlformats.org/officeDocument/2006/relationships/chart" Target="/ppt/slides/charts/chart1.xml" Id="Rc3ccdca2b12442a8" /><Relationship Type="http://schemas.openxmlformats.org/officeDocument/2006/relationships/notesSlide" Target="/ppt/notesSlides/notesSlide8.xml" Id="R70a78474a0144e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40c719fa9f4650" /><Relationship Type="http://schemas.openxmlformats.org/officeDocument/2006/relationships/notesSlide" Target="/ppt/notesSlides/notesSlide9.xml" Id="Rd8699b3dcb524f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d077c55ade426a" /><Relationship Type="http://schemas.openxmlformats.org/officeDocument/2006/relationships/image" Target="/ppt/media/image3.png" Id="Rb02704a5ee4c472c" /><Relationship Type="http://schemas.openxmlformats.org/officeDocument/2006/relationships/image" Target="/ppt/media/image.svg" Id="Rf02bdc1a4f084841" /><Relationship Type="http://schemas.openxmlformats.org/officeDocument/2006/relationships/image" Target="/ppt/media/image.jpeg" Id="R0650a63633594d64" /><Relationship Type="http://schemas.openxmlformats.org/officeDocument/2006/relationships/image" Target="/ppt/media/image4.png" Id="R8a26b0e9136348cc" /><Relationship Type="http://schemas.openxmlformats.org/officeDocument/2006/relationships/image" Target="/ppt/media/image2.svg" Id="R6f1ba0925d01408b" /><Relationship Type="http://schemas.openxmlformats.org/officeDocument/2006/relationships/image" Target="/ppt/media/image2.jpeg" Id="Rbde67907c8574b3c" /><Relationship Type="http://schemas.openxmlformats.org/officeDocument/2006/relationships/image" Target="/ppt/media/image3.svg" Id="Rd36199e2b24a4e8e" /><Relationship Type="http://schemas.openxmlformats.org/officeDocument/2006/relationships/image" Target="/ppt/media/image3.jpeg" Id="Rd6d86765a0bd41c9" /><Relationship Type="http://schemas.openxmlformats.org/officeDocument/2006/relationships/image" Target="/ppt/media/image4.svg" Id="R81a37701d80644c6" /><Relationship Type="http://schemas.openxmlformats.org/officeDocument/2006/relationships/image" Target="/ppt/media/image5.png" Id="R780beeb7e3e64a94" /><Relationship Type="http://schemas.openxmlformats.org/officeDocument/2006/relationships/notesSlide" Target="/ppt/notesSlides/notesSlide10.xml" Id="R15affc77999541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d0dbc762184e9e" /><Relationship Type="http://schemas.openxmlformats.org/officeDocument/2006/relationships/image" Target="/ppt/media/image6.png" Id="R680bd46f4bea47d5" /><Relationship Type="http://schemas.openxmlformats.org/officeDocument/2006/relationships/notesSlide" Target="/ppt/notesSlides/notesSlide11.xml" Id="R48c32494fb8d4d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51187271994329" /><Relationship Type="http://schemas.openxmlformats.org/officeDocument/2006/relationships/notesSlide" Target="/ppt/notesSlides/notesSlide12.xml" Id="R7a05ddef516b48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be0473551f4098" /><Relationship Type="http://schemas.openxmlformats.org/officeDocument/2006/relationships/image" Target="/ppt/media/image7.png" Id="R447e569e9e114ebf" /><Relationship Type="http://schemas.openxmlformats.org/officeDocument/2006/relationships/notesSlide" Target="/ppt/notesSlides/notesSlide13.xml" Id="R212e885fb16d4d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33600a421b460a" /><Relationship Type="http://schemas.openxmlformats.org/officeDocument/2006/relationships/image" Target="/ppt/media/image8.png" Id="R4497a4cb37854f79" /><Relationship Type="http://schemas.openxmlformats.org/officeDocument/2006/relationships/notesSlide" Target="/ppt/notesSlides/notesSlide14.xml" Id="R0e9a53b10cfb4491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F3F0E8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A6A9A2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50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252A2A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00" b="0" i="0" u="none">
                <a:solidFill>
                  <a:srgbClr val="A6A9A2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1872d0b744017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PROJECT GAUSS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An evidence-first assurance layer for AI-augmented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51c852ef64b67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AI is ready; mission infrastructure still needs trust.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Gauss sits in the trust gap between raw data and safe action.</a:t>
            </a:r>
            <a:endParaRPr sz="1500"/>
          </a:p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18127e2d3447d6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THE WINDOW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spacecraft. More sensor streams. More critical infrastructure depending on orbital services.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TARGET PROFILES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8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research profiles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FIRST MOTION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Ground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integration first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COMMAND PATH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Inert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approval-gated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 sharper wedge than “AI for space”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Mission-data assurance: quality, provenance, radiation context, replay, and bounded inference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658AA2-7562-4FB8-B33C-D33D308D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CFB63C3-FE35-4B41-B1B8-A94428D1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ABBB21-A015-4E35-820C-7A439078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B01684-6D39-4C04-9524-4EA543EB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954CC48-F307-4B42-A2F2-8DCA2A87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packages turn trust into expansion.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E64B8B1-C7BC-4F66-AD0D-6C43023E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Land with one mission team, then expand across fleets and infrastructure.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87F7BDA-B5BC-41E3-984A-FCCAB15F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2880360" cy="2395728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C6DCE00-8BE7-455B-9E54-21F21EFB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71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01 / LAND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26DFE66-1AC4-4286-B180-BF8379DE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48716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↗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37AC97-69A0-409C-B9E4-231B6267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7792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Fleet Integration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0942C9E-DB2C-410D-AE0B-59F6691B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3957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Make existing mission data trustworthy across teams, workflows, and customer handoffs.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1ECD6E-781B-43BC-819C-E1FE2EB2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74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Start on the ground</a:t>
            </a:r>
            <a:endParaRPr sz="8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B220A6E-71EC-44E2-A473-CD94B549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0792" y="2267712"/>
            <a:ext cx="2880360" cy="2395728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AB817F5-581A-44C5-AE2C-97481EF3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514600"/>
            <a:ext cx="1371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02 / EXPAND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71E6E58-F88D-47A9-9941-3890E9CA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48716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FB05235-9557-4930-B7B1-7A14C8CD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907792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 Adapter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1FD972D-2D84-41CC-B152-4296FC37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657600"/>
            <a:ext cx="23957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Carry validated evidence toward future onboard deployment without claiming flight qualification.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6306FCD-5D35-4264-87AF-48811762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44074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Earn the flight path</a:t>
            </a:r>
            <a:endParaRPr sz="8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EEA0AB4-A5EF-4266-98A6-C700D72B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784" y="2267712"/>
            <a:ext cx="2880360" cy="2395728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7552509-5E9D-4E95-ADF5-5AAC0D6B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2514600"/>
            <a:ext cx="1371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03 / EXTEND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316A8F7-6852-4BBC-8A7B-C6D59FA8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248716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⇄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1E91773-C7CD-408A-B390-CDEEA5C2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2907792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Federated Bridge Node</a:t>
            </a:r>
            <a:endParaRPr sz="1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25BED1-33CF-4F2C-B5E2-F2222B6F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3657600"/>
            <a:ext cx="23957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Move trusted data across zones, partners, and protected infrastructure as the network grows.</a:t>
            </a:r>
            <a:endParaRPr sz="11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D65C9C6-986F-414F-8B0A-3A87E314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44074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Expand the boundary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A40538B-B81E-443D-B369-B85FA573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241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boundary is the moat: Gauss makes external mission systems more trustworthy without pretending to own them.</a:t>
            </a:r>
            <a:endParaRPr sz="1500"/>
          </a:p>
        </p:txBody>
      </p:sp>
      <p:sp>
        <p:nvSpPr>
          <p:cNvPr id="2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011FF0C-8EFA-4EC2-B981-C3E17C62D87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179742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ea0f3198c45a3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3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BUYER WEDGE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MISSION PROFILE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PAIN WE SOLVE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LANDING MOTION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Commercial satcom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LEO / MEO fleets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Fleet-wide evidence, replay, stale/gap detection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Pilot → annual fleet license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Weather + space weather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GEO ground segment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Radiation context, quality, operator confidence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 assurance + data partner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Earth observation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LEO data relay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Data lineage, anomaly triage, integration assurance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Integration package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Lunar relay / integrator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Lunar + ground simulation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DTN, provenance, approval-gated compute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Bridge-node design partner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8 research profiles across satcom, weather/space weather, Earth observation, PNT, lunar relay, and mission integration.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9c8673cb854822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a focused wedge; expand as evidence compounds.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TAM and SAM are internal ranges; SOM is five fleet accounts.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INTERNAL SCENARIO  /  NOT AUDITED RESEARCH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4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$3–5B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Mission-data + infrastructure category.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$3–5B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Broad mission-data + infrastructure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$900M–$1.75B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Initial ground + distributed-space wedge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3F0E8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Five $100k fleet accounts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SOM is five $100k fleet accounts—not a speculative market-share claim.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Five fleet accounts can establish the first $500k ARR base.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Charge for the platform annually; keep implementation and flight engineering outside ARR.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REVENUE STACK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39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ccdca2b12442a8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$k ARR / annualized contract value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1B4F3F-32C4-4625-BD99-4C2C2EC4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2C47AC-0F49-43DC-84CD-7926A362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EFBBFB9-BB2C-407C-A0AD-1E024506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C45A642-151B-49DC-854F-92F2B8C3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E7D93C-84C1-405D-9CC3-E2C79538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Charge now. Gate access with evidence.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C569A12-BFE6-4EC3-804F-AA2D86D3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Billing, compliance, and mission clearance are separate server-side gates.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F664A7E-2FF4-45A7-8C0A-AD4F20A5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□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1FDEC77-63E3-4841-A404-3C0BE587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6A4EEE8-6449-423D-9307-F831C2DC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5215D18-D9FC-454A-82A2-8438A8B5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C25317E-23D5-4328-98BD-E8FB25C5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Select package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691BCC8-76B5-4688-BF39-33053F23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Ground / fleet / enterprise</a:t>
            </a:r>
            <a:endParaRPr sz="9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C061596-7A74-4F3B-88D3-662380DC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4EA409-67E0-40D4-AF98-F8E292D9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7768EE4-3DD2-458E-86B2-41F67343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E078F05-AD9B-4037-9E9E-D80AF90C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8E8DA14-8EE2-479C-AF5D-3F70CC6C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Profile the mission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8DD00A4-F7EA-4138-A46E-866B0F91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Jurisdiction, data class, deployment</a:t>
            </a:r>
            <a:endParaRPr sz="9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4B1684C-91DF-47B9-836C-A8645179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∑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1C1F3FD-07CF-4CC2-92E0-2B86788B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B58B3BD-9876-488F-A2C9-0709B448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846540D-F63A-4FBF-82D9-CD418714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CC3C2BD-6D34-4955-8E0D-6C330686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Contract + pay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F4E3D16-97F3-427B-B69E-0B997B17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Stripe or invoice / PO</a:t>
            </a:r>
            <a:endParaRPr sz="9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23E538-93AD-46A6-9670-43433746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3176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11682FD-0930-4BF2-835D-2A1F9C4C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D659A24-3C8A-4BFD-B41B-5F047732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B245CFC-4CA7-4D89-B67F-585CFBBD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2D28A9A-80A8-488C-999E-234EA7E6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Provision</a:t>
            </a:r>
            <a:endParaRPr sz="12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270C63E-EB15-423E-AC12-83AE08FA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Entitlements after verified webhook</a:t>
            </a:r>
            <a:endParaRPr sz="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417ED79-D069-4030-863B-1E41FF8F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⊙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E9527A53-8686-4DBB-8D57-5C83C424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6E13AEA1-FF1B-450E-AA7C-4C00E056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D86C3B7-577A-4D16-B902-1F0D8BCF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Approve scope</a:t>
            </a:r>
            <a:endParaRPr sz="12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F0CD0B7-D30A-48D4-8C6F-E96A566A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Evidence-ready access only</a:t>
            </a:r>
            <a:endParaRPr sz="9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1FB27D3-248B-47FA-A576-FFE94025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0817352" cy="896112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9810100-A4E4-48F1-95F3-F60A03D2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8032"/>
            <a:ext cx="20116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REGULATORY READINESS PACK</a:t>
            </a:r>
            <a:endParaRPr sz="8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CFBB333-FE17-4EFD-AEB6-FFA8EB29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828032"/>
            <a:ext cx="1188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GDPR / DPA</a:t>
            </a:r>
            <a:endParaRPr sz="11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759FA0C-5D74-48DD-849E-909A4E07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82803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NIS2 applicability</a:t>
            </a:r>
            <a:endParaRPr sz="11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9FF45F9-A223-439A-837D-E795049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828032"/>
            <a:ext cx="1554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EAR / ITAR review</a:t>
            </a:r>
            <a:endParaRPr sz="110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6B98EB9-0F01-40EB-A6E2-19BF9FD0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28032"/>
            <a:ext cx="1554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NIST / CUI scope</a:t>
            </a:r>
            <a:endParaRPr sz="11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02769060-D4E5-4022-A33A-2AC736D1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75504"/>
            <a:ext cx="79552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Status is evidence-based: unknown → assessing → evidence required → approved.</a:t>
            </a:r>
            <a:endParaRPr sz="900"/>
          </a:p>
        </p:txBody>
      </p:sp>
      <p:sp>
        <p:nvSpPr>
          <p:cNvPr id="4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E63CEA8-C89C-461E-ABB4-5405B651E2B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241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704a5ee4c472c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whitespace sits between operations, context, and trust.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Adjacent platforms own one layer. Gauss connects the evidence needed to act.</a:t>
            </a:r>
            <a:endParaRPr sz="1500"/>
          </a:p>
        </p:txBody>
      </p:sp>
      <p:graphicFrame>
        <p:nvGraphicFramePr>
          <p:cNvPr id="55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CATEGORY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EXAMPLE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PUBLICLY POSITIONED STRENGTH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WHITE SPACE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 C3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Yamcs / OpenC3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Command, telemetry, procedures, limits, logs, replay, and operator control.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Cross-system evidence, provenance, and decision gates.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INTELLIGENCE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Slingshot Portal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data, AI analytics, and mission workflows from sense → fuse → decide → act.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Auditable evidence that travels across the customer stack.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AI OBSERVABILITY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Arize / Fiddler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Model and agent evals, monitoring, drift, explainability, and trust metrics.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Mission context: telemetry, radiation, safety, and operator authority.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ONBOARD AUTONOMY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AIKO orbital_OLIVER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Onboard planning, resource-aware decisions, and autonomous execution.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assurance before flight deployment; partner-neutral by design.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GAUSS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Evidence layer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Validate, explain, and gate decisions across heterogeneous mission data.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Own the seam between raw signals and safe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CATEGORY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727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 partner-neutral evidence layer across space data, mission control, and AI.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13EF8A-C056-4207-8CF0-D83C0106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50a63633594d64">
            <a:extLst>
              <a:ext uri="{96DAC541-7B7A-43D3-8B79-37D633B846F1}">
                <asvg:svgBlip xmlns:asvg="http://schemas.microsoft.com/office/drawing/2016/SVG/main" r:embed="Rf02bdc1a4f0848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343150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3B9947-987C-4DD7-A5D3-25CB75F0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6b0e9136348cc"/>
          <a:stretch xmlns:a="http://schemas.openxmlformats.org/drawingml/2006/main"/>
        </p:blipFill>
        <p:spPr>
          <a:xfrm xmlns:a="http://schemas.openxmlformats.org/drawingml/2006/main">
            <a:off x="4038535" y="1890713"/>
            <a:ext cx="743079" cy="1714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B7C843-AC16-4416-BDCA-7DAEC651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e67907c8574b3c">
            <a:extLst>
              <a:ext uri="{96DAC541-7B7A-43D3-8B79-37D633B846F1}">
                <asvg:svgBlip xmlns:asvg="http://schemas.microsoft.com/office/drawing/2016/SVG/main" r:embed="R6f1ba0925d0140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57800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17B85F-6822-4BAA-8B1E-AFA0A71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86765a0bd41c9">
            <a:extLst>
              <a:ext uri="{96DAC541-7B7A-43D3-8B79-37D633B846F1}">
                <asvg:svgBlip xmlns:asvg="http://schemas.microsoft.com/office/drawing/2016/SVG/main" r:embed="Rd36199e2b24a4e8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15125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53226C-77F8-4AD5-99BF-5F42E9AB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6b0e9136348cc">
            <a:extLst>
              <a:ext uri="{96DAC541-7B7A-43D3-8B79-37D633B846F1}">
                <asvg:svgBlip xmlns:asvg="http://schemas.microsoft.com/office/drawing/2016/SVG/main" r:embed="R81a37701d80644c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172450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98F99A-C8EC-4484-973B-D870CF1A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beeb7e3e64a94"/>
          <a:stretch xmlns:a="http://schemas.openxmlformats.org/drawingml/2006/main"/>
        </p:blipFill>
        <p:spPr>
          <a:xfrm xmlns:a="http://schemas.openxmlformats.org/drawingml/2006/main">
            <a:off x="9827977" y="1890713"/>
            <a:ext cx="822795" cy="171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bd46f4bea47d5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C74B83-FDA2-4427-8D75-B6A8F4C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11B2BE-94C6-4DE0-8333-E338A370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EXECUTION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CCB15A-885F-411C-B01A-FB160578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A4B2008-E180-4895-8BB7-964076CE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0E56B86-95DC-4D55-BDD0-B9602014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Design partners first. Procurement-ready expansion next.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A84A92-0A40-4F79-89FE-D06A6206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The next 18 months turn the evidence contract into repeatable revenue.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E879543-79C8-4156-828C-58A865D1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5728"/>
            <a:ext cx="3154680" cy="2240280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A574F04-053F-401A-8E16-FF048251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004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0–6 mo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C056316-2886-4469-99AD-BF2AE471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63347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01A07BD-64D6-49BA-86C6-5536FACC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1528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Prove the wedge</a:t>
            </a:r>
            <a:endParaRPr sz="1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34AF457-9362-4A2C-B6C9-6659E8C5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85032"/>
            <a:ext cx="2423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2 paid ground pilots</a:t>
            </a:r>
            <a:endParaRPr sz="1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First compliance evidence pack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FADDA7E-D506-4E11-AC39-AA32D93F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66160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3F158D4-1578-4D36-BC28-A9E60350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395728"/>
            <a:ext cx="3154680" cy="2240280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7869885-199B-49D1-BCA7-811C89A2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004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6–12 mo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6F3248-4020-4ABF-B1FD-5F85093A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63347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7147DF4-B67A-4B08-930C-04095364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081528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Convert the motion</a:t>
            </a:r>
            <a:endParaRPr sz="17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790CF8-1D30-43B4-B5B3-C40BCF4B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85032"/>
            <a:ext cx="2423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2–3 annual fleet contracts</a:t>
            </a:r>
            <a:endParaRPr sz="1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Repeatable onboarding + billing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5EC4B7D-38E7-4E78-89BB-F82E4325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566160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50AC0F4-F141-4626-9FA3-5D401471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395728"/>
            <a:ext cx="3154680" cy="2240280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3B096AB-6615-44E7-8349-8A5B5A8C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004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12–18 mo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4972C8-77C8-4E49-8B28-2B7DA92E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63347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⊕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41EEC6E-6A97-4AD6-9CF5-A81D7D4D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081528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Expand the boundary</a:t>
            </a:r>
            <a:endParaRPr sz="17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5CFD24D-E0C2-45A9-A00D-416BD183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85032"/>
            <a:ext cx="2423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5 paid fleet accounts</a:t>
            </a:r>
            <a:endParaRPr sz="1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$500k ARR target</a:t>
            </a:r>
            <a:endParaRPr sz="11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8BCD47B-F567-46F1-92FB-EA4D4109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424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commercial proof point is repeatable evidence delivery, not a speculative claim of autonomous spacecraft operations.</a:t>
            </a:r>
            <a:endParaRPr sz="14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92F9547-734F-4CE1-B9E5-63568DB478F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6327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e569e9e114e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make mission-data assurance a repeatable commercial category.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USE OF FUNDS  /  INTERNAL PLAN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THE PROOF POINT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fleet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Gauss gives space operators a safer path from data abundance to trusted action.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7a4cb37854f79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READINESS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14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Investor-ready story; diligence-ready evidence is next.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 practical readiness scorecard for a space-software raise.</a:t>
            </a:r>
            <a:endParaRPr sz="1500"/>
          </a:p>
        </p:txBody>
      </p:sp>
      <p:graphicFrame>
        <p:nvGraphicFramePr>
          <p:cNvPr id="3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2026-08-20T14:25:12.2640000Z</dcterms:created>
  <dcterms:modified xsi:type="dcterms:W3CDTF">2026-08-20T14:25:12.2640000Z</dcterms:modified>
</coreProperties>
</file>