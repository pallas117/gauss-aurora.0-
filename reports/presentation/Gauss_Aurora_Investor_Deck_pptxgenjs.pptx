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a0e4dffa3d46ee" /><Relationship Type="http://schemas.openxmlformats.org/officeDocument/2006/relationships/extended-properties" Target="/docProps/app.xml" Id="Rced3eab03e684d3e" /><Relationship Type="http://schemas.openxmlformats.org/officeDocument/2006/relationships/officeDocument" Target="/ppt/presentation.xml" Id="R8d13737024c644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cea609a76e40ce"/>
  </p:sldMasterIdLst>
  <p:notesMasterIdLst>
    <p:notesMasterId xmlns:r="http://schemas.openxmlformats.org/officeDocument/2006/relationships" r:id="Rf19e82ba56f94272"/>
  </p:notesMasterIdLst>
  <p:sldIdLst>
    <p:sldId xmlns:r="http://schemas.openxmlformats.org/officeDocument/2006/relationships" id="256" r:id="R215efd8093c64f28"/>
    <p:sldId xmlns:r="http://schemas.openxmlformats.org/officeDocument/2006/relationships" id="257" r:id="Reeb3544f17d04775"/>
    <p:sldId xmlns:r="http://schemas.openxmlformats.org/officeDocument/2006/relationships" id="258" r:id="Rbf2b663cca354ab1"/>
    <p:sldId xmlns:r="http://schemas.openxmlformats.org/officeDocument/2006/relationships" id="259" r:id="Rfcef99f49d7646e1"/>
    <p:sldId xmlns:r="http://schemas.openxmlformats.org/officeDocument/2006/relationships" id="260" r:id="R69f6ba010e0745c7"/>
    <p:sldId xmlns:r="http://schemas.openxmlformats.org/officeDocument/2006/relationships" id="261" r:id="R4827239cf72d422f"/>
    <p:sldId xmlns:r="http://schemas.openxmlformats.org/officeDocument/2006/relationships" id="262" r:id="R796acdbdb0a24a28"/>
    <p:sldId xmlns:r="http://schemas.openxmlformats.org/officeDocument/2006/relationships" id="263" r:id="R4e89e557c58047a6"/>
    <p:sldId xmlns:r="http://schemas.openxmlformats.org/officeDocument/2006/relationships" id="264" r:id="Rb075d62c86b04ce2"/>
    <p:sldId xmlns:r="http://schemas.openxmlformats.org/officeDocument/2006/relationships" id="265" r:id="Rfe3c4928e33d4652"/>
    <p:sldId xmlns:r="http://schemas.openxmlformats.org/officeDocument/2006/relationships" id="266" r:id="Rfa509a12823d44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9ec899a754455a" /><Relationship Type="http://schemas.openxmlformats.org/officeDocument/2006/relationships/slideMaster" Target="/ppt/slideMasters/slideMaster1.xml" Id="Rdecea609a76e40ce" /><Relationship Type="http://schemas.openxmlformats.org/officeDocument/2006/relationships/notesMaster" Target="/ppt/notesMasters/notesMaster1.xml" Id="Rf19e82ba56f94272" /><Relationship Type="http://schemas.openxmlformats.org/officeDocument/2006/relationships/presProps" Target="/ppt/presProps.xml" Id="R109eb5feec9e4dae" /><Relationship Type="http://schemas.openxmlformats.org/officeDocument/2006/relationships/viewProps" Target="/ppt/viewProps.xml" Id="R65332763b1624662" /><Relationship Type="http://schemas.openxmlformats.org/officeDocument/2006/relationships/tableStyles" Target="/ppt/tableStyles.xml" Id="R67785f053bfb48bd" /><Relationship Type="http://schemas.openxmlformats.org/officeDocument/2006/relationships/slide" Target="/ppt/slides/slide1.xml" Id="R215efd8093c64f28" /><Relationship Type="http://schemas.openxmlformats.org/officeDocument/2006/relationships/slide" Target="/ppt/slides/slide2.xml" Id="Reeb3544f17d04775" /><Relationship Type="http://schemas.openxmlformats.org/officeDocument/2006/relationships/slide" Target="/ppt/slides/slide3.xml" Id="Rbf2b663cca354ab1" /><Relationship Type="http://schemas.openxmlformats.org/officeDocument/2006/relationships/slide" Target="/ppt/slides/slide4.xml" Id="Rfcef99f49d7646e1" /><Relationship Type="http://schemas.openxmlformats.org/officeDocument/2006/relationships/slide" Target="/ppt/slides/slide5.xml" Id="R69f6ba010e0745c7" /><Relationship Type="http://schemas.openxmlformats.org/officeDocument/2006/relationships/slide" Target="/ppt/slides/slide6.xml" Id="R4827239cf72d422f" /><Relationship Type="http://schemas.openxmlformats.org/officeDocument/2006/relationships/slide" Target="/ppt/slides/slide7.xml" Id="R796acdbdb0a24a28" /><Relationship Type="http://schemas.openxmlformats.org/officeDocument/2006/relationships/slide" Target="/ppt/slides/slide8.xml" Id="R4e89e557c58047a6" /><Relationship Type="http://schemas.openxmlformats.org/officeDocument/2006/relationships/slide" Target="/ppt/slides/slide9.xml" Id="Rb075d62c86b04ce2" /><Relationship Type="http://schemas.openxmlformats.org/officeDocument/2006/relationships/slide" Target="/ppt/slides/slide10.xml" Id="Rfe3c4928e33d4652" /><Relationship Type="http://schemas.openxmlformats.org/officeDocument/2006/relationships/slide" Target="/ppt/slides/slide11.xml" Id="Rfa509a12823d44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8583a88ad140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9e76f02cf145db" /><Relationship Type="http://schemas.openxmlformats.org/officeDocument/2006/relationships/notesMaster" Target="/ppt/notesMasters/notesMaster1.xml" Id="R7c4e2e06299740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4e531d4ef1496a" /><Relationship Type="http://schemas.openxmlformats.org/officeDocument/2006/relationships/notesMaster" Target="/ppt/notesMasters/notesMaster1.xml" Id="R80c1691d2d944a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f0af98e7564247" /><Relationship Type="http://schemas.openxmlformats.org/officeDocument/2006/relationships/notesMaster" Target="/ppt/notesMasters/notesMaster1.xml" Id="R8f873760e97c43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2dca74e11e44fb" /><Relationship Type="http://schemas.openxmlformats.org/officeDocument/2006/relationships/notesMaster" Target="/ppt/notesMasters/notesMaster1.xml" Id="Rb62ef6a4bef44e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14020af1974e3a" /><Relationship Type="http://schemas.openxmlformats.org/officeDocument/2006/relationships/notesMaster" Target="/ppt/notesMasters/notesMaster1.xml" Id="Ra6c8eb1907e845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374f6defd74269" /><Relationship Type="http://schemas.openxmlformats.org/officeDocument/2006/relationships/notesMaster" Target="/ppt/notesMasters/notesMaster1.xml" Id="Rd8b48f03372647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ba6f13a5ef4240" /><Relationship Type="http://schemas.openxmlformats.org/officeDocument/2006/relationships/notesMaster" Target="/ppt/notesMasters/notesMaster1.xml" Id="Re52ee5108d794c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97578834de4986" /><Relationship Type="http://schemas.openxmlformats.org/officeDocument/2006/relationships/notesMaster" Target="/ppt/notesMasters/notesMaster1.xml" Id="Rad600c55a3d443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2ec5f7c1a242fc" /><Relationship Type="http://schemas.openxmlformats.org/officeDocument/2006/relationships/notesMaster" Target="/ppt/notesMasters/notesMaster1.xml" Id="R0b7ea699096f4b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98295126d146a8" /><Relationship Type="http://schemas.openxmlformats.org/officeDocument/2006/relationships/notesMaster" Target="/ppt/notesMasters/notesMaster1.xml" Id="R24d1e1e52eff40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6b778730db4e2c" /><Relationship Type="http://schemas.openxmlformats.org/officeDocument/2006/relationships/notesMaster" Target="/ppt/notesMasters/notesMaster1.xml" Id="R2e95eccb27b545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mission data is abundant, but decision context is still fragmented. Gauss is the evidence-first layer that makes AI-augmented space operations decision-ready.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User-supplied logo asset: /Users/josh/Downloads/gauss_atom_v2.png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Repo: config/product-packages.json and config/product-packages.schema.json</a:t>
            </a:r>
            <a:endParaRPr/>
          </a:p>
          <a:p xmlns:a="http://schemas.openxmlformats.org/drawingml/2006/main">
            <a:r>
              <a:t>- NASA solar-flare / space-weather asset in repository: research/documentation-rag/What Is the Solar Wind_ - NASA Science.html</a:t>
            </a:r>
            <a:endParaRPr/>
          </a:p>
          <a:p xmlns:a="http://schemas.openxmlformats.org/drawingml/2006/main">
            <a:r>
              <a:t>- NASA SOHO CME gallery: https://soho.nascom.nasa.gov/bestofsoho/SolarCorona/las021.html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now is grounded in external market and operating signals, not a claim of current customer traction. The $429B figure is the 2025 global space economy; 14,266 is the SIA/BryceTech count of operational satellites at the end of 2025. NOAA/NASA announced Solar Cycle 25 had reached its solar maximum period in October 2024; the current NOAA progression page retains a maximum window extending into March 2026.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ESA Space Environment Report 2025: https://www.esa.int/Space_Safety/Space_Debris/ESA_Space_Environment_Report_2025</a:t>
            </a:r>
            <a:endParaRPr/>
          </a:p>
          <a:p xmlns:a="http://schemas.openxmlformats.org/drawingml/2006/main">
            <a:r>
              <a:t>- NOAA/NASA Joint Solar Maximum Announcement: https://prod-01-alb-www-swpc.woc.noaa.gov/news/joint-solar-maximum-announcement-nasa-and-noaa</a:t>
            </a:r>
            <a:endParaRPr/>
          </a:p>
          <a:p xmlns:a="http://schemas.openxmlformats.org/drawingml/2006/main">
            <a:r>
              <a:t>- NOAA Solar Cycle Progression: https://update-swpc.woc.noaa.gov/products/solar-cycle-progression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profile mix is counted from the repository's eight research_profile entries: 2 satcom, 2 weather/space weather, 1 Earth observation, 1 PNT, and 2 lunar relay. These are research targets, not signed customers. The satellite visual anchors the market wedge in real space infrastructure without implying a customer or partnership.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repo: config/mission-targets.json</a:t>
            </a:r>
            <a:endParaRPr/>
          </a:p>
          <a:p xmlns:a="http://schemas.openxmlformats.org/drawingml/2006/main">
            <a:r>
              <a:t>- Internal repo: development/memory/DECISIONS.md (D-110, D-124)</a:t>
            </a:r>
            <a:endParaRPr/>
          </a:p>
          <a:p xmlns:a="http://schemas.openxmlformats.org/drawingml/2006/main">
            <a:r>
              <a:t>- NASA Science visual asset: https://science.nasa.gov/sun/what-is-the-solar-wind/ (local copy: research/documentation-rag/What Is the Solar Wind_ - NASA Science_files/tessinspacerender-3000x1688-1.jpg)</a:t>
            </a:r>
            <a:endParaRPr/>
          </a:p>
          <a:p xmlns:a="http://schemas.openxmlformats.org/drawingml/2006/main">
            <a:r>
              <a:t>- Visual design reference: https://investors.seraphim.vc/wp-content/uploads/2022/05/Seraphim-Prospectus-PDF.pdf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category context, not a claim that Gauss captures the full category. The SOM is an internal bottom-up target: five fleet accounts at $100k annual platform value equals $500k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Internal Gauss target catalog: config/mission-targets.json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Commercial return is an internal planning scenario, not signed pipeline: five paid ground/integration accounts can establish $500k ARR. The first off-takers are mission-data, ground-segment and systems-integration teams with continuity, telemetry-quality or anomaly-review problems. Planning prices remain subject to customer discovery.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D-126, D-127)</a:t>
            </a:r>
            <a:endParaRPr/>
          </a:p>
          <a:p xmlns:a="http://schemas.openxmlformats.org/drawingml/2006/main">
            <a:r>
              <a:t>- Internal target catalog: config/mission-targets.json</a:t>
            </a:r>
            <a:endParaRPr/>
          </a:p>
          <a:p xmlns:a="http://schemas.openxmlformats.org/drawingml/2006/main">
            <a:r>
              <a:t>- SIA / BryceTech industry context: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 based on public product descriptions. The x-axis compares mission-specific depth with horizontal applicability; the y-axis compares execution/control surfaces with assurance/observability surfaces. This is a narrative positioning aid, not a feature-parity scorecard.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 partnership or feature-parity claim is implied.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  <a:p xmlns:a="http://schemas.openxmlformats.org/drawingml/2006/main">
            <a:r>
              <a:t>
[Benchmark sources]
- Y Combinator, How to Pitch Your Company: https://www.ycombinator.com/blog/how-to-pitch-your-company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ask is $1.5M. Purpose: fund a 6–12 month ground-first programme covering product and integrations, security/compliance, go-to-market/design partners, and runway. The commercial return is a planning case of five paid ground/integration accounts producing $500k ARR; no signed pipeline is claimed.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D-127)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duration is framed as a 6–12 month ground-first programme. The first 90 days follow the repository operating plan: evidence and conversion, paid pilot readiness, then commercial proof. Flight-candidate and federated bridge work are expansion gates, not current claims, and require a named mission, target processor, partner and hardware evidence.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D-127)</a:t>
            </a:r>
            <a:endParaRPr/>
          </a:p>
          <a:p xmlns:a="http://schemas.openxmlformats.org/drawingml/2006/main">
            <a:r>
              <a:t>- Internal target catalog: config/mission-targets.json</a:t>
            </a:r>
            <a:endParaRPr/>
          </a:p>
          <a:p xmlns:a="http://schemas.openxmlformats.org/drawingml/2006/main">
            <a:r>
              <a:t>
- User-supplied logo asset: /Users/josh/Downloads/gauss_atom_v2.png</a:t>
            </a:r>
          </a:p>
          <a:p xmlns:a="http://schemas.openxmlformats.org/drawingml/2006/main">
            <a:r>
              <a:t>
[Benchmark sources]
- ESA Commercialisation Gateway, ESA BIC application guidance: https://commercialisation.esa.int/esa-business-incubation-centres/
- Y Combinator, How to Pitch Your Company: https://www.ycombinator.com/blog/how-to-pitch-your-company
- Rocket Lab investor presentations: https://investors.rocketlabcorp.com/events-presentations/presentations
- Planet Labs investor presentations: https://investors.planet.com/events-and-presentations/default.aspx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aead2a335947a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72e56a6bae401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ebca7872de4d42" /><Relationship Type="http://schemas.openxmlformats.org/officeDocument/2006/relationships/slideLayout" Target="/ppt/slideLayouts/slideLayout1.xml" Id="Rbcc3ac57aff24cf0" /><Relationship Type="http://schemas.openxmlformats.org/officeDocument/2006/relationships/slideLayout" Target="/ppt/slideLayouts/slideLayout2.xml" Id="Rbdae083e71f747c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c3ac57aff24cf0"/>
    <p:sldLayoutId xmlns:r="http://schemas.openxmlformats.org/officeDocument/2006/relationships" id="2147483650" r:id="Rbdae083e71f747c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51a5a048e9421d" /><Relationship Type="http://schemas.openxmlformats.org/officeDocument/2006/relationships/image" Target="/ppt/media/image.jpeg" Id="R2f2f66e7255d4841" /><Relationship Type="http://schemas.openxmlformats.org/officeDocument/2006/relationships/image" Target="/ppt/media/image.png" Id="R07bccc0082d644bf" /><Relationship Type="http://schemas.openxmlformats.org/officeDocument/2006/relationships/notesSlide" Target="/ppt/notesSlides/notesSlide1.xml" Id="R7b582ea4abab4a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158759d52b4d36" /><Relationship Type="http://schemas.openxmlformats.org/officeDocument/2006/relationships/image" Target="/ppt/media/image2.jpeg" Id="R455cc3fd0e9f496a" /><Relationship Type="http://schemas.openxmlformats.org/officeDocument/2006/relationships/image" Target="/ppt/media/image2.png" Id="R166ada435b104eb3" /><Relationship Type="http://schemas.openxmlformats.org/officeDocument/2006/relationships/notesSlide" Target="/ppt/notesSlides/notesSlide2.xml" Id="Re9b70cfc679647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05555651774a55" /><Relationship Type="http://schemas.openxmlformats.org/officeDocument/2006/relationships/image" Target="/ppt/media/image3.jpeg" Id="Rade4b354c4074e0a" /><Relationship Type="http://schemas.openxmlformats.org/officeDocument/2006/relationships/image" Target="/ppt/media/image3.png" Id="R8d21f5931eaa4776" /><Relationship Type="http://schemas.openxmlformats.org/officeDocument/2006/relationships/notesSlide" Target="/ppt/notesSlides/notesSlide3.xml" Id="R4240d7f9e1874a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ddce6b080a4652" /><Relationship Type="http://schemas.openxmlformats.org/officeDocument/2006/relationships/image" Target="/ppt/media/image4.png" Id="Rd17120740b6347d1" /><Relationship Type="http://schemas.openxmlformats.org/officeDocument/2006/relationships/notesSlide" Target="/ppt/notesSlides/notesSlide4.xml" Id="R3a028e53998647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d521f029804119" /><Relationship Type="http://schemas.openxmlformats.org/officeDocument/2006/relationships/image" Target="/ppt/media/image5.png" Id="R7d9418ee066245c3" /><Relationship Type="http://schemas.openxmlformats.org/officeDocument/2006/relationships/image" Target="/ppt/media/image4.jpeg" Id="Rda0b0d7bbce64bf2" /><Relationship Type="http://schemas.openxmlformats.org/officeDocument/2006/relationships/image" Target="/ppt/media/image6.png" Id="R7e5fa8e4ac15404c" /><Relationship Type="http://schemas.openxmlformats.org/officeDocument/2006/relationships/notesSlide" Target="/ppt/notesSlides/notesSlide5.xml" Id="R06ca2a90f8dd45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1303b6bb864142" /><Relationship Type="http://schemas.openxmlformats.org/officeDocument/2006/relationships/image" Target="/ppt/media/image7.png" Id="R729a144d4ecd48bf" /><Relationship Type="http://schemas.openxmlformats.org/officeDocument/2006/relationships/image" Target="/ppt/media/image8.png" Id="Rf4fdfcbda9af4d81" /><Relationship Type="http://schemas.openxmlformats.org/officeDocument/2006/relationships/notesSlide" Target="/ppt/notesSlides/notesSlide6.xml" Id="R6bfc2fed1fad46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f4ff3e1aac413a" /><Relationship Type="http://schemas.openxmlformats.org/officeDocument/2006/relationships/chart" Target="/ppt/slides/charts/chart1.xml" Id="R756e5c18315147ac" /><Relationship Type="http://schemas.openxmlformats.org/officeDocument/2006/relationships/image" Target="/ppt/media/image9.png" Id="R6bb4dc8faa68413f" /><Relationship Type="http://schemas.openxmlformats.org/officeDocument/2006/relationships/notesSlide" Target="/ppt/notesSlides/notesSlide7.xml" Id="R08e31e5d90ce4c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7490a8f6b0478d" /><Relationship Type="http://schemas.openxmlformats.org/officeDocument/2006/relationships/image" Target="/ppt/media/image10.png" Id="Rd1990c829f1f496f" /><Relationship Type="http://schemas.openxmlformats.org/officeDocument/2006/relationships/image" Target="/ppt/media/image.svg" Id="R31757d4c8d254e19" /><Relationship Type="http://schemas.openxmlformats.org/officeDocument/2006/relationships/image" Target="/ppt/media/image.jpeg" Id="Rc0f6ff257010410a" /><Relationship Type="http://schemas.openxmlformats.org/officeDocument/2006/relationships/image" Target="/ppt/media/image11.png" Id="Rb40ba9a0774f42bd" /><Relationship Type="http://schemas.openxmlformats.org/officeDocument/2006/relationships/image" Target="/ppt/media/image2.svg" Id="Rb4b9058f44eb4e84" /><Relationship Type="http://schemas.openxmlformats.org/officeDocument/2006/relationships/image" Target="/ppt/media/image2.jpeg" Id="Ra010d1bfdf0c4186" /><Relationship Type="http://schemas.openxmlformats.org/officeDocument/2006/relationships/image" Target="/ppt/media/image12.png" Id="Rcf89fb3747c9472e" /><Relationship Type="http://schemas.openxmlformats.org/officeDocument/2006/relationships/image" Target="/ppt/media/image3.svg" Id="R3453d7f1efd24b46" /><Relationship Type="http://schemas.openxmlformats.org/officeDocument/2006/relationships/image" Target="/ppt/media/image3.jpeg" Id="R091e85e7a6df4eb3" /><Relationship Type="http://schemas.openxmlformats.org/officeDocument/2006/relationships/image" Target="/ppt/media/image4.svg" Id="Rc4ff49648fcd4654" /><Relationship Type="http://schemas.openxmlformats.org/officeDocument/2006/relationships/image" Target="/ppt/media/image4.jpeg" Id="Re1b440e3f7734e80" /><Relationship Type="http://schemas.openxmlformats.org/officeDocument/2006/relationships/image" Target="/ppt/media/image5.svg" Id="R3eef7b746b76472f" /><Relationship Type="http://schemas.openxmlformats.org/officeDocument/2006/relationships/image" Target="/ppt/media/image5.png" Id="Rfe0f7732424e4dd8" /><Relationship Type="http://schemas.openxmlformats.org/officeDocument/2006/relationships/image" Target="/ppt/media/image13.png" Id="R195c11d8db80411e" /><Relationship Type="http://schemas.openxmlformats.org/officeDocument/2006/relationships/image" Target="/ppt/media/image6.svg" Id="Ra5d69f069b0b42ff" /><Relationship Type="http://schemas.openxmlformats.org/officeDocument/2006/relationships/image" Target="/ppt/media/image6.png" Id="R9851d684fa6f4cd9" /><Relationship Type="http://schemas.openxmlformats.org/officeDocument/2006/relationships/image" Target="/ppt/media/image14.png" Id="Rf0f425e13b5741be" /><Relationship Type="http://schemas.openxmlformats.org/officeDocument/2006/relationships/image" Target="/ppt/media/image7.svg" Id="R8a0608688a194717" /><Relationship Type="http://schemas.openxmlformats.org/officeDocument/2006/relationships/image" Target="/ppt/media/image7.png" Id="R1032165c850e4b7f" /><Relationship Type="http://schemas.openxmlformats.org/officeDocument/2006/relationships/image" Target="/ppt/media/image8.svg" Id="R04a25375581145c1" /><Relationship Type="http://schemas.openxmlformats.org/officeDocument/2006/relationships/image" Target="/ppt/media/image8.png" Id="R2256677eba894402" /><Relationship Type="http://schemas.openxmlformats.org/officeDocument/2006/relationships/image" Target="/ppt/media/image9.svg" Id="R2d91cbba69544d5a" /><Relationship Type="http://schemas.openxmlformats.org/officeDocument/2006/relationships/image" Target="/ppt/media/image9.png" Id="Rb5c5cce46be84427" /><Relationship Type="http://schemas.openxmlformats.org/officeDocument/2006/relationships/image" Target="/ppt/media/image15.png" Id="Re5fe9928de724455" /><Relationship Type="http://schemas.openxmlformats.org/officeDocument/2006/relationships/image" Target="/ppt/media/image10.svg" Id="Rb3eadb012da84244" /><Relationship Type="http://schemas.openxmlformats.org/officeDocument/2006/relationships/image" Target="/ppt/media/image16.png" Id="R0256b1840eb54db6" /><Relationship Type="http://schemas.openxmlformats.org/officeDocument/2006/relationships/image" Target="/ppt/media/image11.svg" Id="R281c500327aa485e" /><Relationship Type="http://schemas.openxmlformats.org/officeDocument/2006/relationships/image" Target="/ppt/media/image12.svg" Id="R8a115cf3fe604ab0" /><Relationship Type="http://schemas.openxmlformats.org/officeDocument/2006/relationships/image" Target="/ppt/media/image13.svg" Id="Rcc49b91e9f49487f" /><Relationship Type="http://schemas.openxmlformats.org/officeDocument/2006/relationships/image" Target="/ppt/media/image17.png" Id="Rc46a169610414192" /><Relationship Type="http://schemas.openxmlformats.org/officeDocument/2006/relationships/image" Target="/ppt/media/image14.svg" Id="R13e08e1c70454edb" /><Relationship Type="http://schemas.openxmlformats.org/officeDocument/2006/relationships/image" Target="/ppt/media/image18.png" Id="R7a2ca4b46d204632" /><Relationship Type="http://schemas.openxmlformats.org/officeDocument/2006/relationships/image" Target="/ppt/media/image15.svg" Id="R5730b34bf0aa4a15" /><Relationship Type="http://schemas.openxmlformats.org/officeDocument/2006/relationships/image" Target="/ppt/media/image16.svg" Id="Rcd76162d7cf94197" /><Relationship Type="http://schemas.openxmlformats.org/officeDocument/2006/relationships/image" Target="/ppt/media/image19.png" Id="R072799aa12c84de4" /><Relationship Type="http://schemas.openxmlformats.org/officeDocument/2006/relationships/image" Target="/ppt/media/image20.png" Id="R553eb8d9070d4874" /><Relationship Type="http://schemas.openxmlformats.org/officeDocument/2006/relationships/image" Target="/ppt/media/image21.png" Id="R415ca0eab36f4983" /><Relationship Type="http://schemas.openxmlformats.org/officeDocument/2006/relationships/image" Target="/ppt/media/image22.png" Id="Rb946df05bbb4434d" /><Relationship Type="http://schemas.openxmlformats.org/officeDocument/2006/relationships/image" Target="/ppt/media/image23.png" Id="R104321cd3afc42fc" /><Relationship Type="http://schemas.openxmlformats.org/officeDocument/2006/relationships/image" Target="/ppt/media/image24.png" Id="Rb2dc0e3f097e4bfd" /><Relationship Type="http://schemas.openxmlformats.org/officeDocument/2006/relationships/image" Target="/ppt/media/image25.png" Id="Rb5c73ff7cb594a61" /><Relationship Type="http://schemas.openxmlformats.org/officeDocument/2006/relationships/notesSlide" Target="/ppt/notesSlides/notesSlide8.xml" Id="R5edcba69ac5647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5755ba938542fe" /><Relationship Type="http://schemas.openxmlformats.org/officeDocument/2006/relationships/image" Target="/ppt/media/image26.png" Id="R6970bf1851d04b35" /><Relationship Type="http://schemas.openxmlformats.org/officeDocument/2006/relationships/image" Target="/ppt/media/image27.png" Id="R0a86334939da447b" /><Relationship Type="http://schemas.openxmlformats.org/officeDocument/2006/relationships/notesSlide" Target="/ppt/notesSlides/notesSlide9.xml" Id="R2eefcad47b114f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c4e9411a2441f" /><Relationship Type="http://schemas.openxmlformats.org/officeDocument/2006/relationships/image" Target="/ppt/media/image28.png" Id="Rbd062d26eda4425b" /><Relationship Type="http://schemas.openxmlformats.org/officeDocument/2006/relationships/image" Target="/ppt/media/image29.png" Id="Rc50515b7853f46da" /><Relationship Type="http://schemas.openxmlformats.org/officeDocument/2006/relationships/notesSlide" Target="/ppt/notesSlides/notesSlide10.xml" Id="R1017106e873d40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7222bb3d634687" /><Relationship Type="http://schemas.openxmlformats.org/officeDocument/2006/relationships/image" Target="/ppt/media/image30.png" Id="R6a02a61e26ef4c61" /><Relationship Type="http://schemas.openxmlformats.org/officeDocument/2006/relationships/image" Target="/ppt/media/image31.png" Id="Rc77c9420dff44028" /><Relationship Type="http://schemas.openxmlformats.org/officeDocument/2006/relationships/notesSlide" Target="/ppt/notesSlides/notesSlide11.xml" Id="Ree8b11a51bc241d6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CCFF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 i="0" u="none">
                <a:solidFill>
                  <a:srgbClr val="F3F0E8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5302E"/>
              </a:solidFill>
              <a:prstDash val="solid"/>
            </a:ln>
          </c:spPr>
        </c:majorGridlines>
        <c:numFmt formatCode="0" sourceLinked="0"/>
        <c:majorTickMark val="out"/>
        <c:minorTickMark val="none"/>
        <c:tickLblPos val="nextTo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F3F0E8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f66e7255d4841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PROJECT GAUSS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is the evidence-first layer for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AD75FED6-38D0-DE9C-92C0-6E7FA635581C}" type="slidenum">
              <a:rPr b="0">
                <a:solidFill>
                  <a:srgbClr val="F3F0E8"/>
                </a:solidFill>
              </a:rPr>
              <a:t>1</a:t>
            </a:fld>
            <a:endParaRPr/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ccc0082d644bf"/>
          <a:stretch xmlns:a="http://schemas.openxmlformats.org/drawingml/2006/main"/>
        </p:blipFill>
        <p:spPr>
          <a:xfrm xmlns:a="http://schemas.openxmlformats.org/drawingml/2006/main">
            <a:off x="3048000" y="1057656"/>
            <a:ext cx="609600" cy="60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cc3fd0e9f496a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2598689-54C9-18A7-3A19-ED76AA08988F}" type="slidenum">
              <a:rPr b="0">
                <a:solidFill>
                  <a:srgbClr val="F3F0E8"/>
                </a:solidFill>
              </a:rPr>
              <a:t>2</a:t>
            </a:fld>
            <a:endParaRPr/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6ada435b104eb3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Space is scaling faster than trust infrastructure.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Growth, congestion, and solar activity are compressing the decision window.</a:t>
            </a:r>
            <a:endParaRPr sz="1500"/>
          </a:p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4b354c4074e0a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67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OPERATING SHIFT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500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assets. More streams. More decisions that must be explainable.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ECONOMY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7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ORBITAL SCALE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14,266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521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operational satellites / end-2025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4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SOLAR MAX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485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CME + flare activity remains mission-relevant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156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650" b="1">
                <a:solidFill>
                  <a:srgbClr val="F3F0E8"/>
                </a:solidFill>
              </a:defRPr>
            </a:pPr>
            <a:r>
              <a:rPr sz="16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Why now: the operating surface is getting larger, denser, and more consequential.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350">
                <a:solidFill>
                  <a:srgbClr val="F3F0E8"/>
                </a:solidFill>
              </a:defRPr>
            </a:pPr>
            <a:r>
              <a:rPr sz="13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evidence layer turns growing data volume into traceable decisions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202359C0-8A7A-196E-DD58-8E6569619F09}" type="slidenum">
              <a:rPr b="0">
                <a:solidFill>
                  <a:srgbClr val="F3F0E8"/>
                </a:solidFill>
              </a:rPr>
              <a:t>3</a:t>
            </a:fld>
            <a:endParaRPr/>
          </a:p>
        </p:txBody>
      </p:sp>
      <p:sp>
        <p:nvSpPr>
          <p:cNvPr id="34" name="why-now-source-rail">
            <a:extLst xmlns:a="http://schemas.openxmlformats.org/drawingml/2006/main">
              <a:ext uri="{FF2B5EF4-FFF2-40B4-BE49-F238E27FC236}">
                <a16:creationId xmlns:a16="http://schemas.microsoft.com/office/drawing/2014/main" id="{719D0056-D485-4BE2-BAE4-89BE3FD1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4102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2026  •  WEF / McKinsey 2024  •  ESA 2025  •  NOAA / NASA</a:t>
            </a:r>
          </a:p>
        </p:txBody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1f5931eaa4776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30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37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FD6AB9A-5F9E-5F59-51AB-3C8734130965}" type="slidenum">
              <a:rPr b="0">
                <a:solidFill>
                  <a:srgbClr val="F3F0E8"/>
                </a:solidFill>
              </a:rPr>
              <a:t>4</a:t>
            </a:fld>
            <a:endParaRPr/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20740b6347d1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418ee066245c3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88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8 sourced research profiles across five buyer wedges; no signed customers.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E5B3003-2C54-13C6-9832-7637201064DE}" type="slidenum">
              <a:rPr b="0">
                <a:solidFill>
                  <a:srgbClr val="F3F0E8"/>
                </a:solidFill>
              </a:rPr>
              <a:t>5</a:t>
            </a:fld>
            <a:endParaRPr/>
          </a:p>
        </p:txBody>
      </p:sp>
      <p:sp>
        <p:nvSpPr>
          <p:cNvPr id="29" name="profile-grid-1">
            <a:extLst xmlns:a="http://schemas.openxmlformats.org/drawingml/2006/main">
              <a:ext uri="{FF2B5EF4-FFF2-40B4-BE49-F238E27FC236}">
                <a16:creationId xmlns:a16="http://schemas.microsoft.com/office/drawing/2014/main" id="{57B3CFCB-56A3-4A2C-A5E4-F3275AA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profile-grid-2">
            <a:extLst xmlns:a="http://schemas.openxmlformats.org/drawingml/2006/main">
              <a:ext uri="{FF2B5EF4-FFF2-40B4-BE49-F238E27FC236}">
                <a16:creationId xmlns:a16="http://schemas.microsoft.com/office/drawing/2014/main" id="{5489EA37-BD5F-4358-B4EA-AE329C53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profile-label-0">
            <a:extLst xmlns:a="http://schemas.openxmlformats.org/drawingml/2006/main">
              <a:ext uri="{FF2B5EF4-FFF2-40B4-BE49-F238E27FC236}">
                <a16:creationId xmlns:a16="http://schemas.microsoft.com/office/drawing/2014/main" id="{6F192035-CBED-4EC0-BAB3-48ADA93D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32" name="profile-bar-0">
            <a:extLst xmlns:a="http://schemas.openxmlformats.org/drawingml/2006/main">
              <a:ext uri="{FF2B5EF4-FFF2-40B4-BE49-F238E27FC236}">
                <a16:creationId xmlns:a16="http://schemas.microsoft.com/office/drawing/2014/main" id="{E481C2C6-7B39-42FD-9BCB-5430166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288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profile-value-0">
            <a:extLst xmlns:a="http://schemas.openxmlformats.org/drawingml/2006/main">
              <a:ext uri="{FF2B5EF4-FFF2-40B4-BE49-F238E27FC236}">
                <a16:creationId xmlns:a16="http://schemas.microsoft.com/office/drawing/2014/main" id="{ED9836B4-81D2-4052-B894-D56C455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2383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4" name="profile-label-1">
            <a:extLst xmlns:a="http://schemas.openxmlformats.org/drawingml/2006/main">
              <a:ext uri="{FF2B5EF4-FFF2-40B4-BE49-F238E27FC236}">
                <a16:creationId xmlns:a16="http://schemas.microsoft.com/office/drawing/2014/main" id="{C6FBC265-BF20-43D0-86F1-7A4597D1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35" name="profile-bar-1">
            <a:extLst xmlns:a="http://schemas.openxmlformats.org/drawingml/2006/main">
              <a:ext uri="{FF2B5EF4-FFF2-40B4-BE49-F238E27FC236}">
                <a16:creationId xmlns:a16="http://schemas.microsoft.com/office/drawing/2014/main" id="{D07CC964-AAE8-4B36-B86C-7030A73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profile-value-1">
            <a:extLst xmlns:a="http://schemas.openxmlformats.org/drawingml/2006/main">
              <a:ext uri="{FF2B5EF4-FFF2-40B4-BE49-F238E27FC236}">
                <a16:creationId xmlns:a16="http://schemas.microsoft.com/office/drawing/2014/main" id="{ED7864FB-0804-4AE8-B09F-E84A7D8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6955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7" name="profile-label-2">
            <a:extLst xmlns:a="http://schemas.openxmlformats.org/drawingml/2006/main">
              <a:ext uri="{FF2B5EF4-FFF2-40B4-BE49-F238E27FC236}">
                <a16:creationId xmlns:a16="http://schemas.microsoft.com/office/drawing/2014/main" id="{2AE3D7AA-83B3-4B04-957B-D6BA109E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38" name="profile-bar-2">
            <a:extLst xmlns:a="http://schemas.openxmlformats.org/drawingml/2006/main">
              <a:ext uri="{FF2B5EF4-FFF2-40B4-BE49-F238E27FC236}">
                <a16:creationId xmlns:a16="http://schemas.microsoft.com/office/drawing/2014/main" id="{62DAE713-5511-4B84-A26A-35873B5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profile-value-2">
            <a:extLst xmlns:a="http://schemas.openxmlformats.org/drawingml/2006/main">
              <a:ext uri="{FF2B5EF4-FFF2-40B4-BE49-F238E27FC236}">
                <a16:creationId xmlns:a16="http://schemas.microsoft.com/office/drawing/2014/main" id="{83B90E02-743F-4F2A-9067-D0BEAE35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0" name="profile-label-3">
            <a:extLst xmlns:a="http://schemas.openxmlformats.org/drawingml/2006/main">
              <a:ext uri="{FF2B5EF4-FFF2-40B4-BE49-F238E27FC236}">
                <a16:creationId xmlns:a16="http://schemas.microsoft.com/office/drawing/2014/main" id="{40E9C5AD-FEB7-4677-8D04-43BD41B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41" name="profile-bar-3">
            <a:extLst xmlns:a="http://schemas.openxmlformats.org/drawingml/2006/main">
              <a:ext uri="{FF2B5EF4-FFF2-40B4-BE49-F238E27FC236}">
                <a16:creationId xmlns:a16="http://schemas.microsoft.com/office/drawing/2014/main" id="{83769DED-4F23-46EE-8380-1A2C7A1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profile-value-3">
            <a:extLst xmlns:a="http://schemas.openxmlformats.org/drawingml/2006/main">
              <a:ext uri="{FF2B5EF4-FFF2-40B4-BE49-F238E27FC236}">
                <a16:creationId xmlns:a16="http://schemas.microsoft.com/office/drawing/2014/main" id="{6ABCF6A3-55F1-4579-BA2E-871E13CA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99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3" name="profile-label-4">
            <a:extLst xmlns:a="http://schemas.openxmlformats.org/drawingml/2006/main">
              <a:ext uri="{FF2B5EF4-FFF2-40B4-BE49-F238E27FC236}">
                <a16:creationId xmlns:a16="http://schemas.microsoft.com/office/drawing/2014/main" id="{8B373A2C-17E3-4363-B686-BC2709F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44" name="profile-bar-4">
            <a:extLst xmlns:a="http://schemas.openxmlformats.org/drawingml/2006/main">
              <a:ext uri="{FF2B5EF4-FFF2-40B4-BE49-F238E27FC236}">
                <a16:creationId xmlns:a16="http://schemas.microsoft.com/office/drawing/2014/main" id="{E9AA72FE-7056-4A8D-9AD6-5264869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576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profile-value-4">
            <a:extLst xmlns:a="http://schemas.openxmlformats.org/drawingml/2006/main">
              <a:ext uri="{FF2B5EF4-FFF2-40B4-BE49-F238E27FC236}">
                <a16:creationId xmlns:a16="http://schemas.microsoft.com/office/drawing/2014/main" id="{15638DCB-ACC5-4173-8B54-B3AD050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671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48" name="market-profile-refresh-cover">
            <a:extLst xmlns:a="http://schemas.openxmlformats.org/drawingml/2006/main">
              <a:ext uri="{FF2B5EF4-FFF2-40B4-BE49-F238E27FC236}">
                <a16:creationId xmlns:a16="http://schemas.microsoft.com/office/drawing/2014/main" id="{E2B7DB43-3FAF-409B-9BDA-F0F292FB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9525">
            <a:solidFill>
              <a:srgbClr val="1E2B2A"/>
            </a:solidFill>
            <a:prstDash val="solid"/>
          </a:ln>
        </p:spPr>
      </p:sp>
      <p:sp>
        <p:nvSpPr>
          <p:cNvPr id="49" name="market-profile-refresh-label">
            <a:extLst xmlns:a="http://schemas.openxmlformats.org/drawingml/2006/main">
              <a:ext uri="{FF2B5EF4-FFF2-40B4-BE49-F238E27FC236}">
                <a16:creationId xmlns:a16="http://schemas.microsoft.com/office/drawing/2014/main" id="{A3166427-BFBA-4D0C-B288-0D8FEBFF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RESEARCH TARGET MIX  /  8 SOURCED PROFILES</a:t>
            </a:r>
          </a:p>
        </p:txBody>
      </p:sp>
      <p:sp>
        <p:nvSpPr>
          <p:cNvPr id="50" name="market-profile-refresh-subtitle">
            <a:extLst xmlns:a="http://schemas.openxmlformats.org/drawingml/2006/main">
              <a:ext uri="{FF2B5EF4-FFF2-40B4-BE49-F238E27FC236}">
                <a16:creationId xmlns:a16="http://schemas.microsoft.com/office/drawing/2014/main" id="{334AB36A-3205-476E-974C-EA6C6D40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581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3F0E8"/>
                </a:solidFill>
              </a:defRPr>
            </a:pPr>
            <a:r>
              <a:rPr sz="1200" b="0">
                <a:solidFill>
                  <a:srgbClr val="F3F0E8"/>
                </a:solidFill>
              </a:rPr>
              <a:t>Buyer wedges already map to operational infrastructure.</a:t>
            </a:r>
          </a:p>
        </p:txBody>
      </p:sp>
      <p:sp>
        <p:nvSpPr>
          <p:cNvPr id="51" name="profile-refresh-label-0">
            <a:extLst xmlns:a="http://schemas.openxmlformats.org/drawingml/2006/main">
              <a:ext uri="{FF2B5EF4-FFF2-40B4-BE49-F238E27FC236}">
                <a16:creationId xmlns:a16="http://schemas.microsoft.com/office/drawing/2014/main" id="{92D2B332-CC8C-4809-B001-0EE5728D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3F0E8"/>
                </a:solidFill>
              </a:defRPr>
            </a:pPr>
            <a:r>
              <a:rPr sz="1200" b="0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52" name="profile-refresh-track-0">
            <a:extLst xmlns:a="http://schemas.openxmlformats.org/drawingml/2006/main">
              <a:ext uri="{FF2B5EF4-FFF2-40B4-BE49-F238E27FC236}">
                <a16:creationId xmlns:a16="http://schemas.microsoft.com/office/drawing/2014/main" id="{EB0D37A5-A4DF-4AF8-8B51-84F55095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7180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8201F"/>
          </a:solidFill>
          <a:ln xmlns:a="http://schemas.openxmlformats.org/drawingml/2006/main" w="0">
            <a:solidFill>
              <a:srgbClr val="18201F"/>
            </a:solidFill>
            <a:prstDash val="solid"/>
          </a:ln>
        </p:spPr>
      </p:sp>
      <p:sp>
        <p:nvSpPr>
          <p:cNvPr id="53" name="profile-refresh-bar-0">
            <a:extLst xmlns:a="http://schemas.openxmlformats.org/drawingml/2006/main">
              <a:ext uri="{FF2B5EF4-FFF2-40B4-BE49-F238E27FC236}">
                <a16:creationId xmlns:a16="http://schemas.microsoft.com/office/drawing/2014/main" id="{BEB8813A-034A-43E2-AD66-EFEA7E50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7180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54" name="profile-refresh-value-0">
            <a:extLst xmlns:a="http://schemas.openxmlformats.org/drawingml/2006/main">
              <a:ext uri="{FF2B5EF4-FFF2-40B4-BE49-F238E27FC236}">
                <a16:creationId xmlns:a16="http://schemas.microsoft.com/office/drawing/2014/main" id="{7D942FB2-6F6F-45A1-AA89-C826B6AD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CCFF00"/>
                </a:solidFill>
              </a:defRPr>
            </a:pPr>
            <a:r>
              <a:rPr sz="1125" b="1">
                <a:solidFill>
                  <a:srgbClr val="CCFF00"/>
                </a:solidFill>
              </a:rPr>
              <a:t>2 targets</a:t>
            </a:r>
          </a:p>
        </p:txBody>
      </p:sp>
      <p:sp>
        <p:nvSpPr>
          <p:cNvPr id="55" name="profile-refresh-label-1">
            <a:extLst xmlns:a="http://schemas.openxmlformats.org/drawingml/2006/main">
              <a:ext uri="{FF2B5EF4-FFF2-40B4-BE49-F238E27FC236}">
                <a16:creationId xmlns:a16="http://schemas.microsoft.com/office/drawing/2014/main" id="{9D2A1E0F-4B50-45CE-A245-F915E713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3F0E8"/>
                </a:solidFill>
              </a:defRPr>
            </a:pPr>
            <a:r>
              <a:rPr sz="1200" b="0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56" name="profile-refresh-track-1">
            <a:extLst xmlns:a="http://schemas.openxmlformats.org/drawingml/2006/main">
              <a:ext uri="{FF2B5EF4-FFF2-40B4-BE49-F238E27FC236}">
                <a16:creationId xmlns:a16="http://schemas.microsoft.com/office/drawing/2014/main" id="{652CD56A-6802-4E76-AF12-C9AC6DE4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3375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8201F"/>
          </a:solidFill>
          <a:ln xmlns:a="http://schemas.openxmlformats.org/drawingml/2006/main" w="0">
            <a:solidFill>
              <a:srgbClr val="18201F"/>
            </a:solidFill>
            <a:prstDash val="solid"/>
          </a:ln>
        </p:spPr>
      </p:sp>
      <p:sp>
        <p:nvSpPr>
          <p:cNvPr id="57" name="profile-refresh-bar-1">
            <a:extLst xmlns:a="http://schemas.openxmlformats.org/drawingml/2006/main">
              <a:ext uri="{FF2B5EF4-FFF2-40B4-BE49-F238E27FC236}">
                <a16:creationId xmlns:a16="http://schemas.microsoft.com/office/drawing/2014/main" id="{60C460F0-A09E-4084-B6FC-6CE87422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3375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58" name="profile-refresh-value-1">
            <a:extLst xmlns:a="http://schemas.openxmlformats.org/drawingml/2006/main">
              <a:ext uri="{FF2B5EF4-FFF2-40B4-BE49-F238E27FC236}">
                <a16:creationId xmlns:a16="http://schemas.microsoft.com/office/drawing/2014/main" id="{5B77D4A0-29A4-4CC8-8A05-BCDE7237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1470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CCFF00"/>
                </a:solidFill>
              </a:defRPr>
            </a:pPr>
            <a:r>
              <a:rPr sz="1125" b="1">
                <a:solidFill>
                  <a:srgbClr val="CCFF00"/>
                </a:solidFill>
              </a:rPr>
              <a:t>2 targets</a:t>
            </a:r>
          </a:p>
        </p:txBody>
      </p:sp>
      <p:sp>
        <p:nvSpPr>
          <p:cNvPr id="59" name="profile-refresh-label-2">
            <a:extLst xmlns:a="http://schemas.openxmlformats.org/drawingml/2006/main">
              <a:ext uri="{FF2B5EF4-FFF2-40B4-BE49-F238E27FC236}">
                <a16:creationId xmlns:a16="http://schemas.microsoft.com/office/drawing/2014/main" id="{A78C9593-1734-4CAE-837D-663E732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3F0E8"/>
                </a:solidFill>
              </a:defRPr>
            </a:pPr>
            <a:r>
              <a:rPr sz="1200" b="0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60" name="profile-refresh-track-2">
            <a:extLst xmlns:a="http://schemas.openxmlformats.org/drawingml/2006/main">
              <a:ext uri="{FF2B5EF4-FFF2-40B4-BE49-F238E27FC236}">
                <a16:creationId xmlns:a16="http://schemas.microsoft.com/office/drawing/2014/main" id="{5C05716E-BB9F-4DBD-A190-A3D0EFC7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9570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8201F"/>
          </a:solidFill>
          <a:ln xmlns:a="http://schemas.openxmlformats.org/drawingml/2006/main" w="0">
            <a:solidFill>
              <a:srgbClr val="18201F"/>
            </a:solidFill>
            <a:prstDash val="solid"/>
          </a:ln>
        </p:spPr>
      </p:sp>
      <p:sp>
        <p:nvSpPr>
          <p:cNvPr id="61" name="profile-refresh-bar-2">
            <a:extLst xmlns:a="http://schemas.openxmlformats.org/drawingml/2006/main">
              <a:ext uri="{FF2B5EF4-FFF2-40B4-BE49-F238E27FC236}">
                <a16:creationId xmlns:a16="http://schemas.microsoft.com/office/drawing/2014/main" id="{D37BF1A9-5BBB-4065-B4CB-D1730B6E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95700"/>
            <a:ext cx="20002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62" name="profile-refresh-value-2">
            <a:extLst xmlns:a="http://schemas.openxmlformats.org/drawingml/2006/main">
              <a:ext uri="{FF2B5EF4-FFF2-40B4-BE49-F238E27FC236}">
                <a16:creationId xmlns:a16="http://schemas.microsoft.com/office/drawing/2014/main" id="{3D1DF297-1FBA-42EF-B8B3-11C57201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7665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CCFF00"/>
                </a:solidFill>
              </a:defRPr>
            </a:pPr>
            <a:r>
              <a:rPr sz="1125" b="1">
                <a:solidFill>
                  <a:srgbClr val="CCFF00"/>
                </a:solidFill>
              </a:rPr>
              <a:t>1 target</a:t>
            </a:r>
          </a:p>
        </p:txBody>
      </p:sp>
      <p:sp>
        <p:nvSpPr>
          <p:cNvPr id="63" name="profile-refresh-label-3">
            <a:extLst xmlns:a="http://schemas.openxmlformats.org/drawingml/2006/main">
              <a:ext uri="{FF2B5EF4-FFF2-40B4-BE49-F238E27FC236}">
                <a16:creationId xmlns:a16="http://schemas.microsoft.com/office/drawing/2014/main" id="{F44DF1B6-B519-4D56-83C4-0B03133E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3F0E8"/>
                </a:solidFill>
              </a:defRPr>
            </a:pPr>
            <a:r>
              <a:rPr sz="1200" b="0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64" name="profile-refresh-track-3">
            <a:extLst xmlns:a="http://schemas.openxmlformats.org/drawingml/2006/main">
              <a:ext uri="{FF2B5EF4-FFF2-40B4-BE49-F238E27FC236}">
                <a16:creationId xmlns:a16="http://schemas.microsoft.com/office/drawing/2014/main" id="{9757E30A-3477-4B0D-8021-ACC4D7C6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5765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8201F"/>
          </a:solidFill>
          <a:ln xmlns:a="http://schemas.openxmlformats.org/drawingml/2006/main" w="0">
            <a:solidFill>
              <a:srgbClr val="18201F"/>
            </a:solidFill>
            <a:prstDash val="solid"/>
          </a:ln>
        </p:spPr>
      </p:sp>
      <p:sp>
        <p:nvSpPr>
          <p:cNvPr id="65" name="profile-refresh-bar-3">
            <a:extLst xmlns:a="http://schemas.openxmlformats.org/drawingml/2006/main">
              <a:ext uri="{FF2B5EF4-FFF2-40B4-BE49-F238E27FC236}">
                <a16:creationId xmlns:a16="http://schemas.microsoft.com/office/drawing/2014/main" id="{476050CF-C649-472D-9397-0C07232C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57650"/>
            <a:ext cx="20002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66" name="profile-refresh-value-3">
            <a:extLst xmlns:a="http://schemas.openxmlformats.org/drawingml/2006/main">
              <a:ext uri="{FF2B5EF4-FFF2-40B4-BE49-F238E27FC236}">
                <a16:creationId xmlns:a16="http://schemas.microsoft.com/office/drawing/2014/main" id="{DA63E2F5-2162-4E5C-91BD-6490CF5E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CCFF00"/>
                </a:solidFill>
              </a:defRPr>
            </a:pPr>
            <a:r>
              <a:rPr sz="1125" b="1">
                <a:solidFill>
                  <a:srgbClr val="CCFF00"/>
                </a:solidFill>
              </a:rPr>
              <a:t>1 target</a:t>
            </a:r>
          </a:p>
        </p:txBody>
      </p:sp>
      <p:sp>
        <p:nvSpPr>
          <p:cNvPr id="67" name="profile-refresh-label-4">
            <a:extLst xmlns:a="http://schemas.openxmlformats.org/drawingml/2006/main">
              <a:ext uri="{FF2B5EF4-FFF2-40B4-BE49-F238E27FC236}">
                <a16:creationId xmlns:a16="http://schemas.microsoft.com/office/drawing/2014/main" id="{F0F276E1-B32E-45EA-91A1-E14C3609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3F0E8"/>
                </a:solidFill>
              </a:defRPr>
            </a:pPr>
            <a:r>
              <a:rPr sz="1200" b="0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68" name="profile-refresh-track-4">
            <a:extLst xmlns:a="http://schemas.openxmlformats.org/drawingml/2006/main">
              <a:ext uri="{FF2B5EF4-FFF2-40B4-BE49-F238E27FC236}">
                <a16:creationId xmlns:a16="http://schemas.microsoft.com/office/drawing/2014/main" id="{B00A987D-D9B0-46A2-95C7-B8FE5FA9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1960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8201F"/>
          </a:solidFill>
          <a:ln xmlns:a="http://schemas.openxmlformats.org/drawingml/2006/main" w="0">
            <a:solidFill>
              <a:srgbClr val="18201F"/>
            </a:solidFill>
            <a:prstDash val="solid"/>
          </a:ln>
        </p:spPr>
      </p:sp>
      <p:sp>
        <p:nvSpPr>
          <p:cNvPr id="69" name="profile-refresh-bar-4">
            <a:extLst xmlns:a="http://schemas.openxmlformats.org/drawingml/2006/main">
              <a:ext uri="{FF2B5EF4-FFF2-40B4-BE49-F238E27FC236}">
                <a16:creationId xmlns:a16="http://schemas.microsoft.com/office/drawing/2014/main" id="{ED4BEA2A-02DE-4CD4-8CF0-C87FDC94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19600"/>
            <a:ext cx="40005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70" name="profile-refresh-value-4">
            <a:extLst xmlns:a="http://schemas.openxmlformats.org/drawingml/2006/main">
              <a:ext uri="{FF2B5EF4-FFF2-40B4-BE49-F238E27FC236}">
                <a16:creationId xmlns:a16="http://schemas.microsoft.com/office/drawing/2014/main" id="{BB94F404-15FA-4F51-91C8-8322683F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00550"/>
            <a:ext cx="95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CCFF00"/>
                </a:solidFill>
              </a:defRPr>
            </a:pPr>
            <a:r>
              <a:rPr sz="1125" b="1">
                <a:solidFill>
                  <a:srgbClr val="CCFF00"/>
                </a:solidFill>
              </a:rPr>
              <a:t>2 targets</a:t>
            </a:r>
          </a:p>
        </p:txBody>
      </p:sp>
      <p:sp>
        <p:nvSpPr>
          <p:cNvPr id="71" name="profile-refresh-scale">
            <a:extLst xmlns:a="http://schemas.openxmlformats.org/drawingml/2006/main">
              <a:ext uri="{FF2B5EF4-FFF2-40B4-BE49-F238E27FC236}">
                <a16:creationId xmlns:a16="http://schemas.microsoft.com/office/drawing/2014/main" id="{0EBA4ACE-F87E-4608-8236-21237938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196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87938E"/>
                </a:solidFill>
              </a:defRPr>
            </a:pPr>
            <a:r>
              <a:rPr sz="825" b="0">
                <a:solidFill>
                  <a:srgbClr val="87938E"/>
                </a:solidFill>
              </a:rPr>
              <a:t>0                                      1                                      2</a:t>
            </a:r>
          </a:p>
        </p:txBody>
      </p:sp>
      <p:sp>
        <p:nvSpPr>
          <p:cNvPr id="72" name="satellite-visual-frame">
            <a:extLst xmlns:a="http://schemas.openxmlformats.org/drawingml/2006/main">
              <a:ext uri="{FF2B5EF4-FFF2-40B4-BE49-F238E27FC236}">
                <a16:creationId xmlns:a16="http://schemas.microsoft.com/office/drawing/2014/main" id="{E2998E41-0884-42F9-9E0D-8ED5D2C0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335280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80D0D"/>
          </a:solidFill>
          <a:ln xmlns:a="http://schemas.openxmlformats.org/drawingml/2006/main" w="9525">
            <a:solidFill>
              <a:srgbClr val="1E2B2A"/>
            </a:solidFill>
            <a:prstDash val="solid"/>
          </a:ln>
        </p:spPr>
      </p:sp>
      <p:pic>
        <p:nvPicPr>
          <p:cNvPr id="1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0b0d7bbce64bf2"/>
          <a:srcRect xmlns:a="http://schemas.openxmlformats.org/drawingml/2006/main" l="8047" t="0" r="8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2419350"/>
            <a:ext cx="3238500" cy="2171700"/>
          </a:xfrm>
          <a:prstGeom xmlns:a="http://schemas.openxmlformats.org/drawingml/2006/main" prst="rect">
            <a:avLst/>
          </a:prstGeom>
        </p:spPr>
      </p:pic>
      <p:sp>
        <p:nvSpPr>
          <p:cNvPr id="74" name="satellite-visual-caption-plate">
            <a:extLst xmlns:a="http://schemas.openxmlformats.org/drawingml/2006/main">
              <a:ext uri="{FF2B5EF4-FFF2-40B4-BE49-F238E27FC236}">
                <a16:creationId xmlns:a16="http://schemas.microsoft.com/office/drawing/2014/main" id="{9C59EF8A-0981-4F28-A59F-59CBCF0A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672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F"/>
          </a:solidFill>
          <a:ln xmlns:a="http://schemas.openxmlformats.org/drawingml/2006/main" w="0">
            <a:solidFill>
              <a:srgbClr val="07110F"/>
            </a:solidFill>
            <a:prstDash val="solid"/>
          </a:ln>
        </p:spPr>
      </p:sp>
      <p:sp>
        <p:nvSpPr>
          <p:cNvPr id="75" name="satellite-visual-caption">
            <a:extLst xmlns:a="http://schemas.openxmlformats.org/drawingml/2006/main">
              <a:ext uri="{FF2B5EF4-FFF2-40B4-BE49-F238E27FC236}">
                <a16:creationId xmlns:a16="http://schemas.microsoft.com/office/drawing/2014/main" id="{5F6917CD-7851-4ED1-BB1C-C3CDD451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243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CCFF00"/>
                </a:solidFill>
              </a:defRPr>
            </a:pPr>
            <a:r>
              <a:rPr sz="900" b="1">
                <a:solidFill>
                  <a:srgbClr val="CCFF00"/>
                </a:solidFill>
              </a:rPr>
              <a:t>SPACE INFRASTRUCTURE  /  DATA QUALITY</a:t>
            </a:r>
          </a:p>
        </p:txBody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fa8e4ac15404c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a144d4ecd48bf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category is already large; the wedge is still focused.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Use external category context for TAM / SAM; keep SOM bottom-up and honest.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SOURCED CATEGORY CONTEXT  /  INTERNAL SOM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300" b="1">
                <a:solidFill>
                  <a:srgbClr val="CCFF00"/>
                </a:solidFill>
              </a:defRPr>
            </a:pPr>
            <a:r>
              <a:rPr sz="3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in 2025.</a:t>
            </a:r>
            <a:endParaRPr sz="1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WEF / McKinsey: $1.8T by 2035.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$165.2B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89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Satellite ground segment + GNSS equipment / 2025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8337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fleet accounts × $100k annual platform value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TAM / SAM are category context; SOM is an internal revenue target, not market share.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8C630A04-5A25-9E0C-9436-126091DB86B3}" type="slidenum">
              <a:rPr b="0">
                <a:solidFill>
                  <a:srgbClr val="F3F0E8"/>
                </a:solidFill>
              </a:rPr>
              <a:t>6</a:t>
            </a:fld>
            <a:endParaRPr/>
          </a:p>
        </p:txBody>
      </p:sp>
      <p:sp>
        <p:nvSpPr>
          <p:cNvPr id="34" name="market-sizing-source-rail">
            <a:extLst xmlns:a="http://schemas.openxmlformats.org/drawingml/2006/main">
              <a:ext uri="{FF2B5EF4-FFF2-40B4-BE49-F238E27FC236}">
                <a16:creationId xmlns:a16="http://schemas.microsoft.com/office/drawing/2014/main" id="{E6EBC99A-36BC-4B4C-876F-EBDBE7BC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51054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36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A0EFAA6E-DA1F-4B35-941E-F8200EFE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37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8B3CBF22-A64F-46FC-ACBC-F12E3D45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38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FB53A703-F713-42F5-951B-C63D2002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39" name="tam-circle">
            <a:extLst xmlns:a="http://schemas.openxmlformats.org/drawingml/2006/main">
              <a:ext uri="{FF2B5EF4-FFF2-40B4-BE49-F238E27FC236}">
                <a16:creationId xmlns:a16="http://schemas.microsoft.com/office/drawing/2014/main" id="{F15158F9-7BA9-4DA9-988D-9E6D685D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40" name="sam-circle">
            <a:extLst xmlns:a="http://schemas.openxmlformats.org/drawingml/2006/main">
              <a:ext uri="{FF2B5EF4-FFF2-40B4-BE49-F238E27FC236}">
                <a16:creationId xmlns:a16="http://schemas.microsoft.com/office/drawing/2014/main" id="{9FE649E7-F725-455F-93EB-6EEEA3EB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41" name="som-circle">
            <a:extLst xmlns:a="http://schemas.openxmlformats.org/drawingml/2006/main">
              <a:ext uri="{FF2B5EF4-FFF2-40B4-BE49-F238E27FC236}">
                <a16:creationId xmlns:a16="http://schemas.microsoft.com/office/drawing/2014/main" id="{08D5CA1B-A76B-4D63-AF61-877F3F3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42" name="tam-label">
            <a:extLst xmlns:a="http://schemas.openxmlformats.org/drawingml/2006/main">
              <a:ext uri="{FF2B5EF4-FFF2-40B4-BE49-F238E27FC236}">
                <a16:creationId xmlns:a16="http://schemas.microsoft.com/office/drawing/2014/main" id="{E4203463-C126-445B-8E39-4B5B7FB5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43" name="tam-value">
            <a:extLst xmlns:a="http://schemas.openxmlformats.org/drawingml/2006/main">
              <a:ext uri="{FF2B5EF4-FFF2-40B4-BE49-F238E27FC236}">
                <a16:creationId xmlns:a16="http://schemas.microsoft.com/office/drawing/2014/main" id="{CD0FA7BB-0438-4C12-BB7B-EAB5D867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44" name="sam-label">
            <a:extLst xmlns:a="http://schemas.openxmlformats.org/drawingml/2006/main">
              <a:ext uri="{FF2B5EF4-FFF2-40B4-BE49-F238E27FC236}">
                <a16:creationId xmlns:a16="http://schemas.microsoft.com/office/drawing/2014/main" id="{0EB42066-324C-402F-82FF-D6A87E55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45" name="sam-value">
            <a:extLst xmlns:a="http://schemas.openxmlformats.org/drawingml/2006/main">
              <a:ext uri="{FF2B5EF4-FFF2-40B4-BE49-F238E27FC236}">
                <a16:creationId xmlns:a16="http://schemas.microsoft.com/office/drawing/2014/main" id="{5C90AF37-8446-42E2-A879-B78AB1CF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46" name="som-label">
            <a:extLst xmlns:a="http://schemas.openxmlformats.org/drawingml/2006/main">
              <a:ext uri="{FF2B5EF4-FFF2-40B4-BE49-F238E27FC236}">
                <a16:creationId xmlns:a16="http://schemas.microsoft.com/office/drawing/2014/main" id="{A6F1F002-1E6B-437F-A3BE-CD6207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47" name="som-value">
            <a:extLst xmlns:a="http://schemas.openxmlformats.org/drawingml/2006/main">
              <a:ext uri="{FF2B5EF4-FFF2-40B4-BE49-F238E27FC236}">
                <a16:creationId xmlns:a16="http://schemas.microsoft.com/office/drawing/2014/main" id="{78793726-F8B2-49B5-8A3B-D37C1109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48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6D7973CC-0E73-4309-A360-0253765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49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94208D2A-B891-4B01-8419-ACB3A461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50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5CEA3226-C27A-4DF2-809A-B4BA2D83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51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55EF4965-B6A0-447C-B6AE-AE7875C8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52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0B444715-BB72-4F9B-A3DF-56C45872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3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2DB5413A-3B2D-4F18-A94C-560C267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54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72E5719D-05A7-4FC8-BDBE-69D9BD41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55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E3865DFE-50E6-4A64-8B1E-95598C30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56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602BBBB3-1127-4CE0-BDC3-4375DF24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7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74400939-7645-431D-914D-6FC34138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58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C781EEC0-D5CC-49D5-964E-EE094290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59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4638959F-218A-447F-9F34-F4AA3EE3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60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486CE136-7F41-4A33-AFD7-F61C3626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61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C1531EBE-8DA6-4B39-963C-4393001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63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D6331308-A790-438C-AB29-2B574C84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17352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64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2662F969-85D5-48B0-9C1C-0C429CF7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65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1BC35C33-891D-49C0-A58C-CD42B4E5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66" name="tam-circle">
            <a:extLst xmlns:a="http://schemas.openxmlformats.org/drawingml/2006/main">
              <a:ext uri="{FF2B5EF4-FFF2-40B4-BE49-F238E27FC236}">
                <a16:creationId xmlns:a16="http://schemas.microsoft.com/office/drawing/2014/main" id="{E8FE0661-670B-4F1F-8CF5-A9ED45BF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67" name="sam-circle">
            <a:extLst xmlns:a="http://schemas.openxmlformats.org/drawingml/2006/main">
              <a:ext uri="{FF2B5EF4-FFF2-40B4-BE49-F238E27FC236}">
                <a16:creationId xmlns:a16="http://schemas.microsoft.com/office/drawing/2014/main" id="{5025CC37-63AA-4DD9-93AD-9853DD41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68" name="som-circle">
            <a:extLst xmlns:a="http://schemas.openxmlformats.org/drawingml/2006/main">
              <a:ext uri="{FF2B5EF4-FFF2-40B4-BE49-F238E27FC236}">
                <a16:creationId xmlns:a16="http://schemas.microsoft.com/office/drawing/2014/main" id="{F4FB33BA-3ADB-4FA3-B54D-29DCF4C1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69" name="tam-label">
            <a:extLst xmlns:a="http://schemas.openxmlformats.org/drawingml/2006/main">
              <a:ext uri="{FF2B5EF4-FFF2-40B4-BE49-F238E27FC236}">
                <a16:creationId xmlns:a16="http://schemas.microsoft.com/office/drawing/2014/main" id="{88B40003-23E9-4C87-A533-8E712CB3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0" name="tam-value">
            <a:extLst xmlns:a="http://schemas.openxmlformats.org/drawingml/2006/main">
              <a:ext uri="{FF2B5EF4-FFF2-40B4-BE49-F238E27FC236}">
                <a16:creationId xmlns:a16="http://schemas.microsoft.com/office/drawing/2014/main" id="{2F46CB14-9A59-423A-9501-A6DF4683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1" name="sam-label">
            <a:extLst xmlns:a="http://schemas.openxmlformats.org/drawingml/2006/main">
              <a:ext uri="{FF2B5EF4-FFF2-40B4-BE49-F238E27FC236}">
                <a16:creationId xmlns:a16="http://schemas.microsoft.com/office/drawing/2014/main" id="{C18A713F-9218-453A-AC54-97EC8B21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72" name="sam-value">
            <a:extLst xmlns:a="http://schemas.openxmlformats.org/drawingml/2006/main">
              <a:ext uri="{FF2B5EF4-FFF2-40B4-BE49-F238E27FC236}">
                <a16:creationId xmlns:a16="http://schemas.microsoft.com/office/drawing/2014/main" id="{4B25513A-8837-4E62-ACBF-DC10412E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73" name="som-label">
            <a:extLst xmlns:a="http://schemas.openxmlformats.org/drawingml/2006/main">
              <a:ext uri="{FF2B5EF4-FFF2-40B4-BE49-F238E27FC236}">
                <a16:creationId xmlns:a16="http://schemas.microsoft.com/office/drawing/2014/main" id="{EF2EEC7B-B8F8-4B44-B906-AED0F855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74" name="som-value">
            <a:extLst xmlns:a="http://schemas.openxmlformats.org/drawingml/2006/main">
              <a:ext uri="{FF2B5EF4-FFF2-40B4-BE49-F238E27FC236}">
                <a16:creationId xmlns:a16="http://schemas.microsoft.com/office/drawing/2014/main" id="{7D2C6529-93C3-450F-8F53-9A66C528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75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06DBEEC6-7C34-45E8-A7E4-47EBD281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76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EE954E91-1528-4149-A6AF-FD5B2A89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7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1FF898FF-7ED1-4AA6-AC52-029735A3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8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DD8871B9-7DE8-493E-B38F-5C03934F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79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7DC4FF44-B039-4C4B-AC26-4B0C2222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0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669AC8F2-B0DD-487C-BC68-60256E3B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81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1A203243-C2C5-4B4D-B9C0-93D65D3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82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B307FABB-4C80-4D39-A5B6-9D773526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83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9C4D61BB-E356-43F8-97CB-36FE43AB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4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DB6CBFCB-ED27-4EB0-902F-E39949AA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85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97EF1BCF-28CF-4EA9-9812-C48187E6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86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2D98C380-77D9-4BF5-A65F-49BF4B0C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87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B489445C-C1E5-402F-9672-FCE08486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88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985EE9CC-AA61-4157-9CA8-DB6BAB5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90" name="tam-sam-som-left-refresh-cover">
            <a:extLst xmlns:a="http://schemas.openxmlformats.org/drawingml/2006/main">
              <a:ext uri="{FF2B5EF4-FFF2-40B4-BE49-F238E27FC236}">
                <a16:creationId xmlns:a16="http://schemas.microsoft.com/office/drawing/2014/main" id="{356DF637-CA50-4C97-B693-9504FDB3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5720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91" name="tam-sam-som-refresh-kicker">
            <a:extLst xmlns:a="http://schemas.openxmlformats.org/drawingml/2006/main">
              <a:ext uri="{FF2B5EF4-FFF2-40B4-BE49-F238E27FC236}">
                <a16:creationId xmlns:a16="http://schemas.microsoft.com/office/drawing/2014/main" id="{8382F87F-2D89-4EBA-8D38-70A4EC60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92" name="tam-sam-som-refresh-scale-note">
            <a:extLst xmlns:a="http://schemas.openxmlformats.org/drawingml/2006/main">
              <a:ext uri="{FF2B5EF4-FFF2-40B4-BE49-F238E27FC236}">
                <a16:creationId xmlns:a16="http://schemas.microsoft.com/office/drawing/2014/main" id="{630C2E7B-88FB-4E3C-8DF7-8F6C1577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F3F0E8"/>
                </a:solidFill>
              </a:defRPr>
            </a:pPr>
            <a:r>
              <a:rPr sz="975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93" name="tam-leader">
            <a:extLst xmlns:a="http://schemas.openxmlformats.org/drawingml/2006/main">
              <a:ext uri="{FF2B5EF4-FFF2-40B4-BE49-F238E27FC236}">
                <a16:creationId xmlns:a16="http://schemas.microsoft.com/office/drawing/2014/main" id="{1E53EFED-C223-40B3-A7DE-BA68CEF5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257550"/>
            <a:ext cx="638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94" name="sam-leader">
            <a:extLst xmlns:a="http://schemas.openxmlformats.org/drawingml/2006/main">
              <a:ext uri="{FF2B5EF4-FFF2-40B4-BE49-F238E27FC236}">
                <a16:creationId xmlns:a16="http://schemas.microsoft.com/office/drawing/2014/main" id="{5E8A2A4A-1084-49B7-8396-13F353D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19575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95" name="som-leader">
            <a:extLst xmlns:a="http://schemas.openxmlformats.org/drawingml/2006/main">
              <a:ext uri="{FF2B5EF4-FFF2-40B4-BE49-F238E27FC236}">
                <a16:creationId xmlns:a16="http://schemas.microsoft.com/office/drawing/2014/main" id="{5A53F88B-5FFD-48BF-A089-131A6279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91075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96" name="tam-circle-refresh">
            <a:extLst xmlns:a="http://schemas.openxmlformats.org/drawingml/2006/main">
              <a:ext uri="{FF2B5EF4-FFF2-40B4-BE49-F238E27FC236}">
                <a16:creationId xmlns:a16="http://schemas.microsoft.com/office/drawing/2014/main" id="{3692CDEF-866E-4DBC-A942-FF93B47B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513"/>
          </a:solidFill>
          <a:ln xmlns:a="http://schemas.openxmlformats.org/drawingml/2006/main" w="9525">
            <a:solidFill>
              <a:srgbClr val="21443D"/>
            </a:solidFill>
            <a:prstDash val="solid"/>
          </a:ln>
        </p:spPr>
      </p:sp>
      <p:sp>
        <p:nvSpPr>
          <p:cNvPr id="97" name="sam-circle-refresh">
            <a:extLst xmlns:a="http://schemas.openxmlformats.org/drawingml/2006/main">
              <a:ext uri="{FF2B5EF4-FFF2-40B4-BE49-F238E27FC236}">
                <a16:creationId xmlns:a16="http://schemas.microsoft.com/office/drawing/2014/main" id="{B4F98CA0-929B-4F5E-8D39-F78FBBE5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3A2A"/>
          </a:solidFill>
          <a:ln xmlns:a="http://schemas.openxmlformats.org/drawingml/2006/main" w="9525">
            <a:solidFill>
              <a:srgbClr val="4E9A39"/>
            </a:solidFill>
            <a:prstDash val="solid"/>
          </a:ln>
        </p:spPr>
      </p:sp>
      <p:sp>
        <p:nvSpPr>
          <p:cNvPr id="98" name="som-circle-refresh">
            <a:extLst xmlns:a="http://schemas.openxmlformats.org/drawingml/2006/main">
              <a:ext uri="{FF2B5EF4-FFF2-40B4-BE49-F238E27FC236}">
                <a16:creationId xmlns:a16="http://schemas.microsoft.com/office/drawing/2014/main" id="{22A82570-A380-4132-88EA-C6C63DCF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1A04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99" name="tam-callout-label">
            <a:extLst xmlns:a="http://schemas.openxmlformats.org/drawingml/2006/main">
              <a:ext uri="{FF2B5EF4-FFF2-40B4-BE49-F238E27FC236}">
                <a16:creationId xmlns:a16="http://schemas.microsoft.com/office/drawing/2014/main" id="{7A1DA87E-1128-40D8-B6B0-9307AEA0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6705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100" name="tam-callout-value">
            <a:extLst xmlns:a="http://schemas.openxmlformats.org/drawingml/2006/main">
              <a:ext uri="{FF2B5EF4-FFF2-40B4-BE49-F238E27FC236}">
                <a16:creationId xmlns:a16="http://schemas.microsoft.com/office/drawing/2014/main" id="{F1E1CF5E-6CBF-455B-B7CC-8B99CD06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76600"/>
            <a:ext cx="990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CCFF00"/>
                </a:solidFill>
              </a:defRPr>
            </a:pPr>
            <a:r>
              <a:rPr sz="1275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101" name="sam-callout-label">
            <a:extLst xmlns:a="http://schemas.openxmlformats.org/drawingml/2006/main">
              <a:ext uri="{FF2B5EF4-FFF2-40B4-BE49-F238E27FC236}">
                <a16:creationId xmlns:a16="http://schemas.microsoft.com/office/drawing/2014/main" id="{51DA6B4C-4162-40BC-A530-915B24FD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29075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102" name="sam-callout-value">
            <a:extLst xmlns:a="http://schemas.openxmlformats.org/drawingml/2006/main">
              <a:ext uri="{FF2B5EF4-FFF2-40B4-BE49-F238E27FC236}">
                <a16:creationId xmlns:a16="http://schemas.microsoft.com/office/drawing/2014/main" id="{865DC283-8B9E-4075-8516-592DEF4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38625"/>
            <a:ext cx="990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CCFF00"/>
                </a:solidFill>
              </a:defRPr>
            </a:pPr>
            <a:r>
              <a:rPr sz="1275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103" name="som-callout-label">
            <a:extLst xmlns:a="http://schemas.openxmlformats.org/drawingml/2006/main">
              <a:ext uri="{FF2B5EF4-FFF2-40B4-BE49-F238E27FC236}">
                <a16:creationId xmlns:a16="http://schemas.microsoft.com/office/drawing/2014/main" id="{A650FE48-E5A4-4007-A3F5-D3BC95FE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91075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104" name="som-callout-value">
            <a:extLst xmlns:a="http://schemas.openxmlformats.org/drawingml/2006/main">
              <a:ext uri="{FF2B5EF4-FFF2-40B4-BE49-F238E27FC236}">
                <a16:creationId xmlns:a16="http://schemas.microsoft.com/office/drawing/2014/main" id="{9EE16EE3-4C30-4810-BC71-DF7B1B4C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000625"/>
            <a:ext cx="990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105" name="tam-sam-som-refresh-footnote">
            <a:extLst xmlns:a="http://schemas.openxmlformats.org/drawingml/2006/main">
              <a:ext uri="{FF2B5EF4-FFF2-40B4-BE49-F238E27FC236}">
                <a16:creationId xmlns:a16="http://schemas.microsoft.com/office/drawing/2014/main" id="{3BE64F4F-152A-4D63-A51D-F0A7DC79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72150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Scale shows focus; the SOM remains a bottom-up revenue target.</a:t>
            </a:r>
          </a:p>
        </p:txBody>
      </p:sp>
      <p:pic>
        <p:nvPicPr>
          <p:cNvPr id="2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fdfcbda9af4d81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CCFF00"/>
                </a:solidFill>
              </a:defRPr>
            </a:pPr>
            <a:r>
              <a:rPr sz="315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paid ground / integration accounts can establish the first recurring revenue base.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RETURN + OFF-TAKERS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40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6e5c18315147ac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29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975">
                <a:solidFill>
                  <a:srgbClr val="F3F0E8"/>
                </a:solidFill>
              </a:defRPr>
            </a:pPr>
            <a:r>
              <a:rPr sz="975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OFF-TAKERS / BUYERS</a:t>
            </a:r>
            <a:endParaRPr sz="8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975">
                <a:solidFill>
                  <a:srgbClr val="F3F0E8"/>
                </a:solidFill>
              </a:defRPr>
            </a:pPr>
            <a:r>
              <a:rPr sz="975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Mission-control  •  ground-segment  •  systems integrators</a:t>
            </a:r>
            <a:endParaRPr sz="8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975">
                <a:solidFill>
                  <a:srgbClr val="F3F0E8"/>
                </a:solidFill>
              </a:defRPr>
            </a:pPr>
            <a:r>
              <a:rPr sz="975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Planning case; not signed pipeline.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3D7D1C8-AE23-AA48-DF65-C742588DBE47}" type="slidenum">
              <a:rPr b="0">
                <a:solidFill>
                  <a:srgbClr val="F3F0E8"/>
                </a:solidFill>
              </a:rPr>
              <a:t>7</a:t>
            </a:fld>
            <a:endParaRPr/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4dc8faa68413f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90c829f1f496f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connects mission operations to AI assurance.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Adjacent platforms solve a layer; Gauss connects the evidence needed to act.</a:t>
            </a:r>
            <a:endParaRPr sz="1500"/>
          </a:p>
        </p:txBody>
      </p:sp>
      <p:graphicFrame>
        <p:nvGraphicFramePr>
          <p:cNvPr id="259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Illustrative public positioning; not feature parity or partnership evidence.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BA58DA2A-B818-18A9-29C1-B697728D5BCE}" type="slidenum">
              <a:rPr b="0">
                <a:solidFill>
                  <a:srgbClr val="F3F0E8"/>
                </a:solidFill>
              </a:rPr>
              <a:t>8</a:t>
            </a:fld>
            <a:endParaRPr/>
          </a:p>
        </p:txBody>
      </p:sp>
      <p:pic>
        <p:nvPicPr>
          <p:cNvPr id="2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6ff257010410a">
            <a:extLst>
              <a:ext uri="{96DAC541-7B7A-43D3-8B79-37D633B846F1}">
                <asvg:svgBlip xmlns:asvg="http://schemas.microsoft.com/office/drawing/2016/SVG/main" r:embed="R31757d4c8d254e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ba9a0774f42bd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0d1bfdf0c4186">
            <a:extLst>
              <a:ext uri="{96DAC541-7B7A-43D3-8B79-37D633B846F1}">
                <asvg:svgBlip xmlns:asvg="http://schemas.microsoft.com/office/drawing/2016/SVG/main" r:embed="Rb4b9058f44eb4e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89fb3747c9472e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e85e7a6df4eb3">
            <a:extLst>
              <a:ext uri="{96DAC541-7B7A-43D3-8B79-37D633B846F1}">
                <asvg:svgBlip xmlns:asvg="http://schemas.microsoft.com/office/drawing/2016/SVG/main" r:embed="R3453d7f1efd24b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440e3f7734e80">
            <a:extLst>
              <a:ext uri="{96DAC541-7B7A-43D3-8B79-37D633B846F1}">
                <asvg:svgBlip xmlns:asvg="http://schemas.microsoft.com/office/drawing/2016/SVG/main" r:embed="Rc4ff49648fcd46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0f7732424e4dd8">
            <a:extLst>
              <a:ext uri="{96DAC541-7B7A-43D3-8B79-37D633B846F1}">
                <asvg:svgBlip xmlns:asvg="http://schemas.microsoft.com/office/drawing/2016/SVG/main" r:embed="R3eef7b746b7647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c11d8db80411e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1d684fa6f4cd9">
            <a:extLst>
              <a:ext uri="{96DAC541-7B7A-43D3-8B79-37D633B846F1}">
                <asvg:svgBlip xmlns:asvg="http://schemas.microsoft.com/office/drawing/2016/SVG/main" r:embed="Ra5d69f069b0b42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425e13b5741be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2165c850e4b7f">
            <a:extLst>
              <a:ext uri="{96DAC541-7B7A-43D3-8B79-37D633B846F1}">
                <asvg:svgBlip xmlns:asvg="http://schemas.microsoft.com/office/drawing/2016/SVG/main" r:embed="R8a0608688a1947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6677eba894402">
            <a:extLst>
              <a:ext uri="{96DAC541-7B7A-43D3-8B79-37D633B846F1}">
                <asvg:svgBlip xmlns:asvg="http://schemas.microsoft.com/office/drawing/2016/SVG/main" r:embed="R04a25375581145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5cce46be84427">
            <a:extLst>
              <a:ext uri="{96DAC541-7B7A-43D3-8B79-37D633B846F1}">
                <asvg:svgBlip xmlns:asvg="http://schemas.microsoft.com/office/drawing/2016/SVG/main" r:embed="R2d91cbba69544d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e9928de724455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90c829f1f496f">
            <a:extLst>
              <a:ext uri="{96DAC541-7B7A-43D3-8B79-37D633B846F1}">
                <asvg:svgBlip xmlns:asvg="http://schemas.microsoft.com/office/drawing/2016/SVG/main" r:embed="Rb3eadb012da842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6b1840eb54db6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ba9a0774f42bd">
            <a:extLst>
              <a:ext uri="{96DAC541-7B7A-43D3-8B79-37D633B846F1}">
                <asvg:svgBlip xmlns:asvg="http://schemas.microsoft.com/office/drawing/2016/SVG/main" r:embed="R281c500327aa48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89fb3747c9472e">
            <a:extLst>
              <a:ext uri="{96DAC541-7B7A-43D3-8B79-37D633B846F1}">
                <asvg:svgBlip xmlns:asvg="http://schemas.microsoft.com/office/drawing/2016/SVG/main" r:embed="R8a115cf3fe604a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c11d8db80411e">
            <a:extLst>
              <a:ext uri="{96DAC541-7B7A-43D3-8B79-37D633B846F1}">
                <asvg:svgBlip xmlns:asvg="http://schemas.microsoft.com/office/drawing/2016/SVG/main" r:embed="Rcc49b91e9f4948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a169610414192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425e13b5741be">
            <a:extLst>
              <a:ext uri="{96DAC541-7B7A-43D3-8B79-37D633B846F1}">
                <asvg:svgBlip xmlns:asvg="http://schemas.microsoft.com/office/drawing/2016/SVG/main" r:embed="R13e08e1c70454e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ca4b46d204632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e9928de724455">
            <a:extLst>
              <a:ext uri="{96DAC541-7B7A-43D3-8B79-37D633B846F1}">
                <asvg:svgBlip xmlns:asvg="http://schemas.microsoft.com/office/drawing/2016/SVG/main" r:embed="R5730b34bf0aa4a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6b1840eb54db6">
            <a:extLst>
              <a:ext uri="{96DAC541-7B7A-43D3-8B79-37D633B846F1}">
                <asvg:svgBlip xmlns:asvg="http://schemas.microsoft.com/office/drawing/2016/SVG/main" r:embed="Rcd76162d7cf941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96" name="competitor-table-cover">
            <a:extLst xmlns:a="http://schemas.openxmlformats.org/drawingml/2006/main">
              <a:ext uri="{FF2B5EF4-FFF2-40B4-BE49-F238E27FC236}">
                <a16:creationId xmlns:a16="http://schemas.microsoft.com/office/drawing/2014/main" id="{7B71F5B7-1081-43B4-8697-83DB9024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197" name="competitor-matrix-frame">
            <a:extLst xmlns:a="http://schemas.openxmlformats.org/drawingml/2006/main">
              <a:ext uri="{FF2B5EF4-FFF2-40B4-BE49-F238E27FC236}">
                <a16:creationId xmlns:a16="http://schemas.microsoft.com/office/drawing/2014/main" id="{3CD87437-A97A-43A2-AFB1-8D2CE86C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99441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D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198" name="competitor-matrix-axis-y">
            <a:extLst xmlns:a="http://schemas.openxmlformats.org/drawingml/2006/main">
              <a:ext uri="{FF2B5EF4-FFF2-40B4-BE49-F238E27FC236}">
                <a16:creationId xmlns:a16="http://schemas.microsoft.com/office/drawing/2014/main" id="{91782250-7E22-404F-A997-FC4D3C4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95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199" name="competitor-matrix-axis-x">
            <a:extLst xmlns:a="http://schemas.openxmlformats.org/drawingml/2006/main">
              <a:ext uri="{FF2B5EF4-FFF2-40B4-BE49-F238E27FC236}">
                <a16:creationId xmlns:a16="http://schemas.microsoft.com/office/drawing/2014/main" id="{CF4DD817-6381-4653-AFFD-99078A63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994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200" name="matrix-axis-left">
            <a:extLst xmlns:a="http://schemas.openxmlformats.org/drawingml/2006/main">
              <a:ext uri="{FF2B5EF4-FFF2-40B4-BE49-F238E27FC236}">
                <a16:creationId xmlns:a16="http://schemas.microsoft.com/office/drawing/2014/main" id="{77C27F64-C945-4ED8-A1EB-250A765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MISSION-SPECIFIC</a:t>
            </a:r>
          </a:p>
        </p:txBody>
      </p:sp>
      <p:sp>
        <p:nvSpPr>
          <p:cNvPr id="201" name="matrix-axis-top">
            <a:extLst xmlns:a="http://schemas.openxmlformats.org/drawingml/2006/main">
              <a:ext uri="{FF2B5EF4-FFF2-40B4-BE49-F238E27FC236}">
                <a16:creationId xmlns:a16="http://schemas.microsoft.com/office/drawing/2014/main" id="{BF998FCF-3FF0-4FA4-8D13-EC0E616A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ASSURANCE</a:t>
            </a:r>
          </a:p>
        </p:txBody>
      </p:sp>
      <p:sp>
        <p:nvSpPr>
          <p:cNvPr id="202" name="matrix-axis-right">
            <a:extLst xmlns:a="http://schemas.openxmlformats.org/drawingml/2006/main">
              <a:ext uri="{FF2B5EF4-FFF2-40B4-BE49-F238E27FC236}">
                <a16:creationId xmlns:a16="http://schemas.microsoft.com/office/drawing/2014/main" id="{6E44C19A-B04E-4414-B7A7-B9596418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HORIZONTAL</a:t>
            </a:r>
          </a:p>
        </p:txBody>
      </p:sp>
      <p:sp>
        <p:nvSpPr>
          <p:cNvPr id="203" name="matrix-axis-bottom">
            <a:extLst xmlns:a="http://schemas.openxmlformats.org/drawingml/2006/main">
              <a:ext uri="{FF2B5EF4-FFF2-40B4-BE49-F238E27FC236}">
                <a16:creationId xmlns:a16="http://schemas.microsoft.com/office/drawing/2014/main" id="{1FBB797E-BA2D-47A5-AEFE-6EA73428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EXECUTION</a:t>
            </a:r>
          </a:p>
        </p:txBody>
      </p:sp>
      <p:sp>
        <p:nvSpPr>
          <p:cNvPr id="204" name="matrix-pill-Yamcs mission control">
            <a:extLst xmlns:a="http://schemas.openxmlformats.org/drawingml/2006/main">
              <a:ext uri="{FF2B5EF4-FFF2-40B4-BE49-F238E27FC236}">
                <a16:creationId xmlns:a16="http://schemas.microsoft.com/office/drawing/2014/main" id="{3C648652-5600-4EAC-863A-90E21CDF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799aa12c84de4"/>
          <a:stretch xmlns:a="http://schemas.openxmlformats.org/drawingml/2006/main"/>
        </p:blipFill>
        <p:spPr>
          <a:xfrm xmlns:a="http://schemas.openxmlformats.org/drawingml/2006/main">
            <a:off x="2085975" y="3314700"/>
            <a:ext cx="685800" cy="285750"/>
          </a:xfrm>
          <a:prstGeom xmlns:a="http://schemas.openxmlformats.org/drawingml/2006/main" prst="rect">
            <a:avLst/>
          </a:prstGeom>
        </p:spPr>
      </p:pic>
      <p:sp>
        <p:nvSpPr>
          <p:cNvPr id="206" name="matrix-pill-OpenC3 COSMOS">
            <a:extLst xmlns:a="http://schemas.openxmlformats.org/drawingml/2006/main">
              <a:ext uri="{FF2B5EF4-FFF2-40B4-BE49-F238E27FC236}">
                <a16:creationId xmlns:a16="http://schemas.microsoft.com/office/drawing/2014/main" id="{289BB2E7-7B10-4612-BB3B-4D0CA654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eb8d9070d4874"/>
          <a:stretch xmlns:a="http://schemas.openxmlformats.org/drawingml/2006/main"/>
        </p:blipFill>
        <p:spPr>
          <a:xfrm xmlns:a="http://schemas.openxmlformats.org/drawingml/2006/main">
            <a:off x="3047426" y="4267200"/>
            <a:ext cx="1239398" cy="285750"/>
          </a:xfrm>
          <a:prstGeom xmlns:a="http://schemas.openxmlformats.org/drawingml/2006/main" prst="rect">
            <a:avLst/>
          </a:prstGeom>
        </p:spPr>
      </p:pic>
      <p:sp>
        <p:nvSpPr>
          <p:cNvPr id="208" name="matrix-pill-Slingshot Portal">
            <a:extLst xmlns:a="http://schemas.openxmlformats.org/drawingml/2006/main">
              <a:ext uri="{FF2B5EF4-FFF2-40B4-BE49-F238E27FC236}">
                <a16:creationId xmlns:a16="http://schemas.microsoft.com/office/drawing/2014/main" id="{16ADDABC-DC77-4DF1-8230-370A9CE1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ca0eab36f4983"/>
          <a:stretch xmlns:a="http://schemas.openxmlformats.org/drawingml/2006/main"/>
        </p:blipFill>
        <p:spPr>
          <a:xfrm xmlns:a="http://schemas.openxmlformats.org/drawingml/2006/main">
            <a:off x="3081305" y="2838450"/>
            <a:ext cx="1171640" cy="285750"/>
          </a:xfrm>
          <a:prstGeom xmlns:a="http://schemas.openxmlformats.org/drawingml/2006/main" prst="rect">
            <a:avLst/>
          </a:prstGeom>
        </p:spPr>
      </p:pic>
      <p:sp>
        <p:nvSpPr>
          <p:cNvPr id="210" name="matrix-pill-AIKO orbital_OLIVER">
            <a:extLst xmlns:a="http://schemas.openxmlformats.org/drawingml/2006/main">
              <a:ext uri="{FF2B5EF4-FFF2-40B4-BE49-F238E27FC236}">
                <a16:creationId xmlns:a16="http://schemas.microsoft.com/office/drawing/2014/main" id="{89A8AB5E-4A8F-4FEB-8D27-3D708BC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6df05bbb4434d"/>
          <a:stretch xmlns:a="http://schemas.openxmlformats.org/drawingml/2006/main"/>
        </p:blipFill>
        <p:spPr>
          <a:xfrm xmlns:a="http://schemas.openxmlformats.org/drawingml/2006/main">
            <a:off x="4791075" y="4267200"/>
            <a:ext cx="1371600" cy="285750"/>
          </a:xfrm>
          <a:prstGeom xmlns:a="http://schemas.openxmlformats.org/drawingml/2006/main" prst="rect">
            <a:avLst/>
          </a:prstGeom>
        </p:spPr>
      </p:pic>
      <p:sp>
        <p:nvSpPr>
          <p:cNvPr id="212" name="matrix-pill-Arize AI observability">
            <a:extLst xmlns:a="http://schemas.openxmlformats.org/drawingml/2006/main">
              <a:ext uri="{FF2B5EF4-FFF2-40B4-BE49-F238E27FC236}">
                <a16:creationId xmlns:a16="http://schemas.microsoft.com/office/drawing/2014/main" id="{02D4F407-8847-4FC0-B8FD-1008E999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321cd3afc42fc"/>
          <a:stretch xmlns:a="http://schemas.openxmlformats.org/drawingml/2006/main"/>
        </p:blipFill>
        <p:spPr>
          <a:xfrm xmlns:a="http://schemas.openxmlformats.org/drawingml/2006/main">
            <a:off x="7705567" y="2838450"/>
            <a:ext cx="1067116" cy="285750"/>
          </a:xfrm>
          <a:prstGeom xmlns:a="http://schemas.openxmlformats.org/drawingml/2006/main" prst="rect">
            <a:avLst/>
          </a:prstGeom>
        </p:spPr>
      </p:pic>
      <p:sp>
        <p:nvSpPr>
          <p:cNvPr id="214" name="matrix-pill-Fiddler AI observability">
            <a:extLst xmlns:a="http://schemas.openxmlformats.org/drawingml/2006/main">
              <a:ext uri="{FF2B5EF4-FFF2-40B4-BE49-F238E27FC236}">
                <a16:creationId xmlns:a16="http://schemas.microsoft.com/office/drawing/2014/main" id="{CE441D4B-5FEC-45DB-895D-BC52223E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0e3f097e4bfd"/>
          <a:stretch xmlns:a="http://schemas.openxmlformats.org/drawingml/2006/main"/>
        </p:blipFill>
        <p:spPr>
          <a:xfrm xmlns:a="http://schemas.openxmlformats.org/drawingml/2006/main">
            <a:off x="8743974" y="4267200"/>
            <a:ext cx="1276303" cy="285750"/>
          </a:xfrm>
          <a:prstGeom xmlns:a="http://schemas.openxmlformats.org/drawingml/2006/main" prst="rect">
            <a:avLst/>
          </a:prstGeom>
        </p:spPr>
      </p:pic>
      <p:sp>
        <p:nvSpPr>
          <p:cNvPr id="216" name="matrix-gauss-pill">
            <a:extLst xmlns:a="http://schemas.openxmlformats.org/drawingml/2006/main">
              <a:ext uri="{FF2B5EF4-FFF2-40B4-BE49-F238E27FC236}">
                <a16:creationId xmlns:a16="http://schemas.microsoft.com/office/drawing/2014/main" id="{E7873DC8-8B48-4072-947A-60A7BEF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217" name="matrix-gauss-label">
            <a:extLst xmlns:a="http://schemas.openxmlformats.org/drawingml/2006/main">
              <a:ext uri="{FF2B5EF4-FFF2-40B4-BE49-F238E27FC236}">
                <a16:creationId xmlns:a16="http://schemas.microsoft.com/office/drawing/2014/main" id="{002E9A79-4AB2-4219-9EF3-38EBFCED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43275"/>
            <a:ext cx="1123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GAUSS</a:t>
            </a:r>
          </a:p>
        </p:txBody>
      </p:sp>
      <p:pic>
        <p:nvPicPr>
          <p:cNvPr id="3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73ff7cb594a61"/>
          <a:stretch xmlns:a="http://schemas.openxmlformats.org/drawingml/2006/main"/>
        </p:blipFill>
        <p:spPr>
          <a:xfrm xmlns:a="http://schemas.openxmlformats.org/drawingml/2006/main">
            <a:off x="8658225" y="3343275"/>
            <a:ext cx="228600" cy="228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70bf1851d04b35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59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88657AE-30A1-5A7A-6A7F-315D84436430}" type="slidenum">
              <a:rPr b="0">
                <a:solidFill>
                  <a:srgbClr val="F3F0E8"/>
                </a:solidFill>
              </a:rPr>
              <a:t>9</a:t>
            </a:fld>
            <a:endParaRPr/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6334939da447b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62d26eda442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7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20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 b="1">
                <a:solidFill>
                  <a:srgbClr val="F3F0E8"/>
                </a:solidFill>
              </a:defRPr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fund a 6–12 month ground-first programme to paid pilots.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PURPOSE / USE OF FUNDS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 RETURN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F3F0E8"/>
                </a:solidFill>
              </a:defRPr>
            </a:pPr>
            <a:r>
              <a:rPr sz="2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paid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F3F0E8"/>
                </a:solidFill>
              </a:defRPr>
            </a:pPr>
            <a:r>
              <a:rPr sz="2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Return case: five paid ground / integration accounts → $500k ARR.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B7BEEEC-A170-5376-2B6E-CB54687B0CB1}" type="slidenum">
              <a:rPr b="0">
                <a:solidFill>
                  <a:srgbClr val="F3F0E8"/>
                </a:solidFill>
              </a:rPr>
              <a:t>10</a:t>
            </a:fld>
            <a:endParaRPr/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515b7853f46da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2a61e26ef4c61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PROGRAMME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Six to twelve months to commercial proof.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Ground-first milestones; flight and IOD remain evidence-gated.</a:t>
            </a:r>
            <a:endParaRPr sz="1500"/>
          </a:p>
        </p:txBody>
      </p:sp>
      <p:graphicFrame>
        <p:nvGraphicFramePr>
          <p:cNvPr id="59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0394428-F1DC-E5F6-DB0C-7DE31F3D8A23}" type="slidenum">
              <a:rPr b="0">
                <a:solidFill>
                  <a:srgbClr val="F3F0E8"/>
                </a:solidFill>
              </a:rPr>
              <a:t>11</a:t>
            </a:fld>
            <a:endParaRPr/>
          </a:p>
        </p:txBody>
      </p:sp>
      <p:sp>
        <p:nvSpPr>
          <p:cNvPr id="28" name="programme-cover">
            <a:extLst xmlns:a="http://schemas.openxmlformats.org/drawingml/2006/main">
              <a:ext uri="{FF2B5EF4-FFF2-40B4-BE49-F238E27FC236}">
                <a16:creationId xmlns:a16="http://schemas.microsoft.com/office/drawing/2014/main" id="{B26E19C1-4BE6-43B7-818D-083F5F5F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17352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29" name="programme-duration-label">
            <a:extLst xmlns:a="http://schemas.openxmlformats.org/drawingml/2006/main">
              <a:ext uri="{FF2B5EF4-FFF2-40B4-BE49-F238E27FC236}">
                <a16:creationId xmlns:a16="http://schemas.microsoft.com/office/drawing/2014/main" id="{0AA88DCA-97FA-4179-AD7A-1B9F2A96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PROJECT DURATION</a:t>
            </a:r>
          </a:p>
        </p:txBody>
      </p:sp>
      <p:sp>
        <p:nvSpPr>
          <p:cNvPr id="30" name="programme-duration-value">
            <a:extLst xmlns:a="http://schemas.openxmlformats.org/drawingml/2006/main">
              <a:ext uri="{FF2B5EF4-FFF2-40B4-BE49-F238E27FC236}">
                <a16:creationId xmlns:a16="http://schemas.microsoft.com/office/drawing/2014/main" id="{6B2D23AA-058F-479E-B0CE-1FA281C1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66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CFF00"/>
                </a:solidFill>
              </a:defRPr>
            </a:pPr>
            <a:r>
              <a:rPr sz="1650" b="1">
                <a:solidFill>
                  <a:srgbClr val="CCFF00"/>
                </a:solidFill>
              </a:rPr>
              <a:t>6–12 MONTHS</a:t>
            </a:r>
          </a:p>
        </p:txBody>
      </p:sp>
      <p:sp>
        <p:nvSpPr>
          <p:cNvPr id="31" name="programme-timeline">
            <a:extLst xmlns:a="http://schemas.openxmlformats.org/drawingml/2006/main">
              <a:ext uri="{FF2B5EF4-FFF2-40B4-BE49-F238E27FC236}">
                <a16:creationId xmlns:a16="http://schemas.microsoft.com/office/drawing/2014/main" id="{D00BD1E0-722F-4937-B77D-75DFA230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24200"/>
            <a:ext cx="8610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32" name="programme-node-1">
            <a:extLst xmlns:a="http://schemas.openxmlformats.org/drawingml/2006/main">
              <a:ext uri="{FF2B5EF4-FFF2-40B4-BE49-F238E27FC236}">
                <a16:creationId xmlns:a16="http://schemas.microsoft.com/office/drawing/2014/main" id="{218BAB5E-B612-42A1-9947-3F111303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3" name="programme-node-2">
            <a:extLst xmlns:a="http://schemas.openxmlformats.org/drawingml/2006/main">
              <a:ext uri="{FF2B5EF4-FFF2-40B4-BE49-F238E27FC236}">
                <a16:creationId xmlns:a16="http://schemas.microsoft.com/office/drawing/2014/main" id="{3F11DBFD-40E0-4412-994A-5F51D9C2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4" name="programme-node-3">
            <a:extLst xmlns:a="http://schemas.openxmlformats.org/drawingml/2006/main">
              <a:ext uri="{FF2B5EF4-FFF2-40B4-BE49-F238E27FC236}">
                <a16:creationId xmlns:a16="http://schemas.microsoft.com/office/drawing/2014/main" id="{833812B2-0ED7-452B-8D9F-A9E2D69C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5" name="programme-step-1">
            <a:extLst xmlns:a="http://schemas.openxmlformats.org/drawingml/2006/main">
              <a:ext uri="{FF2B5EF4-FFF2-40B4-BE49-F238E27FC236}">
                <a16:creationId xmlns:a16="http://schemas.microsoft.com/office/drawing/2014/main" id="{F12E2EE4-1EEC-451C-8318-6F21B55E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01  /  DAYS 0–30</a:t>
            </a:r>
          </a:p>
        </p:txBody>
      </p:sp>
      <p:sp>
        <p:nvSpPr>
          <p:cNvPr id="36" name="programme-title-1">
            <a:extLst xmlns:a="http://schemas.openxmlformats.org/drawingml/2006/main">
              <a:ext uri="{FF2B5EF4-FFF2-40B4-BE49-F238E27FC236}">
                <a16:creationId xmlns:a16="http://schemas.microsoft.com/office/drawing/2014/main" id="{E53378A8-8FC5-4899-AC41-AC684649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Evidence + conversion</a:t>
            </a:r>
          </a:p>
        </p:txBody>
      </p:sp>
      <p:sp>
        <p:nvSpPr>
          <p:cNvPr id="37" name="programme-body-1">
            <a:extLst xmlns:a="http://schemas.openxmlformats.org/drawingml/2006/main">
              <a:ext uri="{FF2B5EF4-FFF2-40B4-BE49-F238E27FC236}">
                <a16:creationId xmlns:a16="http://schemas.microsoft.com/office/drawing/2014/main" id="{553F96E7-33D7-4965-9A47-EB0CBEBD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Radiation-resilience pack, commercial framing, and scoped partner work with mission-control / Yamcs and SSA data.</a:t>
            </a:r>
          </a:p>
        </p:txBody>
      </p:sp>
      <p:sp>
        <p:nvSpPr>
          <p:cNvPr id="38" name="programme-step-2">
            <a:extLst xmlns:a="http://schemas.openxmlformats.org/drawingml/2006/main">
              <a:ext uri="{FF2B5EF4-FFF2-40B4-BE49-F238E27FC236}">
                <a16:creationId xmlns:a16="http://schemas.microsoft.com/office/drawing/2014/main" id="{9FFAFD0B-396D-42F2-895D-D76A0A1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02  /  DAYS 31–60</a:t>
            </a:r>
          </a:p>
        </p:txBody>
      </p:sp>
      <p:sp>
        <p:nvSpPr>
          <p:cNvPr id="39" name="programme-title-2">
            <a:extLst xmlns:a="http://schemas.openxmlformats.org/drawingml/2006/main">
              <a:ext uri="{FF2B5EF4-FFF2-40B4-BE49-F238E27FC236}">
                <a16:creationId xmlns:a16="http://schemas.microsoft.com/office/drawing/2014/main" id="{6AEB2C5A-F278-4C58-BA37-0FD13608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Paid pilot readiness</a:t>
            </a:r>
          </a:p>
        </p:txBody>
      </p:sp>
      <p:sp>
        <p:nvSpPr>
          <p:cNvPr id="40" name="programme-body-2">
            <a:extLst xmlns:a="http://schemas.openxmlformats.org/drawingml/2006/main">
              <a:ext uri="{FF2B5EF4-FFF2-40B4-BE49-F238E27FC236}">
                <a16:creationId xmlns:a16="http://schemas.microsoft.com/office/drawing/2014/main" id="{AD80D1DB-FDC5-481F-AAA5-5890A4E1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Replay review, bounded data integration, target-compute benchmark, and security / data-residency pack.</a:t>
            </a:r>
          </a:p>
        </p:txBody>
      </p:sp>
      <p:sp>
        <p:nvSpPr>
          <p:cNvPr id="41" name="programme-step-3">
            <a:extLst xmlns:a="http://schemas.openxmlformats.org/drawingml/2006/main">
              <a:ext uri="{FF2B5EF4-FFF2-40B4-BE49-F238E27FC236}">
                <a16:creationId xmlns:a16="http://schemas.microsoft.com/office/drawing/2014/main" id="{CC94F305-FAEA-44AB-B95F-AD33F969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03  /  DAYS 61–90</a:t>
            </a:r>
          </a:p>
        </p:txBody>
      </p:sp>
      <p:sp>
        <p:nvSpPr>
          <p:cNvPr id="42" name="programme-title-3">
            <a:extLst xmlns:a="http://schemas.openxmlformats.org/drawingml/2006/main">
              <a:ext uri="{FF2B5EF4-FFF2-40B4-BE49-F238E27FC236}">
                <a16:creationId xmlns:a16="http://schemas.microsoft.com/office/drawing/2014/main" id="{1B57BC3D-BC87-492A-90E1-CA7DA659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Commercial proof</a:t>
            </a:r>
          </a:p>
        </p:txBody>
      </p:sp>
      <p:sp>
        <p:nvSpPr>
          <p:cNvPr id="43" name="programme-body-3">
            <a:extLst xmlns:a="http://schemas.openxmlformats.org/drawingml/2006/main">
              <a:ext uri="{FF2B5EF4-FFF2-40B4-BE49-F238E27FC236}">
                <a16:creationId xmlns:a16="http://schemas.microsoft.com/office/drawing/2014/main" id="{9C732FA4-8043-4FA3-B33A-DE352E98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Two design partners, one paid ground or integration pilot, and validated price / acceptance criteria.</a:t>
            </a:r>
          </a:p>
        </p:txBody>
      </p:sp>
      <p:sp>
        <p:nvSpPr>
          <p:cNvPr id="44" name="programme-expansion-gate">
            <a:extLst xmlns:a="http://schemas.openxmlformats.org/drawingml/2006/main">
              <a:ext uri="{FF2B5EF4-FFF2-40B4-BE49-F238E27FC236}">
                <a16:creationId xmlns:a16="http://schemas.microsoft.com/office/drawing/2014/main" id="{1D1E55C8-B644-4474-A00C-8CCAA91F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10058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45" name="programme-gate-label">
            <a:extLst xmlns:a="http://schemas.openxmlformats.org/drawingml/2006/main">
              <a:ext uri="{FF2B5EF4-FFF2-40B4-BE49-F238E27FC236}">
                <a16:creationId xmlns:a16="http://schemas.microsoft.com/office/drawing/2014/main" id="{DF33AF5A-C2E9-4095-90B8-B4A7A542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GATE TO EXPANSION</a:t>
            </a:r>
          </a:p>
        </p:txBody>
      </p:sp>
      <p:sp>
        <p:nvSpPr>
          <p:cNvPr id="46" name="programme-gate-copy">
            <a:extLst xmlns:a="http://schemas.openxmlformats.org/drawingml/2006/main">
              <a:ext uri="{FF2B5EF4-FFF2-40B4-BE49-F238E27FC236}">
                <a16:creationId xmlns:a16="http://schemas.microsoft.com/office/drawing/2014/main" id="{F915B4ED-5D2E-4E99-9088-9BC30F4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816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Flight Candidate Adapter / Federated Bridge Node only after named mission, target processor, partner and hardware evidence.</a:t>
            </a:r>
          </a:p>
        </p:txBody>
      </p:sp>
      <p:sp>
        <p:nvSpPr>
          <p:cNvPr id="47" name="programme-source-rail">
            <a:extLst xmlns:a="http://schemas.openxmlformats.org/drawingml/2006/main">
              <a:ext uri="{FF2B5EF4-FFF2-40B4-BE49-F238E27FC236}">
                <a16:creationId xmlns:a16="http://schemas.microsoft.com/office/drawing/2014/main" id="{3C186ABE-ADBF-4A36-9BB6-53B5C67B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1005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Plan follows the repository ground-first commercial memo; expansion claims remain explicitly gated.</a:t>
            </a:r>
          </a:p>
        </p:txBody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c9420dff44028"/>
          <a:stretch xmlns:a="http://schemas.openxmlformats.org/drawingml/2006/main"/>
        </p:blipFill>
        <p:spPr>
          <a:xfrm xmlns:a="http://schemas.openxmlformats.org/drawingml/2006/main">
            <a:off x="1581150" y="28575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2026-08-22T11:36:57.1680000Z</dcterms:created>
  <dcterms:modified xsi:type="dcterms:W3CDTF">2026-08-22T11:36:57.1680000Z</dcterms:modified>
</coreProperties>
</file>