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a341908a544ee" /><Relationship Type="http://schemas.openxmlformats.org/officeDocument/2006/relationships/extended-properties" Target="/docProps/app.xml" Id="Radbf5c52e5034ad9" /><Relationship Type="http://schemas.openxmlformats.org/officeDocument/2006/relationships/officeDocument" Target="/ppt/presentation.xml" Id="Rd9027b7c477f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9d552187d442e"/>
  </p:sldMasterIdLst>
  <p:notesMasterIdLst>
    <p:notesMasterId xmlns:r="http://schemas.openxmlformats.org/officeDocument/2006/relationships" r:id="R54f9bdcf93584e07"/>
  </p:notesMasterIdLst>
  <p:sldIdLst>
    <p:sldId xmlns:r="http://schemas.openxmlformats.org/officeDocument/2006/relationships" id="256" r:id="Rf2a05453359e468f"/>
    <p:sldId xmlns:r="http://schemas.openxmlformats.org/officeDocument/2006/relationships" id="257" r:id="R9e7964dd693c48df"/>
    <p:sldId xmlns:r="http://schemas.openxmlformats.org/officeDocument/2006/relationships" id="258" r:id="Reb1c60ab09794f0f"/>
    <p:sldId xmlns:r="http://schemas.openxmlformats.org/officeDocument/2006/relationships" id="259" r:id="R97a8ba40d0324725"/>
    <p:sldId xmlns:r="http://schemas.openxmlformats.org/officeDocument/2006/relationships" id="260" r:id="R0fa4fad7ed5143ae"/>
    <p:sldId xmlns:r="http://schemas.openxmlformats.org/officeDocument/2006/relationships" id="261" r:id="R16ba754629a04ba5"/>
    <p:sldId xmlns:r="http://schemas.openxmlformats.org/officeDocument/2006/relationships" id="262" r:id="Rd2f80880debf4840"/>
    <p:sldId xmlns:r="http://schemas.openxmlformats.org/officeDocument/2006/relationships" id="263" r:id="R441c21c00d894086"/>
    <p:sldId xmlns:r="http://schemas.openxmlformats.org/officeDocument/2006/relationships" id="264" r:id="Rc21d9d015ebd42b8"/>
    <p:sldId xmlns:r="http://schemas.openxmlformats.org/officeDocument/2006/relationships" id="265" r:id="Rdb215747b4e54b5d"/>
    <p:sldId xmlns:r="http://schemas.openxmlformats.org/officeDocument/2006/relationships" id="266" r:id="R4690759b86fc4fb9"/>
    <p:sldId xmlns:r="http://schemas.openxmlformats.org/officeDocument/2006/relationships" id="267" r:id="R7ec1641be95e4aa3"/>
    <p:sldId xmlns:r="http://schemas.openxmlformats.org/officeDocument/2006/relationships" id="268" r:id="R2a2627f6706c45f4"/>
    <p:sldId xmlns:r="http://schemas.openxmlformats.org/officeDocument/2006/relationships" id="269" r:id="R19b39269432e47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de06ed9854d55" /><Relationship Type="http://schemas.openxmlformats.org/officeDocument/2006/relationships/slideMaster" Target="/ppt/slideMasters/slideMaster1.xml" Id="Rabd9d552187d442e" /><Relationship Type="http://schemas.openxmlformats.org/officeDocument/2006/relationships/notesMaster" Target="/ppt/notesMasters/notesMaster1.xml" Id="R54f9bdcf93584e07" /><Relationship Type="http://schemas.openxmlformats.org/officeDocument/2006/relationships/presProps" Target="/ppt/presProps.xml" Id="R550ead789a054cfe" /><Relationship Type="http://schemas.openxmlformats.org/officeDocument/2006/relationships/viewProps" Target="/ppt/viewProps.xml" Id="R5f79c6dd05ee420c" /><Relationship Type="http://schemas.openxmlformats.org/officeDocument/2006/relationships/tableStyles" Target="/ppt/tableStyles.xml" Id="R6a6b4a44402d4a9f" /><Relationship Type="http://schemas.openxmlformats.org/officeDocument/2006/relationships/slide" Target="/ppt/slides/slide1.xml" Id="Rf2a05453359e468f" /><Relationship Type="http://schemas.openxmlformats.org/officeDocument/2006/relationships/slide" Target="/ppt/slides/slide2.xml" Id="R9e7964dd693c48df" /><Relationship Type="http://schemas.openxmlformats.org/officeDocument/2006/relationships/slide" Target="/ppt/slides/slide3.xml" Id="Reb1c60ab09794f0f" /><Relationship Type="http://schemas.openxmlformats.org/officeDocument/2006/relationships/slide" Target="/ppt/slides/slide4.xml" Id="R97a8ba40d0324725" /><Relationship Type="http://schemas.openxmlformats.org/officeDocument/2006/relationships/slide" Target="/ppt/slides/slide5.xml" Id="R0fa4fad7ed5143ae" /><Relationship Type="http://schemas.openxmlformats.org/officeDocument/2006/relationships/slide" Target="/ppt/slides/slide6.xml" Id="R16ba754629a04ba5" /><Relationship Type="http://schemas.openxmlformats.org/officeDocument/2006/relationships/slide" Target="/ppt/slides/slide7.xml" Id="Rd2f80880debf4840" /><Relationship Type="http://schemas.openxmlformats.org/officeDocument/2006/relationships/slide" Target="/ppt/slides/slide8.xml" Id="R441c21c00d894086" /><Relationship Type="http://schemas.openxmlformats.org/officeDocument/2006/relationships/slide" Target="/ppt/slides/slide9.xml" Id="Rc21d9d015ebd42b8" /><Relationship Type="http://schemas.openxmlformats.org/officeDocument/2006/relationships/slide" Target="/ppt/slides/slide10.xml" Id="Rdb215747b4e54b5d" /><Relationship Type="http://schemas.openxmlformats.org/officeDocument/2006/relationships/slide" Target="/ppt/slides/slide11.xml" Id="R4690759b86fc4fb9" /><Relationship Type="http://schemas.openxmlformats.org/officeDocument/2006/relationships/slide" Target="/ppt/slides/slide12.xml" Id="R7ec1641be95e4aa3" /><Relationship Type="http://schemas.openxmlformats.org/officeDocument/2006/relationships/slide" Target="/ppt/slides/slide13.xml" Id="R2a2627f6706c45f4" /><Relationship Type="http://schemas.openxmlformats.org/officeDocument/2006/relationships/slide" Target="/ppt/slides/slide14.xml" Id="R19b39269432e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4783c5d04c49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484a9288a45b2" /><Relationship Type="http://schemas.openxmlformats.org/officeDocument/2006/relationships/notesMaster" Target="/ppt/notesMasters/notesMaster1.xml" Id="R2dad3857466747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8a9d202104f75" /><Relationship Type="http://schemas.openxmlformats.org/officeDocument/2006/relationships/notesMaster" Target="/ppt/notesMasters/notesMaster1.xml" Id="R38faa1189abf4a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243be363534605" /><Relationship Type="http://schemas.openxmlformats.org/officeDocument/2006/relationships/notesMaster" Target="/ppt/notesMasters/notesMaster1.xml" Id="R9d71551aa83c46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75b17aa86c4e16" /><Relationship Type="http://schemas.openxmlformats.org/officeDocument/2006/relationships/notesMaster" Target="/ppt/notesMasters/notesMaster1.xml" Id="R1538b150f595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720b80444a48bb" /><Relationship Type="http://schemas.openxmlformats.org/officeDocument/2006/relationships/notesMaster" Target="/ppt/notesMasters/notesMaster1.xml" Id="R823c5d2bd4ab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3e8230963439d" /><Relationship Type="http://schemas.openxmlformats.org/officeDocument/2006/relationships/notesMaster" Target="/ppt/notesMasters/notesMaster1.xml" Id="R085667b69f5444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ae7a96d034756" /><Relationship Type="http://schemas.openxmlformats.org/officeDocument/2006/relationships/notesMaster" Target="/ppt/notesMasters/notesMaster1.xml" Id="R8c4b82ac784f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7a346b2b64b96" /><Relationship Type="http://schemas.openxmlformats.org/officeDocument/2006/relationships/notesMaster" Target="/ppt/notesMasters/notesMaster1.xml" Id="Rf269a8a15f2b43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b4ec3716f74d6e" /><Relationship Type="http://schemas.openxmlformats.org/officeDocument/2006/relationships/notesMaster" Target="/ppt/notesMasters/notesMaster1.xml" Id="Re0c23251406a40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3db40b10e14842" /><Relationship Type="http://schemas.openxmlformats.org/officeDocument/2006/relationships/notesMaster" Target="/ppt/notesMasters/notesMaster1.xml" Id="Rc64ca2ef066f49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2f71d980704387" /><Relationship Type="http://schemas.openxmlformats.org/officeDocument/2006/relationships/notesMaster" Target="/ppt/notesMasters/notesMaster1.xml" Id="R75fc1f347b424e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99a7a5aaa84c93" /><Relationship Type="http://schemas.openxmlformats.org/officeDocument/2006/relationships/notesMaster" Target="/ppt/notesMasters/notesMaster1.xml" Id="R0e22d3636f7145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b490a5c5364daa" /><Relationship Type="http://schemas.openxmlformats.org/officeDocument/2006/relationships/notesMaster" Target="/ppt/notesMasters/notesMaster1.xml" Id="R0f064b686afe4f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796a45c8fc4af6" /><Relationship Type="http://schemas.openxmlformats.org/officeDocument/2006/relationships/notesMaster" Target="/ppt/notesMasters/notesMaster1.xml" Id="Rfb0e9ceb7023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 shift: space operators have more data, more autonomy pressure, and less tolerance for untraceable decisions.
[Sources]
- User-provided: Gauss_Aurora_Pitch_Deck_v1.pptx
- User-provided: Project_Gauss_Data_Architecture_for_AI_Automation_in_Space.pdf</a:t>
            </a:r>
            <a:endParaRPr/>
          </a:p>
          <a:p xmlns:a="http://schemas.openxmlformats.org/drawingml/2006/main">
            <a:r>
              <a:t>
[Sources]
- NASA Earthrise image: https://science.nasa.gov/resource/image-earthrise/
- Image asset: https://assets.science.nasa.gov/dynamicimage/assets/science/esd/climate/2023/12/August-2013_1920x1200.jpg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operational evidence fragmentation, not a generic AI opportunity. The buyer is paying to reduce decision latency and audit friction.
[Sources]
- User-provided: Project_Gauss_Data_Architecture_for_AI_Automation_in_Space.pdf
- Repo: config/product-packages.json and config/product-packages.schema.json</a:t>
            </a:r>
            <a:endParaRPr/>
          </a:p>
          <a:p xmlns:a="http://schemas.openxmlformats.org/drawingml/2006/main">
            <a:r>
              <a:t>
[Sources]
- NASA solar-flare / space-weather asset in repository: research/documentation-rag/What Is the Solar Wind_ - NASA Science.html
- NASA SOHO CME gallery: https://soho.nascom.nasa.gov/bestofsoho/SolarCorona/las021.html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target count as research coverage, not traction. The commercial wedge is explicitly ground-first; flight-candidate work remains an external evidence gate.
[Sources]
- Repo: config/mission-targets.json and config/mission-target.schema.json
- Repo: development/memory/DECISIONS.md, D-110 (2026-08-19)
- User-provided: Gauss_Aurora_Pitch_Deck_v1.pptx</a:t>
            </a:r>
            <a:endParaRPr/>
          </a:p>
          <a:p xmlns:a="http://schemas.openxmlformats.org/drawingml/2006/main">
            <a:r>
              <a:t>
[Sources]
- NASA magnetosphere visualization asset in repository: research/documentation-rag/What Is the Solar Wind_ - NASA Science.html
- NASA radiation-belt context: https://svs.gsfc.nasa.gov/4241/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copy is investor-facing. The underlying product boundary remains quality, provenance, correlation, replay, bounded inference, and approval-gated safety. Partners retain sensors, mission control, communications hardware, trust roots, and command authority.
[Sources]
- Repo: config/product-packages.json and config/product-packages.schema.json
- User-provided: Project_Gauss_Data_Architecture_for_AI_Automation_in_Space.pdf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 names and boundaries are from the repository product catalog. The visible copy is intentionally non-technical; do not describe the flight-candidate adapter as flight-qualified.
[Sources]
- Repo: config/product-packages.json and config/product-packages.schema.json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research profiles and segment hypotheses, not signed customers. The first commercial motion is mission-data and integration buyers serving communications, weather, EO, and cislunar relay systems.
[Sources]
- Repo: config/mission-targets.json and config/mission-target.schema.json
- Repo: development/memory/DECISIONS.md, D-110 (2026-08-19)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 and SAM are internal planning ranges and should be presented as a scenario, not audited market research. SOM is tied to the current five-account ARR model.
[Sources]
- Repo: development/memory/DECISIONS.md, D-110 (2026-08-19)
- User-provided: Gauss_Aurora_Pitch_Deck_v1.pptx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a starting hypothesis for customer validation. The $500k ARR path is five $100k annual fleet accounts; pilots, implementation, and NRE are not ARR.
[Sources]
- Repo: development/memory/DECISIONS.md, D-110 (2026-08-19)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product workflow, not a legal conclusion. Keep payment separate from clearance. Stripe webhooks should drive internal entitlements; regulatory applicability requires customer-specific review.
[Sources]
- https://docs.stripe.com/billing/subscriptions/webhooks and https://docs.stripe.com/billing/entitlements
- https://eur-lex.europa.eu/legal-content/EN/TXT/?from=FI&amp;uri=CELEX%3A32022L2555; https://eur-lex.europa.eu/legal-content/EN/TXT/?qid=1590424137028&amp;uri=CELEX%3A32016R0679; https://csrc.nist.gov/pubs/sp/800/171/r3/final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positioning, not feature parity. Named companies are category references only; no partnership or endorsement is implied. Publicly positioned strengths are summarised from official product pages.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Yamcs official product overview and logo: https://yamcs.org/</a:t>
            </a:r>
            <a:endParaRPr/>
          </a:p>
          <a:p xmlns:a="http://schemas.openxmlformats.org/drawingml/2006/main">
            <a:r>
              <a:t>- OpenC3 COSMOS official overview and logo: https://openc3.com/</a:t>
            </a:r>
            <a:endParaRPr/>
          </a:p>
          <a:p xmlns:a="http://schemas.openxmlformats.org/drawingml/2006/main">
            <a:r>
              <a:t>- Slingshot Portal official product overview and logo: https://www.slingshot.space/product-portal</a:t>
            </a:r>
            <a:endParaRPr/>
          </a:p>
          <a:p xmlns:a="http://schemas.openxmlformats.org/drawingml/2006/main">
            <a:r>
              <a:t>- Arize official AI observability overview and logo: https://arize.com/</a:t>
            </a:r>
            <a:endParaRPr/>
          </a:p>
          <a:p xmlns:a="http://schemas.openxmlformats.org/drawingml/2006/main">
            <a:r>
              <a:t>- Fiddler official observability overview and logo: https://docs.fiddler.ai/observability/monitoring</a:t>
            </a:r>
            <a:endParaRPr/>
          </a:p>
          <a:p xmlns:a="http://schemas.openxmlformats.org/drawingml/2006/main">
            <a:r>
              <a:t>- AIKO orbital_OLIVER official product overview and logo: https://aikospace.com/solutions/oliver</a:t>
            </a:r>
            <a:endParaRPr/>
          </a:p>
          <a:p xmlns:a="http://schemas.openxmlformats.org/drawingml/2006/main">
            <a:r>
              <a:t>- Gauss positioning is an internal, partner-neutral thesis; not a claim of feature parity.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Named team members and advisor network are taken from the user-provided Gauss_Aurora_Pitch_Deck_v1.pptx. Add measurable founder achievements, customer references, or formal advisor status only when verified.
[Sources]
- User-provided: Gauss_Aurora_Pitch_Deck_v1.pptx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internal milestones, not achieved traction. Keep the hosted-payload path bounded and avoid claiming flight qualification.
[Sources]
- Repo: development/memory/DECISIONS.md, D-110 (2026-08-19)
- Repo: config/product-packages.json and config/product-packages.schema.json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proof point: five paid fleet accounts and a repeatable evidence contract. Funding allocation is an internal planning scenario.
[Sources]
- Repo: development/memory/DECISIONS.md, D-110 (2026-08-19)
- Repo: config/product-packages.json and config/product-packages.schema.json
- User-provided: Gauss_Aurora_Pitch_Deck_v1.pptx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internal readiness scorecard for the current investor deck, not an eligibility determination. The next diligence unlocks are founder credibility, customer proof, explicit readiness evidence, and IP defensibility.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Gauss_Aurora_Pitch_Deck_v1.pptx</a:t>
            </a:r>
            <a:endParaRPr/>
          </a:p>
          <a:p xmlns:a="http://schemas.openxmlformats.org/drawingml/2006/main">
            <a:r>
              <a:t>- Internal Gauss repository planning model and product notes</a:t>
            </a:r>
            <a:endParaRPr/>
          </a:p>
          <a:p xmlns:a="http://schemas.openxmlformats.org/drawingml/2006/main">
            <a:r>
              <a:t>- https://www.starcloud.com/</a:t>
            </a:r>
            <a:endParaRPr/>
          </a:p>
          <a:p xmlns:a="http://schemas.openxmlformats.org/drawingml/2006/main">
            <a:r>
              <a:t>- https://investors.rocketlabcorp.com/</a:t>
            </a:r>
            <a:endParaRPr/>
          </a:p>
          <a:p xmlns:a="http://schemas.openxmlformats.org/drawingml/2006/main">
            <a:r>
              <a:t>- https://www.relativityspace.com/about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40679332245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4d35069fd436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GAUSS_MASTER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590EF9-5E2F-4119-A9F8-4F65435750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2d592cf69448f8" /><Relationship Type="http://schemas.openxmlformats.org/officeDocument/2006/relationships/slideLayout" Target="/ppt/slideLayouts/slideLayout1.xml" Id="Rfb8be44a22254f7c" /><Relationship Type="http://schemas.openxmlformats.org/officeDocument/2006/relationships/slideLayout" Target="/ppt/slideLayouts/slideLayout2.xml" Id="Rc556a23d40d641e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67DDE8-D0D5-4412-840E-FEB2670035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be44a22254f7c"/>
    <p:sldLayoutId xmlns:r="http://schemas.openxmlformats.org/officeDocument/2006/relationships" id="2147483650" r:id="Rc556a23d40d641e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5152a002a4f0d" /><Relationship Type="http://schemas.openxmlformats.org/officeDocument/2006/relationships/image" Target="/ppt/media/image.jpeg" Id="R137dd10f50e54b78" /><Relationship Type="http://schemas.openxmlformats.org/officeDocument/2006/relationships/notesSlide" Target="/ppt/notesSlides/notesSlide1.xml" Id="R642584fbc66a40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c2106b9cc4fd0" /><Relationship Type="http://schemas.openxmlformats.org/officeDocument/2006/relationships/image" Target="/ppt/media/image2.jpeg" Id="R433d0562cf4d4daa" /><Relationship Type="http://schemas.openxmlformats.org/officeDocument/2006/relationships/notesSlide" Target="/ppt/notesSlides/notesSlide2.xml" Id="R2e84dc53cc8d4d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f62fbe23149c3" /><Relationship Type="http://schemas.openxmlformats.org/officeDocument/2006/relationships/image" Target="/ppt/media/image3.jpeg" Id="Rf6f3bcd97f8c4bf3" /><Relationship Type="http://schemas.openxmlformats.org/officeDocument/2006/relationships/notesSlide" Target="/ppt/notesSlides/notesSlide3.xml" Id="Rdae20873ae4b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05b57c4e544e3" /><Relationship Type="http://schemas.openxmlformats.org/officeDocument/2006/relationships/notesSlide" Target="/ppt/notesSlides/notesSlide4.xml" Id="Rfc10eedce7ae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8dda914aab48c0" /><Relationship Type="http://schemas.openxmlformats.org/officeDocument/2006/relationships/notesSlide" Target="/ppt/notesSlides/notesSlide5.xml" Id="R82c27f66dfca40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70eeca797427f" /><Relationship Type="http://schemas.openxmlformats.org/officeDocument/2006/relationships/image" Target="/ppt/media/image.png" Id="R403928a75525423c" /><Relationship Type="http://schemas.openxmlformats.org/officeDocument/2006/relationships/notesSlide" Target="/ppt/notesSlides/notesSlide6.xml" Id="Rff7b19202c344d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4b4dab5234f62" /><Relationship Type="http://schemas.openxmlformats.org/officeDocument/2006/relationships/image" Target="/ppt/media/image2.png" Id="R4e334d1c85ad407b" /><Relationship Type="http://schemas.openxmlformats.org/officeDocument/2006/relationships/notesSlide" Target="/ppt/notesSlides/notesSlide7.xml" Id="R118d0190fb2a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e7cdeae314ccf" /><Relationship Type="http://schemas.openxmlformats.org/officeDocument/2006/relationships/chart" Target="/ppt/slides/charts/chart1.xml" Id="R56071555fa304766" /><Relationship Type="http://schemas.openxmlformats.org/officeDocument/2006/relationships/notesSlide" Target="/ppt/notesSlides/notesSlide8.xml" Id="R248c60aebb92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86c273dd748c6" /><Relationship Type="http://schemas.openxmlformats.org/officeDocument/2006/relationships/notesSlide" Target="/ppt/notesSlides/notesSlide9.xml" Id="Rb8b09e40b6214f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ea1accec74d5b" /><Relationship Type="http://schemas.openxmlformats.org/officeDocument/2006/relationships/image" Target="/ppt/media/image3.png" Id="Rca5154f496cb460d" /><Relationship Type="http://schemas.openxmlformats.org/officeDocument/2006/relationships/image" Target="/ppt/media/image4.png" Id="R52f639b593924388" /><Relationship Type="http://schemas.openxmlformats.org/officeDocument/2006/relationships/image" Target="/ppt/media/image.svg" Id="R6c46dd458ce547d0" /><Relationship Type="http://schemas.openxmlformats.org/officeDocument/2006/relationships/image" Target="/ppt/media/image5.png" Id="Ra4cea9389eaf4484" /><Relationship Type="http://schemas.openxmlformats.org/officeDocument/2006/relationships/image" Target="/ppt/media/image6.png" Id="R82ae29fa1f374e58" /><Relationship Type="http://schemas.openxmlformats.org/officeDocument/2006/relationships/image" Target="/ppt/media/image2.svg" Id="Rc7bc0f7707ca40e4" /><Relationship Type="http://schemas.openxmlformats.org/officeDocument/2006/relationships/image" Target="/ppt/media/image7.png" Id="R1075180406b3412e" /><Relationship Type="http://schemas.openxmlformats.org/officeDocument/2006/relationships/image" Target="/ppt/media/image3.svg" Id="Rd775457bf7654e2e" /><Relationship Type="http://schemas.openxmlformats.org/officeDocument/2006/relationships/image" Target="/ppt/media/image8.png" Id="Rd80d56fe54db4f9f" /><Relationship Type="http://schemas.openxmlformats.org/officeDocument/2006/relationships/image" Target="/ppt/media/image4.svg" Id="R4c357c5b46f14ce6" /><Relationship Type="http://schemas.openxmlformats.org/officeDocument/2006/relationships/image" Target="/ppt/media/image9.png" Id="Rfe5f6f77cb8b40a6" /><Relationship Type="http://schemas.openxmlformats.org/officeDocument/2006/relationships/notesSlide" Target="/ppt/notesSlides/notesSlide10.xml" Id="R8d2269113be84b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f55948acbd47f0" /><Relationship Type="http://schemas.openxmlformats.org/officeDocument/2006/relationships/image" Target="/ppt/media/image10.png" Id="R929fa90667a24a67" /><Relationship Type="http://schemas.openxmlformats.org/officeDocument/2006/relationships/notesSlide" Target="/ppt/notesSlides/notesSlide11.xml" Id="R57e6860b2cf940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dfb8a4c86041bf" /><Relationship Type="http://schemas.openxmlformats.org/officeDocument/2006/relationships/notesSlide" Target="/ppt/notesSlides/notesSlide12.xml" Id="R14abd697f76149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37589902e4fd3" /><Relationship Type="http://schemas.openxmlformats.org/officeDocument/2006/relationships/image" Target="/ppt/media/image11.png" Id="R9845637b491748ed" /><Relationship Type="http://schemas.openxmlformats.org/officeDocument/2006/relationships/notesSlide" Target="/ppt/notesSlides/notesSlide13.xml" Id="Rdb8d390b8b5f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d8d59b6b745f7" /><Relationship Type="http://schemas.openxmlformats.org/officeDocument/2006/relationships/image" Target="/ppt/media/image12.png" Id="Rf016236573ae4190" /><Relationship Type="http://schemas.openxmlformats.org/officeDocument/2006/relationships/notesSlide" Target="/ppt/notesSlides/notesSlide14.xml" Id="R17d10e9ac821426a" /></Relationships>
</file>

<file path=ppt/slides/charts/chart1.xml><?xml version="1.0" encoding="utf-8"?>
<c:chartSpace xmlns:c="http://schemas.openxmlformats.org/drawingml/2006/chart">
  <c:lang val="en-US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value</c:v>
                </c:pt>
              </c:strCache>
            </c:strRef>
          </c:tx>
          <c:spPr>
            <a:solidFill xmlns:a="http://schemas.openxmlformats.org/drawingml/2006/main">
              <a:srgbClr val="CCFF00"/>
            </a:solidFill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F3F0E8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Pilot</c:v>
                </c:pt>
                <c:pt idx="1">
                  <c:v>Fleet 1</c:v>
                </c:pt>
                <c:pt idx="2">
                  <c:v>Fleet 2</c:v>
                </c:pt>
                <c:pt idx="3">
                  <c:v>Fleet 3</c:v>
                </c:pt>
                <c:pt idx="4">
                  <c:v>Fleet 4</c:v>
                </c:pt>
                <c:pt idx="5">
                  <c:v>Fleet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F3F0E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A6A9A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252A2A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 b="0" i="0" u="none">
                <a:solidFill>
                  <a:srgbClr val="A6A9A2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07765C-15E4-4D60-9E5D-EB863006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D352A7-A7B9-4FA7-903A-3469248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INVESTOR BRIEF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23DF6C-CE16-41ED-B4C0-A468E51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01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4A880E-5C30-40B1-B46D-F57B423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dd10f50e54b78"/>
          <a:srcRect xmlns:a="http://schemas.openxmlformats.org/drawingml/2006/main" l="0" t="4999" r="0" b="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045587-A5B6-43C5-8D12-B883584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36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266DCB-3EDB-4E96-8815-D331D682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264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CFF0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7EE1247-23F5-4742-BA2A-85DD417D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1872"/>
            <a:ext cx="3474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PROJECT GAUSS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8E7368C-7F6A-44CC-9970-7F662BDB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6766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Mission data,</a:t>
            </a:r>
            <a:endParaRPr sz="42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made decision-ready.</a:t>
            </a:r>
            <a:endParaRPr sz="4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BEA302-EB5E-48AC-A78C-DDA1EC2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9584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An evidence-first assurance layer for AI-augmented space operations.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32C83A2-EC8E-4C86-A026-141788D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97880"/>
            <a:ext cx="2926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INVESTOR BRIEF  /  AUGUST 2026</a:t>
            </a:r>
            <a:endParaRPr sz="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F8F84E3-D21A-4E48-BCE2-83FC75C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897880"/>
            <a:ext cx="4297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Ground-first. Flight-candidate ready. Command-inert by design.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0C668B8-B67B-4EB1-B5A1-2FEB97F9805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9135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51DBE0-3FFC-49E2-AE13-AC16F9C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3A685D-E1C1-45E5-BD85-FB77667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PROBLEM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8C7E57-4926-49DF-859D-2C9697C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02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8DE4F5-444A-4F23-9A15-4AF6174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05FC363-ADFC-49D7-91B7-62F0AB9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Fragmented evidence is expensive.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5FD77A8-4ED3-43CA-85AC-22925D8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The data exists. The decision context does not.</a:t>
            </a:r>
            <a:endParaRPr sz="15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d0562cf4d4daa"/>
          <a:srcRect xmlns:a="http://schemas.openxmlformats.org/drawingml/2006/main" l="9091" t="0" r="90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848" y="1078992"/>
            <a:ext cx="4681728" cy="3218688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D6CCEDC-B014-4439-A4E4-17D2D6B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078992"/>
            <a:ext cx="4681728" cy="3218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8000"/>
            </a:srgbClr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C074062-9C69-42F0-94B1-671E5970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246120"/>
            <a:ext cx="4681728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0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267D19B-5BCE-4A41-80C2-DB73238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9844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SPACE WEATHER SIGNAL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01E5540-8352-4B9C-B29D-28BF8867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611880"/>
            <a:ext cx="3977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CME context is only useful when the operator can trace it to the decision.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B445065-26DB-43D5-9EE9-38035DC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3697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•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ED37815-4E66-43B4-96D3-8D8E7E44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3697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Fragmented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6B0477-5416-410F-B80D-D7D9798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3697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Telemetry, space-weather, SSA, memory, and ground-system evidence live in separate lanes.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C5A7A67-755F-4782-AD6A-9404877D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6849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•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D553D8-E059-47C0-A0A7-4622A407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6849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Opaque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9E18BD-3186-45E8-B26F-2FE6C973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96849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AI can flag an anomaly, but operators still need provenance, confidence, and a safe fallback.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D583D51-22D2-44E8-9774-D61AB1B1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0001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•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16263DB-3E36-4202-9E4B-F447C93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700016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Costly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3E0D0F4-9C9E-42A9-9286-2BB6696B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70001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Every delayed or disputed decision compounds mission risk, engineering time, and procurement friction.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0F21B8E-19CB-49F9-8BD9-E87A679189D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245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EEDA6D-EDD1-443F-B3FD-54BE8A84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7F500D-A4F1-4730-A117-5DD8A55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WHY NOW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A8BF6D-7EFB-433A-9988-B21D282B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03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6D9D65C-A68A-484E-A927-95CF2F9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0C23B4-407B-4D62-8C0B-57A96AE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AI is ready; mission infrastructure still needs trust.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F4B1A6-F84E-458F-9C8F-296F5D4E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sits in the trust gap between raw data and safe action.</a:t>
            </a:r>
            <a:endParaRPr sz="1500"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3bcd97f8c4bf3"/>
          <a:srcRect xmlns:a="http://schemas.openxmlformats.org/drawingml/2006/main" l="2676" t="0" r="2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7984"/>
            <a:ext cx="5138928" cy="3054096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B73EEBB-9FBC-49F3-ACF7-534564FE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7984"/>
            <a:ext cx="5138928" cy="3054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2000"/>
            </a:srgbClr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5CB8A4A-75A8-46D1-90C4-32A69DA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7952"/>
            <a:ext cx="5138928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0EE6EDA-EB50-43B4-9288-7B039DD5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59152"/>
            <a:ext cx="12801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THE WINDOW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73BAEA-6439-41DD-9B0F-1639563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34840"/>
            <a:ext cx="4251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More spacecraft. More sensor streams. More critical infrastructure depending on orbital services.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2C791F8-B197-40DF-BB06-EBE0FCDA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67712"/>
            <a:ext cx="1572768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0578618-F993-47B6-BD01-E52F317F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423160"/>
            <a:ext cx="107899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TARGET PROFILES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599105F-470A-4927-9F3D-B00A498D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41401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◈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A761B45-111C-4A24-8473-D05CFB1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670048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E7B14A"/>
                </a:solidFill>
                <a:latin typeface="Inter"/>
                <a:ea typeface="Inter"/>
                <a:cs typeface="Inter"/>
              </a:rPr>
              <a:t>8</a:t>
            </a:r>
            <a:endParaRPr sz="2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7C458E-54DC-4EF3-B3BD-BC41527E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072384"/>
            <a:ext cx="1234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research profiles</a:t>
            </a:r>
            <a:endParaRPr sz="8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204973A-5761-459D-9828-30C87A69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267712"/>
            <a:ext cx="1572768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B58D081-FA1F-46BD-B818-51570498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23160"/>
            <a:ext cx="107899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FIRST MOTION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2E15305-60F7-4F3A-9C55-0AF6A305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41401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&gt;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BEF28B3-9242-4832-92CA-E286247B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70048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Ground</a:t>
            </a:r>
            <a:endParaRPr sz="2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9A5FA8-FAF3-4E34-946C-ACC49939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72384"/>
            <a:ext cx="1234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integration first</a:t>
            </a:r>
            <a:endParaRPr sz="8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7C987F7-DC71-4BD8-B7FA-77B8412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2267712"/>
            <a:ext cx="1572768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E1111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FF5954F-5D7D-4400-A3F0-7756EC2D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423160"/>
            <a:ext cx="107899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COMMAND PATH</a:t>
            </a:r>
            <a:endParaRPr sz="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D38808-DD2A-4F95-8B0F-617A960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936" y="2414016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⊘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A607FCF-B51E-4512-9148-16FDB1A6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670048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E7B14A"/>
                </a:solidFill>
                <a:latin typeface="Inter"/>
                <a:ea typeface="Inter"/>
                <a:cs typeface="Inter"/>
              </a:rPr>
              <a:t>Inert</a:t>
            </a:r>
            <a:endParaRPr sz="2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7E23118-FD75-422A-AB55-BB792C7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072384"/>
            <a:ext cx="1234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approval-gated</a:t>
            </a:r>
            <a:endParaRPr sz="8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0471EC2-CF6C-43FE-A77A-A056964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13632"/>
            <a:ext cx="53675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129F118-57C9-4589-8DED-3236276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24528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 sharper wedge than “AI for space”</a:t>
            </a:r>
            <a:endParaRPr sz="17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AFBE8F6-0E05-495C-BF0A-A57047D4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45152"/>
            <a:ext cx="4892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Mission-data assurance: quality, provenance, radiation context, replay, and bounded inference across the existing ground segment.</a:t>
            </a:r>
            <a:endParaRPr sz="12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F34083B-8045-4212-BE2A-BC7F88B92B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339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B504AC-A90E-4B45-861E-07C44C88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225809-9F24-4021-9E05-3F27E53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PRODUCT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FEB799-D605-4460-95EE-3077B28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04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F36321-D16F-4362-8DFF-051D481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7FD0C9-9343-4815-9481-15E9B467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Gauss makes AI decisions ready for operations.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F8D09A-35C5-4254-A6EB-FCC8250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 neutral assurance layer that helps teams trust, explain, and safely act on mission data.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E18CD2-A909-4902-B782-3C2E4CB0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WHAT TEAMS ALREADY HAVE</a:t>
            </a:r>
            <a:endParaRPr sz="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0D9CBC6-6D87-4668-9DD2-ACDB54C6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 ASSURANCE</a:t>
            </a:r>
            <a:endParaRPr sz="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C8985ED-4C38-4865-9E20-F29DD1D3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28600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WHAT OPERATORS GET</a:t>
            </a:r>
            <a:endParaRPr sz="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2E613B1-55F6-471C-9823-556F0E4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3472"/>
            <a:ext cx="2578608" cy="181051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383C47-2AB5-4D2F-AE6F-E6D69B14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2359152"/>
            <a:ext cx="3730752" cy="2359152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32000"/>
          </a:solidFill>
          <a:ln xmlns:a="http://schemas.openxmlformats.org/drawingml/2006/main" w="12700">
            <a:solidFill>
              <a:srgbClr val="CCFF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1C9DA08-8DA9-4E89-BB24-700C281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633472"/>
            <a:ext cx="2715768" cy="181051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2F6CE56-0BCA-4C58-8E0A-91FB66B7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547872"/>
            <a:ext cx="9235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B14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121EE0-86BC-4780-944A-5B1AC97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43814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•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4962E76-042E-4C55-ABD6-AECC8C05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547872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CFF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EFD8A0-8C08-40E3-A67E-B129D09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14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•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BD71CF-08CC-4130-8D9F-E0ED8FD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72384"/>
            <a:ext cx="1965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Mission data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Weather context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Operator history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Existing systems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5504FAA-F30D-4FCE-A449-8EEDACC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779776"/>
            <a:ext cx="111556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Validate</a:t>
            </a:r>
            <a:endParaRPr sz="23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Explain</a:t>
            </a:r>
            <a:endParaRPr sz="23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Gate</a:t>
            </a:r>
            <a:endParaRPr sz="2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D75F757-D416-4827-A5FD-AA7311C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44368"/>
            <a:ext cx="135331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Confidence signals</a:t>
            </a:r>
            <a:endParaRPr sz="12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Decision context</a:t>
            </a:r>
            <a:endParaRPr sz="12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Safe fallback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E53F0FC-B4F8-4BD8-8D3B-058400CA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Decision-ready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evidence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Audit trail</a:t>
            </a:r>
            <a:endParaRPr sz="16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No command authority</a:t>
            </a:r>
            <a:endParaRPr sz="1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AC273F-6344-434A-870D-0B608B4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297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E7B14A"/>
                </a:solidFill>
                <a:latin typeface="Inter"/>
                <a:ea typeface="Inter"/>
                <a:cs typeface="Inter"/>
              </a:rPr>
              <a:t>Start with the ground segment. Earn the right to move closer to flight.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5299232-2C3E-4EED-A3E9-37F02AF0737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881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658AA2-7562-4FB8-B33C-D33D308D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FB63C3-FE35-4B41-B1B8-A94428D1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PRODUCT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ABBB21-A015-4E35-820C-7A43907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05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CB01684-6D39-4C04-9524-4EA543EB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54CC48-F307-4B42-A2F2-8DCA2A87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Three packages turn trust into expansion.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64B8B1-C7BC-4F66-AD0D-6C43023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Land with one mission team, then expand across fleets and infrastructure.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87F7BDA-B5BC-41E3-984A-FCCAB15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2880360" cy="2395728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6DCE00-8BE7-455B-9E54-21F21EFB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3716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01 / LAND</a:t>
            </a:r>
            <a:endParaRPr sz="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6DFE66-1AC4-4286-B180-BF8379D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48716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↗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37AC97-69A0-409C-B9E4-231B626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779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Fleet Integration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0942C9E-DB2C-410D-AE0B-59F6691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395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Make existing mission data trustworthy across teams, workflows, and customer handoffs.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1ECD6E-781B-43BC-819C-E1FE2EB2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7408"/>
            <a:ext cx="2194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Start on the ground</a:t>
            </a:r>
            <a:endParaRPr sz="8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220A6E-71EC-44E2-A473-CD94B54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2267712"/>
            <a:ext cx="2880360" cy="2395728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B817F5-581A-44C5-AE2C-97481EF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514600"/>
            <a:ext cx="13716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02 / EXPAND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71E6E58-F88D-47A9-9941-3890E9C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8716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◎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B05235-9557-4930-B7B1-7A14C8C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90779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Flight Candidate Adapter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FD972D-2D84-41CC-B152-4296FC3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657600"/>
            <a:ext cx="2395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Carry validated evidence toward future onboard deployment without claiming flight qualification.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6306FCD-5D35-4264-87AF-48811762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4407408"/>
            <a:ext cx="2194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Earn the flight path</a:t>
            </a:r>
            <a:endParaRPr sz="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EEA0AB4-A5EF-4266-98A6-C700D72B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267712"/>
            <a:ext cx="2880360" cy="2395728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552509-5E9D-4E95-ADF5-5AAC0D6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514600"/>
            <a:ext cx="13716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03 / EXTEND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316A8F7-6852-4BBC-8A7B-C6D59FA8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44" y="248716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⇄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1E91773-C7CD-408A-B390-CDEEA5C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90779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Federated Bridge Node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25BED1-33CF-4F2C-B5E2-F2222B6F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657600"/>
            <a:ext cx="2395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Move trusted data across zones, partners, and protected infrastructure as the network grows.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D65C9C6-986F-414F-8B0A-3A87E314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4407408"/>
            <a:ext cx="2194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Expand the boundary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A40538B-B81E-443D-B369-B85FA57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2976"/>
            <a:ext cx="10241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The boundary is the moat: Gauss makes external mission systems more trustworthy without pretending to own them.</a:t>
            </a:r>
            <a:endParaRPr sz="15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011FF0C-8EFA-4EC2-B981-C3E17C62D87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974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928a75525423c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0B55E61-5329-4635-BBE3-0595F7F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E28375C-DFD2-4868-89BB-2B534C2D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288A37-171A-4DB8-B1F5-C947883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MARKET</a:t>
            </a:r>
            <a:endParaRPr sz="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44D385C-F789-40C5-94EB-7FF5A73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06</a:t>
            </a:r>
            <a:endParaRPr sz="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9667813-D76D-41AC-8FDA-9A9C4144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E25D64-E7EC-43F1-BBBE-723DE54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Start where data quality is already a budget line.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309BD9C-CD66-4B77-A22F-DA5B4CD5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sells first to operators and integrators who cannot afford ambiguous telemetry.</a:t>
            </a:r>
            <a:endParaRPr sz="1500"/>
          </a:p>
        </p:txBody>
      </p:sp>
      <p:graphicFrame>
        <p:nvGraphicFramePr>
          <p:cNvPr id="36" name="Table 0"/>
          <p:cNvGraphicFramePr/>
          <p:nvPr/>
        </p:nvGraphicFramePr>
        <p:xfrm>
          <a:off xmlns:a="http://schemas.openxmlformats.org/drawingml/2006/main" x="685800" y="2157984"/>
          <a:ext xmlns:a="http://schemas.openxmlformats.org/drawingml/2006/main" cx="10817352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2331720"/>
                <a:gridCol w="3337560"/>
                <a:gridCol w="2770632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BUYER WEDGE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MISSION PROFILE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PAIN WE SOLVE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LANDING MOTION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Commercial satcom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LEO / MEO fleets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Fleet-wide evidence, replay, stale/gap detection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Pilot → annual fleet license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Weather + space weather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GEO ground segment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Radiation context, quality, operator confidence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Ground assurance + data partner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Earth observation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LEO data relay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Data lineage, anomaly triage, integration assurance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Integration package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Lunar relay / integrator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Lunar + ground simulation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DTN, provenance, approval-gated compute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Bridge-node design partner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</a:tbl>
          </a:graphicData>
        </a:graphic>
      </p:graphicFrame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EC3F4-CFAF-44A1-9660-F187085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2392"/>
            <a:ext cx="9875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E7B14A"/>
                </a:solidFill>
                <a:latin typeface="Inter"/>
                <a:ea typeface="Inter"/>
                <a:cs typeface="Inter"/>
              </a:rPr>
              <a:t>8 research profiles across satcom, weather/space weather, Earth observation, PNT, lunar relay, and mission integration.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1506A5F-61EB-432F-A0F4-2D8484F0C76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24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34d1c85ad407b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4D0ED68-9B2A-402A-8A98-0E9D961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BA27EE9-3160-4668-A61D-B56E23E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82630D-1FA1-48CF-9EE8-AA77654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MARKET</a:t>
            </a:r>
            <a:endParaRPr sz="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27E8BC-0E08-4CC8-A55F-CBF50C54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07</a:t>
            </a:r>
            <a:endParaRPr sz="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7927833-DC7F-4A82-B36A-D9C9C658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393B113-E77E-456C-9C7B-1F3ED260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 focused beachhead before the orbital infrastructure upside.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5D3BD5E-6427-45D4-BF86-5FF585C7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Use a transparent internal model; let customer evidence tighten the market over time.</a:t>
            </a:r>
            <a:endParaRPr sz="15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8B22210-8477-4310-AF29-71EEE39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544"/>
            <a:ext cx="4937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INTERNAL PLANNING MODEL  /  DIRECTIONAL LADDER, NOT AUDITED RESEARCH</a:t>
            </a:r>
            <a:endParaRPr sz="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5788EA6-EC18-48D3-8BE4-2A60E0A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67004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TAM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10B20D4-55C0-4E6E-8BEA-D07D41D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035808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4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$3–5B</a:t>
            </a:r>
            <a:endParaRPr sz="4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7C36BB-EA09-4E07-84A3-2EF7D231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767328"/>
            <a:ext cx="3127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Mission-data, ground, and distributed in-space infrastructure category.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878C663-1427-4DB6-8920-EE2FBCB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331720"/>
            <a:ext cx="0" cy="2587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04AD369-DE50-4A91-9F7E-BD881D27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651760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TAM</a:t>
            </a:r>
            <a:endParaRPr sz="9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E0C6E80-0184-4287-8DD1-5C8E50F5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51760"/>
            <a:ext cx="4133088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EAC6E4-7815-4E5C-9E32-54B40EE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51760"/>
            <a:ext cx="4754880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B2BF177-B763-4E1A-B226-966CDBE2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96265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$3–5B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31EA8CC-4EEF-4613-AACA-48E5995D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962656"/>
            <a:ext cx="2487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Broad mission-data + infrastructure category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009952A-2FF8-48DC-BBB4-4ED105C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3401568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SAM</a:t>
            </a:r>
            <a:endParaRPr sz="9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ADEC10D-E759-454A-B630-B74F0DB7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01568"/>
            <a:ext cx="4133088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FF77215-5D21-49F6-A1D5-BC67044D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01568"/>
            <a:ext cx="2743200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738CA7F-7D26-43D2-8D40-8E5AB1C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371246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E7B14A"/>
                </a:solidFill>
                <a:latin typeface="Inter"/>
                <a:ea typeface="Inter"/>
                <a:cs typeface="Inter"/>
              </a:rPr>
              <a:t>$900M–$1.75B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1C2C6F-1E49-425F-8F34-4112A10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712464"/>
            <a:ext cx="2487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Initial ground and distributed-space wedge</a:t>
            </a:r>
            <a:endParaRPr sz="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F12C80F-81B0-4F16-BCD2-18C670B3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4151376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SOM</a:t>
            </a:r>
            <a:endParaRPr sz="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05E4E24-305C-4062-BA29-C435C21E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51376"/>
            <a:ext cx="4133088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1C1C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19071F3-516C-4645-99F4-91370A4F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51376"/>
            <a:ext cx="768096" cy="25603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F0E8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0766A76-EF4D-4EC9-83C5-A0F0EE1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446227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$500k ARR</a:t>
            </a:r>
            <a:endParaRPr sz="12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647BDEF-759F-472C-80E7-34AFEFB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462272"/>
            <a:ext cx="2487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Five $100k fleet accounts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106FA87-DCB6-4964-8A43-5D15DF0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4736592"/>
            <a:ext cx="5212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SOM is deliberately operational: five $100k fleet accounts, not a speculative share of a trillion-dollar category.</a:t>
            </a:r>
            <a:endParaRPr sz="13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0D349C5-E354-4A28-B6C4-B64533ED1C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918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A58A04-BD85-4082-9CF2-2AD63F4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3ADECB-279E-4F13-AA6E-88A462A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COMMERCIAL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13A158-B305-42AD-A23F-454B85F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08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7E2189-6260-4D5E-811C-34FE5D20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7BE3E3-2F53-451D-9ADD-3F05F335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Five fleet accounts can establish the first $500k ARR base.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F6E996-5ACD-4D4B-850E-EB41A55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Charge for the platform annually; keep implementation and flight engineering outside ARR.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8286FA-1A8D-4C81-842B-322191E4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1737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REVENUE STACK</a:t>
            </a:r>
            <a:endParaRPr sz="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C8FB36-F708-4586-AD7B-C7C4238F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057400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◒</a:t>
            </a:r>
            <a:endParaRPr sz="1400"/>
          </a:p>
        </p:txBody>
      </p:sp>
      <p:graphicFrame>
        <p:nvGraphicFramePr>
          <p:cNvPr id="39" name="Chart 0"/>
          <p:cNvGraphicFramePr/>
          <p:nvPr/>
        </p:nvGraphicFramePr>
        <p:xfrm>
          <a:off xmlns:a="http://schemas.openxmlformats.org/drawingml/2006/main" x="685800" y="2450592"/>
          <a:ext xmlns:a="http://schemas.openxmlformats.org/drawingml/2006/main" cx="5623560" cy="26517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071555fa304766"/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FE0D0A-FDF9-49CF-BBAD-9EAB32F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926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$k ARR / annualized contract value</a:t>
            </a:r>
            <a:endParaRPr sz="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AD7B660-7CFA-4B01-9AF9-E4A2A0C3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233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1467B98-9B99-4D31-A46E-AC4C7FD7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68880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Paid evaluation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07E76B1-2D70-4C53-BFDE-A24D8E1D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68880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$20k–$35k</a:t>
            </a:r>
            <a:endParaRPr sz="1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9F3D2FD-92C3-48CF-A6EB-D93A3B4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0"/>
            <a:ext cx="4160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6–10 weeks; credit toward conversion</a:t>
            </a:r>
            <a:endParaRPr sz="9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1E9B7B3-45D6-478C-9976-CB8FCA4B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630168"/>
            <a:ext cx="4233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53CC369-F628-4DF5-AE26-C0C328F3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12724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Annual platform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857CAE3-BAAE-41E1-BB8B-9E13CF7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127248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$100k–$150k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4F0367F-A84C-4F11-BF30-293760C3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4160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Fleet / mission capacity, not seats</a:t>
            </a:r>
            <a:endParaRPr sz="9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9F13F33-1E85-43F7-9611-B1EF4BB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288536"/>
            <a:ext cx="4233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AE1FBA0-3B3F-48BB-B795-3BA71FA4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85616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Implementation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BB8B42D-29F5-48FA-9EC9-E430151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785616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$30k–$100k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E196290-A934-4553-AC0C-8A62543D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59936"/>
            <a:ext cx="4160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One-time adapters and onboarding</a:t>
            </a:r>
            <a:endParaRPr sz="9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EE818CE-1B81-4889-80EB-071363A1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46904"/>
            <a:ext cx="4233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655D5EB-D991-4DDF-A96D-392DD3E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Flight candidate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0784210-424F-4EDE-BBF8-7CD17BD8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443984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$150k–$400k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249789D-4508-4F54-84E5-2BE0E9E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18304"/>
            <a:ext cx="4160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NRE; external evidence gates</a:t>
            </a:r>
            <a:endParaRPr sz="90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4417E04-E870-448C-9F63-E28F1A5B796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0153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1B4F3F-32C4-4625-BD99-4C2C2EC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2C47AC-0F49-43DC-84CD-7926A36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COMMERCIAL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FBBFB9-BB2C-407C-A0AD-1E02450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09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C45A642-151B-49DC-854F-92F2B8C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E7D93C-84C1-405D-9CC3-E2C7953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Charge now. Gate access with evidence.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569A12-BFE6-4EC3-804F-AA2D86D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Billing, compliance, and mission clearance are separate server-side gates.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664A7E-2FF4-45A7-8C0A-AD4F20A5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59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□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FDEC77-63E3-4841-A404-3C0BE587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91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A4EEE8-6449-423D-9307-F831C2DC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8064"/>
            <a:ext cx="320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01</a:t>
            </a:r>
            <a:endParaRPr sz="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5215D18-D9FC-454A-82A2-8438A8B5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1545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25317E-23D5-4328-98BD-E8FB25C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927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Select package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691BCC8-76B5-4688-BF39-33053F23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1737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Ground / fleet / enterprise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C061596-7A74-4F3B-88D3-662380DC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59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◎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B4EA409-67E0-40D4-AF98-F8E292D9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72491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7768EE4-3DD2-458E-86B2-41F6734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798064"/>
            <a:ext cx="320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02</a:t>
            </a:r>
            <a:endParaRPr sz="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E078F05-AD9B-4037-9E9E-D80AF90C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880360"/>
            <a:ext cx="1545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8E8DA14-8EE2-479C-AF5D-3F70CC6C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31927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Profile the mission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8DD00A4-F7EA-4138-A46E-866B0F9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675888"/>
            <a:ext cx="1737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Jurisdiction, data class, deployment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4B1684C-91DF-47B9-836C-A8645179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2359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∑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1C1F3FD-07CF-4CC2-92E0-2B86788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72491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B58B3BD-9876-488F-A2C9-0709B448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798064"/>
            <a:ext cx="320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03</a:t>
            </a:r>
            <a:endParaRPr sz="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846540D-F63A-4FBF-82D9-CD418714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880360"/>
            <a:ext cx="1545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CC3C2BD-6D34-4955-8E0D-6C33068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31927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Contract + pay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F4E3D16-97F3-427B-B69E-0B997B17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675888"/>
            <a:ext cx="1737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Stripe or invoice / PO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23E538-93AD-46A6-9670-4343374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2359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&gt;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11682FD-0930-4BF2-835D-2A1F9C4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2491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659A24-3C8A-4BFD-B41B-5F04773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98064"/>
            <a:ext cx="320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04</a:t>
            </a:r>
            <a:endParaRPr sz="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245CFC-4CA7-4D89-B67F-585CFBBD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880360"/>
            <a:ext cx="1545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2D28A9A-80A8-488C-999E-234EA7E6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1927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Provision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270C63E-EB15-423E-AC12-83AE08FA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675888"/>
            <a:ext cx="1737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Entitlements after verified webhook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417ED79-D069-4030-863B-1E41FF8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35915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⊙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9527A53-8686-4DBB-8D57-5C83C42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724912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E13AEA1-FF1B-450E-AA7C-4C00E056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798064"/>
            <a:ext cx="3200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05</a:t>
            </a:r>
            <a:endParaRPr sz="8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D86C3B7-577A-4D16-B902-1F0D8BC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319272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Approve scope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F0CD0B7-D30A-48D4-8C6F-E96A566A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675888"/>
            <a:ext cx="1737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Evidence-ready access only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1FB27D3-248B-47FA-A576-FFE94025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10817352" cy="896112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9810100-A4E4-48F1-95F3-F60A03D2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8032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REGULATORY READINESS PACK</a:t>
            </a:r>
            <a:endParaRPr sz="8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CFBB333-FE17-4EFD-AEB6-FFA8EB29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828032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GDPR / DPA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759FA0C-5D74-48DD-849E-909A4E07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82803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NIS2 applicability</a:t>
            </a:r>
            <a:endParaRPr sz="11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9FF45F9-A223-439A-837D-E795049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28032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EAR / ITAR review</a:t>
            </a:r>
            <a:endParaRPr sz="11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6B98EB9-0F01-40EB-A6E2-19BF9FD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28032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NIST / CUI scope</a:t>
            </a:r>
            <a:endParaRPr sz="11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2769060-D4E5-4022-A33A-2AC736D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5504"/>
            <a:ext cx="7955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Status is evidence-based: unknown → assessing → evidence required → approved.</a:t>
            </a:r>
            <a:endParaRPr sz="90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E63CEA8-C89C-461E-ABB4-5405B651E2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24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154f496cb460d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785D1189-6ECD-437B-A2E4-81DC4F8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2F90A88-EE69-4FAF-8075-C37296BA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A482D22-9CD2-40D5-91E4-B893A1F2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POSITIONING</a:t>
            </a:r>
            <a:endParaRPr sz="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8EA2EC3-2B5E-42DD-BBC1-B134EF3F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10</a:t>
            </a:r>
            <a:endParaRPr sz="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349530C-3354-4DC1-8AD7-D7E10CFB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080AE9D-22E6-48C5-9D19-598CEE2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The whitespace sits between operations, context, and trust.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24C7153-5666-4D05-8EF4-EEC0D5C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Adjacent platforms own one layer. Gauss connects the evidence needed to act.</a:t>
            </a:r>
            <a:endParaRPr sz="1500"/>
          </a:p>
        </p:txBody>
      </p:sp>
      <p:graphicFrame>
        <p:nvGraphicFramePr>
          <p:cNvPr id="48" name="Table 0"/>
          <p:cNvGraphicFramePr/>
          <p:nvPr/>
        </p:nvGraphicFramePr>
        <p:xfrm>
          <a:off xmlns:a="http://schemas.openxmlformats.org/drawingml/2006/main" x="685800" y="2176272"/>
          <a:ext xmlns:a="http://schemas.openxmlformats.org/drawingml/2006/main" cx="10817352" cy="2852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3017520"/>
                <a:gridCol w="3154680"/>
                <a:gridCol w="2496312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CATEGORY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EXAMPLE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PUBLICLY POSITIONED STRENGTH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GAUSS WHITE SPACE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GROUND C3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Yamcs / OpenC3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Command, telemetry, procedures, limits, logs, replay, and operator control.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Cross-system evidence, provenance, and decision gates.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SPACE INTELLIGENCE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Slingshot Portal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Space data, AI analytics, and mission workflows from sense → fuse → decide → act.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Auditable evidence that travels across the customer stack.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 OBSERVABILITY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Arize / Fiddler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Model and agent evals, monitoring, drift, explainability, and trust metrics.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Mission context: telemetry, radiation, safety, and operator authority.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ONBOARD AUTONOMY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AIKO orbital_OLIVER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Onboard planning, resource-aware decisions, and autonomous execution.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Ground-first assurance before flight deployment; partner-neutral by design.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GAUSS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Evidence layer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Validate, explain, and gate decisions across heterogeneous mission data.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Own the seam between raw signals and safe action.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F9EF4FC-A92F-45FD-BB62-83D9650B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10817352" cy="411480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132000"/>
          </a:solidFill>
          <a:ln xmlns:a="http://schemas.openxmlformats.org/drawingml/2006/main" w="12700">
            <a:solidFill>
              <a:srgbClr val="CCFF0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2304DE2-B104-44A1-A357-53C059A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468112"/>
            <a:ext cx="1920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CATEGORY WEDGE</a:t>
            </a:r>
            <a:endParaRPr sz="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250DC48-7E9F-4E6B-91AD-4B588831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5468112"/>
            <a:ext cx="76809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727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 partner-neutral evidence layer across space data, mission control, and AI.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614F266-BDBC-4E64-A1D1-5D4C58BB47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3EF8A-C056-4207-8CF0-D83C010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639b593924388">
            <a:extLst>
              <a:ext uri="{96DAC541-7B7A-43D3-8B79-37D633B846F1}">
                <asvg:svgBlip xmlns:asvg="http://schemas.microsoft.com/office/drawing/2016/SVG/main" r:embed="R6c46dd458ce547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43150" y="1890713"/>
            <a:ext cx="1219200" cy="1714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B9947-987C-4DD7-A5D3-25CB75F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71F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a9389eaf4484"/>
          <a:stretch xmlns:a="http://schemas.openxmlformats.org/drawingml/2006/main"/>
        </p:blipFill>
        <p:spPr>
          <a:xfrm xmlns:a="http://schemas.openxmlformats.org/drawingml/2006/main">
            <a:off x="4038535" y="1890713"/>
            <a:ext cx="743079" cy="171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7C843-AC16-4416-BDCA-7DAEC65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71F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e29fa1f374e58">
            <a:extLst>
              <a:ext uri="{96DAC541-7B7A-43D3-8B79-37D633B846F1}">
                <asvg:svgBlip xmlns:asvg="http://schemas.microsoft.com/office/drawing/2016/SVG/main" r:embed="Rc7bc0f7707ca40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1890713"/>
            <a:ext cx="121920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17B85F-6822-4BAA-8B1E-AFA0A71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5180406b3412e">
            <a:extLst>
              <a:ext uri="{96DAC541-7B7A-43D3-8B79-37D633B846F1}">
                <asvg:svgBlip xmlns:asvg="http://schemas.microsoft.com/office/drawing/2016/SVG/main" r:embed="Rd775457bf7654e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15125" y="1890713"/>
            <a:ext cx="1219200" cy="1714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53226C-77F8-4AD5-99BF-5F42E9A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d56fe54db4f9f">
            <a:extLst>
              <a:ext uri="{96DAC541-7B7A-43D3-8B79-37D633B846F1}">
                <asvg:svgBlip xmlns:asvg="http://schemas.microsoft.com/office/drawing/2016/SVG/main" r:embed="R4c357c5b46f14c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1890713"/>
            <a:ext cx="1219200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98F99A-C8EC-4484-973B-D870CF1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62138"/>
            <a:ext cx="1371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6972"/>
          </a:solidFill>
          <a:ln xmlns:a="http://schemas.openxmlformats.org/drawingml/2006/main" w="5715">
            <a:solidFill>
              <a:srgbClr val="3B4652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f6f77cb8b40a6"/>
          <a:stretch xmlns:a="http://schemas.openxmlformats.org/drawingml/2006/main"/>
        </p:blipFill>
        <p:spPr>
          <a:xfrm xmlns:a="http://schemas.openxmlformats.org/drawingml/2006/main">
            <a:off x="9827977" y="1890713"/>
            <a:ext cx="822795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821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fa90667a24a67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F587926-DCCC-4A2E-9988-38BBCF77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64F437F-DAB8-477A-B7EB-9185CF7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09B3A8-4B2A-469D-A5F8-4A8E8752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TEAM</a:t>
            </a:r>
            <a:endParaRPr sz="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6337744-8DCE-460E-B8EA-E24EF16A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11</a:t>
            </a:r>
            <a:endParaRPr sz="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0FC7B2A-D02E-49ED-98E3-077F6292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A2FC63E-2CC5-4757-8D64-46F52BF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 compact founding team built around mission context.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23F56BC-97D1-42F1-8AD0-6631FEC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Product leadership, operator experience, and space-systems execution in one loop.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5129F59-1B45-4F4D-855F-DC9D8E2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3154680" cy="210312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20EBDA1-3B8C-4742-A7E1-D9ACBDE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37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CCFF00">
                <a:alpha val="0"/>
              </a:srgbClr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ECFBE7B-78EC-4A2D-A4D3-4EC7E0FC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9192"/>
            <a:ext cx="457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JN</a:t>
            </a:r>
            <a:endParaRPr sz="9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D45277A-7DA1-42EE-A74C-1EAD696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57860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◈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8058F95-4F24-4F77-8B77-E369F16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6032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Joshua Nathan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AC92DA5-6FF3-4178-A536-D187323F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4368"/>
            <a:ext cx="1828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CEO / Founder &amp; mission lead</a:t>
            </a:r>
            <a:endParaRPr sz="8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C6C7171-1F65-4448-ACA8-A06BF3D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0128"/>
            <a:ext cx="2679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ED17EAE-B02B-4A6F-AF73-C426AB8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25603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Product direction, mission context, and commercial wedge.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3CB4B89-1E0E-4108-AC2D-E625804C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267712"/>
            <a:ext cx="3154680" cy="210312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FBE11FD-2D37-4B47-8143-D441922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237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E7B14A">
                <a:alpha val="0"/>
              </a:srgbClr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92AA1B-31D1-4435-BD98-50B61DA2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79192"/>
            <a:ext cx="457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KL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E186CFA-D407-443D-B305-855E499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7860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◎</a:t>
            </a:r>
            <a:endParaRPr sz="14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9CDEC9C-7F6D-49B3-BCCD-0E549DE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6032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Kristina Logunova</a:t>
            </a:r>
            <a:endParaRPr sz="14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A268C13-E24C-4514-91A9-840356D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944368"/>
            <a:ext cx="1828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COO</a:t>
            </a:r>
            <a:endParaRPr sz="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DEE299B-9FEC-49DA-B76C-69D9329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310128"/>
            <a:ext cx="2679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25A3554-3F02-4B06-BCB8-7B74A466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11880"/>
            <a:ext cx="25603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Human–computer interaction and operator experience.</a:t>
            </a:r>
            <a:endParaRPr sz="11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32D540C-BB92-4E63-9C30-45DC9BC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3154680" cy="210312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4D835749-C84A-44A1-8427-4148313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237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CCFF00">
                <a:alpha val="0"/>
              </a:srgbClr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3DA993A-917C-469F-A7CB-68BEEA9C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79192"/>
            <a:ext cx="457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1">
                <a:solidFill>
                  <a:srgbClr val="050505"/>
                </a:solidFill>
                <a:latin typeface="JetBrains Mono"/>
                <a:ea typeface="JetBrains Mono"/>
                <a:cs typeface="JetBrains Mono"/>
              </a:rPr>
              <a:t>SH</a:t>
            </a:r>
            <a:endParaRPr sz="9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279494E-2E45-4FF9-98C8-231742D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578608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✦</a:t>
            </a:r>
            <a:endParaRPr sz="14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F68145B-67D8-4B0C-A192-AAD88C70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6032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Shubham Hule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52D0128-D3A7-43EE-BCBB-21267A0F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44368"/>
            <a:ext cx="1828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CTO</a:t>
            </a:r>
            <a:endParaRPr sz="8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8C7ABC4-7B04-46C0-B83F-31017B3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310128"/>
            <a:ext cx="2679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A07186E-71C1-4247-81CC-D10BB62F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11880"/>
            <a:ext cx="25603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Space systems engineering and technical execution.</a:t>
            </a:r>
            <a:endParaRPr sz="110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159CC84-8688-4B27-9775-36B588D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592"/>
            <a:ext cx="10817352" cy="841248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DE99188-39AF-4CD3-89F8-AA234F0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4336"/>
            <a:ext cx="1737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ADVISOR NETWORK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A28E7474-3D00-4D51-824D-1FF4D18C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1947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Barbara J. Thompson  /  Solar physics &amp; NASA Goddard</a:t>
            </a:r>
            <a:endParaRPr sz="9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EDBE9A7-DE24-4522-B8B4-015B6A6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4919472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Eleni Petrakou  /  Particle physics &amp; space weather</a:t>
            </a:r>
            <a:endParaRPr sz="9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1EF76CB-9A2E-4690-B276-45FB7755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919472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Jamie Berry  /  Aerospace, defence &amp; space finance</a:t>
            </a:r>
            <a:endParaRPr sz="9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8FAC365-06D3-4D79-B5FD-E5274B0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424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The team slide is factual; the next diligence layer is specific founder proof and customer evidence.</a:t>
            </a:r>
            <a:endParaRPr sz="1100"/>
          </a:p>
        </p:txBody>
      </p:sp>
      <p:sp>
        <p:nvSpPr>
          <p:cNvPr id="4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09CE116-63C5-43FD-B0F1-BF62886205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0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C74B83-FDA2-4427-8D75-B6A8F4C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11B2BE-94C6-4DE0-8333-E338A370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EXECUTION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CCB15A-885F-411C-B01A-FB160578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12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A4B2008-E180-4895-8BB7-964076C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E56B86-95DC-4D55-BDD0-B960201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Design partners first. Procurement-ready expansion next.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A84A92-0A40-4F79-89FE-D06A620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The next 18 months turn the evidence contract into repeatable revenue.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E879543-79C8-4156-828C-58A865D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3154680" cy="224028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574F04-053F-401A-8E16-FF04825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0048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0–6 mo</a:t>
            </a:r>
            <a:endParaRPr sz="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C056316-2886-4469-99AD-BF2AE471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63347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◈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1A07BD-64D6-49BA-86C6-5536FAC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1528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Prove the wedge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4AF457-9362-4A2C-B6C9-6659E8C5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5032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2 paid ground pilots</a:t>
            </a:r>
            <a:endParaRPr sz="11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First compliance evidence pack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ADDA7E-D506-4E11-AC39-AA32D93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616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B14A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3F158D4-1578-4D36-BC28-A9E6035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395728"/>
            <a:ext cx="3154680" cy="224028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869885-199B-49D1-BCA7-811C89A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70048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6–12 mo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6F3248-4020-4ABF-B1FD-5F85093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63347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◎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7147DF4-B67A-4B08-930C-04095364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081528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Convert the motion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790CF8-1D30-43B4-B5B3-C40BCF4B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85032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2–3 annual fleet contracts</a:t>
            </a:r>
            <a:endParaRPr sz="11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Repeatable onboarding + billing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5EC4B7D-38E7-4E78-89BB-F82E4325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56616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7B14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50AC0F4-F141-4626-9FA3-5D401471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95728"/>
            <a:ext cx="3154680" cy="224028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3B096AB-6615-44E7-8349-8A5B5A8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70048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12–18 mo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4972C8-77C8-4E49-8B28-2B7DA92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63347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⊕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1EEC6E-6A97-4AD6-9CF5-A81D7D4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81528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Expand the boundary</a:t>
            </a:r>
            <a:endParaRPr sz="1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5CFD24D-E0C2-45A9-A00D-416BD18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85032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5 paid fleet accounts</a:t>
            </a:r>
            <a:endParaRPr sz="11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$500k ARR target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BCD47B-F567-46F1-92FB-EA4D4109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2976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The commercial proof point is repeatable evidence delivery, not a speculative claim of autonomous spacecraft operations.</a:t>
            </a:r>
            <a:endParaRPr sz="14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92F9547-734F-4CE1-B9E5-63568DB478F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632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8C4638-4F1D-4F9A-927A-BD25673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2A040-B9B4-4CE8-A1DA-5E15E50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THE ASK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1939C5-95D2-42FE-BEE5-5A69C3C9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13</a:t>
            </a:r>
            <a:endParaRPr sz="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1134AA-76D6-458B-BBAD-D84E640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5637b4917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0642337-2EE1-4D77-8CC8-CA32FE5D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3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DB0853-3B40-4DF5-A4D0-DA7ADF8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448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400" b="1">
                <a:solidFill>
                  <a:srgbClr val="CCFF00"/>
                </a:solidFill>
                <a:latin typeface="Inter"/>
                <a:ea typeface="Inter"/>
                <a:cs typeface="Inter"/>
              </a:rPr>
              <a:t>$1.5M</a:t>
            </a:r>
            <a:endParaRPr sz="5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F7088F9-07CE-4AE6-BDCE-67605851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5943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3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to make mission-data assurance a repeatable commercial category.</a:t>
            </a:r>
            <a:endParaRPr sz="2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7C3674C-0E7C-4E6B-A105-47C9175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93008"/>
            <a:ext cx="2194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USE OF FUNDS  /  INTERNAL PLAN</a:t>
            </a:r>
            <a:endParaRPr sz="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93DD0B6-8AB0-407C-95FD-2BB7B87F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86200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Product + integrations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978B1B6-E8BE-412E-A766-348C68B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31920"/>
            <a:ext cx="22402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F7F7688-159C-43F9-B87E-803CE69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31920"/>
            <a:ext cx="22402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CCFF00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4DC7934-8F07-453A-83E7-99724EB9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8862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45%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4625EC8-2F68-4463-BCAB-AC80BA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33672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Security + compliance</a:t>
            </a:r>
            <a:endParaRPr sz="11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D2D7EA-8538-471F-804E-EBA3EAB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279392"/>
            <a:ext cx="22402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EFD5DD0-1D90-429C-A63D-5CF4F1C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279392"/>
            <a:ext cx="9956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AD32F52-F865-47BC-8D97-A53D543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23367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20%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E02AC7F-A5B9-4C67-BA31-983E3C53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81144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GTM + design partners</a:t>
            </a:r>
            <a:endParaRPr sz="11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4B37A9E-1082-487E-B0FA-D529CE8B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626864"/>
            <a:ext cx="22402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E14E502-3202-4003-821A-AE5ADDE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626864"/>
            <a:ext cx="9956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4BD7F1E-4D0E-40C4-B882-4299EE6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81144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20%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2A1C0A8-C752-436B-9527-8E02028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28616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Operations + runway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28148F8-E958-45A0-BD29-4216539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974336"/>
            <a:ext cx="224028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B201F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963EBD8-8ACE-4F48-8271-D3EF092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974336"/>
            <a:ext cx="746760" cy="118872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B14A"/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A66252A-986A-4265-9EA0-B3FC136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928616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0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15%</a:t>
            </a:r>
            <a:endParaRPr sz="10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0CFE3C4-37FD-43D3-A8D8-09855E1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65960"/>
            <a:ext cx="3017520" cy="260604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4C63FF3-C9AA-4835-B4AF-29A6018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286000"/>
            <a:ext cx="1920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THE PROOF POINT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F66DD55-86C7-47F5-B2D0-8093D34E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97480"/>
            <a:ext cx="2286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5 fleet</a:t>
            </a:r>
            <a:endParaRPr sz="31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1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accounts</a:t>
            </a:r>
            <a:endParaRPr sz="3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B44EE04-12E7-4D16-963D-EC0978D9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703320"/>
            <a:ext cx="2377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B3DBE80-14D8-4F4D-95E0-D5EB6736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50208"/>
            <a:ext cx="22860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$500k ARR</a:t>
            </a:r>
            <a:endParaRPr sz="14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Ground-first</a:t>
            </a:r>
            <a:endParaRPr sz="140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Evidence-ready</a:t>
            </a:r>
            <a:endParaRPr sz="14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B4CE7DB-9CCA-474B-BC3D-C047C467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81344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Gauss gives space operators a safer path from data abundance to trusted action.</a:t>
            </a:r>
            <a:endParaRPr sz="100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8EA657D-CD3C-4FB3-AE80-20AE402ECB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5421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6236573ae4190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A5D16EA-A594-4940-ADBD-A0CE7C5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12000"/>
            </a:srgbClr>
          </a:solidFill>
          <a:ln xmlns:a="http://schemas.openxmlformats.org/drawingml/2006/main"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2E42D30-4FE5-4659-9713-1FF18A2B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rgbClr val="CCFF00"/>
                </a:solidFill>
                <a:latin typeface="JetBrains Mono"/>
                <a:ea typeface="JetBrains Mono"/>
                <a:cs typeface="JetBrains Mono"/>
              </a:rPr>
              <a:t>GAUSS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FB60255-380F-4608-9E19-40541833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83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A6A9A2"/>
                </a:solidFill>
                <a:latin typeface="JetBrains Mono"/>
                <a:ea typeface="JetBrains Mono"/>
                <a:cs typeface="JetBrains Mono"/>
              </a:rPr>
              <a:t>READINESS</a:t>
            </a:r>
            <a:endParaRPr sz="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840C083-8E58-4D9B-BAEF-3E7AB58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338328"/>
            <a:ext cx="438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14</a:t>
            </a:r>
            <a:endParaRPr sz="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3FFD099-4698-4FB0-A813-DE62747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7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EF7924A-0FC7-4F88-8358-385D7162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10698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800" b="1">
                <a:solidFill>
                  <a:srgbClr val="F3F0E8"/>
                </a:solidFill>
                <a:latin typeface="Inter"/>
                <a:ea typeface="Inter"/>
                <a:cs typeface="Inter"/>
              </a:rPr>
              <a:t>Investor-ready story; diligence-ready evidence is next.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A3D415A-9CE2-48E7-A639-F2EDC690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2184"/>
            <a:ext cx="10287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A6A9A2"/>
                </a:solidFill>
                <a:latin typeface="IBM Plex Sans"/>
                <a:ea typeface="IBM Plex Sans"/>
                <a:cs typeface="IBM Plex Sans"/>
              </a:rPr>
              <a:t>A practical readiness scorecard for a space-software raise.</a:t>
            </a:r>
            <a:endParaRPr sz="1500"/>
          </a:p>
        </p:txBody>
      </p:sp>
      <p:graphicFrame>
        <p:nvGraphicFramePr>
          <p:cNvPr id="36" name="Table 0"/>
          <p:cNvGraphicFramePr/>
          <p:nvPr/>
        </p:nvGraphicFramePr>
        <p:xfrm>
          <a:off xmlns:a="http://schemas.openxmlformats.org/drawingml/2006/main" x="685800" y="2157984"/>
          <a:ext xmlns:a="http://schemas.openxmlformats.org/drawingml/2006/main" cx="1081735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1640"/>
                <a:gridCol w="2880360"/>
                <a:gridCol w="4983480"/>
                <a:gridCol w="1261872"/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LENS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MUST SHOW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GAUSS TODAY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50505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STATUS</a:t>
                      </a:r>
                      <a:endParaRPr sz="9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E7B1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SPACE FIT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Clear space connection; viable business plan; credible milestones.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Ground-first space operations wedge, product packages, market model, 18-month plan.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PARTIAL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PRODUCT + PROGRESS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Matter-of-fact product; unique insight; progress; business model; founders; ask.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Clear wedge, pricing, ARR path, and team slide. Specific founder proof and customer progress remain thin.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PARTIAL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SCALE + DEFENSE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Addressable market; experienced team; scalable model; defensibility.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Market wedge, competition, commercial path, and team roles are visible. IP, heritage, and TRL evidence still need proof.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PARTIAL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VISUAL + PROOF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claim per slide; hard proof; bold visuals; credible milestones; clear next action.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Consistent system, source-backed notes, native charts/tables, and ground-first milestones.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PASS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10141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INVESTOR DECISION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Why now; why this team; why this round; what changes after funding.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Why now, $1.5M use of funds, $500k ARR, and team slide are clear. Why Gauss can win still needs proof.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F3F0E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PARTIAL</a:t>
                      </a:r>
                      <a:endParaRPr sz="900">
                        <a:latin typeface="IBM Plex Sans"/>
                        <a:ea typeface="IBM Plex Sans"/>
                        <a:cs typeface="IBM Plex Sans"/>
                      </a:endParaRPr>
                    </a:p>
                  </a:txBody>
                  <a:tcPr marL="73152" marR="73152" marT="73152" marB="73152" anchor="ctr">
                    <a:lnL w="7620" cmpd="sng">
                      <a:solidFill>
                        <a:srgbClr val="252A2A"/>
                      </a:solidFill>
                      <a:prstDash val="solid"/>
                    </a:lnL>
                    <a:lnR w="7620" cmpd="sng">
                      <a:solidFill>
                        <a:srgbClr val="252A2A"/>
                      </a:solidFill>
                      <a:prstDash val="solid"/>
                    </a:lnR>
                    <a:lnT w="7620" cmpd="sng">
                      <a:solidFill>
                        <a:srgbClr val="252A2A"/>
                      </a:solidFill>
                      <a:prstDash val="solid"/>
                    </a:lnT>
                    <a:lnB w="7620" cmpd="sng">
                      <a:solidFill>
                        <a:srgbClr val="252A2A"/>
                      </a:solidFill>
                      <a:prstDash val="solid"/>
                    </a:lnB>
                    <a:solidFill>
                      <a:srgbClr val="0D101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FEA6530-C859-460B-968C-CBC75AAA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10817352" cy="420624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0D1010"/>
          </a:solidFill>
          <a:ln xmlns:a="http://schemas.openxmlformats.org/drawingml/2006/main" w="12700">
            <a:solidFill>
              <a:srgbClr val="252A2A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AB3C1DB-C6EA-4F81-BA8F-7045FE4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468112"/>
            <a:ext cx="1188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E7B14A"/>
                </a:solidFill>
                <a:latin typeface="JetBrains Mono"/>
                <a:ea typeface="JetBrains Mono"/>
                <a:cs typeface="JetBrains Mono"/>
              </a:rPr>
              <a:t>NEXT UNLOCKS</a:t>
            </a:r>
            <a:endParaRPr sz="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7A413BE-7367-4A8D-BDAA-4AECDFFA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5468112"/>
            <a:ext cx="8503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>
                <a:solidFill>
                  <a:srgbClr val="F3F0E8"/>
                </a:solidFill>
                <a:latin typeface="IBM Plex Sans"/>
                <a:ea typeface="IBM Plex Sans"/>
                <a:cs typeface="IBM Plex Sans"/>
              </a:rPr>
              <a:t>Founder proof  •  customer LOI / pilot evidence  •  prototype + TRL / IRL  •  IP / moat map  •  CAC, payback, and gross-margin evidence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60EE302-4D6A-4117-B8F0-190DFBFF871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642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E7B14A"/>
                </a:solidFill>
                <a:latin typeface="JetBrains Mono"/>
                <a:ea typeface="JetBrains Mono"/>
                <a:cs typeface="JetBrains Mono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3538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2026-08-20T12:41:40.1640000Z</dcterms:created>
  <dcterms:modified xsi:type="dcterms:W3CDTF">2026-08-20T12:41:40.1640000Z</dcterms:modified>
</coreProperties>
</file>