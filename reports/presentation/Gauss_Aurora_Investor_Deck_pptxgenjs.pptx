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9bca2765ff74081" /><Relationship Type="http://schemas.openxmlformats.org/officeDocument/2006/relationships/extended-properties" Target="/docProps/app.xml" Id="R9389f06030d6465d" /><Relationship Type="http://schemas.openxmlformats.org/officeDocument/2006/relationships/officeDocument" Target="/ppt/presentation.xml" Id="R8b4dc9a4f9434e29" /></Relationships>
</file>

<file path=ppt/presentation.xml><?xml version="1.0" encoding="utf-8"?>
<p:presentation xmlns:p="http://schemas.openxmlformats.org/presentationml/2006/main">
  <p:sldMasterIdLst>
    <p:sldMasterId xmlns:r="http://schemas.openxmlformats.org/officeDocument/2006/relationships" id="2147483648" r:id="R5a944854a95245ff"/>
  </p:sldMasterIdLst>
  <p:notesMasterIdLst>
    <p:notesMasterId xmlns:r="http://schemas.openxmlformats.org/officeDocument/2006/relationships" r:id="Rd00a18af02fa4ad8"/>
  </p:notesMasterIdLst>
  <p:sldIdLst>
    <p:sldId xmlns:r="http://schemas.openxmlformats.org/officeDocument/2006/relationships" id="256" r:id="Rdfd0c17b69664377"/>
    <p:sldId xmlns:r="http://schemas.openxmlformats.org/officeDocument/2006/relationships" id="257" r:id="R838ef375e5774d13"/>
    <p:sldId xmlns:r="http://schemas.openxmlformats.org/officeDocument/2006/relationships" id="258" r:id="R55eab405dd624dd0"/>
    <p:sldId xmlns:r="http://schemas.openxmlformats.org/officeDocument/2006/relationships" id="259" r:id="R67f48dfc281849b5"/>
    <p:sldId xmlns:r="http://schemas.openxmlformats.org/officeDocument/2006/relationships" id="260" r:id="R3277f99dd50d4713"/>
    <p:sldId xmlns:r="http://schemas.openxmlformats.org/officeDocument/2006/relationships" id="261" r:id="Red97cb2941944ce8"/>
    <p:sldId xmlns:r="http://schemas.openxmlformats.org/officeDocument/2006/relationships" id="262" r:id="R2722d99e4a5c4a7d"/>
    <p:sldId xmlns:r="http://schemas.openxmlformats.org/officeDocument/2006/relationships" id="263" r:id="Rf95e62fae392421e"/>
    <p:sldId xmlns:r="http://schemas.openxmlformats.org/officeDocument/2006/relationships" id="264" r:id="R118e2e179786480e"/>
    <p:sldId xmlns:r="http://schemas.openxmlformats.org/officeDocument/2006/relationships" id="265" r:id="R6ec236843a214aaf"/>
    <p:sldId xmlns:r="http://schemas.openxmlformats.org/officeDocument/2006/relationships" id="266" r:id="R626d7f3e0cea404a"/>
    <p:sldId xmlns:r="http://schemas.openxmlformats.org/officeDocument/2006/relationships" id="267" r:id="R42b6f56c66b441ad"/>
    <p:sldId xmlns:r="http://schemas.openxmlformats.org/officeDocument/2006/relationships" id="268" r:id="R5ac7b6e5bab14885"/>
    <p:sldId xmlns:r="http://schemas.openxmlformats.org/officeDocument/2006/relationships" id="269" r:id="R8690b4211dd84bf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1a29f2c61adb4f03" /><Relationship Type="http://schemas.openxmlformats.org/officeDocument/2006/relationships/slideMaster" Target="/ppt/slideMasters/slideMaster1.xml" Id="R5a944854a95245ff" /><Relationship Type="http://schemas.openxmlformats.org/officeDocument/2006/relationships/notesMaster" Target="/ppt/notesMasters/notesMaster1.xml" Id="Rd00a18af02fa4ad8" /><Relationship Type="http://schemas.openxmlformats.org/officeDocument/2006/relationships/presProps" Target="/ppt/presProps.xml" Id="R05697d72c30d4157" /><Relationship Type="http://schemas.openxmlformats.org/officeDocument/2006/relationships/viewProps" Target="/ppt/viewProps.xml" Id="Rad26da64bf804321" /><Relationship Type="http://schemas.openxmlformats.org/officeDocument/2006/relationships/tableStyles" Target="/ppt/tableStyles.xml" Id="R4c323b5881364f92" /><Relationship Type="http://schemas.openxmlformats.org/officeDocument/2006/relationships/slide" Target="/ppt/slides/slide1.xml" Id="Rdfd0c17b69664377" /><Relationship Type="http://schemas.openxmlformats.org/officeDocument/2006/relationships/slide" Target="/ppt/slides/slide2.xml" Id="R838ef375e5774d13" /><Relationship Type="http://schemas.openxmlformats.org/officeDocument/2006/relationships/slide" Target="/ppt/slides/slide3.xml" Id="R55eab405dd624dd0" /><Relationship Type="http://schemas.openxmlformats.org/officeDocument/2006/relationships/slide" Target="/ppt/slides/slide4.xml" Id="R67f48dfc281849b5" /><Relationship Type="http://schemas.openxmlformats.org/officeDocument/2006/relationships/slide" Target="/ppt/slides/slide5.xml" Id="R3277f99dd50d4713" /><Relationship Type="http://schemas.openxmlformats.org/officeDocument/2006/relationships/slide" Target="/ppt/slides/slide6.xml" Id="Red97cb2941944ce8" /><Relationship Type="http://schemas.openxmlformats.org/officeDocument/2006/relationships/slide" Target="/ppt/slides/slide7.xml" Id="R2722d99e4a5c4a7d" /><Relationship Type="http://schemas.openxmlformats.org/officeDocument/2006/relationships/slide" Target="/ppt/slides/slide8.xml" Id="Rf95e62fae392421e" /><Relationship Type="http://schemas.openxmlformats.org/officeDocument/2006/relationships/slide" Target="/ppt/slides/slide9.xml" Id="R118e2e179786480e" /><Relationship Type="http://schemas.openxmlformats.org/officeDocument/2006/relationships/slide" Target="/ppt/slides/slide10.xml" Id="R6ec236843a214aaf" /><Relationship Type="http://schemas.openxmlformats.org/officeDocument/2006/relationships/slide" Target="/ppt/slides/slide11.xml" Id="R626d7f3e0cea404a" /><Relationship Type="http://schemas.openxmlformats.org/officeDocument/2006/relationships/slide" Target="/ppt/slides/slide12.xml" Id="R42b6f56c66b441ad" /><Relationship Type="http://schemas.openxmlformats.org/officeDocument/2006/relationships/slide" Target="/ppt/slides/slide13.xml" Id="R5ac7b6e5bab14885" /><Relationship Type="http://schemas.openxmlformats.org/officeDocument/2006/relationships/slide" Target="/ppt/slides/slide14.xml" Id="R8690b4211dd84bf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46a211df104ea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851e54b14a24e58" /><Relationship Type="http://schemas.openxmlformats.org/officeDocument/2006/relationships/notesMaster" Target="/ppt/notesMasters/notesMaster1.xml" Id="R964d2f0b3e0e4d95" /></Relationships>
</file>

<file path=ppt/notesSlides/_rels/notesSlide2.xml.rels>&#65279;<?xml version="1.0" encoding="utf-8"?><Relationships xmlns="http://schemas.openxmlformats.org/package/2006/relationships"><Relationship Type="http://schemas.openxmlformats.org/officeDocument/2006/relationships/slide" Target="/ppt/slides/slide2.xml" Id="R7a55b254e32d4954" /><Relationship Type="http://schemas.openxmlformats.org/officeDocument/2006/relationships/notesMaster" Target="/ppt/notesMasters/notesMaster1.xml" Id="Rbbf266f8a56f47ea" /></Relationships>
</file>

<file path=ppt/notesSlides/_rels/notesSlide3.xml.rels>&#65279;<?xml version="1.0" encoding="utf-8"?><Relationships xmlns="http://schemas.openxmlformats.org/package/2006/relationships"><Relationship Type="http://schemas.openxmlformats.org/officeDocument/2006/relationships/slide" Target="/ppt/slides/slide3.xml" Id="Raa61a11313a440f6" /><Relationship Type="http://schemas.openxmlformats.org/officeDocument/2006/relationships/notesMaster" Target="/ppt/notesMasters/notesMaster1.xml" Id="R06c0b35b94694d2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13d4c0337724195" /><Relationship Type="http://schemas.openxmlformats.org/officeDocument/2006/relationships/notesMaster" Target="/ppt/notesMasters/notesMaster1.xml" Id="Refa9c5e555d3489c" /></Relationships>
</file>

<file path=ppt/notesSlides/_rels/notesSlide5.xml.rels>&#65279;<?xml version="1.0" encoding="utf-8"?><Relationships xmlns="http://schemas.openxmlformats.org/package/2006/relationships"><Relationship Type="http://schemas.openxmlformats.org/officeDocument/2006/relationships/slide" Target="/ppt/slides/slide5.xml" Id="R999af737b2654faa" /><Relationship Type="http://schemas.openxmlformats.org/officeDocument/2006/relationships/notesMaster" Target="/ppt/notesMasters/notesMaster1.xml" Id="R5956408e6ef44454" /></Relationships>
</file>

<file path=ppt/notesSlides/_rels/notesSlide6.xml.rels>&#65279;<?xml version="1.0" encoding="utf-8"?><Relationships xmlns="http://schemas.openxmlformats.org/package/2006/relationships"><Relationship Type="http://schemas.openxmlformats.org/officeDocument/2006/relationships/slide" Target="/ppt/slides/slide6.xml" Id="Rd6c27232567a471b" /><Relationship Type="http://schemas.openxmlformats.org/officeDocument/2006/relationships/notesMaster" Target="/ppt/notesMasters/notesMaster1.xml" Id="R4acd8292f2574444" /></Relationships>
</file>

<file path=ppt/notesSlides/_rels/notesSlide7.xml.rels>&#65279;<?xml version="1.0" encoding="utf-8"?><Relationships xmlns="http://schemas.openxmlformats.org/package/2006/relationships"><Relationship Type="http://schemas.openxmlformats.org/officeDocument/2006/relationships/slide" Target="/ppt/slides/slide7.xml" Id="R881351cba14b48ac" /><Relationship Type="http://schemas.openxmlformats.org/officeDocument/2006/relationships/notesMaster" Target="/ppt/notesMasters/notesMaster1.xml" Id="R5da193993f544204" /></Relationships>
</file>

<file path=ppt/notesSlides/_rels/notesSlide8.xml.rels>&#65279;<?xml version="1.0" encoding="utf-8"?><Relationships xmlns="http://schemas.openxmlformats.org/package/2006/relationships"><Relationship Type="http://schemas.openxmlformats.org/officeDocument/2006/relationships/slide" Target="/ppt/slides/slide8.xml" Id="R651bc763247341e2" /><Relationship Type="http://schemas.openxmlformats.org/officeDocument/2006/relationships/notesMaster" Target="/ppt/notesMasters/notesMaster1.xml" Id="R5d5292331014411a" /></Relationships>
</file>

<file path=ppt/notesSlides/_rels/notesSlide9.xml.rels>&#65279;<?xml version="1.0" encoding="utf-8"?><Relationships xmlns="http://schemas.openxmlformats.org/package/2006/relationships"><Relationship Type="http://schemas.openxmlformats.org/officeDocument/2006/relationships/slide" Target="/ppt/slides/slide9.xml" Id="R8dbec1cd19704257" /><Relationship Type="http://schemas.openxmlformats.org/officeDocument/2006/relationships/notesMaster" Target="/ppt/notesMasters/notesMaster1.xml" Id="R2f5b236c809a4c3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34cff1193814da5" /><Relationship Type="http://schemas.openxmlformats.org/officeDocument/2006/relationships/notesMaster" Target="/ppt/notesMasters/notesMaster1.xml" Id="Rceef9809d49a4de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46abbfd4b4d4d55" /><Relationship Type="http://schemas.openxmlformats.org/officeDocument/2006/relationships/notesMaster" Target="/ppt/notesMasters/notesMaster1.xml" Id="Re9be7f1d583c4a7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b5e2d8986734c8a" /><Relationship Type="http://schemas.openxmlformats.org/officeDocument/2006/relationships/notesMaster" Target="/ppt/notesMasters/notesMaster1.xml" Id="R17cff7b26abc499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4fdddbe87294db3" /><Relationship Type="http://schemas.openxmlformats.org/officeDocument/2006/relationships/notesMaster" Target="/ppt/notesMasters/notesMaster1.xml" Id="Ra1c2d01e7b624ce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b67dc14f8eb4e48" /><Relationship Type="http://schemas.openxmlformats.org/officeDocument/2006/relationships/notesMaster" Target="/ppt/notesMasters/notesMaster1.xml" Id="Rbf90decf09514dd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category shift: space operators have more data, more autonomy pressure, and less tolerance for untraceable decisions.
[Sources]
- User-provided: Gauss_Aurora_Pitch_Deck_v1.pptx
- User-provided: Project_Gauss_Data_Architecture_for_AI_Automation_in_Space.pdf</a:t>
            </a:r>
            <a:endParaRPr/>
          </a:p>
          <a:p xmlns:a="http://schemas.openxmlformats.org/drawingml/2006/main">
            <a:r>
              <a:t>
[Sources]
- NASA Earthrise image: https://science.nasa.gov/resource/image-earthrise/
- Image asset: https://assets.science.nasa.gov/dynamicimage/assets/science/esd/climate/2023/12/August-2013_1920x1200.jpg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the problem as operational evidence fragmentation, not a generic AI opportunity. The buyer is paying to reduce decision latency and audit friction.
[Sources]
- User-provided: Project_Gauss_Data_Architecture_for_AI_Automation_in_Space.pdf
- Repo: config/product-packages.json and config/product-packages.schema.json</a:t>
            </a:r>
            <a:endParaRPr/>
          </a:p>
          <a:p xmlns:a="http://schemas.openxmlformats.org/drawingml/2006/main">
            <a:r>
              <a:t>
[Sources]
- NASA solar-flare / space-weather asset in repository: research/documentation-rag/What Is the Solar Wind_ - NASA Science.html
- NASA SOHO CME gallery: https://soho.nascom.nasa.gov/bestofsoho/SolarCorona/las021.html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target count as research coverage, not traction. The commercial wedge is explicitly ground-first; flight-candidate work remains an external evidence gate.
[Sources]
- Repo: config/mission-targets.json and config/mission-target.schema.json
- Repo: development/memory/DECISIONS.md, D-110 (2026-08-19)
- User-provided: Gauss_Aurora_Pitch_Deck_v1.pptx</a:t>
            </a:r>
            <a:endParaRPr/>
          </a:p>
          <a:p xmlns:a="http://schemas.openxmlformats.org/drawingml/2006/main">
            <a:r>
              <a:t>
[Sources]
- NASA magnetosphere visualization asset in repository: research/documentation-rag/What Is the Solar Wind_ - NASA Science.html
- NASA radiation-belt context: https://svs.gsfc.nasa.gov/4241/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Visible copy is investor-facing. The underlying product boundary remains quality, provenance, correlation, replay, bounded inference, and approval-gated safety. Partners retain sensors, mission control, communications hardware, trust roots, and command authority.
[Sources]
- Repo: config/product-packages.json and config/product-packages.schema.json
- User-provided: Project_Gauss_Data_Architecture_for_AI_Automation_in_Space.pdf</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Package names and boundaries are from the repository product catalog. The visible copy is intentionally non-technical; do not describe the flight-candidate adapter as flight-qualified.
[Sources]
- Repo: config/product-packages.json and config/product-packages.schema.json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research profiles and segment hypotheses, not signed customers. The first commercial motion is mission-data and integration buyers serving communications, weather, EO, and cislunar relay systems.
[Sources]
- Repo: config/mission-targets.json and config/mission-target.schema.json
- Repo: development/memory/DECISIONS.md, D-110 (2026-08-19)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TAM and SAM are internal planning ranges and should be presented as a scenario, not audited market research. SOM is tied to the current five-account ARR model.
[Sources]
- Repo: development/memory/DECISIONS.md, D-110 (2026-08-19)
- User-provided: Gauss_Aurora_Pitch_Deck_v1.pptx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Pricing is a starting hypothesis for customer validation. The $500k ARR path is five $100k annual fleet accounts; pilots, implementation, and NRE are not ARR.
[Sources]
- Repo: development/memory/DECISIONS.md, D-110 (2026-08-19)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product workflow, not a legal conclusion. Keep payment separate from clearance. Stripe webhooks should drive internal entitlements; regulatory applicability requires customer-specific review.
[Sources]
- https://docs.stripe.com/billing/subscriptions/webhooks and https://docs.stripe.com/billing/entitlements
- https://eur-lex.europa.eu/legal-content/EN/TXT/?from=FI&amp;uri=CELEX%3A32022L2555; https://eur-lex.europa.eu/legal-content/EN/TXT/?qid=1590424137028&amp;uri=CELEX%3A32016R0679; https://csrc.nist.gov/pubs/sp/800/171/r3/final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positioning, not feature parity. Public product descriptions and the user-provided source deck place adjacent categories; Gauss remains partner-neutral.
[Sources]
- https://yamcs.com/; https://openc3.com/cosmos-enterprise; https://www.slingshot.space/product-portal; https://www.satcat.com/products/operations
- User-provided: Gauss_Aurora_Pitch_Deck_v1.pptx</a:t>
            </a:r>
            <a:endParaRPr/>
          </a:p>
          <a:p xmlns:a="http://schemas.openxmlformats.org/drawingml/2006/main">
            <a:r>
              <a:t>
[Sources]
- Yamcs official product overview: https://yamcs.org/
- OpenC3 COSMOS official overview and requirements: https://openc3.com/ ; https://docs.openc3.com/docs/meta/requirements
- Slingshot Portal official product overview: https://www.slingshot.space/product-portal
- Arize official AI observability overview: https://arize.com/
- Fiddler official observability overview: https://docs.fiddler.ai/observability/monitoring
- AIKO orbital_OLIVER official product overview: https://aikospace.com/solutions/oliver
- Gauss positioning is an internal, partner-neutral thesis; not a claim of feature parity.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Named team members and advisor network are taken from the user-provided Gauss_Aurora_Pitch_Deck_v1.pptx. Add measurable founder achievements, customer references, or formal advisor status only when verified.
[Sources]
- User-provided: Gauss_Aurora_Pitch_Deck_v1.pptx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internal milestones, not achieved traction. Keep the hosted-payload path bounded and avoid claiming flight qualification.
[Sources]
- Repo: development/memory/DECISIONS.md, D-110 (2026-08-19)
- Repo: config/product-packages.json and config/product-packages.schema.json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proof point: five paid fleet accounts and a repeatable evidence contract. Funding allocation is an internal planning scenario.
[Sources]
- Repo: development/memory/DECISIONS.md, D-110 (2026-08-19)
- Repo: config/product-packages.json and config/product-packages.schema.json
- User-provided: Gauss_Aurora_Pitch_Deck_v1.pptx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scorecard is an assessment of the current deck against published programme and investor guidance, not an eligibility determination. The next diligence unlocks are founder credibility, customer proof, explicit readiness evidence, and IP defensibility.
[Sources]
- https://access.esa.int/about-access/about-scale-up/business-incubation-centres; https://www.ycombinator.com/blog/how-to-pitch-your-company/; https://florida.seraphim.vc/; https://accelerator.seraphim.vc/
- https://www.starcloud.com/
- https://investors.rocketlabcorp.com/
- https://www.relativityspace.com/about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7a75644c0a64cb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0347d8c00814cb6"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GAUSS_MASTER">
    <p:bg>
      <p:bgPr>
        <a:solidFill xmlns:a="http://schemas.openxmlformats.org/drawingml/2006/main">
          <a:srgbClr val="050505"/>
        </a:solidFill>
      </p:bgPr>
    </p:bg>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DF590EF9-5E2F-4119-A9F8-4F65435750FA}"/>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1002</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94ea6f396db4a1a" /><Relationship Type="http://schemas.openxmlformats.org/officeDocument/2006/relationships/slideLayout" Target="/ppt/slideLayouts/slideLayout1.xml" Id="R50305b24460f4230" /><Relationship Type="http://schemas.openxmlformats.org/officeDocument/2006/relationships/slideLayout" Target="/ppt/slideLayouts/slideLayout2.xml" Id="R44e7392fea544da4"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B067DDE8-D0D5-4412-840E-FEB2670035EC}"/>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305b24460f4230"/>
    <p:sldLayoutId xmlns:r="http://schemas.openxmlformats.org/officeDocument/2006/relationships" id="2147483650" r:id="R44e7392fea544da4"/>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0e71e20864484b24" /><Relationship Type="http://schemas.openxmlformats.org/officeDocument/2006/relationships/image" Target="/ppt/media/image.jpeg" Id="R988c614d283a47ac" /><Relationship Type="http://schemas.openxmlformats.org/officeDocument/2006/relationships/notesSlide" Target="/ppt/notesSlides/notesSlide1.xml" Id="R7a4b86ec13c84de2"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124c4099601742c2" /><Relationship Type="http://schemas.openxmlformats.org/officeDocument/2006/relationships/image" Target="/ppt/media/image2.jpeg" Id="R910156ae556c422b" /><Relationship Type="http://schemas.openxmlformats.org/officeDocument/2006/relationships/notesSlide" Target="/ppt/notesSlides/notesSlide2.xml" Id="R6919e28f1b034356"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faa75be0fceb4735" /><Relationship Type="http://schemas.openxmlformats.org/officeDocument/2006/relationships/image" Target="/ppt/media/image3.jpeg" Id="R270398ea829c431c" /><Relationship Type="http://schemas.openxmlformats.org/officeDocument/2006/relationships/notesSlide" Target="/ppt/notesSlides/notesSlide3.xml" Id="Rae487d419fc74e64"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7c0f3a0de75f4e2f" /><Relationship Type="http://schemas.openxmlformats.org/officeDocument/2006/relationships/notesSlide" Target="/ppt/notesSlides/notesSlide4.xml" Id="R45ad70dfab3a4afe"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90cc5b276b144c8d" /><Relationship Type="http://schemas.openxmlformats.org/officeDocument/2006/relationships/notesSlide" Target="/ppt/notesSlides/notesSlide5.xml" Id="R24e1fe8505db451b"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a8e86411ba0542c3" /><Relationship Type="http://schemas.openxmlformats.org/officeDocument/2006/relationships/image" Target="/ppt/media/image.png" Id="Refa95f2a25304586" /><Relationship Type="http://schemas.openxmlformats.org/officeDocument/2006/relationships/notesSlide" Target="/ppt/notesSlides/notesSlide6.xml" Id="Rdb08015865e440dd"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933a698f31ad4fe4" /><Relationship Type="http://schemas.openxmlformats.org/officeDocument/2006/relationships/image" Target="/ppt/media/image2.png" Id="R92171a0f305443d2" /><Relationship Type="http://schemas.openxmlformats.org/officeDocument/2006/relationships/notesSlide" Target="/ppt/notesSlides/notesSlide7.xml" Id="R4b0ea0b958d64f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7443f7edce5d4efb" /><Relationship Type="http://schemas.openxmlformats.org/officeDocument/2006/relationships/chart" Target="/ppt/slides/charts/chart1.xml" Id="Rabc46b6939a8473c" /><Relationship Type="http://schemas.openxmlformats.org/officeDocument/2006/relationships/notesSlide" Target="/ppt/notesSlides/notesSlide8.xml" Id="R0ef00c1b7c534e83"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4f019a00e8704cbc" /><Relationship Type="http://schemas.openxmlformats.org/officeDocument/2006/relationships/notesSlide" Target="/ppt/notesSlides/notesSlide9.xml" Id="Rd8c0a680cc38424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7e072f67760249ba" /><Relationship Type="http://schemas.openxmlformats.org/officeDocument/2006/relationships/image" Target="/ppt/media/image3.png" Id="R831589dca56e469a" /><Relationship Type="http://schemas.openxmlformats.org/officeDocument/2006/relationships/notesSlide" Target="/ppt/notesSlides/notesSlide10.xml" Id="R0f80fb7ab28746a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90767be411a04195" /><Relationship Type="http://schemas.openxmlformats.org/officeDocument/2006/relationships/image" Target="/ppt/media/image4.png" Id="R82bb84ee630240be" /><Relationship Type="http://schemas.openxmlformats.org/officeDocument/2006/relationships/notesSlide" Target="/ppt/notesSlides/notesSlide11.xml" Id="Rdce9e1478f15489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3f3e7c717d404c73" /><Relationship Type="http://schemas.openxmlformats.org/officeDocument/2006/relationships/notesSlide" Target="/ppt/notesSlides/notesSlide12.xml" Id="R07a5ee6411ba4b2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223d87000b2844a1" /><Relationship Type="http://schemas.openxmlformats.org/officeDocument/2006/relationships/image" Target="/ppt/media/image5.png" Id="R3f88de5068a4426a" /><Relationship Type="http://schemas.openxmlformats.org/officeDocument/2006/relationships/notesSlide" Target="/ppt/notesSlides/notesSlide13.xml" Id="Re3ee4ba5e7fe401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c53246c432114841" /><Relationship Type="http://schemas.openxmlformats.org/officeDocument/2006/relationships/image" Target="/ppt/media/image6.png" Id="Rdf117b40ba99487a" /><Relationship Type="http://schemas.openxmlformats.org/officeDocument/2006/relationships/notesSlide" Target="/ppt/notesSlides/notesSlide14.xml" Id="Rec8e3792ed7a4e80" /></Relationships>
</file>

<file path=ppt/slides/charts/chart1.xml><?xml version="1.0" encoding="utf-8"?>
<c:chartSpace xmlns:c="http://schemas.openxmlformats.org/drawingml/2006/chart">
  <c:lang val="en-US"/>
  <c:roundedCorners val="1"/>
  <c:chart>
    <c:autoTitleDeleted val="1"/>
    <c:plotArea>
      <c:barChart>
        <c:barDir val="col"/>
        <c:grouping val="clustered"/>
        <c:varyColors val="0"/>
        <c:ser>
          <c:idx val="0"/>
          <c:order val="0"/>
          <c:tx>
            <c:strRef>
              <c:f>Sheet1!$B$1</c:f>
              <c:strCache>
                <c:ptCount val="1"/>
                <c:pt idx="0">
                  <c:v>Annualized value</c:v>
                </c:pt>
              </c:strCache>
            </c:strRef>
          </c:tx>
          <c:spPr>
            <a:solidFill xmlns:a="http://schemas.openxmlformats.org/drawingml/2006/main">
              <a:srgbClr val="CCFF00"/>
            </a:solidFill>
          </c:spPr>
          <c:dLbls>
            <c:numFmt formatCode="0" sourceLinked="0"/>
            <c:txPr>
              <a:bodyPr xmlns:a="http://schemas.openxmlformats.org/drawingml/2006/main" anchorCtr="1"/>
              <a:lstStyle xmlns:a="http://schemas.openxmlformats.org/drawingml/2006/main"/>
              <a:p xmlns:a="http://schemas.openxmlformats.org/drawingml/2006/main">
                <a:pPr>
                  <a:defRPr sz="1200" b="0" i="0" u="none">
                    <a:solidFill>
                      <a:srgbClr val="F3F0E8"/>
                    </a:solidFill>
                    <a:latin typeface="Arial"/>
                    <a:ea typeface="Arial"/>
                    <a:cs typeface="Arial"/>
                  </a:defRPr>
                </a:pPr>
              </a:p>
            </c:txPr>
            <c:showLegendKey val="0"/>
            <c:showVal val="1"/>
            <c:showCatName val="0"/>
            <c:showSerName val="0"/>
            <c:showPercent val="0"/>
            <c:showBubbleSize val="0"/>
            <c:showLeaderLines val="0"/>
          </c:dLbls>
          <c:cat>
            <c:strRef>
              <c:f>Sheet1!$A$2:$A$7</c:f>
              <c:strCache>
                <c:ptCount val="6"/>
                <c:pt idx="0">
                  <c:v>Pilot</c:v>
                </c:pt>
                <c:pt idx="1">
                  <c:v>Fleet 1</c:v>
                </c:pt>
                <c:pt idx="2">
                  <c:v>Fleet 2</c:v>
                </c:pt>
                <c:pt idx="3">
                  <c:v>Fleet 3</c:v>
                </c:pt>
                <c:pt idx="4">
                  <c:v>Fleet 4</c:v>
                </c:pt>
                <c:pt idx="5">
                  <c:v>Fleet 5</c:v>
                </c:pt>
              </c:strCache>
            </c:strRef>
          </c:cat>
          <c:val>
            <c:numRef>
              <c:f>Sheet1!$B$2:$B$7</c:f>
              <c:numCache>
                <c:formatCode>General</c:formatCode>
                <c:ptCount val="6"/>
                <c:pt idx="0">
                  <c:v>25</c:v>
                </c:pt>
                <c:pt idx="1">
                  <c:v>100</c:v>
                </c:pt>
                <c:pt idx="2">
                  <c:v>200</c:v>
                </c:pt>
                <c:pt idx="3">
                  <c:v>300</c:v>
                </c:pt>
                <c:pt idx="4">
                  <c:v>400</c:v>
                </c:pt>
                <c:pt idx="5">
                  <c:v>500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200" b="0" i="0" u="none">
                  <a:solidFill>
                    <a:srgbClr val="F3F0E8"/>
                  </a:solidFill>
                  <a:latin typeface="Arial"/>
                  <a:ea typeface="Arial"/>
                  <a:cs typeface="Arial"/>
                </a:defRPr>
              </a:pPr>
            </a:p>
          </c:txPr>
          <c:showLegendKey val="0"/>
          <c:showVal val="1"/>
          <c:showCatName val="0"/>
          <c:showSerName val="0"/>
          <c:showPercent val="0"/>
          <c:showBubbleSize val="0"/>
          <c:showLeaderLines val="0"/>
        </c:dLbls>
        <c:gapWidth val="150"/>
        <c:overlap val="0"/>
        <c:axId val="2094734554"/>
        <c:axId val="2094734552"/>
      </c:barChart>
      <c:catAx>
        <c:axId val="2094734554"/>
        <c:scaling>
          <c:orientation val="minMax"/>
        </c:scaling>
        <c:delete val="0"/>
        <c:axPos val="b"/>
        <c:numFmt formatCode="General" sourceLinked="1"/>
        <c:majorTickMark val="out"/>
        <c:minorTickMark val="none"/>
        <c:tickLblPos val="low"/>
        <c:spPr>
          <a:ln xmlns:a="http://schemas.openxmlformats.org/drawingml/2006/main" w="12700">
            <a:solidFill>
              <a:srgbClr val="888888"/>
            </a:solid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A6A9A2"/>
                </a:solidFill>
                <a:latin typeface="IBM Plex Sans"/>
                <a:ea typeface="IBM Plex Sans"/>
                <a:cs typeface="IBM Plex Sans"/>
              </a:defRPr>
            </a:pPr>
          </a:p>
        </c:txPr>
        <c:crossAx val="2094734552"/>
        <c:crosses val="autoZero"/>
      </c:catAx>
      <c:valAx>
        <c:axId val="2094734552"/>
        <c:scaling>
          <c:orientation val="minMax"/>
          <c:max val="550"/>
          <c:min val="0"/>
        </c:scaling>
        <c:delete val="0"/>
        <c:axPos val="l"/>
        <c:majorGridlines>
          <c:spPr>
            <a:ln xmlns:a="http://schemas.openxmlformats.org/drawingml/2006/main" w="12700">
              <a:solidFill>
                <a:srgbClr val="252A2A"/>
              </a:solidFill>
              <a:prstDash val="solid"/>
            </a:ln>
          </c:spPr>
        </c:majorGridlines>
        <c:numFmt formatCode="General" sourceLinked="0"/>
        <c:majorTickMark val="out"/>
        <c:minorTickMark val="none"/>
        <c:tickLblPos val="nextTo"/>
        <c:spPr>
          <a:ln xmlns:a="http://schemas.openxmlformats.org/drawingml/2006/main" w="12700">
            <a:solidFill>
              <a:srgbClr val="888888"/>
            </a:solidFill>
            <a:prstDash val="solid"/>
          </a:ln>
        </c:spPr>
        <c:txPr>
          <a:bodyPr xmlns:a="http://schemas.openxmlformats.org/drawingml/2006/main" anchorCtr="1"/>
          <a:lstStyle xmlns:a="http://schemas.openxmlformats.org/drawingml/2006/main"/>
          <a:p xmlns:a="http://schemas.openxmlformats.org/drawingml/2006/main">
            <a:pPr>
              <a:defRPr sz="800" b="0" i="0" u="none">
                <a:solidFill>
                  <a:srgbClr val="A6A9A2"/>
                </a:solidFill>
                <a:latin typeface="JetBrains Mono"/>
                <a:ea typeface="JetBrains Mono"/>
                <a:cs typeface="JetBrains Mono"/>
              </a:defRPr>
            </a:pPr>
          </a:p>
        </c:txPr>
        <c:crossAx val="2094734554"/>
        <c:crosses val="autoZero"/>
        <c:crossBetween val="between"/>
        <c:majorUnit val="100"/>
      </c:valAx>
      <c:spPr>
        <a:noFill xmlns:a="http://schemas.openxmlformats.org/drawingml/2006/main"/>
        <a:ln xmlns:a="http://schemas.openxmlformats.org/drawingml/2006/main">
          <a:noFill/>
        </a:ln>
      </c:spPr>
    </c:plotArea>
    <c:plotVisOnly val="1"/>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F07765C-15E4-4D60-9E5D-EB8630067AE8}"/>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3" name="Text 1">
            <a:extLst xmlns:a="http://schemas.openxmlformats.org/drawingml/2006/main">
              <a:ext uri="{FF2B5EF4-FFF2-40B4-BE49-F238E27FC236}">
                <a16:creationId xmlns:a16="http://schemas.microsoft.com/office/drawing/2014/main" id="{B3D352A7-A7B9-4FA7-903A-3469248BCE86}"/>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INVESTOR BRIEF</a:t>
            </a:r>
            <a:endParaRPr sz="800"/>
          </a:p>
        </p:txBody>
      </p:sp>
      <p:sp>
        <p:nvSpPr>
          <p:cNvPr id="4" name="Text 2">
            <a:extLst xmlns:a="http://schemas.openxmlformats.org/drawingml/2006/main">
              <a:ext uri="{FF2B5EF4-FFF2-40B4-BE49-F238E27FC236}">
                <a16:creationId xmlns:a16="http://schemas.microsoft.com/office/drawing/2014/main" id="{0D23DF6C-CE16-41ED-B4C0-A468E512F4C6}"/>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01</a:t>
            </a:r>
            <a:endParaRPr sz="800"/>
          </a:p>
        </p:txBody>
      </p:sp>
      <p:sp>
        <p:nvSpPr>
          <p:cNvPr id="5" name="Shape 3">
            <a:extLst xmlns:a="http://schemas.openxmlformats.org/drawingml/2006/main">
              <a:ext uri="{FF2B5EF4-FFF2-40B4-BE49-F238E27FC236}">
                <a16:creationId xmlns:a16="http://schemas.microsoft.com/office/drawing/2014/main" id="{3C4A880E-5C30-40B1-B46D-F57B4235D9F6}"/>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pic>
        <p:nvPicPr>
          <p:cNvPr id="31" name="Image 0"/>
          <p:cNvPicPr>
            <a:picLocks xmlns:a="http://schemas.openxmlformats.org/drawingml/2006/main" noChangeAspect="1"/>
          </p:cNvPicPr>
          <p:nvPr/>
        </p:nvPicPr>
        <p:blipFill>
          <a:blip xmlns:r="http://schemas.openxmlformats.org/officeDocument/2006/relationships" xmlns:a="http://schemas.openxmlformats.org/drawingml/2006/main" r:embed="R988c614d283a47ac"/>
          <a:srcRect xmlns:a="http://schemas.openxmlformats.org/drawingml/2006/main" l="0" t="4999" r="0" b="4999"/>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97045587-A5B6-43C5-8D12-B883584DA22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alpha val="36000"/>
            </a:srgbClr>
          </a:solidFill>
          <a:ln xmlns:a="http://schemas.openxmlformats.org/drawingml/2006/main" w="12700">
            <a:solidFill>
              <a:srgbClr val="050505">
                <a:alpha val="0"/>
              </a:srgbClr>
            </a:solidFill>
            <a:prstDash val="solid"/>
          </a:ln>
        </p:spPr>
      </p:sp>
      <p:sp>
        <p:nvSpPr>
          <p:cNvPr id="8" name="Shape 5">
            <a:extLst xmlns:a="http://schemas.openxmlformats.org/drawingml/2006/main">
              <a:ext uri="{FF2B5EF4-FFF2-40B4-BE49-F238E27FC236}">
                <a16:creationId xmlns:a16="http://schemas.microsoft.com/office/drawing/2014/main" id="{1A266DCB-3EDB-4E96-8815-D331D682437A}"/>
              </a:ext>
            </a:extLst>
          </p:cNvPr>
          <p:cNvSpPr>
            <a:spLocks xmlns:a="http://schemas.openxmlformats.org/drawingml/2006/main" noGrp="1"/>
          </p:cNvSpPr>
          <p:nvPr/>
        </p:nvSpPr>
        <p:spPr>
          <a:xfrm xmlns:a="http://schemas.openxmlformats.org/drawingml/2006/main">
            <a:off x="685800" y="969264"/>
            <a:ext cx="1280160" cy="0"/>
          </a:xfrm>
          <a:prstGeom xmlns:a="http://schemas.openxmlformats.org/drawingml/2006/main" prst="line">
            <a:avLst/>
          </a:prstGeom>
          <a:noFill xmlns:a="http://schemas.openxmlformats.org/drawingml/2006/main"/>
          <a:ln xmlns:a="http://schemas.openxmlformats.org/drawingml/2006/main" w="12700">
            <a:solidFill>
              <a:srgbClr val="CCFF00"/>
            </a:solidFill>
            <a:prstDash val="solid"/>
          </a:ln>
        </p:spPr>
      </p:sp>
      <p:sp>
        <p:nvSpPr>
          <p:cNvPr id="9" name="Text 6">
            <a:extLst xmlns:a="http://schemas.openxmlformats.org/drawingml/2006/main">
              <a:ext uri="{FF2B5EF4-FFF2-40B4-BE49-F238E27FC236}">
                <a16:creationId xmlns:a16="http://schemas.microsoft.com/office/drawing/2014/main" id="{17EE1247-23F5-4742-BA2A-85DD417D69BF}"/>
              </a:ext>
            </a:extLst>
          </p:cNvPr>
          <p:cNvSpPr>
            <a:spLocks xmlns:a="http://schemas.openxmlformats.org/drawingml/2006/main" noGrp="1"/>
          </p:cNvSpPr>
          <p:nvPr/>
        </p:nvSpPr>
        <p:spPr>
          <a:xfrm xmlns:a="http://schemas.openxmlformats.org/drawingml/2006/main">
            <a:off x="685800" y="1261872"/>
            <a:ext cx="3474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b="1">
                <a:solidFill>
                  <a:srgbClr val="CCFF00"/>
                </a:solidFill>
                <a:latin typeface="JetBrains Mono"/>
                <a:ea typeface="JetBrains Mono"/>
                <a:cs typeface="JetBrains Mono"/>
              </a:rPr>
              <a:t>PROJECT GAUSS</a:t>
            </a:r>
            <a:endParaRPr sz="1100"/>
          </a:p>
        </p:txBody>
      </p:sp>
      <p:sp>
        <p:nvSpPr>
          <p:cNvPr id="10" name="Text 7">
            <a:extLst xmlns:a="http://schemas.openxmlformats.org/drawingml/2006/main">
              <a:ext uri="{FF2B5EF4-FFF2-40B4-BE49-F238E27FC236}">
                <a16:creationId xmlns:a16="http://schemas.microsoft.com/office/drawing/2014/main" id="{38E7368C-7F6A-44CC-9970-7F662BDBEF3E}"/>
              </a:ext>
            </a:extLst>
          </p:cNvPr>
          <p:cNvSpPr>
            <a:spLocks xmlns:a="http://schemas.openxmlformats.org/drawingml/2006/main" noGrp="1"/>
          </p:cNvSpPr>
          <p:nvPr/>
        </p:nvSpPr>
        <p:spPr>
          <a:xfrm xmlns:a="http://schemas.openxmlformats.org/drawingml/2006/main">
            <a:off x="685800" y="1874520"/>
            <a:ext cx="676656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4200" b="1">
                <a:solidFill>
                  <a:srgbClr val="F3F0E8"/>
                </a:solidFill>
                <a:latin typeface="Inter"/>
                <a:ea typeface="Inter"/>
                <a:cs typeface="Inter"/>
              </a:rPr>
              <a:t>Mission data,</a:t>
            </a:r>
            <a:endParaRPr sz="4200"/>
          </a:p>
          <a:p xmlns:a="http://schemas.openxmlformats.org/drawingml/2006/main">
            <a:pPr marL="0" indent="0" algn="l">
              <a:lnSpc>
                <a:spcPct val="100000"/>
              </a:lnSpc>
              <a:buNone/>
            </a:pPr>
            <a:r>
              <a:rPr sz="4200" b="1">
                <a:solidFill>
                  <a:srgbClr val="F3F0E8"/>
                </a:solidFill>
                <a:latin typeface="Inter"/>
                <a:ea typeface="Inter"/>
                <a:cs typeface="Inter"/>
              </a:rPr>
              <a:t>made decision-ready.</a:t>
            </a:r>
            <a:endParaRPr sz="4200"/>
          </a:p>
        </p:txBody>
      </p:sp>
      <p:sp>
        <p:nvSpPr>
          <p:cNvPr id="11" name="Text 8">
            <a:extLst xmlns:a="http://schemas.openxmlformats.org/drawingml/2006/main">
              <a:ext uri="{FF2B5EF4-FFF2-40B4-BE49-F238E27FC236}">
                <a16:creationId xmlns:a16="http://schemas.microsoft.com/office/drawing/2014/main" id="{FFBEA302-EB5E-48AC-A78C-DDA1EC2380C5}"/>
              </a:ext>
            </a:extLst>
          </p:cNvPr>
          <p:cNvSpPr>
            <a:spLocks xmlns:a="http://schemas.openxmlformats.org/drawingml/2006/main" noGrp="1"/>
          </p:cNvSpPr>
          <p:nvPr/>
        </p:nvSpPr>
        <p:spPr>
          <a:xfrm xmlns:a="http://schemas.openxmlformats.org/drawingml/2006/main">
            <a:off x="731520" y="3529584"/>
            <a:ext cx="59436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600">
                <a:solidFill>
                  <a:srgbClr val="A6A9A2"/>
                </a:solidFill>
                <a:latin typeface="IBM Plex Sans"/>
                <a:ea typeface="IBM Plex Sans"/>
                <a:cs typeface="IBM Plex Sans"/>
              </a:rPr>
              <a:t>An evidence-first assurance layer for AI-augmented space operations.</a:t>
            </a:r>
            <a:endParaRPr sz="1600"/>
          </a:p>
        </p:txBody>
      </p:sp>
      <p:sp>
        <p:nvSpPr>
          <p:cNvPr id="12" name="Text 9">
            <a:extLst xmlns:a="http://schemas.openxmlformats.org/drawingml/2006/main">
              <a:ext uri="{FF2B5EF4-FFF2-40B4-BE49-F238E27FC236}">
                <a16:creationId xmlns:a16="http://schemas.microsoft.com/office/drawing/2014/main" id="{632C83A2-EC8E-4C86-A026-141788D1CF80}"/>
              </a:ext>
            </a:extLst>
          </p:cNvPr>
          <p:cNvSpPr>
            <a:spLocks xmlns:a="http://schemas.openxmlformats.org/drawingml/2006/main" noGrp="1"/>
          </p:cNvSpPr>
          <p:nvPr/>
        </p:nvSpPr>
        <p:spPr>
          <a:xfrm xmlns:a="http://schemas.openxmlformats.org/drawingml/2006/main">
            <a:off x="731520" y="5897880"/>
            <a:ext cx="2926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INVESTOR BRIEF  /  AUGUST 2026</a:t>
            </a:r>
            <a:endParaRPr sz="800"/>
          </a:p>
        </p:txBody>
      </p:sp>
      <p:sp>
        <p:nvSpPr>
          <p:cNvPr id="13" name="Text 10">
            <a:extLst xmlns:a="http://schemas.openxmlformats.org/drawingml/2006/main">
              <a:ext uri="{FF2B5EF4-FFF2-40B4-BE49-F238E27FC236}">
                <a16:creationId xmlns:a16="http://schemas.microsoft.com/office/drawing/2014/main" id="{1F8F84E3-D21A-4E48-BCE2-83FC75C4A9B5}"/>
              </a:ext>
            </a:extLst>
          </p:cNvPr>
          <p:cNvSpPr>
            <a:spLocks xmlns:a="http://schemas.openxmlformats.org/drawingml/2006/main" noGrp="1"/>
          </p:cNvSpPr>
          <p:nvPr/>
        </p:nvSpPr>
        <p:spPr>
          <a:xfrm xmlns:a="http://schemas.openxmlformats.org/drawingml/2006/main">
            <a:off x="7132320" y="5897880"/>
            <a:ext cx="42976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a:solidFill>
                  <a:srgbClr val="A6A9A2"/>
                </a:solidFill>
                <a:latin typeface="JetBrains Mono"/>
                <a:ea typeface="JetBrains Mono"/>
                <a:cs typeface="JetBrains Mono"/>
              </a:rPr>
              <a:t>Ground-first. Flight-candidate ready. Command-inert by design.</a:t>
            </a:r>
            <a:endParaRPr sz="800"/>
          </a:p>
        </p:txBody>
      </p:sp>
      <p:sp>
        <p:nvSpPr>
          <p:cNvPr id="25" name="Slide Number Placeholder 0">
            <a:extLst xmlns:a="http://schemas.openxmlformats.org/drawingml/2006/main">
              <a:ext uri="{FF2B5EF4-FFF2-40B4-BE49-F238E27FC236}">
                <a16:creationId xmlns:a16="http://schemas.microsoft.com/office/drawing/2014/main" id="{10C668B8-B67B-4EB1-B5A1-2FEB97F98052}"/>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1</a:t>
            </a:fld>
            <a:endParaRPr/>
          </a:p>
        </p:txBody>
      </p:sp>
    </p:spTree>
    <p:extLst>
      <p:ext uri="{BB962C8B-B14F-4D97-AF65-F5344CB8AC3E}">
        <p14:creationId xmlns:p14="http://schemas.microsoft.com/office/powerpoint/2010/main" val="2009135625"/>
      </p:ext>
    </p:extLst>
  </p:cSld>
</p:sld>
</file>

<file path=ppt/slides/slide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C51DBE0-3FFC-49E2-AE13-AC16F9C14654}"/>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3" name="Text 1">
            <a:extLst xmlns:a="http://schemas.openxmlformats.org/drawingml/2006/main">
              <a:ext uri="{FF2B5EF4-FFF2-40B4-BE49-F238E27FC236}">
                <a16:creationId xmlns:a16="http://schemas.microsoft.com/office/drawing/2014/main" id="{AD3A685D-E1C1-45E5-BD85-FB77667114CA}"/>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PROBLEM</a:t>
            </a:r>
            <a:endParaRPr sz="800"/>
          </a:p>
        </p:txBody>
      </p:sp>
      <p:sp>
        <p:nvSpPr>
          <p:cNvPr id="4" name="Text 2">
            <a:extLst xmlns:a="http://schemas.openxmlformats.org/drawingml/2006/main">
              <a:ext uri="{FF2B5EF4-FFF2-40B4-BE49-F238E27FC236}">
                <a16:creationId xmlns:a16="http://schemas.microsoft.com/office/drawing/2014/main" id="{C68C7E57-4926-49DF-859D-2C9697CAC240}"/>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02</a:t>
            </a:r>
            <a:endParaRPr sz="800"/>
          </a:p>
        </p:txBody>
      </p:sp>
      <p:sp>
        <p:nvSpPr>
          <p:cNvPr id="5" name="Shape 3">
            <a:extLst xmlns:a="http://schemas.openxmlformats.org/drawingml/2006/main">
              <a:ext uri="{FF2B5EF4-FFF2-40B4-BE49-F238E27FC236}">
                <a16:creationId xmlns:a16="http://schemas.microsoft.com/office/drawing/2014/main" id="{608DE4F5-444A-4F23-9A15-4AF617455F5F}"/>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6" name="Text 4">
            <a:extLst xmlns:a="http://schemas.openxmlformats.org/drawingml/2006/main">
              <a:ext uri="{FF2B5EF4-FFF2-40B4-BE49-F238E27FC236}">
                <a16:creationId xmlns:a16="http://schemas.microsoft.com/office/drawing/2014/main" id="{105FC363-ADFC-49D7-91B7-62F0AB936414}"/>
              </a:ext>
            </a:extLst>
          </p:cNvPr>
          <p:cNvSpPr>
            <a:spLocks xmlns:a="http://schemas.openxmlformats.org/drawingml/2006/main" noGrp="1"/>
          </p:cNvSpPr>
          <p:nvPr/>
        </p:nvSpPr>
        <p:spPr>
          <a:xfrm xmlns:a="http://schemas.openxmlformats.org/drawingml/2006/main">
            <a:off x="685800" y="932688"/>
            <a:ext cx="106984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800" b="1">
                <a:solidFill>
                  <a:srgbClr val="F3F0E8"/>
                </a:solidFill>
                <a:latin typeface="Inter"/>
                <a:ea typeface="Inter"/>
                <a:cs typeface="Inter"/>
              </a:rPr>
              <a:t>Fragmented evidence is expensive.</a:t>
            </a:r>
            <a:endParaRPr sz="2800"/>
          </a:p>
        </p:txBody>
      </p:sp>
      <p:sp>
        <p:nvSpPr>
          <p:cNvPr id="7" name="Text 5">
            <a:extLst xmlns:a="http://schemas.openxmlformats.org/drawingml/2006/main">
              <a:ext uri="{FF2B5EF4-FFF2-40B4-BE49-F238E27FC236}">
                <a16:creationId xmlns:a16="http://schemas.microsoft.com/office/drawing/2014/main" id="{F5FD77A8-4ED3-43CA-85AC-22925D886AD6}"/>
              </a:ext>
            </a:extLst>
          </p:cNvPr>
          <p:cNvSpPr>
            <a:spLocks xmlns:a="http://schemas.openxmlformats.org/drawingml/2006/main" noGrp="1"/>
          </p:cNvSpPr>
          <p:nvPr/>
        </p:nvSpPr>
        <p:spPr>
          <a:xfrm xmlns:a="http://schemas.openxmlformats.org/drawingml/2006/main">
            <a:off x="685800" y="1472184"/>
            <a:ext cx="10287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500">
                <a:solidFill>
                  <a:srgbClr val="A6A9A2"/>
                </a:solidFill>
                <a:latin typeface="IBM Plex Sans"/>
                <a:ea typeface="IBM Plex Sans"/>
                <a:cs typeface="IBM Plex Sans"/>
              </a:rPr>
              <a:t>The data exists. The decision context does not.</a:t>
            </a:r>
            <a:endParaRPr sz="1500"/>
          </a:p>
        </p:txBody>
      </p:sp>
      <p:pic>
        <p:nvPicPr>
          <p:cNvPr id="33" name="Image 0"/>
          <p:cNvPicPr>
            <a:picLocks xmlns:a="http://schemas.openxmlformats.org/drawingml/2006/main" noChangeAspect="1"/>
          </p:cNvPicPr>
          <p:nvPr/>
        </p:nvPicPr>
        <p:blipFill>
          <a:blip xmlns:r="http://schemas.openxmlformats.org/officeDocument/2006/relationships" xmlns:a="http://schemas.openxmlformats.org/drawingml/2006/main" r:embed="R910156ae556c422b"/>
          <a:srcRect xmlns:a="http://schemas.openxmlformats.org/drawingml/2006/main" l="9091" t="0" r="9091" b="0"/>
          <a:stretch xmlns:a="http://schemas.openxmlformats.org/drawingml/2006/main">
            <a:fillRect l="0" t="0" r="0" b="0"/>
          </a:stretch>
        </p:blipFill>
        <p:spPr>
          <a:xfrm xmlns:a="http://schemas.openxmlformats.org/drawingml/2006/main">
            <a:off x="6784848" y="1078992"/>
            <a:ext cx="4681728" cy="3218688"/>
          </a:xfrm>
          <a:prstGeom xmlns:a="http://schemas.openxmlformats.org/drawingml/2006/main" prst="rect">
            <a:avLst/>
          </a:prstGeom>
        </p:spPr>
      </p:pic>
      <p:sp>
        <p:nvSpPr>
          <p:cNvPr id="9" name="Shape 6">
            <a:extLst xmlns:a="http://schemas.openxmlformats.org/drawingml/2006/main">
              <a:ext uri="{FF2B5EF4-FFF2-40B4-BE49-F238E27FC236}">
                <a16:creationId xmlns:a16="http://schemas.microsoft.com/office/drawing/2014/main" id="{FD6CCEDC-B014-4439-A4E4-17D2D6B54EE8}"/>
              </a:ext>
            </a:extLst>
          </p:cNvPr>
          <p:cNvSpPr>
            <a:spLocks xmlns:a="http://schemas.openxmlformats.org/drawingml/2006/main" noGrp="1"/>
          </p:cNvSpPr>
          <p:nvPr/>
        </p:nvSpPr>
        <p:spPr>
          <a:xfrm xmlns:a="http://schemas.openxmlformats.org/drawingml/2006/main">
            <a:off x="6784848" y="1078992"/>
            <a:ext cx="4681728" cy="3218688"/>
          </a:xfrm>
          <a:prstGeom xmlns:a="http://schemas.openxmlformats.org/drawingml/2006/main" prst="rect">
            <a:avLst/>
          </a:prstGeom>
          <a:solidFill xmlns:a="http://schemas.openxmlformats.org/drawingml/2006/main">
            <a:srgbClr val="050505">
              <a:alpha val="88000"/>
            </a:srgbClr>
          </a:solidFill>
          <a:ln xmlns:a="http://schemas.openxmlformats.org/drawingml/2006/main" w="12700">
            <a:solidFill>
              <a:srgbClr val="252A2A"/>
            </a:solidFill>
            <a:prstDash val="solid"/>
          </a:ln>
        </p:spPr>
      </p:sp>
      <p:sp>
        <p:nvSpPr>
          <p:cNvPr id="10" name="Shape 7">
            <a:extLst xmlns:a="http://schemas.openxmlformats.org/drawingml/2006/main">
              <a:ext uri="{FF2B5EF4-FFF2-40B4-BE49-F238E27FC236}">
                <a16:creationId xmlns:a16="http://schemas.microsoft.com/office/drawing/2014/main" id="{5C074062-9C69-42F0-94B1-671E5970AE22}"/>
              </a:ext>
            </a:extLst>
          </p:cNvPr>
          <p:cNvSpPr>
            <a:spLocks xmlns:a="http://schemas.openxmlformats.org/drawingml/2006/main" noGrp="1"/>
          </p:cNvSpPr>
          <p:nvPr/>
        </p:nvSpPr>
        <p:spPr>
          <a:xfrm xmlns:a="http://schemas.openxmlformats.org/drawingml/2006/main">
            <a:off x="6784848" y="3246120"/>
            <a:ext cx="4681728" cy="1051560"/>
          </a:xfrm>
          <a:prstGeom xmlns:a="http://schemas.openxmlformats.org/drawingml/2006/main" prst="rect">
            <a:avLst/>
          </a:prstGeom>
          <a:solidFill xmlns:a="http://schemas.openxmlformats.org/drawingml/2006/main">
            <a:srgbClr val="050505">
              <a:alpha val="80000"/>
            </a:srgbClr>
          </a:solidFill>
          <a:ln xmlns:a="http://schemas.openxmlformats.org/drawingml/2006/main" w="12700">
            <a:solidFill>
              <a:srgbClr val="050505">
                <a:alpha val="0"/>
              </a:srgbClr>
            </a:solidFill>
            <a:prstDash val="solid"/>
          </a:ln>
        </p:spPr>
      </p:sp>
      <p:sp>
        <p:nvSpPr>
          <p:cNvPr id="11" name="Text 8">
            <a:extLst xmlns:a="http://schemas.openxmlformats.org/drawingml/2006/main">
              <a:ext uri="{FF2B5EF4-FFF2-40B4-BE49-F238E27FC236}">
                <a16:creationId xmlns:a16="http://schemas.microsoft.com/office/drawing/2014/main" id="{5267D19B-5BCE-4A41-80C2-DB73238FF501}"/>
              </a:ext>
            </a:extLst>
          </p:cNvPr>
          <p:cNvSpPr>
            <a:spLocks xmlns:a="http://schemas.openxmlformats.org/drawingml/2006/main" noGrp="1"/>
          </p:cNvSpPr>
          <p:nvPr/>
        </p:nvSpPr>
        <p:spPr>
          <a:xfrm xmlns:a="http://schemas.openxmlformats.org/drawingml/2006/main">
            <a:off x="7040880" y="1298448"/>
            <a:ext cx="21945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SPACE WEATHER SIGNAL</a:t>
            </a:r>
            <a:endParaRPr sz="800"/>
          </a:p>
        </p:txBody>
      </p:sp>
      <p:sp>
        <p:nvSpPr>
          <p:cNvPr id="12" name="Text 9">
            <a:extLst xmlns:a="http://schemas.openxmlformats.org/drawingml/2006/main">
              <a:ext uri="{FF2B5EF4-FFF2-40B4-BE49-F238E27FC236}">
                <a16:creationId xmlns:a16="http://schemas.microsoft.com/office/drawing/2014/main" id="{101E5540-8352-4B9C-B29D-28BF88678CB3}"/>
              </a:ext>
            </a:extLst>
          </p:cNvPr>
          <p:cNvSpPr>
            <a:spLocks xmlns:a="http://schemas.openxmlformats.org/drawingml/2006/main" noGrp="1"/>
          </p:cNvSpPr>
          <p:nvPr/>
        </p:nvSpPr>
        <p:spPr>
          <a:xfrm xmlns:a="http://schemas.openxmlformats.org/drawingml/2006/main">
            <a:off x="7040880" y="3611880"/>
            <a:ext cx="39776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700" b="1">
                <a:solidFill>
                  <a:srgbClr val="F3F0E8"/>
                </a:solidFill>
                <a:latin typeface="Inter"/>
                <a:ea typeface="Inter"/>
                <a:cs typeface="Inter"/>
              </a:rPr>
              <a:t>CME context is only useful when the operator can trace it to the decision.</a:t>
            </a:r>
            <a:endParaRPr sz="1700"/>
          </a:p>
        </p:txBody>
      </p:sp>
      <p:sp>
        <p:nvSpPr>
          <p:cNvPr id="13" name="Text 10">
            <a:extLst xmlns:a="http://schemas.openxmlformats.org/drawingml/2006/main">
              <a:ext uri="{FF2B5EF4-FFF2-40B4-BE49-F238E27FC236}">
                <a16:creationId xmlns:a16="http://schemas.microsoft.com/office/drawing/2014/main" id="{CB445065-26DB-43D5-9EE9-38035DC332BD}"/>
              </a:ext>
            </a:extLst>
          </p:cNvPr>
          <p:cNvSpPr>
            <a:spLocks xmlns:a="http://schemas.openxmlformats.org/drawingml/2006/main" noGrp="1"/>
          </p:cNvSpPr>
          <p:nvPr/>
        </p:nvSpPr>
        <p:spPr>
          <a:xfrm xmlns:a="http://schemas.openxmlformats.org/drawingml/2006/main">
            <a:off x="841248" y="3236976"/>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300" b="1">
                <a:solidFill>
                  <a:srgbClr val="E7B14A"/>
                </a:solidFill>
                <a:latin typeface="JetBrains Mono"/>
                <a:ea typeface="JetBrains Mono"/>
                <a:cs typeface="JetBrains Mono"/>
              </a:rPr>
              <a:t>•</a:t>
            </a:r>
            <a:endParaRPr sz="1300"/>
          </a:p>
        </p:txBody>
      </p:sp>
      <p:sp>
        <p:nvSpPr>
          <p:cNvPr id="14" name="Text 11">
            <a:extLst xmlns:a="http://schemas.openxmlformats.org/drawingml/2006/main">
              <a:ext uri="{FF2B5EF4-FFF2-40B4-BE49-F238E27FC236}">
                <a16:creationId xmlns:a16="http://schemas.microsoft.com/office/drawing/2014/main" id="{FED37815-4E66-43B4-96D3-8D8E7E44CC47}"/>
              </a:ext>
            </a:extLst>
          </p:cNvPr>
          <p:cNvSpPr>
            <a:spLocks xmlns:a="http://schemas.openxmlformats.org/drawingml/2006/main" noGrp="1"/>
          </p:cNvSpPr>
          <p:nvPr/>
        </p:nvSpPr>
        <p:spPr>
          <a:xfrm xmlns:a="http://schemas.openxmlformats.org/drawingml/2006/main">
            <a:off x="1069848" y="3236976"/>
            <a:ext cx="14173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400" b="1">
                <a:solidFill>
                  <a:srgbClr val="F3F0E8"/>
                </a:solidFill>
                <a:latin typeface="Inter"/>
                <a:ea typeface="Inter"/>
                <a:cs typeface="Inter"/>
              </a:rPr>
              <a:t>Fragmented</a:t>
            </a:r>
            <a:endParaRPr sz="1400"/>
          </a:p>
        </p:txBody>
      </p:sp>
      <p:sp>
        <p:nvSpPr>
          <p:cNvPr id="15" name="Text 12">
            <a:extLst xmlns:a="http://schemas.openxmlformats.org/drawingml/2006/main">
              <a:ext uri="{FF2B5EF4-FFF2-40B4-BE49-F238E27FC236}">
                <a16:creationId xmlns:a16="http://schemas.microsoft.com/office/drawing/2014/main" id="{666B0477-5416-410F-B80D-D7D9798F5953}"/>
              </a:ext>
            </a:extLst>
          </p:cNvPr>
          <p:cNvSpPr>
            <a:spLocks xmlns:a="http://schemas.openxmlformats.org/drawingml/2006/main" noGrp="1"/>
          </p:cNvSpPr>
          <p:nvPr/>
        </p:nvSpPr>
        <p:spPr>
          <a:xfrm xmlns:a="http://schemas.openxmlformats.org/drawingml/2006/main">
            <a:off x="2606040" y="3236976"/>
            <a:ext cx="352044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A6A9A2"/>
                </a:solidFill>
                <a:latin typeface="IBM Plex Sans"/>
                <a:ea typeface="IBM Plex Sans"/>
                <a:cs typeface="IBM Plex Sans"/>
              </a:rPr>
              <a:t>Telemetry, space-weather, SSA, memory, and ground-system evidence live in separate lanes.</a:t>
            </a:r>
            <a:endParaRPr sz="1100"/>
          </a:p>
        </p:txBody>
      </p:sp>
      <p:sp>
        <p:nvSpPr>
          <p:cNvPr id="16" name="Text 13">
            <a:extLst xmlns:a="http://schemas.openxmlformats.org/drawingml/2006/main">
              <a:ext uri="{FF2B5EF4-FFF2-40B4-BE49-F238E27FC236}">
                <a16:creationId xmlns:a16="http://schemas.microsoft.com/office/drawing/2014/main" id="{6C5A7A67-755F-4782-AD6A-9404877D2A74}"/>
              </a:ext>
            </a:extLst>
          </p:cNvPr>
          <p:cNvSpPr>
            <a:spLocks xmlns:a="http://schemas.openxmlformats.org/drawingml/2006/main" noGrp="1"/>
          </p:cNvSpPr>
          <p:nvPr/>
        </p:nvSpPr>
        <p:spPr>
          <a:xfrm xmlns:a="http://schemas.openxmlformats.org/drawingml/2006/main">
            <a:off x="841248" y="3968496"/>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300" b="1">
                <a:solidFill>
                  <a:srgbClr val="E7B14A"/>
                </a:solidFill>
                <a:latin typeface="JetBrains Mono"/>
                <a:ea typeface="JetBrains Mono"/>
                <a:cs typeface="JetBrains Mono"/>
              </a:rPr>
              <a:t>•</a:t>
            </a:r>
            <a:endParaRPr sz="1300"/>
          </a:p>
        </p:txBody>
      </p:sp>
      <p:sp>
        <p:nvSpPr>
          <p:cNvPr id="17" name="Text 14">
            <a:extLst xmlns:a="http://schemas.openxmlformats.org/drawingml/2006/main">
              <a:ext uri="{FF2B5EF4-FFF2-40B4-BE49-F238E27FC236}">
                <a16:creationId xmlns:a16="http://schemas.microsoft.com/office/drawing/2014/main" id="{44D553D8-E059-47C0-A0A7-4622A407E07C}"/>
              </a:ext>
            </a:extLst>
          </p:cNvPr>
          <p:cNvSpPr>
            <a:spLocks xmlns:a="http://schemas.openxmlformats.org/drawingml/2006/main" noGrp="1"/>
          </p:cNvSpPr>
          <p:nvPr/>
        </p:nvSpPr>
        <p:spPr>
          <a:xfrm xmlns:a="http://schemas.openxmlformats.org/drawingml/2006/main">
            <a:off x="1069848" y="3968496"/>
            <a:ext cx="14173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400" b="1">
                <a:solidFill>
                  <a:srgbClr val="F3F0E8"/>
                </a:solidFill>
                <a:latin typeface="Inter"/>
                <a:ea typeface="Inter"/>
                <a:cs typeface="Inter"/>
              </a:rPr>
              <a:t>Opaque</a:t>
            </a:r>
            <a:endParaRPr sz="1400"/>
          </a:p>
        </p:txBody>
      </p:sp>
      <p:sp>
        <p:nvSpPr>
          <p:cNvPr id="18" name="Text 15">
            <a:extLst xmlns:a="http://schemas.openxmlformats.org/drawingml/2006/main">
              <a:ext uri="{FF2B5EF4-FFF2-40B4-BE49-F238E27FC236}">
                <a16:creationId xmlns:a16="http://schemas.microsoft.com/office/drawing/2014/main" id="{F59E18BD-3186-45E8-B26F-2FE6C9736DF8}"/>
              </a:ext>
            </a:extLst>
          </p:cNvPr>
          <p:cNvSpPr>
            <a:spLocks xmlns:a="http://schemas.openxmlformats.org/drawingml/2006/main" noGrp="1"/>
          </p:cNvSpPr>
          <p:nvPr/>
        </p:nvSpPr>
        <p:spPr>
          <a:xfrm xmlns:a="http://schemas.openxmlformats.org/drawingml/2006/main">
            <a:off x="2606040" y="3968496"/>
            <a:ext cx="352044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A6A9A2"/>
                </a:solidFill>
                <a:latin typeface="IBM Plex Sans"/>
                <a:ea typeface="IBM Plex Sans"/>
                <a:cs typeface="IBM Plex Sans"/>
              </a:rPr>
              <a:t>AI can flag an anomaly, but operators still need provenance, confidence, and a safe fallback.</a:t>
            </a:r>
            <a:endParaRPr sz="1100"/>
          </a:p>
        </p:txBody>
      </p:sp>
      <p:sp>
        <p:nvSpPr>
          <p:cNvPr id="19" name="Text 16">
            <a:extLst xmlns:a="http://schemas.openxmlformats.org/drawingml/2006/main">
              <a:ext uri="{FF2B5EF4-FFF2-40B4-BE49-F238E27FC236}">
                <a16:creationId xmlns:a16="http://schemas.microsoft.com/office/drawing/2014/main" id="{1D583D51-22D2-44E8-9774-D61AB1B1E8DE}"/>
              </a:ext>
            </a:extLst>
          </p:cNvPr>
          <p:cNvSpPr>
            <a:spLocks xmlns:a="http://schemas.openxmlformats.org/drawingml/2006/main" noGrp="1"/>
          </p:cNvSpPr>
          <p:nvPr/>
        </p:nvSpPr>
        <p:spPr>
          <a:xfrm xmlns:a="http://schemas.openxmlformats.org/drawingml/2006/main">
            <a:off x="841248" y="4700016"/>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300" b="1">
                <a:solidFill>
                  <a:srgbClr val="E7B14A"/>
                </a:solidFill>
                <a:latin typeface="JetBrains Mono"/>
                <a:ea typeface="JetBrains Mono"/>
                <a:cs typeface="JetBrains Mono"/>
              </a:rPr>
              <a:t>•</a:t>
            </a:r>
            <a:endParaRPr sz="1300"/>
          </a:p>
        </p:txBody>
      </p:sp>
      <p:sp>
        <p:nvSpPr>
          <p:cNvPr id="20" name="Text 17">
            <a:extLst xmlns:a="http://schemas.openxmlformats.org/drawingml/2006/main">
              <a:ext uri="{FF2B5EF4-FFF2-40B4-BE49-F238E27FC236}">
                <a16:creationId xmlns:a16="http://schemas.microsoft.com/office/drawing/2014/main" id="{316263DB-3E36-4202-9E4B-F447C936EEEA}"/>
              </a:ext>
            </a:extLst>
          </p:cNvPr>
          <p:cNvSpPr>
            <a:spLocks xmlns:a="http://schemas.openxmlformats.org/drawingml/2006/main" noGrp="1"/>
          </p:cNvSpPr>
          <p:nvPr/>
        </p:nvSpPr>
        <p:spPr>
          <a:xfrm xmlns:a="http://schemas.openxmlformats.org/drawingml/2006/main">
            <a:off x="1069848" y="4700016"/>
            <a:ext cx="14173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400" b="1">
                <a:solidFill>
                  <a:srgbClr val="F3F0E8"/>
                </a:solidFill>
                <a:latin typeface="Inter"/>
                <a:ea typeface="Inter"/>
                <a:cs typeface="Inter"/>
              </a:rPr>
              <a:t>Costly</a:t>
            </a:r>
            <a:endParaRPr sz="1400"/>
          </a:p>
        </p:txBody>
      </p:sp>
      <p:sp>
        <p:nvSpPr>
          <p:cNvPr id="21" name="Text 18">
            <a:extLst xmlns:a="http://schemas.openxmlformats.org/drawingml/2006/main">
              <a:ext uri="{FF2B5EF4-FFF2-40B4-BE49-F238E27FC236}">
                <a16:creationId xmlns:a16="http://schemas.microsoft.com/office/drawing/2014/main" id="{03E0D0F4-9C9E-42A9-9286-2BB6696B5152}"/>
              </a:ext>
            </a:extLst>
          </p:cNvPr>
          <p:cNvSpPr>
            <a:spLocks xmlns:a="http://schemas.openxmlformats.org/drawingml/2006/main" noGrp="1"/>
          </p:cNvSpPr>
          <p:nvPr/>
        </p:nvSpPr>
        <p:spPr>
          <a:xfrm xmlns:a="http://schemas.openxmlformats.org/drawingml/2006/main">
            <a:off x="2606040" y="4700016"/>
            <a:ext cx="352044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A6A9A2"/>
                </a:solidFill>
                <a:latin typeface="IBM Plex Sans"/>
                <a:ea typeface="IBM Plex Sans"/>
                <a:cs typeface="IBM Plex Sans"/>
              </a:rPr>
              <a:t>Every delayed or disputed decision compounds mission risk, engineering time, and procurement friction.</a:t>
            </a:r>
            <a:endParaRPr sz="1100"/>
          </a:p>
        </p:txBody>
      </p:sp>
      <p:sp>
        <p:nvSpPr>
          <p:cNvPr id="25" name="Slide Number Placeholder 0">
            <a:extLst xmlns:a="http://schemas.openxmlformats.org/drawingml/2006/main">
              <a:ext uri="{FF2B5EF4-FFF2-40B4-BE49-F238E27FC236}">
                <a16:creationId xmlns:a16="http://schemas.microsoft.com/office/drawing/2014/main" id="{D0F21B8E-19CB-49F9-8BD9-E87A679189DC}"/>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2</a:t>
            </a:fld>
            <a:endParaRPr/>
          </a:p>
        </p:txBody>
      </p:sp>
    </p:spTree>
    <p:extLst>
      <p:ext uri="{BB962C8B-B14F-4D97-AF65-F5344CB8AC3E}">
        <p14:creationId xmlns:p14="http://schemas.microsoft.com/office/powerpoint/2010/main" val="2083245197"/>
      </p:ext>
    </p:extLst>
  </p:cSld>
</p:sld>
</file>

<file path=ppt/slides/slide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BEEDA6D-EDD1-443F-B3FD-54BE8A840F65}"/>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3" name="Text 1">
            <a:extLst xmlns:a="http://schemas.openxmlformats.org/drawingml/2006/main">
              <a:ext uri="{FF2B5EF4-FFF2-40B4-BE49-F238E27FC236}">
                <a16:creationId xmlns:a16="http://schemas.microsoft.com/office/drawing/2014/main" id="{F67F500D-A4F1-4730-A117-5DD8A5556597}"/>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WHY NOW</a:t>
            </a:r>
            <a:endParaRPr sz="800"/>
          </a:p>
        </p:txBody>
      </p:sp>
      <p:sp>
        <p:nvSpPr>
          <p:cNvPr id="4" name="Text 2">
            <a:extLst xmlns:a="http://schemas.openxmlformats.org/drawingml/2006/main">
              <a:ext uri="{FF2B5EF4-FFF2-40B4-BE49-F238E27FC236}">
                <a16:creationId xmlns:a16="http://schemas.microsoft.com/office/drawing/2014/main" id="{F8A8BF6D-7EFB-433A-9988-B21D282BC0BA}"/>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03</a:t>
            </a:r>
            <a:endParaRPr sz="800"/>
          </a:p>
        </p:txBody>
      </p:sp>
      <p:sp>
        <p:nvSpPr>
          <p:cNvPr id="5" name="Shape 3">
            <a:extLst xmlns:a="http://schemas.openxmlformats.org/drawingml/2006/main">
              <a:ext uri="{FF2B5EF4-FFF2-40B4-BE49-F238E27FC236}">
                <a16:creationId xmlns:a16="http://schemas.microsoft.com/office/drawing/2014/main" id="{B6D9D65C-A68A-484E-A927-95CF2F961691}"/>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6" name="Text 4">
            <a:extLst xmlns:a="http://schemas.openxmlformats.org/drawingml/2006/main">
              <a:ext uri="{FF2B5EF4-FFF2-40B4-BE49-F238E27FC236}">
                <a16:creationId xmlns:a16="http://schemas.microsoft.com/office/drawing/2014/main" id="{920C23B4-407B-4D62-8C0B-57A96AEE4935}"/>
              </a:ext>
            </a:extLst>
          </p:cNvPr>
          <p:cNvSpPr>
            <a:spLocks xmlns:a="http://schemas.openxmlformats.org/drawingml/2006/main" noGrp="1"/>
          </p:cNvSpPr>
          <p:nvPr/>
        </p:nvSpPr>
        <p:spPr>
          <a:xfrm xmlns:a="http://schemas.openxmlformats.org/drawingml/2006/main">
            <a:off x="685800" y="932688"/>
            <a:ext cx="106984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l">
              <a:lnSpc>
                <a:spcPct val="100000"/>
              </a:lnSpc>
              <a:buNone/>
            </a:pPr>
            <a:r>
              <a:rPr sz="2800" b="1">
                <a:solidFill>
                  <a:srgbClr val="F3F0E8"/>
                </a:solidFill>
                <a:latin typeface="Inter"/>
                <a:ea typeface="Inter"/>
                <a:cs typeface="Inter"/>
              </a:rPr>
              <a:t>AI is ready; mission infrastructure still needs trust.</a:t>
            </a:r>
            <a:endParaRPr sz="2800"/>
          </a:p>
        </p:txBody>
      </p:sp>
      <p:sp>
        <p:nvSpPr>
          <p:cNvPr id="7" name="Text 5">
            <a:extLst xmlns:a="http://schemas.openxmlformats.org/drawingml/2006/main">
              <a:ext uri="{FF2B5EF4-FFF2-40B4-BE49-F238E27FC236}">
                <a16:creationId xmlns:a16="http://schemas.microsoft.com/office/drawing/2014/main" id="{45F4B1A6-F84E-458F-9C8F-296F5D4EAC0E}"/>
              </a:ext>
            </a:extLst>
          </p:cNvPr>
          <p:cNvSpPr>
            <a:spLocks xmlns:a="http://schemas.openxmlformats.org/drawingml/2006/main" noGrp="1"/>
          </p:cNvSpPr>
          <p:nvPr/>
        </p:nvSpPr>
        <p:spPr>
          <a:xfrm xmlns:a="http://schemas.openxmlformats.org/drawingml/2006/main">
            <a:off x="685800" y="1472184"/>
            <a:ext cx="10287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500">
                <a:solidFill>
                  <a:srgbClr val="A6A9A2"/>
                </a:solidFill>
                <a:latin typeface="IBM Plex Sans"/>
                <a:ea typeface="IBM Plex Sans"/>
                <a:cs typeface="IBM Plex Sans"/>
              </a:rPr>
              <a:t>Gauss sits in the trust gap between raw data and safe action.</a:t>
            </a:r>
            <a:endParaRPr sz="1500"/>
          </a:p>
        </p:txBody>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270398ea829c431c"/>
          <a:srcRect xmlns:a="http://schemas.openxmlformats.org/drawingml/2006/main" l="2676" t="0" r="2676" b="0"/>
          <a:stretch xmlns:a="http://schemas.openxmlformats.org/drawingml/2006/main">
            <a:fillRect l="0" t="0" r="0" b="0"/>
          </a:stretch>
        </p:blipFill>
        <p:spPr>
          <a:xfrm xmlns:a="http://schemas.openxmlformats.org/drawingml/2006/main">
            <a:off x="685800" y="2157984"/>
            <a:ext cx="5138928" cy="3054096"/>
          </a:xfrm>
          <a:prstGeom xmlns:a="http://schemas.openxmlformats.org/drawingml/2006/main" prst="rect">
            <a:avLst/>
          </a:prstGeom>
        </p:spPr>
      </p:pic>
      <p:sp>
        <p:nvSpPr>
          <p:cNvPr id="9" name="Shape 6">
            <a:extLst xmlns:a="http://schemas.openxmlformats.org/drawingml/2006/main">
              <a:ext uri="{FF2B5EF4-FFF2-40B4-BE49-F238E27FC236}">
                <a16:creationId xmlns:a16="http://schemas.microsoft.com/office/drawing/2014/main" id="{AB73EEBB-9FBC-49F3-ACF7-534564FEB14C}"/>
              </a:ext>
            </a:extLst>
          </p:cNvPr>
          <p:cNvSpPr>
            <a:spLocks xmlns:a="http://schemas.openxmlformats.org/drawingml/2006/main" noGrp="1"/>
          </p:cNvSpPr>
          <p:nvPr/>
        </p:nvSpPr>
        <p:spPr>
          <a:xfrm xmlns:a="http://schemas.openxmlformats.org/drawingml/2006/main">
            <a:off x="685800" y="2157984"/>
            <a:ext cx="5138928" cy="3054096"/>
          </a:xfrm>
          <a:prstGeom xmlns:a="http://schemas.openxmlformats.org/drawingml/2006/main" prst="rect">
            <a:avLst/>
          </a:prstGeom>
          <a:solidFill xmlns:a="http://schemas.openxmlformats.org/drawingml/2006/main">
            <a:srgbClr val="050505">
              <a:alpha val="82000"/>
            </a:srgbClr>
          </a:solidFill>
          <a:ln xmlns:a="http://schemas.openxmlformats.org/drawingml/2006/main" w="12700">
            <a:solidFill>
              <a:srgbClr val="252A2A"/>
            </a:solidFill>
            <a:prstDash val="solid"/>
          </a:ln>
        </p:spPr>
      </p:sp>
      <p:sp>
        <p:nvSpPr>
          <p:cNvPr id="10" name="Shape 7">
            <a:extLst xmlns:a="http://schemas.openxmlformats.org/drawingml/2006/main">
              <a:ext uri="{FF2B5EF4-FFF2-40B4-BE49-F238E27FC236}">
                <a16:creationId xmlns:a16="http://schemas.microsoft.com/office/drawing/2014/main" id="{05CB8A4A-75A8-46D1-90C4-32A69DAE75F5}"/>
              </a:ext>
            </a:extLst>
          </p:cNvPr>
          <p:cNvSpPr>
            <a:spLocks xmlns:a="http://schemas.openxmlformats.org/drawingml/2006/main" noGrp="1"/>
          </p:cNvSpPr>
          <p:nvPr/>
        </p:nvSpPr>
        <p:spPr>
          <a:xfrm xmlns:a="http://schemas.openxmlformats.org/drawingml/2006/main">
            <a:off x="685800" y="4187952"/>
            <a:ext cx="5138928" cy="1024128"/>
          </a:xfrm>
          <a:prstGeom xmlns:a="http://schemas.openxmlformats.org/drawingml/2006/main" prst="rect">
            <a:avLst/>
          </a:prstGeom>
          <a:solidFill xmlns:a="http://schemas.openxmlformats.org/drawingml/2006/main">
            <a:srgbClr val="050505">
              <a:alpha val="82000"/>
            </a:srgbClr>
          </a:solidFill>
          <a:ln xmlns:a="http://schemas.openxmlformats.org/drawingml/2006/main" w="12700">
            <a:solidFill>
              <a:srgbClr val="050505">
                <a:alpha val="0"/>
              </a:srgbClr>
            </a:solidFill>
            <a:prstDash val="solid"/>
          </a:ln>
        </p:spPr>
      </p:sp>
      <p:sp>
        <p:nvSpPr>
          <p:cNvPr id="11" name="Text 8">
            <a:extLst xmlns:a="http://schemas.openxmlformats.org/drawingml/2006/main">
              <a:ext uri="{FF2B5EF4-FFF2-40B4-BE49-F238E27FC236}">
                <a16:creationId xmlns:a16="http://schemas.microsoft.com/office/drawing/2014/main" id="{30EE6EDA-EB50-43B4-9288-7B039DD50687}"/>
              </a:ext>
            </a:extLst>
          </p:cNvPr>
          <p:cNvSpPr>
            <a:spLocks xmlns:a="http://schemas.openxmlformats.org/drawingml/2006/main" noGrp="1"/>
          </p:cNvSpPr>
          <p:nvPr/>
        </p:nvSpPr>
        <p:spPr>
          <a:xfrm xmlns:a="http://schemas.openxmlformats.org/drawingml/2006/main">
            <a:off x="932688" y="2359152"/>
            <a:ext cx="12801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CCFF00"/>
                </a:solidFill>
                <a:latin typeface="JetBrains Mono"/>
                <a:ea typeface="JetBrains Mono"/>
                <a:cs typeface="JetBrains Mono"/>
              </a:rPr>
              <a:t>THE WINDOW</a:t>
            </a:r>
            <a:endParaRPr sz="800"/>
          </a:p>
        </p:txBody>
      </p:sp>
      <p:sp>
        <p:nvSpPr>
          <p:cNvPr id="12" name="Text 9">
            <a:extLst xmlns:a="http://schemas.openxmlformats.org/drawingml/2006/main">
              <a:ext uri="{FF2B5EF4-FFF2-40B4-BE49-F238E27FC236}">
                <a16:creationId xmlns:a16="http://schemas.microsoft.com/office/drawing/2014/main" id="{2273BAEA-6439-41DD-9B0F-1639563EDD47}"/>
              </a:ext>
            </a:extLst>
          </p:cNvPr>
          <p:cNvSpPr>
            <a:spLocks xmlns:a="http://schemas.openxmlformats.org/drawingml/2006/main" noGrp="1"/>
          </p:cNvSpPr>
          <p:nvPr/>
        </p:nvSpPr>
        <p:spPr>
          <a:xfrm xmlns:a="http://schemas.openxmlformats.org/drawingml/2006/main">
            <a:off x="932688" y="4434840"/>
            <a:ext cx="42519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600" b="1">
                <a:solidFill>
                  <a:srgbClr val="F3F0E8"/>
                </a:solidFill>
                <a:latin typeface="Inter"/>
                <a:ea typeface="Inter"/>
                <a:cs typeface="Inter"/>
              </a:rPr>
              <a:t>More spacecraft. More sensor streams. More critical infrastructure depending on orbital services.</a:t>
            </a:r>
            <a:endParaRPr sz="1600"/>
          </a:p>
        </p:txBody>
      </p:sp>
      <p:sp>
        <p:nvSpPr>
          <p:cNvPr id="13" name="Shape 10">
            <a:extLst xmlns:a="http://schemas.openxmlformats.org/drawingml/2006/main">
              <a:ext uri="{FF2B5EF4-FFF2-40B4-BE49-F238E27FC236}">
                <a16:creationId xmlns:a16="http://schemas.microsoft.com/office/drawing/2014/main" id="{C2C791F8-B197-40DF-BB06-EBE0FCDA915A}"/>
              </a:ext>
            </a:extLst>
          </p:cNvPr>
          <p:cNvSpPr>
            <a:spLocks xmlns:a="http://schemas.openxmlformats.org/drawingml/2006/main" noGrp="1"/>
          </p:cNvSpPr>
          <p:nvPr/>
        </p:nvSpPr>
        <p:spPr>
          <a:xfrm xmlns:a="http://schemas.openxmlformats.org/drawingml/2006/main">
            <a:off x="6126480" y="2267712"/>
            <a:ext cx="1572768" cy="1078992"/>
          </a:xfrm>
          <a:prstGeom xmlns:a="http://schemas.openxmlformats.org/drawingml/2006/main" prst="roundRect">
            <a:avLst>
              <a:gd name="adj" fmla="val 13559"/>
            </a:avLst>
          </a:prstGeom>
          <a:solidFill xmlns:a="http://schemas.openxmlformats.org/drawingml/2006/main">
            <a:srgbClr val="0E1111"/>
          </a:solidFill>
          <a:ln xmlns:a="http://schemas.openxmlformats.org/drawingml/2006/main" w="12700">
            <a:solidFill>
              <a:srgbClr val="252A2A"/>
            </a:solidFill>
            <a:prstDash val="solid"/>
          </a:ln>
        </p:spPr>
      </p:sp>
      <p:sp>
        <p:nvSpPr>
          <p:cNvPr id="14" name="Text 11">
            <a:extLst xmlns:a="http://schemas.openxmlformats.org/drawingml/2006/main">
              <a:ext uri="{FF2B5EF4-FFF2-40B4-BE49-F238E27FC236}">
                <a16:creationId xmlns:a16="http://schemas.microsoft.com/office/drawing/2014/main" id="{90578618-F993-47B6-BD01-E52F317FB191}"/>
              </a:ext>
            </a:extLst>
          </p:cNvPr>
          <p:cNvSpPr>
            <a:spLocks xmlns:a="http://schemas.openxmlformats.org/drawingml/2006/main" noGrp="1"/>
          </p:cNvSpPr>
          <p:nvPr/>
        </p:nvSpPr>
        <p:spPr>
          <a:xfrm xmlns:a="http://schemas.openxmlformats.org/drawingml/2006/main">
            <a:off x="6291072" y="2423160"/>
            <a:ext cx="1078992" cy="1371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TARGET PROFILES</a:t>
            </a:r>
            <a:endParaRPr sz="800"/>
          </a:p>
        </p:txBody>
      </p:sp>
      <p:sp>
        <p:nvSpPr>
          <p:cNvPr id="15" name="Text 12">
            <a:extLst xmlns:a="http://schemas.openxmlformats.org/drawingml/2006/main">
              <a:ext uri="{FF2B5EF4-FFF2-40B4-BE49-F238E27FC236}">
                <a16:creationId xmlns:a16="http://schemas.microsoft.com/office/drawing/2014/main" id="{C599105F-470A-4927-9F3D-B00A498DCABD}"/>
              </a:ext>
            </a:extLst>
          </p:cNvPr>
          <p:cNvSpPr>
            <a:spLocks xmlns:a="http://schemas.openxmlformats.org/drawingml/2006/main" noGrp="1"/>
          </p:cNvSpPr>
          <p:nvPr/>
        </p:nvSpPr>
        <p:spPr>
          <a:xfrm xmlns:a="http://schemas.openxmlformats.org/drawingml/2006/main">
            <a:off x="7406640" y="2414016"/>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100" b="1">
                <a:solidFill>
                  <a:srgbClr val="E7B14A"/>
                </a:solidFill>
                <a:latin typeface="JetBrains Mono"/>
                <a:ea typeface="JetBrains Mono"/>
                <a:cs typeface="JetBrains Mono"/>
              </a:rPr>
              <a:t>◈</a:t>
            </a:r>
            <a:endParaRPr sz="1100"/>
          </a:p>
        </p:txBody>
      </p:sp>
      <p:sp>
        <p:nvSpPr>
          <p:cNvPr id="16" name="Text 13">
            <a:extLst xmlns:a="http://schemas.openxmlformats.org/drawingml/2006/main">
              <a:ext uri="{FF2B5EF4-FFF2-40B4-BE49-F238E27FC236}">
                <a16:creationId xmlns:a16="http://schemas.microsoft.com/office/drawing/2014/main" id="{3A761B45-111C-4A24-8473-D05CFB1B6A3E}"/>
              </a:ext>
            </a:extLst>
          </p:cNvPr>
          <p:cNvSpPr>
            <a:spLocks xmlns:a="http://schemas.openxmlformats.org/drawingml/2006/main" noGrp="1"/>
          </p:cNvSpPr>
          <p:nvPr/>
        </p:nvSpPr>
        <p:spPr>
          <a:xfrm xmlns:a="http://schemas.openxmlformats.org/drawingml/2006/main">
            <a:off x="6291072" y="2670048"/>
            <a:ext cx="12344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300" b="1">
                <a:solidFill>
                  <a:srgbClr val="E7B14A"/>
                </a:solidFill>
                <a:latin typeface="Inter"/>
                <a:ea typeface="Inter"/>
                <a:cs typeface="Inter"/>
              </a:rPr>
              <a:t>8</a:t>
            </a:r>
            <a:endParaRPr sz="2300"/>
          </a:p>
        </p:txBody>
      </p:sp>
      <p:sp>
        <p:nvSpPr>
          <p:cNvPr id="17" name="Text 14">
            <a:extLst xmlns:a="http://schemas.openxmlformats.org/drawingml/2006/main">
              <a:ext uri="{FF2B5EF4-FFF2-40B4-BE49-F238E27FC236}">
                <a16:creationId xmlns:a16="http://schemas.microsoft.com/office/drawing/2014/main" id="{B87C458E-54DC-4EF3-B3BD-BC41527E296E}"/>
              </a:ext>
            </a:extLst>
          </p:cNvPr>
          <p:cNvSpPr>
            <a:spLocks xmlns:a="http://schemas.openxmlformats.org/drawingml/2006/main" noGrp="1"/>
          </p:cNvSpPr>
          <p:nvPr/>
        </p:nvSpPr>
        <p:spPr>
          <a:xfrm xmlns:a="http://schemas.openxmlformats.org/drawingml/2006/main">
            <a:off x="6291072" y="3072384"/>
            <a:ext cx="123444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a:solidFill>
                  <a:srgbClr val="A6A9A2"/>
                </a:solidFill>
                <a:latin typeface="IBM Plex Sans"/>
                <a:ea typeface="IBM Plex Sans"/>
                <a:cs typeface="IBM Plex Sans"/>
              </a:rPr>
              <a:t>research profiles</a:t>
            </a:r>
            <a:endParaRPr sz="800"/>
          </a:p>
        </p:txBody>
      </p:sp>
      <p:sp>
        <p:nvSpPr>
          <p:cNvPr id="18" name="Shape 15">
            <a:extLst xmlns:a="http://schemas.openxmlformats.org/drawingml/2006/main">
              <a:ext uri="{FF2B5EF4-FFF2-40B4-BE49-F238E27FC236}">
                <a16:creationId xmlns:a16="http://schemas.microsoft.com/office/drawing/2014/main" id="{1204973A-5761-459D-9828-30C87A697A96}"/>
              </a:ext>
            </a:extLst>
          </p:cNvPr>
          <p:cNvSpPr>
            <a:spLocks xmlns:a="http://schemas.openxmlformats.org/drawingml/2006/main" noGrp="1"/>
          </p:cNvSpPr>
          <p:nvPr/>
        </p:nvSpPr>
        <p:spPr>
          <a:xfrm xmlns:a="http://schemas.openxmlformats.org/drawingml/2006/main">
            <a:off x="7882128" y="2267712"/>
            <a:ext cx="1572768" cy="1078992"/>
          </a:xfrm>
          <a:prstGeom xmlns:a="http://schemas.openxmlformats.org/drawingml/2006/main" prst="roundRect">
            <a:avLst>
              <a:gd name="adj" fmla="val 13559"/>
            </a:avLst>
          </a:prstGeom>
          <a:solidFill xmlns:a="http://schemas.openxmlformats.org/drawingml/2006/main">
            <a:srgbClr val="0E1111"/>
          </a:solidFill>
          <a:ln xmlns:a="http://schemas.openxmlformats.org/drawingml/2006/main" w="12700">
            <a:solidFill>
              <a:srgbClr val="252A2A"/>
            </a:solidFill>
            <a:prstDash val="solid"/>
          </a:ln>
        </p:spPr>
      </p:sp>
      <p:sp>
        <p:nvSpPr>
          <p:cNvPr id="19" name="Text 16">
            <a:extLst xmlns:a="http://schemas.openxmlformats.org/drawingml/2006/main">
              <a:ext uri="{FF2B5EF4-FFF2-40B4-BE49-F238E27FC236}">
                <a16:creationId xmlns:a16="http://schemas.microsoft.com/office/drawing/2014/main" id="{EB58D081-FA1F-46BD-B818-515704982CD5}"/>
              </a:ext>
            </a:extLst>
          </p:cNvPr>
          <p:cNvSpPr>
            <a:spLocks xmlns:a="http://schemas.openxmlformats.org/drawingml/2006/main" noGrp="1"/>
          </p:cNvSpPr>
          <p:nvPr/>
        </p:nvSpPr>
        <p:spPr>
          <a:xfrm xmlns:a="http://schemas.openxmlformats.org/drawingml/2006/main">
            <a:off x="8046720" y="2423160"/>
            <a:ext cx="1078992" cy="1371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FIRST MOTION</a:t>
            </a:r>
            <a:endParaRPr sz="800"/>
          </a:p>
        </p:txBody>
      </p:sp>
      <p:sp>
        <p:nvSpPr>
          <p:cNvPr id="20" name="Text 17">
            <a:extLst xmlns:a="http://schemas.openxmlformats.org/drawingml/2006/main">
              <a:ext uri="{FF2B5EF4-FFF2-40B4-BE49-F238E27FC236}">
                <a16:creationId xmlns:a16="http://schemas.microsoft.com/office/drawing/2014/main" id="{32E15305-60F7-4F3A-9C55-0AF6A305EEC4}"/>
              </a:ext>
            </a:extLst>
          </p:cNvPr>
          <p:cNvSpPr>
            <a:spLocks xmlns:a="http://schemas.openxmlformats.org/drawingml/2006/main" noGrp="1"/>
          </p:cNvSpPr>
          <p:nvPr/>
        </p:nvSpPr>
        <p:spPr>
          <a:xfrm xmlns:a="http://schemas.openxmlformats.org/drawingml/2006/main">
            <a:off x="9162288" y="2414016"/>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100" b="1">
                <a:solidFill>
                  <a:srgbClr val="CCFF00"/>
                </a:solidFill>
                <a:latin typeface="JetBrains Mono"/>
                <a:ea typeface="JetBrains Mono"/>
                <a:cs typeface="JetBrains Mono"/>
              </a:rPr>
              <a:t>&gt;</a:t>
            </a:r>
            <a:endParaRPr sz="1100"/>
          </a:p>
        </p:txBody>
      </p:sp>
      <p:sp>
        <p:nvSpPr>
          <p:cNvPr id="21" name="Text 18">
            <a:extLst xmlns:a="http://schemas.openxmlformats.org/drawingml/2006/main">
              <a:ext uri="{FF2B5EF4-FFF2-40B4-BE49-F238E27FC236}">
                <a16:creationId xmlns:a16="http://schemas.microsoft.com/office/drawing/2014/main" id="{4BEF28B3-9242-4832-92CA-E286247B8CEE}"/>
              </a:ext>
            </a:extLst>
          </p:cNvPr>
          <p:cNvSpPr>
            <a:spLocks xmlns:a="http://schemas.openxmlformats.org/drawingml/2006/main" noGrp="1"/>
          </p:cNvSpPr>
          <p:nvPr/>
        </p:nvSpPr>
        <p:spPr>
          <a:xfrm xmlns:a="http://schemas.openxmlformats.org/drawingml/2006/main">
            <a:off x="8046720" y="2670048"/>
            <a:ext cx="12344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300" b="1">
                <a:solidFill>
                  <a:srgbClr val="CCFF00"/>
                </a:solidFill>
                <a:latin typeface="Inter"/>
                <a:ea typeface="Inter"/>
                <a:cs typeface="Inter"/>
              </a:rPr>
              <a:t>Ground</a:t>
            </a:r>
            <a:endParaRPr sz="2300"/>
          </a:p>
        </p:txBody>
      </p:sp>
      <p:sp>
        <p:nvSpPr>
          <p:cNvPr id="22" name="Text 19">
            <a:extLst xmlns:a="http://schemas.openxmlformats.org/drawingml/2006/main">
              <a:ext uri="{FF2B5EF4-FFF2-40B4-BE49-F238E27FC236}">
                <a16:creationId xmlns:a16="http://schemas.microsoft.com/office/drawing/2014/main" id="{039A5FA8-FAF3-4E34-946C-ACC49939BB42}"/>
              </a:ext>
            </a:extLst>
          </p:cNvPr>
          <p:cNvSpPr>
            <a:spLocks xmlns:a="http://schemas.openxmlformats.org/drawingml/2006/main" noGrp="1"/>
          </p:cNvSpPr>
          <p:nvPr/>
        </p:nvSpPr>
        <p:spPr>
          <a:xfrm xmlns:a="http://schemas.openxmlformats.org/drawingml/2006/main">
            <a:off x="8046720" y="3072384"/>
            <a:ext cx="123444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a:solidFill>
                  <a:srgbClr val="A6A9A2"/>
                </a:solidFill>
                <a:latin typeface="IBM Plex Sans"/>
                <a:ea typeface="IBM Plex Sans"/>
                <a:cs typeface="IBM Plex Sans"/>
              </a:rPr>
              <a:t>integration first</a:t>
            </a:r>
            <a:endParaRPr sz="800"/>
          </a:p>
        </p:txBody>
      </p:sp>
      <p:sp>
        <p:nvSpPr>
          <p:cNvPr id="23" name="Shape 20">
            <a:extLst xmlns:a="http://schemas.openxmlformats.org/drawingml/2006/main">
              <a:ext uri="{FF2B5EF4-FFF2-40B4-BE49-F238E27FC236}">
                <a16:creationId xmlns:a16="http://schemas.microsoft.com/office/drawing/2014/main" id="{77C987F7-DC71-4BD8-B7FA-77B8412AAECE}"/>
              </a:ext>
            </a:extLst>
          </p:cNvPr>
          <p:cNvSpPr>
            <a:spLocks xmlns:a="http://schemas.openxmlformats.org/drawingml/2006/main" noGrp="1"/>
          </p:cNvSpPr>
          <p:nvPr/>
        </p:nvSpPr>
        <p:spPr>
          <a:xfrm xmlns:a="http://schemas.openxmlformats.org/drawingml/2006/main">
            <a:off x="9637776" y="2267712"/>
            <a:ext cx="1572768" cy="1078992"/>
          </a:xfrm>
          <a:prstGeom xmlns:a="http://schemas.openxmlformats.org/drawingml/2006/main" prst="roundRect">
            <a:avLst>
              <a:gd name="adj" fmla="val 13559"/>
            </a:avLst>
          </a:prstGeom>
          <a:solidFill xmlns:a="http://schemas.openxmlformats.org/drawingml/2006/main">
            <a:srgbClr val="0E1111"/>
          </a:solidFill>
          <a:ln xmlns:a="http://schemas.openxmlformats.org/drawingml/2006/main" w="12700">
            <a:solidFill>
              <a:srgbClr val="252A2A"/>
            </a:solidFill>
            <a:prstDash val="solid"/>
          </a:ln>
        </p:spPr>
      </p:sp>
      <p:sp>
        <p:nvSpPr>
          <p:cNvPr id="24" name="Text 21">
            <a:extLst xmlns:a="http://schemas.openxmlformats.org/drawingml/2006/main">
              <a:ext uri="{FF2B5EF4-FFF2-40B4-BE49-F238E27FC236}">
                <a16:creationId xmlns:a16="http://schemas.microsoft.com/office/drawing/2014/main" id="{AFF5954F-5D7D-4400-A3F0-7756EC2D411A}"/>
              </a:ext>
            </a:extLst>
          </p:cNvPr>
          <p:cNvSpPr>
            <a:spLocks xmlns:a="http://schemas.openxmlformats.org/drawingml/2006/main" noGrp="1"/>
          </p:cNvSpPr>
          <p:nvPr/>
        </p:nvSpPr>
        <p:spPr>
          <a:xfrm xmlns:a="http://schemas.openxmlformats.org/drawingml/2006/main">
            <a:off x="9802368" y="2423160"/>
            <a:ext cx="1078992" cy="1371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COMMAND PATH</a:t>
            </a:r>
            <a:endParaRPr sz="800"/>
          </a:p>
        </p:txBody>
      </p:sp>
      <p:sp>
        <p:nvSpPr>
          <p:cNvPr id="25" name="Text 22">
            <a:extLst xmlns:a="http://schemas.openxmlformats.org/drawingml/2006/main">
              <a:ext uri="{FF2B5EF4-FFF2-40B4-BE49-F238E27FC236}">
                <a16:creationId xmlns:a16="http://schemas.microsoft.com/office/drawing/2014/main" id="{FCD38808-DD2A-4F95-8B0F-617A960BE018}"/>
              </a:ext>
            </a:extLst>
          </p:cNvPr>
          <p:cNvSpPr>
            <a:spLocks xmlns:a="http://schemas.openxmlformats.org/drawingml/2006/main" noGrp="1"/>
          </p:cNvSpPr>
          <p:nvPr/>
        </p:nvSpPr>
        <p:spPr>
          <a:xfrm xmlns:a="http://schemas.openxmlformats.org/drawingml/2006/main">
            <a:off x="10917936" y="2414016"/>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100" b="1">
                <a:solidFill>
                  <a:srgbClr val="E7B14A"/>
                </a:solidFill>
                <a:latin typeface="JetBrains Mono"/>
                <a:ea typeface="JetBrains Mono"/>
                <a:cs typeface="JetBrains Mono"/>
              </a:rPr>
              <a:t>⊘</a:t>
            </a:r>
            <a:endParaRPr sz="1100"/>
          </a:p>
        </p:txBody>
      </p:sp>
      <p:sp>
        <p:nvSpPr>
          <p:cNvPr id="26" name="Text 23">
            <a:extLst xmlns:a="http://schemas.openxmlformats.org/drawingml/2006/main">
              <a:ext uri="{FF2B5EF4-FFF2-40B4-BE49-F238E27FC236}">
                <a16:creationId xmlns:a16="http://schemas.microsoft.com/office/drawing/2014/main" id="{2A607FCF-B51E-4512-9148-16FDB1A62D64}"/>
              </a:ext>
            </a:extLst>
          </p:cNvPr>
          <p:cNvSpPr>
            <a:spLocks xmlns:a="http://schemas.openxmlformats.org/drawingml/2006/main" noGrp="1"/>
          </p:cNvSpPr>
          <p:nvPr/>
        </p:nvSpPr>
        <p:spPr>
          <a:xfrm xmlns:a="http://schemas.openxmlformats.org/drawingml/2006/main">
            <a:off x="9802368" y="2670048"/>
            <a:ext cx="12344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300" b="1">
                <a:solidFill>
                  <a:srgbClr val="E7B14A"/>
                </a:solidFill>
                <a:latin typeface="Inter"/>
                <a:ea typeface="Inter"/>
                <a:cs typeface="Inter"/>
              </a:rPr>
              <a:t>Inert</a:t>
            </a:r>
            <a:endParaRPr sz="2300"/>
          </a:p>
        </p:txBody>
      </p:sp>
      <p:sp>
        <p:nvSpPr>
          <p:cNvPr id="27" name="Text 24">
            <a:extLst xmlns:a="http://schemas.openxmlformats.org/drawingml/2006/main">
              <a:ext uri="{FF2B5EF4-FFF2-40B4-BE49-F238E27FC236}">
                <a16:creationId xmlns:a16="http://schemas.microsoft.com/office/drawing/2014/main" id="{57E23118-FD75-422A-AB55-BB792C7ABDE7}"/>
              </a:ext>
            </a:extLst>
          </p:cNvPr>
          <p:cNvSpPr>
            <a:spLocks xmlns:a="http://schemas.openxmlformats.org/drawingml/2006/main" noGrp="1"/>
          </p:cNvSpPr>
          <p:nvPr/>
        </p:nvSpPr>
        <p:spPr>
          <a:xfrm xmlns:a="http://schemas.openxmlformats.org/drawingml/2006/main">
            <a:off x="9802368" y="3072384"/>
            <a:ext cx="123444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a:solidFill>
                  <a:srgbClr val="A6A9A2"/>
                </a:solidFill>
                <a:latin typeface="IBM Plex Sans"/>
                <a:ea typeface="IBM Plex Sans"/>
                <a:cs typeface="IBM Plex Sans"/>
              </a:rPr>
              <a:t>approval-gated</a:t>
            </a:r>
            <a:endParaRPr sz="800"/>
          </a:p>
        </p:txBody>
      </p:sp>
      <p:sp>
        <p:nvSpPr>
          <p:cNvPr id="28" name="Shape 25">
            <a:extLst xmlns:a="http://schemas.openxmlformats.org/drawingml/2006/main">
              <a:ext uri="{FF2B5EF4-FFF2-40B4-BE49-F238E27FC236}">
                <a16:creationId xmlns:a16="http://schemas.microsoft.com/office/drawing/2014/main" id="{D0471EC2-CF6C-43FE-A77A-A056964CDCC9}"/>
              </a:ext>
            </a:extLst>
          </p:cNvPr>
          <p:cNvSpPr>
            <a:spLocks xmlns:a="http://schemas.openxmlformats.org/drawingml/2006/main" noGrp="1"/>
          </p:cNvSpPr>
          <p:nvPr/>
        </p:nvSpPr>
        <p:spPr>
          <a:xfrm xmlns:a="http://schemas.openxmlformats.org/drawingml/2006/main">
            <a:off x="6126480" y="3913632"/>
            <a:ext cx="5367528"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29" name="Text 26">
            <a:extLst xmlns:a="http://schemas.openxmlformats.org/drawingml/2006/main">
              <a:ext uri="{FF2B5EF4-FFF2-40B4-BE49-F238E27FC236}">
                <a16:creationId xmlns:a16="http://schemas.microsoft.com/office/drawing/2014/main" id="{8129F118-57C9-4589-8DED-3236276CF978}"/>
              </a:ext>
            </a:extLst>
          </p:cNvPr>
          <p:cNvSpPr>
            <a:spLocks xmlns:a="http://schemas.openxmlformats.org/drawingml/2006/main" noGrp="1"/>
          </p:cNvSpPr>
          <p:nvPr/>
        </p:nvSpPr>
        <p:spPr>
          <a:xfrm xmlns:a="http://schemas.openxmlformats.org/drawingml/2006/main">
            <a:off x="6126480" y="4224528"/>
            <a:ext cx="42062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700" b="1">
                <a:solidFill>
                  <a:srgbClr val="F3F0E8"/>
                </a:solidFill>
                <a:latin typeface="Inter"/>
                <a:ea typeface="Inter"/>
                <a:cs typeface="Inter"/>
              </a:rPr>
              <a:t>A sharper wedge than “AI for space”</a:t>
            </a:r>
            <a:endParaRPr sz="1700"/>
          </a:p>
        </p:txBody>
      </p:sp>
      <p:sp>
        <p:nvSpPr>
          <p:cNvPr id="30" name="Text 27">
            <a:extLst xmlns:a="http://schemas.openxmlformats.org/drawingml/2006/main">
              <a:ext uri="{FF2B5EF4-FFF2-40B4-BE49-F238E27FC236}">
                <a16:creationId xmlns:a16="http://schemas.microsoft.com/office/drawing/2014/main" id="{BAFBE8F6-0E05-495C-BF0A-A57047D40319}"/>
              </a:ext>
            </a:extLst>
          </p:cNvPr>
          <p:cNvSpPr>
            <a:spLocks xmlns:a="http://schemas.openxmlformats.org/drawingml/2006/main" noGrp="1"/>
          </p:cNvSpPr>
          <p:nvPr/>
        </p:nvSpPr>
        <p:spPr>
          <a:xfrm xmlns:a="http://schemas.openxmlformats.org/drawingml/2006/main">
            <a:off x="6126480" y="4645152"/>
            <a:ext cx="48920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200">
                <a:solidFill>
                  <a:srgbClr val="A6A9A2"/>
                </a:solidFill>
                <a:latin typeface="IBM Plex Sans"/>
                <a:ea typeface="IBM Plex Sans"/>
                <a:cs typeface="IBM Plex Sans"/>
              </a:rPr>
              <a:t>Mission-data assurance: quality, provenance, radiation context, replay, and bounded inference across the existing ground segment.</a:t>
            </a:r>
            <a:endParaRPr sz="1200"/>
          </a:p>
        </p:txBody>
      </p:sp>
      <p:sp>
        <p:nvSpPr>
          <p:cNvPr id="32" name="Slide Number Placeholder 0">
            <a:extLst xmlns:a="http://schemas.openxmlformats.org/drawingml/2006/main">
              <a:ext uri="{FF2B5EF4-FFF2-40B4-BE49-F238E27FC236}">
                <a16:creationId xmlns:a16="http://schemas.microsoft.com/office/drawing/2014/main" id="{9F34083B-8045-4212-BE2A-BC7F88B92BBA}"/>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3</a:t>
            </a:fld>
            <a:endParaRPr/>
          </a:p>
        </p:txBody>
      </p:sp>
    </p:spTree>
    <p:extLst>
      <p:ext uri="{BB962C8B-B14F-4D97-AF65-F5344CB8AC3E}">
        <p14:creationId xmlns:p14="http://schemas.microsoft.com/office/powerpoint/2010/main" val="1578339243"/>
      </p:ext>
    </p:extLst>
  </p:cSld>
</p:sld>
</file>

<file path=ppt/slides/slide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AB504AC-A90E-4B45-861E-07C44C88077E}"/>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3" name="Text 1">
            <a:extLst xmlns:a="http://schemas.openxmlformats.org/drawingml/2006/main">
              <a:ext uri="{FF2B5EF4-FFF2-40B4-BE49-F238E27FC236}">
                <a16:creationId xmlns:a16="http://schemas.microsoft.com/office/drawing/2014/main" id="{41225809-9F24-4021-9E05-3F27E53CD71C}"/>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PRODUCT</a:t>
            </a:r>
            <a:endParaRPr sz="800"/>
          </a:p>
        </p:txBody>
      </p:sp>
      <p:sp>
        <p:nvSpPr>
          <p:cNvPr id="4" name="Text 2">
            <a:extLst xmlns:a="http://schemas.openxmlformats.org/drawingml/2006/main">
              <a:ext uri="{FF2B5EF4-FFF2-40B4-BE49-F238E27FC236}">
                <a16:creationId xmlns:a16="http://schemas.microsoft.com/office/drawing/2014/main" id="{84FEB799-D605-4460-95EE-3077B285DE10}"/>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04</a:t>
            </a:r>
            <a:endParaRPr sz="800"/>
          </a:p>
        </p:txBody>
      </p:sp>
      <p:sp>
        <p:nvSpPr>
          <p:cNvPr id="5" name="Shape 3">
            <a:extLst xmlns:a="http://schemas.openxmlformats.org/drawingml/2006/main">
              <a:ext uri="{FF2B5EF4-FFF2-40B4-BE49-F238E27FC236}">
                <a16:creationId xmlns:a16="http://schemas.microsoft.com/office/drawing/2014/main" id="{1AF36321-D16F-4362-8DFF-051D481240D2}"/>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6" name="Text 4">
            <a:extLst xmlns:a="http://schemas.openxmlformats.org/drawingml/2006/main">
              <a:ext uri="{FF2B5EF4-FFF2-40B4-BE49-F238E27FC236}">
                <a16:creationId xmlns:a16="http://schemas.microsoft.com/office/drawing/2014/main" id="{1B7FD0C9-9343-4815-9481-15E9B467BEDB}"/>
              </a:ext>
            </a:extLst>
          </p:cNvPr>
          <p:cNvSpPr>
            <a:spLocks xmlns:a="http://schemas.openxmlformats.org/drawingml/2006/main" noGrp="1"/>
          </p:cNvSpPr>
          <p:nvPr/>
        </p:nvSpPr>
        <p:spPr>
          <a:xfrm xmlns:a="http://schemas.openxmlformats.org/drawingml/2006/main">
            <a:off x="685800" y="932688"/>
            <a:ext cx="106984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800" b="1">
                <a:solidFill>
                  <a:srgbClr val="F3F0E8"/>
                </a:solidFill>
                <a:latin typeface="Inter"/>
                <a:ea typeface="Inter"/>
                <a:cs typeface="Inter"/>
              </a:rPr>
              <a:t>Gauss makes AI decisions ready for operations.</a:t>
            </a:r>
            <a:endParaRPr sz="2800"/>
          </a:p>
        </p:txBody>
      </p:sp>
      <p:sp>
        <p:nvSpPr>
          <p:cNvPr id="7" name="Text 5">
            <a:extLst xmlns:a="http://schemas.openxmlformats.org/drawingml/2006/main">
              <a:ext uri="{FF2B5EF4-FFF2-40B4-BE49-F238E27FC236}">
                <a16:creationId xmlns:a16="http://schemas.microsoft.com/office/drawing/2014/main" id="{D5F8D09A-35C5-4254-A6EB-FCC8250D2E7B}"/>
              </a:ext>
            </a:extLst>
          </p:cNvPr>
          <p:cNvSpPr>
            <a:spLocks xmlns:a="http://schemas.openxmlformats.org/drawingml/2006/main" noGrp="1"/>
          </p:cNvSpPr>
          <p:nvPr/>
        </p:nvSpPr>
        <p:spPr>
          <a:xfrm xmlns:a="http://schemas.openxmlformats.org/drawingml/2006/main">
            <a:off x="685800" y="1472184"/>
            <a:ext cx="10287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500">
                <a:solidFill>
                  <a:srgbClr val="A6A9A2"/>
                </a:solidFill>
                <a:latin typeface="IBM Plex Sans"/>
                <a:ea typeface="IBM Plex Sans"/>
                <a:cs typeface="IBM Plex Sans"/>
              </a:rPr>
              <a:t>A neutral assurance layer that helps teams trust, explain, and safely act on mission data.</a:t>
            </a:r>
            <a:endParaRPr sz="1500"/>
          </a:p>
        </p:txBody>
      </p:sp>
      <p:sp>
        <p:nvSpPr>
          <p:cNvPr id="8" name="Text 6">
            <a:extLst xmlns:a="http://schemas.openxmlformats.org/drawingml/2006/main">
              <a:ext uri="{FF2B5EF4-FFF2-40B4-BE49-F238E27FC236}">
                <a16:creationId xmlns:a16="http://schemas.microsoft.com/office/drawing/2014/main" id="{E7E18CD2-A909-4902-B782-3C2E4CB0CCD0}"/>
              </a:ext>
            </a:extLst>
          </p:cNvPr>
          <p:cNvSpPr>
            <a:spLocks xmlns:a="http://schemas.openxmlformats.org/drawingml/2006/main" noGrp="1"/>
          </p:cNvSpPr>
          <p:nvPr/>
        </p:nvSpPr>
        <p:spPr>
          <a:xfrm xmlns:a="http://schemas.openxmlformats.org/drawingml/2006/main">
            <a:off x="822960" y="2286000"/>
            <a:ext cx="22860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WHAT TEAMS ALREADY HAVE</a:t>
            </a:r>
            <a:endParaRPr sz="800"/>
          </a:p>
        </p:txBody>
      </p:sp>
      <p:sp>
        <p:nvSpPr>
          <p:cNvPr id="9" name="Text 7">
            <a:extLst xmlns:a="http://schemas.openxmlformats.org/drawingml/2006/main">
              <a:ext uri="{FF2B5EF4-FFF2-40B4-BE49-F238E27FC236}">
                <a16:creationId xmlns:a16="http://schemas.microsoft.com/office/drawing/2014/main" id="{A0D9CBC6-6D87-4668-9DD2-ACDB54C605E1}"/>
              </a:ext>
            </a:extLst>
          </p:cNvPr>
          <p:cNvSpPr>
            <a:spLocks xmlns:a="http://schemas.openxmlformats.org/drawingml/2006/main" noGrp="1"/>
          </p:cNvSpPr>
          <p:nvPr/>
        </p:nvSpPr>
        <p:spPr>
          <a:xfrm xmlns:a="http://schemas.openxmlformats.org/drawingml/2006/main">
            <a:off x="4572000" y="2286000"/>
            <a:ext cx="20116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CCFF00"/>
                </a:solidFill>
                <a:latin typeface="JetBrains Mono"/>
                <a:ea typeface="JetBrains Mono"/>
                <a:cs typeface="JetBrains Mono"/>
              </a:rPr>
              <a:t>GAUSS ASSURANCE</a:t>
            </a:r>
            <a:endParaRPr sz="800"/>
          </a:p>
        </p:txBody>
      </p:sp>
      <p:sp>
        <p:nvSpPr>
          <p:cNvPr id="10" name="Text 8">
            <a:extLst xmlns:a="http://schemas.openxmlformats.org/drawingml/2006/main">
              <a:ext uri="{FF2B5EF4-FFF2-40B4-BE49-F238E27FC236}">
                <a16:creationId xmlns:a16="http://schemas.microsoft.com/office/drawing/2014/main" id="{5C8985ED-4C38-4865-9E20-F29DD1D39C11}"/>
              </a:ext>
            </a:extLst>
          </p:cNvPr>
          <p:cNvSpPr>
            <a:spLocks xmlns:a="http://schemas.openxmlformats.org/drawingml/2006/main" noGrp="1"/>
          </p:cNvSpPr>
          <p:nvPr/>
        </p:nvSpPr>
        <p:spPr>
          <a:xfrm xmlns:a="http://schemas.openxmlformats.org/drawingml/2006/main">
            <a:off x="9528048" y="2286000"/>
            <a:ext cx="20116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WHAT OPERATORS GET</a:t>
            </a:r>
            <a:endParaRPr sz="800"/>
          </a:p>
        </p:txBody>
      </p:sp>
      <p:sp>
        <p:nvSpPr>
          <p:cNvPr id="11" name="Shape 9">
            <a:extLst xmlns:a="http://schemas.openxmlformats.org/drawingml/2006/main">
              <a:ext uri="{FF2B5EF4-FFF2-40B4-BE49-F238E27FC236}">
                <a16:creationId xmlns:a16="http://schemas.microsoft.com/office/drawing/2014/main" id="{A2E613B1-55F6-471C-9823-556F0E46A069}"/>
              </a:ext>
            </a:extLst>
          </p:cNvPr>
          <p:cNvSpPr>
            <a:spLocks xmlns:a="http://schemas.openxmlformats.org/drawingml/2006/main" noGrp="1"/>
          </p:cNvSpPr>
          <p:nvPr/>
        </p:nvSpPr>
        <p:spPr>
          <a:xfrm xmlns:a="http://schemas.openxmlformats.org/drawingml/2006/main">
            <a:off x="685800" y="2633472"/>
            <a:ext cx="2578608" cy="1810512"/>
          </a:xfrm>
          <a:prstGeom xmlns:a="http://schemas.openxmlformats.org/drawingml/2006/main" prst="roundRect">
            <a:avLst>
              <a:gd name="adj" fmla="val 9091"/>
            </a:avLst>
          </a:prstGeom>
          <a:solidFill xmlns:a="http://schemas.openxmlformats.org/drawingml/2006/main">
            <a:srgbClr val="0D1010"/>
          </a:solidFill>
          <a:ln xmlns:a="http://schemas.openxmlformats.org/drawingml/2006/main" w="12700">
            <a:solidFill>
              <a:srgbClr val="252A2A"/>
            </a:solidFill>
            <a:prstDash val="solid"/>
          </a:ln>
        </p:spPr>
      </p:sp>
      <p:sp>
        <p:nvSpPr>
          <p:cNvPr id="12" name="Shape 10">
            <a:extLst xmlns:a="http://schemas.openxmlformats.org/drawingml/2006/main">
              <a:ext uri="{FF2B5EF4-FFF2-40B4-BE49-F238E27FC236}">
                <a16:creationId xmlns:a16="http://schemas.microsoft.com/office/drawing/2014/main" id="{95383C47-2AB5-4D2F-AE6F-E6D69B141538}"/>
              </a:ext>
            </a:extLst>
          </p:cNvPr>
          <p:cNvSpPr>
            <a:spLocks xmlns:a="http://schemas.openxmlformats.org/drawingml/2006/main" noGrp="1"/>
          </p:cNvSpPr>
          <p:nvPr/>
        </p:nvSpPr>
        <p:spPr>
          <a:xfrm xmlns:a="http://schemas.openxmlformats.org/drawingml/2006/main">
            <a:off x="4187952" y="2359152"/>
            <a:ext cx="3730752" cy="2359152"/>
          </a:xfrm>
          <a:prstGeom xmlns:a="http://schemas.openxmlformats.org/drawingml/2006/main" prst="roundRect">
            <a:avLst>
              <a:gd name="adj" fmla="val 6977"/>
            </a:avLst>
          </a:prstGeom>
          <a:solidFill xmlns:a="http://schemas.openxmlformats.org/drawingml/2006/main">
            <a:srgbClr val="132000"/>
          </a:solidFill>
          <a:ln xmlns:a="http://schemas.openxmlformats.org/drawingml/2006/main" w="12700">
            <a:solidFill>
              <a:srgbClr val="CCFF00"/>
            </a:solidFill>
            <a:prstDash val="solid"/>
          </a:ln>
        </p:spPr>
      </p:sp>
      <p:sp>
        <p:nvSpPr>
          <p:cNvPr id="13" name="Shape 11">
            <a:extLst xmlns:a="http://schemas.openxmlformats.org/drawingml/2006/main">
              <a:ext uri="{FF2B5EF4-FFF2-40B4-BE49-F238E27FC236}">
                <a16:creationId xmlns:a16="http://schemas.microsoft.com/office/drawing/2014/main" id="{01C9DA08-8DA9-4E89-BB24-700C28175BF3}"/>
              </a:ext>
            </a:extLst>
          </p:cNvPr>
          <p:cNvSpPr>
            <a:spLocks xmlns:a="http://schemas.openxmlformats.org/drawingml/2006/main" noGrp="1"/>
          </p:cNvSpPr>
          <p:nvPr/>
        </p:nvSpPr>
        <p:spPr>
          <a:xfrm xmlns:a="http://schemas.openxmlformats.org/drawingml/2006/main">
            <a:off x="8796528" y="2633472"/>
            <a:ext cx="2715768" cy="1810512"/>
          </a:xfrm>
          <a:prstGeom xmlns:a="http://schemas.openxmlformats.org/drawingml/2006/main" prst="roundRect">
            <a:avLst>
              <a:gd name="adj" fmla="val 9091"/>
            </a:avLst>
          </a:prstGeom>
          <a:solidFill xmlns:a="http://schemas.openxmlformats.org/drawingml/2006/main">
            <a:srgbClr val="0D1010"/>
          </a:solidFill>
          <a:ln xmlns:a="http://schemas.openxmlformats.org/drawingml/2006/main" w="12700">
            <a:solidFill>
              <a:srgbClr val="252A2A"/>
            </a:solidFill>
            <a:prstDash val="solid"/>
          </a:ln>
        </p:spPr>
      </p:sp>
      <p:sp>
        <p:nvSpPr>
          <p:cNvPr id="14" name="Shape 12">
            <a:extLst xmlns:a="http://schemas.openxmlformats.org/drawingml/2006/main">
              <a:ext uri="{FF2B5EF4-FFF2-40B4-BE49-F238E27FC236}">
                <a16:creationId xmlns:a16="http://schemas.microsoft.com/office/drawing/2014/main" id="{B2F6CE56-0BCA-4C58-8E0A-91FB66B7D7FB}"/>
              </a:ext>
            </a:extLst>
          </p:cNvPr>
          <p:cNvSpPr>
            <a:spLocks xmlns:a="http://schemas.openxmlformats.org/drawingml/2006/main" noGrp="1"/>
          </p:cNvSpPr>
          <p:nvPr/>
        </p:nvSpPr>
        <p:spPr>
          <a:xfrm xmlns:a="http://schemas.openxmlformats.org/drawingml/2006/main">
            <a:off x="3264408" y="3547872"/>
            <a:ext cx="923544" cy="0"/>
          </a:xfrm>
          <a:prstGeom xmlns:a="http://schemas.openxmlformats.org/drawingml/2006/main" prst="line">
            <a:avLst/>
          </a:prstGeom>
          <a:noFill xmlns:a="http://schemas.openxmlformats.org/drawingml/2006/main"/>
          <a:ln xmlns:a="http://schemas.openxmlformats.org/drawingml/2006/main" w="12700">
            <a:solidFill>
              <a:srgbClr val="E7B14A"/>
            </a:solidFill>
            <a:prstDash val="solid"/>
          </a:ln>
        </p:spPr>
      </p:sp>
      <p:sp>
        <p:nvSpPr>
          <p:cNvPr id="15" name="Text 13">
            <a:extLst xmlns:a="http://schemas.openxmlformats.org/drawingml/2006/main">
              <a:ext uri="{FF2B5EF4-FFF2-40B4-BE49-F238E27FC236}">
                <a16:creationId xmlns:a16="http://schemas.microsoft.com/office/drawing/2014/main" id="{BE121EE0-86BC-4780-944A-5B1AC9760516}"/>
              </a:ext>
            </a:extLst>
          </p:cNvPr>
          <p:cNvSpPr>
            <a:spLocks xmlns:a="http://schemas.openxmlformats.org/drawingml/2006/main" noGrp="1"/>
          </p:cNvSpPr>
          <p:nvPr/>
        </p:nvSpPr>
        <p:spPr>
          <a:xfrm xmlns:a="http://schemas.openxmlformats.org/drawingml/2006/main">
            <a:off x="3611880" y="3438144"/>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300" b="1">
                <a:solidFill>
                  <a:srgbClr val="E7B14A"/>
                </a:solidFill>
                <a:latin typeface="JetBrains Mono"/>
                <a:ea typeface="JetBrains Mono"/>
                <a:cs typeface="JetBrains Mono"/>
              </a:rPr>
              <a:t>•</a:t>
            </a:r>
            <a:endParaRPr sz="1300"/>
          </a:p>
        </p:txBody>
      </p:sp>
      <p:sp>
        <p:nvSpPr>
          <p:cNvPr id="16" name="Shape 14">
            <a:extLst xmlns:a="http://schemas.openxmlformats.org/drawingml/2006/main">
              <a:ext uri="{FF2B5EF4-FFF2-40B4-BE49-F238E27FC236}">
                <a16:creationId xmlns:a16="http://schemas.microsoft.com/office/drawing/2014/main" id="{F4962E76-042E-4C55-ABD6-AECC8C052888}"/>
              </a:ext>
            </a:extLst>
          </p:cNvPr>
          <p:cNvSpPr>
            <a:spLocks xmlns:a="http://schemas.openxmlformats.org/drawingml/2006/main" noGrp="1"/>
          </p:cNvSpPr>
          <p:nvPr/>
        </p:nvSpPr>
        <p:spPr>
          <a:xfrm xmlns:a="http://schemas.openxmlformats.org/drawingml/2006/main">
            <a:off x="7918704" y="3547872"/>
            <a:ext cx="877824" cy="0"/>
          </a:xfrm>
          <a:prstGeom xmlns:a="http://schemas.openxmlformats.org/drawingml/2006/main" prst="line">
            <a:avLst/>
          </a:prstGeom>
          <a:noFill xmlns:a="http://schemas.openxmlformats.org/drawingml/2006/main"/>
          <a:ln xmlns:a="http://schemas.openxmlformats.org/drawingml/2006/main" w="12700">
            <a:solidFill>
              <a:srgbClr val="CCFF00"/>
            </a:solidFill>
            <a:prstDash val="solid"/>
          </a:ln>
        </p:spPr>
      </p:sp>
      <p:sp>
        <p:nvSpPr>
          <p:cNvPr id="17" name="Text 15">
            <a:extLst xmlns:a="http://schemas.openxmlformats.org/drawingml/2006/main">
              <a:ext uri="{FF2B5EF4-FFF2-40B4-BE49-F238E27FC236}">
                <a16:creationId xmlns:a16="http://schemas.microsoft.com/office/drawing/2014/main" id="{92EFD8A0-8C08-40E3-A67E-B129D0955AC7}"/>
              </a:ext>
            </a:extLst>
          </p:cNvPr>
          <p:cNvSpPr>
            <a:spLocks xmlns:a="http://schemas.openxmlformats.org/drawingml/2006/main" noGrp="1"/>
          </p:cNvSpPr>
          <p:nvPr/>
        </p:nvSpPr>
        <p:spPr>
          <a:xfrm xmlns:a="http://schemas.openxmlformats.org/drawingml/2006/main">
            <a:off x="8229600" y="3438144"/>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300" b="1">
                <a:solidFill>
                  <a:srgbClr val="CCFF00"/>
                </a:solidFill>
                <a:latin typeface="JetBrains Mono"/>
                <a:ea typeface="JetBrains Mono"/>
                <a:cs typeface="JetBrains Mono"/>
              </a:rPr>
              <a:t>•</a:t>
            </a:r>
            <a:endParaRPr sz="1300"/>
          </a:p>
        </p:txBody>
      </p:sp>
      <p:sp>
        <p:nvSpPr>
          <p:cNvPr id="18" name="Text 16">
            <a:extLst xmlns:a="http://schemas.openxmlformats.org/drawingml/2006/main">
              <a:ext uri="{FF2B5EF4-FFF2-40B4-BE49-F238E27FC236}">
                <a16:creationId xmlns:a16="http://schemas.microsoft.com/office/drawing/2014/main" id="{C7BD71CF-08CC-4130-8D9F-E0ED8FD122AF}"/>
              </a:ext>
            </a:extLst>
          </p:cNvPr>
          <p:cNvSpPr>
            <a:spLocks xmlns:a="http://schemas.openxmlformats.org/drawingml/2006/main" noGrp="1"/>
          </p:cNvSpPr>
          <p:nvPr/>
        </p:nvSpPr>
        <p:spPr>
          <a:xfrm xmlns:a="http://schemas.openxmlformats.org/drawingml/2006/main">
            <a:off x="960120" y="3072384"/>
            <a:ext cx="1965960" cy="80467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600" b="1">
                <a:solidFill>
                  <a:srgbClr val="F3F0E8"/>
                </a:solidFill>
                <a:latin typeface="Inter"/>
                <a:ea typeface="Inter"/>
                <a:cs typeface="Inter"/>
              </a:rPr>
              <a:t>Mission data</a:t>
            </a:r>
            <a:endParaRPr sz="1600"/>
          </a:p>
          <a:p xmlns:a="http://schemas.openxmlformats.org/drawingml/2006/main">
            <a:pPr marL="0" indent="0" algn="l">
              <a:lnSpc>
                <a:spcPct val="100000"/>
              </a:lnSpc>
              <a:buNone/>
            </a:pPr>
            <a:r>
              <a:rPr sz="1600" b="1">
                <a:solidFill>
                  <a:srgbClr val="F3F0E8"/>
                </a:solidFill>
                <a:latin typeface="Inter"/>
                <a:ea typeface="Inter"/>
                <a:cs typeface="Inter"/>
              </a:rPr>
              <a:t>Weather context</a:t>
            </a:r>
            <a:endParaRPr sz="1600"/>
          </a:p>
          <a:p xmlns:a="http://schemas.openxmlformats.org/drawingml/2006/main">
            <a:pPr marL="0" indent="0" algn="l">
              <a:lnSpc>
                <a:spcPct val="100000"/>
              </a:lnSpc>
              <a:buNone/>
            </a:pPr>
            <a:r>
              <a:rPr sz="1600" b="1">
                <a:solidFill>
                  <a:srgbClr val="F3F0E8"/>
                </a:solidFill>
                <a:latin typeface="Inter"/>
                <a:ea typeface="Inter"/>
                <a:cs typeface="Inter"/>
              </a:rPr>
              <a:t>Operator history</a:t>
            </a:r>
            <a:endParaRPr sz="1600"/>
          </a:p>
          <a:p xmlns:a="http://schemas.openxmlformats.org/drawingml/2006/main">
            <a:pPr marL="0" indent="0" algn="l">
              <a:lnSpc>
                <a:spcPct val="100000"/>
              </a:lnSpc>
              <a:buNone/>
            </a:pPr>
            <a:r>
              <a:rPr sz="1600" b="1">
                <a:solidFill>
                  <a:srgbClr val="F3F0E8"/>
                </a:solidFill>
                <a:latin typeface="Inter"/>
                <a:ea typeface="Inter"/>
                <a:cs typeface="Inter"/>
              </a:rPr>
              <a:t>Existing systems</a:t>
            </a:r>
            <a:endParaRPr sz="1600"/>
          </a:p>
        </p:txBody>
      </p:sp>
      <p:sp>
        <p:nvSpPr>
          <p:cNvPr id="19" name="Text 17">
            <a:extLst xmlns:a="http://schemas.openxmlformats.org/drawingml/2006/main">
              <a:ext uri="{FF2B5EF4-FFF2-40B4-BE49-F238E27FC236}">
                <a16:creationId xmlns:a16="http://schemas.microsoft.com/office/drawing/2014/main" id="{E5504FAA-F30D-4FCE-A449-8EEDACC92F2E}"/>
              </a:ext>
            </a:extLst>
          </p:cNvPr>
          <p:cNvSpPr>
            <a:spLocks xmlns:a="http://schemas.openxmlformats.org/drawingml/2006/main" noGrp="1"/>
          </p:cNvSpPr>
          <p:nvPr/>
        </p:nvSpPr>
        <p:spPr>
          <a:xfrm xmlns:a="http://schemas.openxmlformats.org/drawingml/2006/main">
            <a:off x="4626864" y="2779776"/>
            <a:ext cx="1115568"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300" b="1">
                <a:solidFill>
                  <a:srgbClr val="CCFF00"/>
                </a:solidFill>
                <a:latin typeface="Inter"/>
                <a:ea typeface="Inter"/>
                <a:cs typeface="Inter"/>
              </a:rPr>
              <a:t>Validate</a:t>
            </a:r>
            <a:endParaRPr sz="2300"/>
          </a:p>
          <a:p xmlns:a="http://schemas.openxmlformats.org/drawingml/2006/main">
            <a:pPr marL="0" indent="0" algn="l">
              <a:lnSpc>
                <a:spcPct val="100000"/>
              </a:lnSpc>
              <a:buNone/>
            </a:pPr>
            <a:r>
              <a:rPr sz="2300" b="1">
                <a:solidFill>
                  <a:srgbClr val="CCFF00"/>
                </a:solidFill>
                <a:latin typeface="Inter"/>
                <a:ea typeface="Inter"/>
                <a:cs typeface="Inter"/>
              </a:rPr>
              <a:t>Explain</a:t>
            </a:r>
            <a:endParaRPr sz="2300"/>
          </a:p>
          <a:p xmlns:a="http://schemas.openxmlformats.org/drawingml/2006/main">
            <a:pPr marL="0" indent="0" algn="l">
              <a:lnSpc>
                <a:spcPct val="100000"/>
              </a:lnSpc>
              <a:buNone/>
            </a:pPr>
            <a:r>
              <a:rPr sz="2300" b="1">
                <a:solidFill>
                  <a:srgbClr val="CCFF00"/>
                </a:solidFill>
                <a:latin typeface="Inter"/>
                <a:ea typeface="Inter"/>
                <a:cs typeface="Inter"/>
              </a:rPr>
              <a:t>Gate</a:t>
            </a:r>
            <a:endParaRPr sz="2300"/>
          </a:p>
        </p:txBody>
      </p:sp>
      <p:sp>
        <p:nvSpPr>
          <p:cNvPr id="20" name="Text 18">
            <a:extLst xmlns:a="http://schemas.openxmlformats.org/drawingml/2006/main">
              <a:ext uri="{FF2B5EF4-FFF2-40B4-BE49-F238E27FC236}">
                <a16:creationId xmlns:a16="http://schemas.microsoft.com/office/drawing/2014/main" id="{1D75F757-D416-4827-A5FD-AA7311C56164}"/>
              </a:ext>
            </a:extLst>
          </p:cNvPr>
          <p:cNvSpPr>
            <a:spLocks xmlns:a="http://schemas.openxmlformats.org/drawingml/2006/main" noGrp="1"/>
          </p:cNvSpPr>
          <p:nvPr/>
        </p:nvSpPr>
        <p:spPr>
          <a:xfrm xmlns:a="http://schemas.openxmlformats.org/drawingml/2006/main">
            <a:off x="6236208" y="2944368"/>
            <a:ext cx="135331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200">
                <a:solidFill>
                  <a:srgbClr val="F3F0E8"/>
                </a:solidFill>
                <a:latin typeface="IBM Plex Sans"/>
                <a:ea typeface="IBM Plex Sans"/>
                <a:cs typeface="IBM Plex Sans"/>
              </a:rPr>
              <a:t>Confidence signals</a:t>
            </a:r>
            <a:endParaRPr sz="1200"/>
          </a:p>
          <a:p xmlns:a="http://schemas.openxmlformats.org/drawingml/2006/main">
            <a:pPr marL="0" indent="0" algn="l">
              <a:lnSpc>
                <a:spcPct val="100000"/>
              </a:lnSpc>
              <a:buNone/>
            </a:pPr>
            <a:r>
              <a:rPr sz="1200">
                <a:solidFill>
                  <a:srgbClr val="F3F0E8"/>
                </a:solidFill>
                <a:latin typeface="IBM Plex Sans"/>
                <a:ea typeface="IBM Plex Sans"/>
                <a:cs typeface="IBM Plex Sans"/>
              </a:rPr>
              <a:t>Decision context</a:t>
            </a:r>
            <a:endParaRPr sz="1200"/>
          </a:p>
          <a:p xmlns:a="http://schemas.openxmlformats.org/drawingml/2006/main">
            <a:pPr marL="0" indent="0" algn="l">
              <a:lnSpc>
                <a:spcPct val="100000"/>
              </a:lnSpc>
              <a:buNone/>
            </a:pPr>
            <a:r>
              <a:rPr sz="1200">
                <a:solidFill>
                  <a:srgbClr val="F3F0E8"/>
                </a:solidFill>
                <a:latin typeface="IBM Plex Sans"/>
                <a:ea typeface="IBM Plex Sans"/>
                <a:cs typeface="IBM Plex Sans"/>
              </a:rPr>
              <a:t>Safe fallback</a:t>
            </a:r>
            <a:endParaRPr sz="1200"/>
          </a:p>
        </p:txBody>
      </p:sp>
      <p:sp>
        <p:nvSpPr>
          <p:cNvPr id="21" name="Text 19">
            <a:extLst xmlns:a="http://schemas.openxmlformats.org/drawingml/2006/main">
              <a:ext uri="{FF2B5EF4-FFF2-40B4-BE49-F238E27FC236}">
                <a16:creationId xmlns:a16="http://schemas.microsoft.com/office/drawing/2014/main" id="{6E53F0FC-B4F8-4BD8-8D3B-058400CA6413}"/>
              </a:ext>
            </a:extLst>
          </p:cNvPr>
          <p:cNvSpPr>
            <a:spLocks xmlns:a="http://schemas.openxmlformats.org/drawingml/2006/main" noGrp="1"/>
          </p:cNvSpPr>
          <p:nvPr/>
        </p:nvSpPr>
        <p:spPr>
          <a:xfrm xmlns:a="http://schemas.openxmlformats.org/drawingml/2006/main">
            <a:off x="9125712" y="3072384"/>
            <a:ext cx="20116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600" b="1">
                <a:solidFill>
                  <a:srgbClr val="F3F0E8"/>
                </a:solidFill>
                <a:latin typeface="Inter"/>
                <a:ea typeface="Inter"/>
                <a:cs typeface="Inter"/>
              </a:rPr>
              <a:t>Decision-ready</a:t>
            </a:r>
            <a:endParaRPr sz="1600"/>
          </a:p>
          <a:p xmlns:a="http://schemas.openxmlformats.org/drawingml/2006/main">
            <a:pPr marL="0" indent="0" algn="l">
              <a:lnSpc>
                <a:spcPct val="100000"/>
              </a:lnSpc>
              <a:buNone/>
            </a:pPr>
            <a:r>
              <a:rPr sz="1600" b="1">
                <a:solidFill>
                  <a:srgbClr val="F3F0E8"/>
                </a:solidFill>
                <a:latin typeface="Inter"/>
                <a:ea typeface="Inter"/>
                <a:cs typeface="Inter"/>
              </a:rPr>
              <a:t>evidence</a:t>
            </a:r>
            <a:endParaRPr sz="1600"/>
          </a:p>
          <a:p xmlns:a="http://schemas.openxmlformats.org/drawingml/2006/main">
            <a:pPr marL="0" indent="0" algn="l">
              <a:lnSpc>
                <a:spcPct val="100000"/>
              </a:lnSpc>
              <a:buNone/>
            </a:pPr>
            <a:r>
              <a:rPr sz="1600" b="1">
                <a:solidFill>
                  <a:srgbClr val="F3F0E8"/>
                </a:solidFill>
                <a:latin typeface="Inter"/>
                <a:ea typeface="Inter"/>
                <a:cs typeface="Inter"/>
              </a:rPr>
              <a:t>Audit trail</a:t>
            </a:r>
            <a:endParaRPr sz="1600"/>
          </a:p>
          <a:p xmlns:a="http://schemas.openxmlformats.org/drawingml/2006/main">
            <a:pPr marL="0" indent="0" algn="l">
              <a:lnSpc>
                <a:spcPct val="100000"/>
              </a:lnSpc>
              <a:buNone/>
            </a:pPr>
            <a:r>
              <a:rPr sz="1600" b="1">
                <a:solidFill>
                  <a:srgbClr val="F3F0E8"/>
                </a:solidFill>
                <a:latin typeface="Inter"/>
                <a:ea typeface="Inter"/>
                <a:cs typeface="Inter"/>
              </a:rPr>
              <a:t>No command authority</a:t>
            </a:r>
            <a:endParaRPr sz="1600"/>
          </a:p>
        </p:txBody>
      </p:sp>
      <p:sp>
        <p:nvSpPr>
          <p:cNvPr id="22" name="Text 20">
            <a:extLst xmlns:a="http://schemas.openxmlformats.org/drawingml/2006/main">
              <a:ext uri="{FF2B5EF4-FFF2-40B4-BE49-F238E27FC236}">
                <a16:creationId xmlns:a16="http://schemas.microsoft.com/office/drawing/2014/main" id="{9DAC273F-6344-434A-870D-0B608B43BD40}"/>
              </a:ext>
            </a:extLst>
          </p:cNvPr>
          <p:cNvSpPr>
            <a:spLocks xmlns:a="http://schemas.openxmlformats.org/drawingml/2006/main" noGrp="1"/>
          </p:cNvSpPr>
          <p:nvPr/>
        </p:nvSpPr>
        <p:spPr>
          <a:xfrm xmlns:a="http://schemas.openxmlformats.org/drawingml/2006/main">
            <a:off x="685800" y="5522976"/>
            <a:ext cx="81381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600" b="1">
                <a:solidFill>
                  <a:srgbClr val="E7B14A"/>
                </a:solidFill>
                <a:latin typeface="Inter"/>
                <a:ea typeface="Inter"/>
                <a:cs typeface="Inter"/>
              </a:rPr>
              <a:t>Start with the ground segment. Earn the right to move closer to flight.</a:t>
            </a:r>
            <a:endParaRPr sz="1600"/>
          </a:p>
        </p:txBody>
      </p:sp>
      <p:sp>
        <p:nvSpPr>
          <p:cNvPr id="25" name="Slide Number Placeholder 0">
            <a:extLst xmlns:a="http://schemas.openxmlformats.org/drawingml/2006/main">
              <a:ext uri="{FF2B5EF4-FFF2-40B4-BE49-F238E27FC236}">
                <a16:creationId xmlns:a16="http://schemas.microsoft.com/office/drawing/2014/main" id="{05299232-2C3E-4EED-A3E9-37F02AF07370}"/>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4</a:t>
            </a:fld>
            <a:endParaRPr/>
          </a:p>
        </p:txBody>
      </p:sp>
    </p:spTree>
    <p:extLst>
      <p:ext uri="{BB962C8B-B14F-4D97-AF65-F5344CB8AC3E}">
        <p14:creationId xmlns:p14="http://schemas.microsoft.com/office/powerpoint/2010/main" val="413881972"/>
      </p:ext>
    </p:extLst>
  </p:cSld>
</p:sld>
</file>

<file path=ppt/slides/slide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1658AA2-7562-4FB8-B33C-D33D308D1447}"/>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3" name="Text 1">
            <a:extLst xmlns:a="http://schemas.openxmlformats.org/drawingml/2006/main">
              <a:ext uri="{FF2B5EF4-FFF2-40B4-BE49-F238E27FC236}">
                <a16:creationId xmlns:a16="http://schemas.microsoft.com/office/drawing/2014/main" id="{6CFB63C3-FE35-4B41-B1B8-A94428D1274E}"/>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PRODUCT</a:t>
            </a:r>
            <a:endParaRPr sz="800"/>
          </a:p>
        </p:txBody>
      </p:sp>
      <p:sp>
        <p:nvSpPr>
          <p:cNvPr id="4" name="Text 2">
            <a:extLst xmlns:a="http://schemas.openxmlformats.org/drawingml/2006/main">
              <a:ext uri="{FF2B5EF4-FFF2-40B4-BE49-F238E27FC236}">
                <a16:creationId xmlns:a16="http://schemas.microsoft.com/office/drawing/2014/main" id="{FDABBB21-A015-4E35-820C-7A4390789E0F}"/>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05</a:t>
            </a:r>
            <a:endParaRPr sz="800"/>
          </a:p>
        </p:txBody>
      </p:sp>
      <p:sp>
        <p:nvSpPr>
          <p:cNvPr id="5" name="Shape 3">
            <a:extLst xmlns:a="http://schemas.openxmlformats.org/drawingml/2006/main">
              <a:ext uri="{FF2B5EF4-FFF2-40B4-BE49-F238E27FC236}">
                <a16:creationId xmlns:a16="http://schemas.microsoft.com/office/drawing/2014/main" id="{BCB01684-6D39-4C04-9524-4EA543EBF3DD}"/>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6" name="Text 4">
            <a:extLst xmlns:a="http://schemas.openxmlformats.org/drawingml/2006/main">
              <a:ext uri="{FF2B5EF4-FFF2-40B4-BE49-F238E27FC236}">
                <a16:creationId xmlns:a16="http://schemas.microsoft.com/office/drawing/2014/main" id="{2954CC48-F307-4B42-A2F2-8DCA2A8700A8}"/>
              </a:ext>
            </a:extLst>
          </p:cNvPr>
          <p:cNvSpPr>
            <a:spLocks xmlns:a="http://schemas.openxmlformats.org/drawingml/2006/main" noGrp="1"/>
          </p:cNvSpPr>
          <p:nvPr/>
        </p:nvSpPr>
        <p:spPr>
          <a:xfrm xmlns:a="http://schemas.openxmlformats.org/drawingml/2006/main">
            <a:off x="685800" y="932688"/>
            <a:ext cx="106984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800" b="1">
                <a:solidFill>
                  <a:srgbClr val="F3F0E8"/>
                </a:solidFill>
                <a:latin typeface="Inter"/>
                <a:ea typeface="Inter"/>
                <a:cs typeface="Inter"/>
              </a:rPr>
              <a:t>Three packages turn trust into expansion.</a:t>
            </a:r>
            <a:endParaRPr sz="2800"/>
          </a:p>
        </p:txBody>
      </p:sp>
      <p:sp>
        <p:nvSpPr>
          <p:cNvPr id="7" name="Text 5">
            <a:extLst xmlns:a="http://schemas.openxmlformats.org/drawingml/2006/main">
              <a:ext uri="{FF2B5EF4-FFF2-40B4-BE49-F238E27FC236}">
                <a16:creationId xmlns:a16="http://schemas.microsoft.com/office/drawing/2014/main" id="{9E64B8B1-C7BC-4F66-AD0D-6C43023E5907}"/>
              </a:ext>
            </a:extLst>
          </p:cNvPr>
          <p:cNvSpPr>
            <a:spLocks xmlns:a="http://schemas.openxmlformats.org/drawingml/2006/main" noGrp="1"/>
          </p:cNvSpPr>
          <p:nvPr/>
        </p:nvSpPr>
        <p:spPr>
          <a:xfrm xmlns:a="http://schemas.openxmlformats.org/drawingml/2006/main">
            <a:off x="685800" y="1472184"/>
            <a:ext cx="10287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500">
                <a:solidFill>
                  <a:srgbClr val="A6A9A2"/>
                </a:solidFill>
                <a:latin typeface="IBM Plex Sans"/>
                <a:ea typeface="IBM Plex Sans"/>
                <a:cs typeface="IBM Plex Sans"/>
              </a:rPr>
              <a:t>Land with one mission team, then expand across fleets and infrastructure.</a:t>
            </a:r>
            <a:endParaRPr sz="1500"/>
          </a:p>
        </p:txBody>
      </p:sp>
      <p:sp>
        <p:nvSpPr>
          <p:cNvPr id="8" name="Shape 6">
            <a:extLst xmlns:a="http://schemas.openxmlformats.org/drawingml/2006/main">
              <a:ext uri="{FF2B5EF4-FFF2-40B4-BE49-F238E27FC236}">
                <a16:creationId xmlns:a16="http://schemas.microsoft.com/office/drawing/2014/main" id="{D87F7BDA-B5BC-41E3-984A-FCCAB15F2979}"/>
              </a:ext>
            </a:extLst>
          </p:cNvPr>
          <p:cNvSpPr>
            <a:spLocks xmlns:a="http://schemas.openxmlformats.org/drawingml/2006/main" noGrp="1"/>
          </p:cNvSpPr>
          <p:nvPr/>
        </p:nvSpPr>
        <p:spPr>
          <a:xfrm xmlns:a="http://schemas.openxmlformats.org/drawingml/2006/main">
            <a:off x="685800" y="2267712"/>
            <a:ext cx="2880360" cy="2395728"/>
          </a:xfrm>
          <a:prstGeom xmlns:a="http://schemas.openxmlformats.org/drawingml/2006/main" prst="roundRect">
            <a:avLst>
              <a:gd name="adj" fmla="val 6870"/>
            </a:avLst>
          </a:prstGeom>
          <a:solidFill xmlns:a="http://schemas.openxmlformats.org/drawingml/2006/main">
            <a:srgbClr val="0D1010"/>
          </a:solidFill>
          <a:ln xmlns:a="http://schemas.openxmlformats.org/drawingml/2006/main" w="12700">
            <a:solidFill>
              <a:srgbClr val="252A2A"/>
            </a:solidFill>
            <a:prstDash val="solid"/>
          </a:ln>
        </p:spPr>
      </p:sp>
      <p:sp>
        <p:nvSpPr>
          <p:cNvPr id="9" name="Text 7">
            <a:extLst xmlns:a="http://schemas.openxmlformats.org/drawingml/2006/main">
              <a:ext uri="{FF2B5EF4-FFF2-40B4-BE49-F238E27FC236}">
                <a16:creationId xmlns:a16="http://schemas.microsoft.com/office/drawing/2014/main" id="{0C6DCE00-8BE7-455B-9E54-21F21EFB374A}"/>
              </a:ext>
            </a:extLst>
          </p:cNvPr>
          <p:cNvSpPr>
            <a:spLocks xmlns:a="http://schemas.openxmlformats.org/drawingml/2006/main" noGrp="1"/>
          </p:cNvSpPr>
          <p:nvPr/>
        </p:nvSpPr>
        <p:spPr>
          <a:xfrm xmlns:a="http://schemas.openxmlformats.org/drawingml/2006/main">
            <a:off x="914400" y="2514600"/>
            <a:ext cx="13716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CCFF00"/>
                </a:solidFill>
                <a:latin typeface="JetBrains Mono"/>
                <a:ea typeface="JetBrains Mono"/>
                <a:cs typeface="JetBrains Mono"/>
              </a:rPr>
              <a:t>01 / LAND</a:t>
            </a:r>
            <a:endParaRPr sz="800"/>
          </a:p>
        </p:txBody>
      </p:sp>
      <p:sp>
        <p:nvSpPr>
          <p:cNvPr id="10" name="Text 8">
            <a:extLst xmlns:a="http://schemas.openxmlformats.org/drawingml/2006/main">
              <a:ext uri="{FF2B5EF4-FFF2-40B4-BE49-F238E27FC236}">
                <a16:creationId xmlns:a16="http://schemas.microsoft.com/office/drawing/2014/main" id="{026DFE66-1AC4-4286-B180-BF8379DE861D}"/>
              </a:ext>
            </a:extLst>
          </p:cNvPr>
          <p:cNvSpPr>
            <a:spLocks xmlns:a="http://schemas.openxmlformats.org/drawingml/2006/main" noGrp="1"/>
          </p:cNvSpPr>
          <p:nvPr/>
        </p:nvSpPr>
        <p:spPr>
          <a:xfrm xmlns:a="http://schemas.openxmlformats.org/drawingml/2006/main">
            <a:off x="3108960" y="2487168"/>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CCFF00"/>
                </a:solidFill>
                <a:latin typeface="JetBrains Mono"/>
                <a:ea typeface="JetBrains Mono"/>
                <a:cs typeface="JetBrains Mono"/>
              </a:rPr>
              <a:t>↗</a:t>
            </a:r>
            <a:endParaRPr sz="1400"/>
          </a:p>
        </p:txBody>
      </p:sp>
      <p:sp>
        <p:nvSpPr>
          <p:cNvPr id="11" name="Text 9">
            <a:extLst xmlns:a="http://schemas.openxmlformats.org/drawingml/2006/main">
              <a:ext uri="{FF2B5EF4-FFF2-40B4-BE49-F238E27FC236}">
                <a16:creationId xmlns:a16="http://schemas.microsoft.com/office/drawing/2014/main" id="{3437AC97-69A0-409C-B9E4-231B62670C0C}"/>
              </a:ext>
            </a:extLst>
          </p:cNvPr>
          <p:cNvSpPr>
            <a:spLocks xmlns:a="http://schemas.openxmlformats.org/drawingml/2006/main" noGrp="1"/>
          </p:cNvSpPr>
          <p:nvPr/>
        </p:nvSpPr>
        <p:spPr>
          <a:xfrm xmlns:a="http://schemas.openxmlformats.org/drawingml/2006/main">
            <a:off x="914400" y="2907792"/>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800" b="1">
                <a:solidFill>
                  <a:srgbClr val="F3F0E8"/>
                </a:solidFill>
                <a:latin typeface="Inter"/>
                <a:ea typeface="Inter"/>
                <a:cs typeface="Inter"/>
              </a:rPr>
              <a:t>Fleet Integration</a:t>
            </a:r>
            <a:endParaRPr sz="1800"/>
          </a:p>
        </p:txBody>
      </p:sp>
      <p:sp>
        <p:nvSpPr>
          <p:cNvPr id="12" name="Text 10">
            <a:extLst xmlns:a="http://schemas.openxmlformats.org/drawingml/2006/main">
              <a:ext uri="{FF2B5EF4-FFF2-40B4-BE49-F238E27FC236}">
                <a16:creationId xmlns:a16="http://schemas.microsoft.com/office/drawing/2014/main" id="{50942C9E-DB2C-410D-AE0B-59F6691BEAE6}"/>
              </a:ext>
            </a:extLst>
          </p:cNvPr>
          <p:cNvSpPr>
            <a:spLocks xmlns:a="http://schemas.openxmlformats.org/drawingml/2006/main" noGrp="1"/>
          </p:cNvSpPr>
          <p:nvPr/>
        </p:nvSpPr>
        <p:spPr>
          <a:xfrm xmlns:a="http://schemas.openxmlformats.org/drawingml/2006/main">
            <a:off x="914400" y="3657600"/>
            <a:ext cx="239572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A6A9A2"/>
                </a:solidFill>
                <a:latin typeface="IBM Plex Sans"/>
                <a:ea typeface="IBM Plex Sans"/>
                <a:cs typeface="IBM Plex Sans"/>
              </a:rPr>
              <a:t>Make existing mission data trustworthy across teams, workflows, and customer handoffs.</a:t>
            </a:r>
            <a:endParaRPr sz="1100"/>
          </a:p>
        </p:txBody>
      </p:sp>
      <p:sp>
        <p:nvSpPr>
          <p:cNvPr id="13" name="Text 11">
            <a:extLst xmlns:a="http://schemas.openxmlformats.org/drawingml/2006/main">
              <a:ext uri="{FF2B5EF4-FFF2-40B4-BE49-F238E27FC236}">
                <a16:creationId xmlns:a16="http://schemas.microsoft.com/office/drawing/2014/main" id="{EB1ECD6E-781B-43BC-819C-E1FE2EB2F328}"/>
              </a:ext>
            </a:extLst>
          </p:cNvPr>
          <p:cNvSpPr>
            <a:spLocks xmlns:a="http://schemas.openxmlformats.org/drawingml/2006/main" noGrp="1"/>
          </p:cNvSpPr>
          <p:nvPr/>
        </p:nvSpPr>
        <p:spPr>
          <a:xfrm xmlns:a="http://schemas.openxmlformats.org/drawingml/2006/main">
            <a:off x="914400" y="4407408"/>
            <a:ext cx="21945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Start on the ground</a:t>
            </a:r>
            <a:endParaRPr sz="800"/>
          </a:p>
        </p:txBody>
      </p:sp>
      <p:sp>
        <p:nvSpPr>
          <p:cNvPr id="14" name="Shape 12">
            <a:extLst xmlns:a="http://schemas.openxmlformats.org/drawingml/2006/main">
              <a:ext uri="{FF2B5EF4-FFF2-40B4-BE49-F238E27FC236}">
                <a16:creationId xmlns:a16="http://schemas.microsoft.com/office/drawing/2014/main" id="{5B220A6E-71EC-44E2-A473-CD94B54983DE}"/>
              </a:ext>
            </a:extLst>
          </p:cNvPr>
          <p:cNvSpPr>
            <a:spLocks xmlns:a="http://schemas.openxmlformats.org/drawingml/2006/main" noGrp="1"/>
          </p:cNvSpPr>
          <p:nvPr/>
        </p:nvSpPr>
        <p:spPr>
          <a:xfrm xmlns:a="http://schemas.openxmlformats.org/drawingml/2006/main">
            <a:off x="4050792" y="2267712"/>
            <a:ext cx="2880360" cy="2395728"/>
          </a:xfrm>
          <a:prstGeom xmlns:a="http://schemas.openxmlformats.org/drawingml/2006/main" prst="roundRect">
            <a:avLst>
              <a:gd name="adj" fmla="val 6870"/>
            </a:avLst>
          </a:prstGeom>
          <a:solidFill xmlns:a="http://schemas.openxmlformats.org/drawingml/2006/main">
            <a:srgbClr val="0D1010"/>
          </a:solidFill>
          <a:ln xmlns:a="http://schemas.openxmlformats.org/drawingml/2006/main" w="12700">
            <a:solidFill>
              <a:srgbClr val="252A2A"/>
            </a:solidFill>
            <a:prstDash val="solid"/>
          </a:ln>
        </p:spPr>
      </p:sp>
      <p:sp>
        <p:nvSpPr>
          <p:cNvPr id="15" name="Text 13">
            <a:extLst xmlns:a="http://schemas.openxmlformats.org/drawingml/2006/main">
              <a:ext uri="{FF2B5EF4-FFF2-40B4-BE49-F238E27FC236}">
                <a16:creationId xmlns:a16="http://schemas.microsoft.com/office/drawing/2014/main" id="{AAB817F5-581A-44C5-AE2C-97481EF34FCB}"/>
              </a:ext>
            </a:extLst>
          </p:cNvPr>
          <p:cNvSpPr>
            <a:spLocks xmlns:a="http://schemas.openxmlformats.org/drawingml/2006/main" noGrp="1"/>
          </p:cNvSpPr>
          <p:nvPr/>
        </p:nvSpPr>
        <p:spPr>
          <a:xfrm xmlns:a="http://schemas.openxmlformats.org/drawingml/2006/main">
            <a:off x="4279392" y="2514600"/>
            <a:ext cx="13716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02 / EXPAND</a:t>
            </a:r>
            <a:endParaRPr sz="800"/>
          </a:p>
        </p:txBody>
      </p:sp>
      <p:sp>
        <p:nvSpPr>
          <p:cNvPr id="16" name="Text 14">
            <a:extLst xmlns:a="http://schemas.openxmlformats.org/drawingml/2006/main">
              <a:ext uri="{FF2B5EF4-FFF2-40B4-BE49-F238E27FC236}">
                <a16:creationId xmlns:a16="http://schemas.microsoft.com/office/drawing/2014/main" id="{871E6E58-F88D-47A9-9941-3890E9CA758A}"/>
              </a:ext>
            </a:extLst>
          </p:cNvPr>
          <p:cNvSpPr>
            <a:spLocks xmlns:a="http://schemas.openxmlformats.org/drawingml/2006/main" noGrp="1"/>
          </p:cNvSpPr>
          <p:nvPr/>
        </p:nvSpPr>
        <p:spPr>
          <a:xfrm xmlns:a="http://schemas.openxmlformats.org/drawingml/2006/main">
            <a:off x="6473952" y="2487168"/>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E7B14A"/>
                </a:solidFill>
                <a:latin typeface="JetBrains Mono"/>
                <a:ea typeface="JetBrains Mono"/>
                <a:cs typeface="JetBrains Mono"/>
              </a:rPr>
              <a:t>◎</a:t>
            </a:r>
            <a:endParaRPr sz="1400"/>
          </a:p>
        </p:txBody>
      </p:sp>
      <p:sp>
        <p:nvSpPr>
          <p:cNvPr id="17" name="Text 15">
            <a:extLst xmlns:a="http://schemas.openxmlformats.org/drawingml/2006/main">
              <a:ext uri="{FF2B5EF4-FFF2-40B4-BE49-F238E27FC236}">
                <a16:creationId xmlns:a16="http://schemas.microsoft.com/office/drawing/2014/main" id="{4FB05235-9557-4930-B7B1-7A14C8CD15AA}"/>
              </a:ext>
            </a:extLst>
          </p:cNvPr>
          <p:cNvSpPr>
            <a:spLocks xmlns:a="http://schemas.openxmlformats.org/drawingml/2006/main" noGrp="1"/>
          </p:cNvSpPr>
          <p:nvPr/>
        </p:nvSpPr>
        <p:spPr>
          <a:xfrm xmlns:a="http://schemas.openxmlformats.org/drawingml/2006/main">
            <a:off x="4279392" y="2907792"/>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800" b="1">
                <a:solidFill>
                  <a:srgbClr val="F3F0E8"/>
                </a:solidFill>
                <a:latin typeface="Inter"/>
                <a:ea typeface="Inter"/>
                <a:cs typeface="Inter"/>
              </a:rPr>
              <a:t>Flight Candidate Adapter</a:t>
            </a:r>
            <a:endParaRPr sz="1800"/>
          </a:p>
        </p:txBody>
      </p:sp>
      <p:sp>
        <p:nvSpPr>
          <p:cNvPr id="18" name="Text 16">
            <a:extLst xmlns:a="http://schemas.openxmlformats.org/drawingml/2006/main">
              <a:ext uri="{FF2B5EF4-FFF2-40B4-BE49-F238E27FC236}">
                <a16:creationId xmlns:a16="http://schemas.microsoft.com/office/drawing/2014/main" id="{E1FD972D-2D84-41CC-B152-4296FC3778E8}"/>
              </a:ext>
            </a:extLst>
          </p:cNvPr>
          <p:cNvSpPr>
            <a:spLocks xmlns:a="http://schemas.openxmlformats.org/drawingml/2006/main" noGrp="1"/>
          </p:cNvSpPr>
          <p:nvPr/>
        </p:nvSpPr>
        <p:spPr>
          <a:xfrm xmlns:a="http://schemas.openxmlformats.org/drawingml/2006/main">
            <a:off x="4279392" y="3657600"/>
            <a:ext cx="239572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A6A9A2"/>
                </a:solidFill>
                <a:latin typeface="IBM Plex Sans"/>
                <a:ea typeface="IBM Plex Sans"/>
                <a:cs typeface="IBM Plex Sans"/>
              </a:rPr>
              <a:t>Carry validated evidence toward future onboard deployment without claiming flight qualification.</a:t>
            </a:r>
            <a:endParaRPr sz="1100"/>
          </a:p>
        </p:txBody>
      </p:sp>
      <p:sp>
        <p:nvSpPr>
          <p:cNvPr id="19" name="Text 17">
            <a:extLst xmlns:a="http://schemas.openxmlformats.org/drawingml/2006/main">
              <a:ext uri="{FF2B5EF4-FFF2-40B4-BE49-F238E27FC236}">
                <a16:creationId xmlns:a16="http://schemas.microsoft.com/office/drawing/2014/main" id="{C6306FCD-5D35-4264-87AF-4881176297E0}"/>
              </a:ext>
            </a:extLst>
          </p:cNvPr>
          <p:cNvSpPr>
            <a:spLocks xmlns:a="http://schemas.openxmlformats.org/drawingml/2006/main" noGrp="1"/>
          </p:cNvSpPr>
          <p:nvPr/>
        </p:nvSpPr>
        <p:spPr>
          <a:xfrm xmlns:a="http://schemas.openxmlformats.org/drawingml/2006/main">
            <a:off x="4279392" y="4407408"/>
            <a:ext cx="21945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Earn the flight path</a:t>
            </a:r>
            <a:endParaRPr sz="800"/>
          </a:p>
        </p:txBody>
      </p:sp>
      <p:sp>
        <p:nvSpPr>
          <p:cNvPr id="20" name="Shape 18">
            <a:extLst xmlns:a="http://schemas.openxmlformats.org/drawingml/2006/main">
              <a:ext uri="{FF2B5EF4-FFF2-40B4-BE49-F238E27FC236}">
                <a16:creationId xmlns:a16="http://schemas.microsoft.com/office/drawing/2014/main" id="{DEEA0AB4-A5EF-4266-98A6-C700D72B2317}"/>
              </a:ext>
            </a:extLst>
          </p:cNvPr>
          <p:cNvSpPr>
            <a:spLocks xmlns:a="http://schemas.openxmlformats.org/drawingml/2006/main" noGrp="1"/>
          </p:cNvSpPr>
          <p:nvPr/>
        </p:nvSpPr>
        <p:spPr>
          <a:xfrm xmlns:a="http://schemas.openxmlformats.org/drawingml/2006/main">
            <a:off x="7415784" y="2267712"/>
            <a:ext cx="2880360" cy="2395728"/>
          </a:xfrm>
          <a:prstGeom xmlns:a="http://schemas.openxmlformats.org/drawingml/2006/main" prst="roundRect">
            <a:avLst>
              <a:gd name="adj" fmla="val 6870"/>
            </a:avLst>
          </a:prstGeom>
          <a:solidFill xmlns:a="http://schemas.openxmlformats.org/drawingml/2006/main">
            <a:srgbClr val="0D1010"/>
          </a:solidFill>
          <a:ln xmlns:a="http://schemas.openxmlformats.org/drawingml/2006/main" w="12700">
            <a:solidFill>
              <a:srgbClr val="252A2A"/>
            </a:solidFill>
            <a:prstDash val="solid"/>
          </a:ln>
        </p:spPr>
      </p:sp>
      <p:sp>
        <p:nvSpPr>
          <p:cNvPr id="21" name="Text 19">
            <a:extLst xmlns:a="http://schemas.openxmlformats.org/drawingml/2006/main">
              <a:ext uri="{FF2B5EF4-FFF2-40B4-BE49-F238E27FC236}">
                <a16:creationId xmlns:a16="http://schemas.microsoft.com/office/drawing/2014/main" id="{F7552509-5E9D-4E95-ADF5-5AAC0D6BECCE}"/>
              </a:ext>
            </a:extLst>
          </p:cNvPr>
          <p:cNvSpPr>
            <a:spLocks xmlns:a="http://schemas.openxmlformats.org/drawingml/2006/main" noGrp="1"/>
          </p:cNvSpPr>
          <p:nvPr/>
        </p:nvSpPr>
        <p:spPr>
          <a:xfrm xmlns:a="http://schemas.openxmlformats.org/drawingml/2006/main">
            <a:off x="7644384" y="2514600"/>
            <a:ext cx="13716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CCFF00"/>
                </a:solidFill>
                <a:latin typeface="JetBrains Mono"/>
                <a:ea typeface="JetBrains Mono"/>
                <a:cs typeface="JetBrains Mono"/>
              </a:rPr>
              <a:t>03 / EXTEND</a:t>
            </a:r>
            <a:endParaRPr sz="800"/>
          </a:p>
        </p:txBody>
      </p:sp>
      <p:sp>
        <p:nvSpPr>
          <p:cNvPr id="22" name="Text 20">
            <a:extLst xmlns:a="http://schemas.openxmlformats.org/drawingml/2006/main">
              <a:ext uri="{FF2B5EF4-FFF2-40B4-BE49-F238E27FC236}">
                <a16:creationId xmlns:a16="http://schemas.microsoft.com/office/drawing/2014/main" id="{2316A8F7-6852-4BBC-8A7B-C6D59FA8E545}"/>
              </a:ext>
            </a:extLst>
          </p:cNvPr>
          <p:cNvSpPr>
            <a:spLocks xmlns:a="http://schemas.openxmlformats.org/drawingml/2006/main" noGrp="1"/>
          </p:cNvSpPr>
          <p:nvPr/>
        </p:nvSpPr>
        <p:spPr>
          <a:xfrm xmlns:a="http://schemas.openxmlformats.org/drawingml/2006/main">
            <a:off x="9838944" y="2487168"/>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CCFF00"/>
                </a:solidFill>
                <a:latin typeface="JetBrains Mono"/>
                <a:ea typeface="JetBrains Mono"/>
                <a:cs typeface="JetBrains Mono"/>
              </a:rPr>
              <a:t>⇄</a:t>
            </a:r>
            <a:endParaRPr sz="1400"/>
          </a:p>
        </p:txBody>
      </p:sp>
      <p:sp>
        <p:nvSpPr>
          <p:cNvPr id="23" name="Text 21">
            <a:extLst xmlns:a="http://schemas.openxmlformats.org/drawingml/2006/main">
              <a:ext uri="{FF2B5EF4-FFF2-40B4-BE49-F238E27FC236}">
                <a16:creationId xmlns:a16="http://schemas.microsoft.com/office/drawing/2014/main" id="{A1E91773-C7CD-408A-B390-CDEEA5C218CE}"/>
              </a:ext>
            </a:extLst>
          </p:cNvPr>
          <p:cNvSpPr>
            <a:spLocks xmlns:a="http://schemas.openxmlformats.org/drawingml/2006/main" noGrp="1"/>
          </p:cNvSpPr>
          <p:nvPr/>
        </p:nvSpPr>
        <p:spPr>
          <a:xfrm xmlns:a="http://schemas.openxmlformats.org/drawingml/2006/main">
            <a:off x="7644384" y="2907792"/>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800" b="1">
                <a:solidFill>
                  <a:srgbClr val="F3F0E8"/>
                </a:solidFill>
                <a:latin typeface="Inter"/>
                <a:ea typeface="Inter"/>
                <a:cs typeface="Inter"/>
              </a:rPr>
              <a:t>Federated Bridge Node</a:t>
            </a:r>
            <a:endParaRPr sz="1800"/>
          </a:p>
        </p:txBody>
      </p:sp>
      <p:sp>
        <p:nvSpPr>
          <p:cNvPr id="24" name="Text 22">
            <a:extLst xmlns:a="http://schemas.openxmlformats.org/drawingml/2006/main">
              <a:ext uri="{FF2B5EF4-FFF2-40B4-BE49-F238E27FC236}">
                <a16:creationId xmlns:a16="http://schemas.microsoft.com/office/drawing/2014/main" id="{B225BED1-33CF-4F2C-B5E2-F2222B6F1F9E}"/>
              </a:ext>
            </a:extLst>
          </p:cNvPr>
          <p:cNvSpPr>
            <a:spLocks xmlns:a="http://schemas.openxmlformats.org/drawingml/2006/main" noGrp="1"/>
          </p:cNvSpPr>
          <p:nvPr/>
        </p:nvSpPr>
        <p:spPr>
          <a:xfrm xmlns:a="http://schemas.openxmlformats.org/drawingml/2006/main">
            <a:off x="7644384" y="3657600"/>
            <a:ext cx="239572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A6A9A2"/>
                </a:solidFill>
                <a:latin typeface="IBM Plex Sans"/>
                <a:ea typeface="IBM Plex Sans"/>
                <a:cs typeface="IBM Plex Sans"/>
              </a:rPr>
              <a:t>Move trusted data across zones, partners, and protected infrastructure as the network grows.</a:t>
            </a:r>
            <a:endParaRPr sz="1100"/>
          </a:p>
        </p:txBody>
      </p:sp>
      <p:sp>
        <p:nvSpPr>
          <p:cNvPr id="25" name="Text 23">
            <a:extLst xmlns:a="http://schemas.openxmlformats.org/drawingml/2006/main">
              <a:ext uri="{FF2B5EF4-FFF2-40B4-BE49-F238E27FC236}">
                <a16:creationId xmlns:a16="http://schemas.microsoft.com/office/drawing/2014/main" id="{7D65C9C6-986F-414F-8B0A-3A87E3148E04}"/>
              </a:ext>
            </a:extLst>
          </p:cNvPr>
          <p:cNvSpPr>
            <a:spLocks xmlns:a="http://schemas.openxmlformats.org/drawingml/2006/main" noGrp="1"/>
          </p:cNvSpPr>
          <p:nvPr/>
        </p:nvSpPr>
        <p:spPr>
          <a:xfrm xmlns:a="http://schemas.openxmlformats.org/drawingml/2006/main">
            <a:off x="7644384" y="4407408"/>
            <a:ext cx="21945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Expand the boundary</a:t>
            </a:r>
            <a:endParaRPr sz="800"/>
          </a:p>
        </p:txBody>
      </p:sp>
      <p:sp>
        <p:nvSpPr>
          <p:cNvPr id="26" name="Text 24">
            <a:extLst xmlns:a="http://schemas.openxmlformats.org/drawingml/2006/main">
              <a:ext uri="{FF2B5EF4-FFF2-40B4-BE49-F238E27FC236}">
                <a16:creationId xmlns:a16="http://schemas.microsoft.com/office/drawing/2014/main" id="{0A40538B-B81E-443D-B369-B85FA5739FD5}"/>
              </a:ext>
            </a:extLst>
          </p:cNvPr>
          <p:cNvSpPr>
            <a:spLocks xmlns:a="http://schemas.openxmlformats.org/drawingml/2006/main" noGrp="1"/>
          </p:cNvSpPr>
          <p:nvPr/>
        </p:nvSpPr>
        <p:spPr>
          <a:xfrm xmlns:a="http://schemas.openxmlformats.org/drawingml/2006/main">
            <a:off x="685800" y="5522976"/>
            <a:ext cx="102412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500" b="1">
                <a:solidFill>
                  <a:srgbClr val="F3F0E8"/>
                </a:solidFill>
                <a:latin typeface="Inter"/>
                <a:ea typeface="Inter"/>
                <a:cs typeface="Inter"/>
              </a:rPr>
              <a:t>The boundary is the moat: Gauss makes external mission systems more trustworthy without pretending to own them.</a:t>
            </a:r>
            <a:endParaRPr sz="1500"/>
          </a:p>
        </p:txBody>
      </p:sp>
      <p:sp>
        <p:nvSpPr>
          <p:cNvPr id="27" name="Slide Number Placeholder 0">
            <a:extLst xmlns:a="http://schemas.openxmlformats.org/drawingml/2006/main">
              <a:ext uri="{FF2B5EF4-FFF2-40B4-BE49-F238E27FC236}">
                <a16:creationId xmlns:a16="http://schemas.microsoft.com/office/drawing/2014/main" id="{4011FF0C-8EFA-4EC2-B981-C3E17C62D875}"/>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5</a:t>
            </a:fld>
            <a:endParaRPr/>
          </a:p>
        </p:txBody>
      </p:sp>
    </p:spTree>
    <p:extLst>
      <p:ext uri="{BB962C8B-B14F-4D97-AF65-F5344CB8AC3E}">
        <p14:creationId xmlns:p14="http://schemas.microsoft.com/office/powerpoint/2010/main" val="1017974259"/>
      </p:ext>
    </p:extLst>
  </p:cSld>
</p:sld>
</file>

<file path=ppt/slides/slide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pic>
        <p:nvPicPr>
          <p:cNvPr id="28" name="Image 0"/>
          <p:cNvPicPr>
            <a:picLocks xmlns:a="http://schemas.openxmlformats.org/drawingml/2006/main" noChangeAspect="1"/>
          </p:cNvPicPr>
          <p:nvPr/>
        </p:nvPicPr>
        <p:blipFill>
          <a:blip xmlns:r="http://schemas.openxmlformats.org/officeDocument/2006/relationships" xmlns:a="http://schemas.openxmlformats.org/drawingml/2006/main" r:embed="Refa95f2a25304586">
            <a:alphaModFix amt="96000"/>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60B55E61-5329-4635-BBE3-0595F7FD97F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alpha val="12000"/>
            </a:srgbClr>
          </a:solidFill>
          <a:ln xmlns:a="http://schemas.openxmlformats.org/drawingml/2006/main" w="12700">
            <a:solidFill>
              <a:srgbClr val="050505">
                <a:alpha val="0"/>
              </a:srgbClr>
            </a:solidFill>
            <a:prstDash val="solid"/>
          </a:ln>
        </p:spPr>
      </p:sp>
      <p:sp>
        <p:nvSpPr>
          <p:cNvPr id="4" name="Text 1">
            <a:extLst xmlns:a="http://schemas.openxmlformats.org/drawingml/2006/main">
              <a:ext uri="{FF2B5EF4-FFF2-40B4-BE49-F238E27FC236}">
                <a16:creationId xmlns:a16="http://schemas.microsoft.com/office/drawing/2014/main" id="{EE28375C-DFD2-4868-89BB-2B534C2D43D5}"/>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5" name="Text 2">
            <a:extLst xmlns:a="http://schemas.openxmlformats.org/drawingml/2006/main">
              <a:ext uri="{FF2B5EF4-FFF2-40B4-BE49-F238E27FC236}">
                <a16:creationId xmlns:a16="http://schemas.microsoft.com/office/drawing/2014/main" id="{F0288A37-171A-4DB8-B1F5-C9478836B217}"/>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MARKET</a:t>
            </a:r>
            <a:endParaRPr sz="800"/>
          </a:p>
        </p:txBody>
      </p:sp>
      <p:sp>
        <p:nvSpPr>
          <p:cNvPr id="6" name="Text 3">
            <a:extLst xmlns:a="http://schemas.openxmlformats.org/drawingml/2006/main">
              <a:ext uri="{FF2B5EF4-FFF2-40B4-BE49-F238E27FC236}">
                <a16:creationId xmlns:a16="http://schemas.microsoft.com/office/drawing/2014/main" id="{344D385C-F789-40C5-94EB-7FF5A7397ABF}"/>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06</a:t>
            </a:r>
            <a:endParaRPr sz="800"/>
          </a:p>
        </p:txBody>
      </p:sp>
      <p:sp>
        <p:nvSpPr>
          <p:cNvPr id="7" name="Shape 4">
            <a:extLst xmlns:a="http://schemas.openxmlformats.org/drawingml/2006/main">
              <a:ext uri="{FF2B5EF4-FFF2-40B4-BE49-F238E27FC236}">
                <a16:creationId xmlns:a16="http://schemas.microsoft.com/office/drawing/2014/main" id="{39667813-D76D-41AC-8FDA-9A9C41443834}"/>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8" name="Text 5">
            <a:extLst xmlns:a="http://schemas.openxmlformats.org/drawingml/2006/main">
              <a:ext uri="{FF2B5EF4-FFF2-40B4-BE49-F238E27FC236}">
                <a16:creationId xmlns:a16="http://schemas.microsoft.com/office/drawing/2014/main" id="{E0E25D64-E7EC-43F1-BBBE-723DE54E67A2}"/>
              </a:ext>
            </a:extLst>
          </p:cNvPr>
          <p:cNvSpPr>
            <a:spLocks xmlns:a="http://schemas.openxmlformats.org/drawingml/2006/main" noGrp="1"/>
          </p:cNvSpPr>
          <p:nvPr/>
        </p:nvSpPr>
        <p:spPr>
          <a:xfrm xmlns:a="http://schemas.openxmlformats.org/drawingml/2006/main">
            <a:off x="685800" y="932688"/>
            <a:ext cx="106984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800" b="1">
                <a:solidFill>
                  <a:srgbClr val="F3F0E8"/>
                </a:solidFill>
                <a:latin typeface="Inter"/>
                <a:ea typeface="Inter"/>
                <a:cs typeface="Inter"/>
              </a:rPr>
              <a:t>Start where data quality is already a budget line.</a:t>
            </a:r>
            <a:endParaRPr sz="2800"/>
          </a:p>
        </p:txBody>
      </p:sp>
      <p:sp>
        <p:nvSpPr>
          <p:cNvPr id="9" name="Text 6">
            <a:extLst xmlns:a="http://schemas.openxmlformats.org/drawingml/2006/main">
              <a:ext uri="{FF2B5EF4-FFF2-40B4-BE49-F238E27FC236}">
                <a16:creationId xmlns:a16="http://schemas.microsoft.com/office/drawing/2014/main" id="{6309BD9C-CD66-4B77-A22F-DA5B4CD5F241}"/>
              </a:ext>
            </a:extLst>
          </p:cNvPr>
          <p:cNvSpPr>
            <a:spLocks xmlns:a="http://schemas.openxmlformats.org/drawingml/2006/main" noGrp="1"/>
          </p:cNvSpPr>
          <p:nvPr/>
        </p:nvSpPr>
        <p:spPr>
          <a:xfrm xmlns:a="http://schemas.openxmlformats.org/drawingml/2006/main">
            <a:off x="685800" y="1472184"/>
            <a:ext cx="10287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500">
                <a:solidFill>
                  <a:srgbClr val="A6A9A2"/>
                </a:solidFill>
                <a:latin typeface="IBM Plex Sans"/>
                <a:ea typeface="IBM Plex Sans"/>
                <a:cs typeface="IBM Plex Sans"/>
              </a:rPr>
              <a:t>Gauss sells first to operators and integrators who cannot afford ambiguous telemetry.</a:t>
            </a:r>
            <a:endParaRPr sz="1500"/>
          </a:p>
        </p:txBody>
      </p:sp>
      <p:graphicFrame>
        <p:nvGraphicFramePr>
          <p:cNvPr id="36" name="Table 0"/>
          <p:cNvGraphicFramePr/>
          <p:nvPr/>
        </p:nvGraphicFramePr>
        <p:xfrm>
          <a:off xmlns:a="http://schemas.openxmlformats.org/drawingml/2006/main" x="685800" y="2157984"/>
          <a:ext xmlns:a="http://schemas.openxmlformats.org/drawingml/2006/main" cx="10817352" cy="2743200"/>
        </p:xfrm>
        <a:graphic xmlns:a="http://schemas.openxmlformats.org/drawingml/2006/main">
          <a:graphicData uri="http://schemas.openxmlformats.org/drawingml/2006/table">
            <a:tbl>
              <a:tblPr/>
              <a:tblGrid>
                <a:gridCol w="2377440"/>
                <a:gridCol w="2331720"/>
                <a:gridCol w="3337560"/>
                <a:gridCol w="2770632"/>
              </a:tblGrid>
              <a:tr h="548640">
                <a:tc>
                  <a:txBody>
                    <a:bodyPr/>
                    <a:lstStyle/>
                    <a:p>
                      <a:pPr marL="0" indent="0">
                        <a:buNone/>
                      </a:pPr>
                      <a:r>
                        <a:rPr sz="900" b="1">
                          <a:solidFill>
                            <a:srgbClr val="050505"/>
                          </a:solidFill>
                          <a:latin typeface="JetBrains Mono"/>
                          <a:ea typeface="JetBrains Mono"/>
                          <a:cs typeface="JetBrains Mono"/>
                        </a:rPr>
                        <a:t>BUYER WEDGE</a:t>
                      </a:r>
                      <a:endParaRPr sz="900">
                        <a:latin typeface="JetBrains Mono"/>
                        <a:ea typeface="JetBrains Mono"/>
                        <a:cs typeface="JetBrains Mono"/>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E7B14A"/>
                    </a:solidFill>
                  </a:tcPr>
                </a:tc>
                <a:tc>
                  <a:txBody>
                    <a:bodyPr/>
                    <a:lstStyle/>
                    <a:p>
                      <a:pPr marL="0" indent="0">
                        <a:buNone/>
                      </a:pPr>
                      <a:r>
                        <a:rPr sz="900" b="1">
                          <a:solidFill>
                            <a:srgbClr val="050505"/>
                          </a:solidFill>
                          <a:latin typeface="JetBrains Mono"/>
                          <a:ea typeface="JetBrains Mono"/>
                          <a:cs typeface="JetBrains Mono"/>
                        </a:rPr>
                        <a:t>MISSION PROFILE</a:t>
                      </a:r>
                      <a:endParaRPr sz="900">
                        <a:latin typeface="JetBrains Mono"/>
                        <a:ea typeface="JetBrains Mono"/>
                        <a:cs typeface="JetBrains Mono"/>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E7B14A"/>
                    </a:solidFill>
                  </a:tcPr>
                </a:tc>
                <a:tc>
                  <a:txBody>
                    <a:bodyPr/>
                    <a:lstStyle/>
                    <a:p>
                      <a:pPr marL="0" indent="0">
                        <a:buNone/>
                      </a:pPr>
                      <a:r>
                        <a:rPr sz="900" b="1">
                          <a:solidFill>
                            <a:srgbClr val="050505"/>
                          </a:solidFill>
                          <a:latin typeface="JetBrains Mono"/>
                          <a:ea typeface="JetBrains Mono"/>
                          <a:cs typeface="JetBrains Mono"/>
                        </a:rPr>
                        <a:t>PAIN WE SOLVE</a:t>
                      </a:r>
                      <a:endParaRPr sz="900">
                        <a:latin typeface="JetBrains Mono"/>
                        <a:ea typeface="JetBrains Mono"/>
                        <a:cs typeface="JetBrains Mono"/>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E7B14A"/>
                    </a:solidFill>
                  </a:tcPr>
                </a:tc>
                <a:tc>
                  <a:txBody>
                    <a:bodyPr/>
                    <a:lstStyle/>
                    <a:p>
                      <a:pPr marL="0" indent="0">
                        <a:buNone/>
                      </a:pPr>
                      <a:r>
                        <a:rPr sz="900" b="1">
                          <a:solidFill>
                            <a:srgbClr val="050505"/>
                          </a:solidFill>
                          <a:latin typeface="JetBrains Mono"/>
                          <a:ea typeface="JetBrains Mono"/>
                          <a:cs typeface="JetBrains Mono"/>
                        </a:rPr>
                        <a:t>LANDING MOTION</a:t>
                      </a:r>
                      <a:endParaRPr sz="900">
                        <a:latin typeface="JetBrains Mono"/>
                        <a:ea typeface="JetBrains Mono"/>
                        <a:cs typeface="JetBrains Mono"/>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E7B14A"/>
                    </a:solidFill>
                  </a:tcPr>
                </a:tc>
              </a:tr>
              <a:tr h="548640">
                <a:tc>
                  <a:txBody>
                    <a:bodyPr/>
                    <a:lstStyle/>
                    <a:p>
                      <a:pPr marL="0" indent="0">
                        <a:buNone/>
                      </a:pPr>
                      <a:r>
                        <a:rPr sz="900">
                          <a:solidFill>
                            <a:srgbClr val="F3F0E8"/>
                          </a:solidFill>
                          <a:latin typeface="IBM Plex Sans"/>
                          <a:ea typeface="IBM Plex Sans"/>
                          <a:cs typeface="IBM Plex Sans"/>
                        </a:rPr>
                        <a:t>Commercial satcom</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LEO / MEO fleets</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Fleet-wide evidence, replay, stale/gap detection</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Pilot → annual fleet license</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r>
              <a:tr h="548640">
                <a:tc>
                  <a:txBody>
                    <a:bodyPr/>
                    <a:lstStyle/>
                    <a:p>
                      <a:pPr marL="0" indent="0">
                        <a:buNone/>
                      </a:pPr>
                      <a:r>
                        <a:rPr sz="900">
                          <a:solidFill>
                            <a:srgbClr val="F3F0E8"/>
                          </a:solidFill>
                          <a:latin typeface="IBM Plex Sans"/>
                          <a:ea typeface="IBM Plex Sans"/>
                          <a:cs typeface="IBM Plex Sans"/>
                        </a:rPr>
                        <a:t>Weather + space weather</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GEO ground segment</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Radiation context, quality, operator confidence</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Ground assurance + data partner</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r>
              <a:tr h="548640">
                <a:tc>
                  <a:txBody>
                    <a:bodyPr/>
                    <a:lstStyle/>
                    <a:p>
                      <a:pPr marL="0" indent="0">
                        <a:buNone/>
                      </a:pPr>
                      <a:r>
                        <a:rPr sz="900">
                          <a:solidFill>
                            <a:srgbClr val="F3F0E8"/>
                          </a:solidFill>
                          <a:latin typeface="IBM Plex Sans"/>
                          <a:ea typeface="IBM Plex Sans"/>
                          <a:cs typeface="IBM Plex Sans"/>
                        </a:rPr>
                        <a:t>Earth observation</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LEO data relay</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Data lineage, anomaly triage, integration assurance</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Integration package</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r>
              <a:tr h="548640">
                <a:tc>
                  <a:txBody>
                    <a:bodyPr/>
                    <a:lstStyle/>
                    <a:p>
                      <a:pPr marL="0" indent="0">
                        <a:buNone/>
                      </a:pPr>
                      <a:r>
                        <a:rPr sz="900">
                          <a:solidFill>
                            <a:srgbClr val="F3F0E8"/>
                          </a:solidFill>
                          <a:latin typeface="IBM Plex Sans"/>
                          <a:ea typeface="IBM Plex Sans"/>
                          <a:cs typeface="IBM Plex Sans"/>
                        </a:rPr>
                        <a:t>Lunar relay / integrator</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Lunar + ground simulation</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DTN, provenance, approval-gated compute</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Bridge-node design partner</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r>
            </a:tbl>
          </a:graphicData>
        </a:graphic>
      </p:graphicFrame>
      <p:sp>
        <p:nvSpPr>
          <p:cNvPr id="11" name="Text 7">
            <a:extLst xmlns:a="http://schemas.openxmlformats.org/drawingml/2006/main">
              <a:ext uri="{FF2B5EF4-FFF2-40B4-BE49-F238E27FC236}">
                <a16:creationId xmlns:a16="http://schemas.microsoft.com/office/drawing/2014/main" id="{80DEC3F4-CFAF-44A1-9660-F187085409F1}"/>
              </a:ext>
            </a:extLst>
          </p:cNvPr>
          <p:cNvSpPr>
            <a:spLocks xmlns:a="http://schemas.openxmlformats.org/drawingml/2006/main" noGrp="1"/>
          </p:cNvSpPr>
          <p:nvPr/>
        </p:nvSpPr>
        <p:spPr>
          <a:xfrm xmlns:a="http://schemas.openxmlformats.org/drawingml/2006/main">
            <a:off x="685800" y="5422392"/>
            <a:ext cx="9875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400" b="1">
                <a:solidFill>
                  <a:srgbClr val="E7B14A"/>
                </a:solidFill>
                <a:latin typeface="Inter"/>
                <a:ea typeface="Inter"/>
                <a:cs typeface="Inter"/>
              </a:rPr>
              <a:t>8 research profiles across satcom, weather/space weather, Earth observation, PNT, lunar relay, and mission integration.</a:t>
            </a:r>
            <a:endParaRPr sz="1400"/>
          </a:p>
        </p:txBody>
      </p:sp>
      <p:sp>
        <p:nvSpPr>
          <p:cNvPr id="25" name="Slide Number Placeholder 0">
            <a:extLst xmlns:a="http://schemas.openxmlformats.org/drawingml/2006/main">
              <a:ext uri="{FF2B5EF4-FFF2-40B4-BE49-F238E27FC236}">
                <a16:creationId xmlns:a16="http://schemas.microsoft.com/office/drawing/2014/main" id="{51506A5F-61EB-432F-A0F4-2D8484F0C76C}"/>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6</a:t>
            </a:fld>
            <a:endParaRPr/>
          </a:p>
        </p:txBody>
      </p:sp>
    </p:spTree>
    <p:extLst>
      <p:ext uri="{BB962C8B-B14F-4D97-AF65-F5344CB8AC3E}">
        <p14:creationId xmlns:p14="http://schemas.microsoft.com/office/powerpoint/2010/main" val="140245080"/>
      </p:ext>
    </p:extLst>
  </p:cSld>
</p:sld>
</file>

<file path=ppt/slides/slide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92171a0f305443d2">
            <a:alphaModFix amt="96000"/>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F4D0ED68-9B2A-402A-8A98-0E9D96135AC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alpha val="12000"/>
            </a:srgbClr>
          </a:solidFill>
          <a:ln xmlns:a="http://schemas.openxmlformats.org/drawingml/2006/main" w="12700">
            <a:solidFill>
              <a:srgbClr val="050505">
                <a:alpha val="0"/>
              </a:srgbClr>
            </a:solidFill>
            <a:prstDash val="solid"/>
          </a:ln>
        </p:spPr>
      </p:sp>
      <p:sp>
        <p:nvSpPr>
          <p:cNvPr id="4" name="Text 1">
            <a:extLst xmlns:a="http://schemas.openxmlformats.org/drawingml/2006/main">
              <a:ext uri="{FF2B5EF4-FFF2-40B4-BE49-F238E27FC236}">
                <a16:creationId xmlns:a16="http://schemas.microsoft.com/office/drawing/2014/main" id="{8BA27EE9-3160-4668-A61D-B56E23EBDF16}"/>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5" name="Text 2">
            <a:extLst xmlns:a="http://schemas.openxmlformats.org/drawingml/2006/main">
              <a:ext uri="{FF2B5EF4-FFF2-40B4-BE49-F238E27FC236}">
                <a16:creationId xmlns:a16="http://schemas.microsoft.com/office/drawing/2014/main" id="{3F82630D-1FA1-48CF-9EE8-AA7765420E94}"/>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MARKET</a:t>
            </a:r>
            <a:endParaRPr sz="800"/>
          </a:p>
        </p:txBody>
      </p:sp>
      <p:sp>
        <p:nvSpPr>
          <p:cNvPr id="6" name="Text 3">
            <a:extLst xmlns:a="http://schemas.openxmlformats.org/drawingml/2006/main">
              <a:ext uri="{FF2B5EF4-FFF2-40B4-BE49-F238E27FC236}">
                <a16:creationId xmlns:a16="http://schemas.microsoft.com/office/drawing/2014/main" id="{BD27E8BC-0E08-4CC8-A55F-CBF50C549202}"/>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07</a:t>
            </a:r>
            <a:endParaRPr sz="800"/>
          </a:p>
        </p:txBody>
      </p:sp>
      <p:sp>
        <p:nvSpPr>
          <p:cNvPr id="7" name="Shape 4">
            <a:extLst xmlns:a="http://schemas.openxmlformats.org/drawingml/2006/main">
              <a:ext uri="{FF2B5EF4-FFF2-40B4-BE49-F238E27FC236}">
                <a16:creationId xmlns:a16="http://schemas.microsoft.com/office/drawing/2014/main" id="{07927833-DC7F-4A82-B36A-D9C9C65833E6}"/>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8" name="Text 5">
            <a:extLst xmlns:a="http://schemas.openxmlformats.org/drawingml/2006/main">
              <a:ext uri="{FF2B5EF4-FFF2-40B4-BE49-F238E27FC236}">
                <a16:creationId xmlns:a16="http://schemas.microsoft.com/office/drawing/2014/main" id="{1393B113-E77E-456C-9C7B-1F3ED26055A1}"/>
              </a:ext>
            </a:extLst>
          </p:cNvPr>
          <p:cNvSpPr>
            <a:spLocks xmlns:a="http://schemas.openxmlformats.org/drawingml/2006/main" noGrp="1"/>
          </p:cNvSpPr>
          <p:nvPr/>
        </p:nvSpPr>
        <p:spPr>
          <a:xfrm xmlns:a="http://schemas.openxmlformats.org/drawingml/2006/main">
            <a:off x="685800" y="932688"/>
            <a:ext cx="106984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800" b="1">
                <a:solidFill>
                  <a:srgbClr val="F3F0E8"/>
                </a:solidFill>
                <a:latin typeface="Inter"/>
                <a:ea typeface="Inter"/>
                <a:cs typeface="Inter"/>
              </a:rPr>
              <a:t>A focused beachhead before the orbital infrastructure upside.</a:t>
            </a:r>
            <a:endParaRPr sz="2800"/>
          </a:p>
        </p:txBody>
      </p:sp>
      <p:sp>
        <p:nvSpPr>
          <p:cNvPr id="9" name="Text 6">
            <a:extLst xmlns:a="http://schemas.openxmlformats.org/drawingml/2006/main">
              <a:ext uri="{FF2B5EF4-FFF2-40B4-BE49-F238E27FC236}">
                <a16:creationId xmlns:a16="http://schemas.microsoft.com/office/drawing/2014/main" id="{15D3BD5E-6427-45D4-BF86-5FF585C7A46A}"/>
              </a:ext>
            </a:extLst>
          </p:cNvPr>
          <p:cNvSpPr>
            <a:spLocks xmlns:a="http://schemas.openxmlformats.org/drawingml/2006/main" noGrp="1"/>
          </p:cNvSpPr>
          <p:nvPr/>
        </p:nvSpPr>
        <p:spPr>
          <a:xfrm xmlns:a="http://schemas.openxmlformats.org/drawingml/2006/main">
            <a:off x="685800" y="1472184"/>
            <a:ext cx="10287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500">
                <a:solidFill>
                  <a:srgbClr val="A6A9A2"/>
                </a:solidFill>
                <a:latin typeface="IBM Plex Sans"/>
                <a:ea typeface="IBM Plex Sans"/>
                <a:cs typeface="IBM Plex Sans"/>
              </a:rPr>
              <a:t>Use a transparent internal model; let customer evidence tighten the market over time.</a:t>
            </a:r>
            <a:endParaRPr sz="1500"/>
          </a:p>
        </p:txBody>
      </p:sp>
      <p:sp>
        <p:nvSpPr>
          <p:cNvPr id="10" name="Text 7">
            <a:extLst xmlns:a="http://schemas.openxmlformats.org/drawingml/2006/main">
              <a:ext uri="{FF2B5EF4-FFF2-40B4-BE49-F238E27FC236}">
                <a16:creationId xmlns:a16="http://schemas.microsoft.com/office/drawing/2014/main" id="{B8B22210-8477-4310-AF29-71EEE399B1EB}"/>
              </a:ext>
            </a:extLst>
          </p:cNvPr>
          <p:cNvSpPr>
            <a:spLocks xmlns:a="http://schemas.openxmlformats.org/drawingml/2006/main" noGrp="1"/>
          </p:cNvSpPr>
          <p:nvPr/>
        </p:nvSpPr>
        <p:spPr>
          <a:xfrm xmlns:a="http://schemas.openxmlformats.org/drawingml/2006/main">
            <a:off x="685800" y="2066544"/>
            <a:ext cx="49377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INTERNAL PLANNING MODEL  /  DIRECTIONAL LADDER, NOT AUDITED RESEARCH</a:t>
            </a:r>
            <a:endParaRPr sz="800"/>
          </a:p>
        </p:txBody>
      </p:sp>
      <p:sp>
        <p:nvSpPr>
          <p:cNvPr id="11" name="Text 8">
            <a:extLst xmlns:a="http://schemas.openxmlformats.org/drawingml/2006/main">
              <a:ext uri="{FF2B5EF4-FFF2-40B4-BE49-F238E27FC236}">
                <a16:creationId xmlns:a16="http://schemas.microsoft.com/office/drawing/2014/main" id="{55788EA6-EC18-48D3-8BE4-2A60E0ACD708}"/>
              </a:ext>
            </a:extLst>
          </p:cNvPr>
          <p:cNvSpPr>
            <a:spLocks xmlns:a="http://schemas.openxmlformats.org/drawingml/2006/main" noGrp="1"/>
          </p:cNvSpPr>
          <p:nvPr/>
        </p:nvSpPr>
        <p:spPr>
          <a:xfrm xmlns:a="http://schemas.openxmlformats.org/drawingml/2006/main">
            <a:off x="1060704" y="267004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b="1">
                <a:solidFill>
                  <a:srgbClr val="A6A9A2"/>
                </a:solidFill>
                <a:latin typeface="JetBrains Mono"/>
                <a:ea typeface="JetBrains Mono"/>
                <a:cs typeface="JetBrains Mono"/>
              </a:rPr>
              <a:t>TAM</a:t>
            </a:r>
            <a:endParaRPr sz="1100"/>
          </a:p>
        </p:txBody>
      </p:sp>
      <p:sp>
        <p:nvSpPr>
          <p:cNvPr id="12" name="Text 9">
            <a:extLst xmlns:a="http://schemas.openxmlformats.org/drawingml/2006/main">
              <a:ext uri="{FF2B5EF4-FFF2-40B4-BE49-F238E27FC236}">
                <a16:creationId xmlns:a16="http://schemas.microsoft.com/office/drawing/2014/main" id="{510B20D4-55C0-4E6E-8BEA-D07D41DBD8CB}"/>
              </a:ext>
            </a:extLst>
          </p:cNvPr>
          <p:cNvSpPr>
            <a:spLocks xmlns:a="http://schemas.openxmlformats.org/drawingml/2006/main" noGrp="1"/>
          </p:cNvSpPr>
          <p:nvPr/>
        </p:nvSpPr>
        <p:spPr>
          <a:xfrm xmlns:a="http://schemas.openxmlformats.org/drawingml/2006/main">
            <a:off x="1060704" y="3035808"/>
            <a:ext cx="32004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4400" b="1">
                <a:solidFill>
                  <a:srgbClr val="CCFF00"/>
                </a:solidFill>
                <a:latin typeface="Inter"/>
                <a:ea typeface="Inter"/>
                <a:cs typeface="Inter"/>
              </a:rPr>
              <a:t>$3–5B</a:t>
            </a:r>
            <a:endParaRPr sz="4400"/>
          </a:p>
        </p:txBody>
      </p:sp>
      <p:sp>
        <p:nvSpPr>
          <p:cNvPr id="13" name="Text 10">
            <a:extLst xmlns:a="http://schemas.openxmlformats.org/drawingml/2006/main">
              <a:ext uri="{FF2B5EF4-FFF2-40B4-BE49-F238E27FC236}">
                <a16:creationId xmlns:a16="http://schemas.microsoft.com/office/drawing/2014/main" id="{377C36BB-EA09-4E07-84A3-2EF7D231DC08}"/>
              </a:ext>
            </a:extLst>
          </p:cNvPr>
          <p:cNvSpPr>
            <a:spLocks xmlns:a="http://schemas.openxmlformats.org/drawingml/2006/main" noGrp="1"/>
          </p:cNvSpPr>
          <p:nvPr/>
        </p:nvSpPr>
        <p:spPr>
          <a:xfrm xmlns:a="http://schemas.openxmlformats.org/drawingml/2006/main">
            <a:off x="1060704" y="3767328"/>
            <a:ext cx="312724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300">
                <a:solidFill>
                  <a:srgbClr val="A6A9A2"/>
                </a:solidFill>
                <a:latin typeface="IBM Plex Sans"/>
                <a:ea typeface="IBM Plex Sans"/>
                <a:cs typeface="IBM Plex Sans"/>
              </a:rPr>
              <a:t>Mission-data, ground, and distributed in-space infrastructure category.</a:t>
            </a:r>
            <a:endParaRPr sz="1300"/>
          </a:p>
        </p:txBody>
      </p:sp>
      <p:sp>
        <p:nvSpPr>
          <p:cNvPr id="14" name="Shape 11">
            <a:extLst xmlns:a="http://schemas.openxmlformats.org/drawingml/2006/main">
              <a:ext uri="{FF2B5EF4-FFF2-40B4-BE49-F238E27FC236}">
                <a16:creationId xmlns:a16="http://schemas.microsoft.com/office/drawing/2014/main" id="{E878C663-1427-4DB6-8920-EE2FBCB808E0}"/>
              </a:ext>
            </a:extLst>
          </p:cNvPr>
          <p:cNvSpPr>
            <a:spLocks xmlns:a="http://schemas.openxmlformats.org/drawingml/2006/main" noGrp="1"/>
          </p:cNvSpPr>
          <p:nvPr/>
        </p:nvSpPr>
        <p:spPr>
          <a:xfrm xmlns:a="http://schemas.openxmlformats.org/drawingml/2006/main">
            <a:off x="5138928" y="2331720"/>
            <a:ext cx="0" cy="2587752"/>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15" name="Text 12">
            <a:extLst xmlns:a="http://schemas.openxmlformats.org/drawingml/2006/main">
              <a:ext uri="{FF2B5EF4-FFF2-40B4-BE49-F238E27FC236}">
                <a16:creationId xmlns:a16="http://schemas.microsoft.com/office/drawing/2014/main" id="{204AD369-DE50-4A91-9F7E-BD881D2720DD}"/>
              </a:ext>
            </a:extLst>
          </p:cNvPr>
          <p:cNvSpPr>
            <a:spLocks xmlns:a="http://schemas.openxmlformats.org/drawingml/2006/main" noGrp="1"/>
          </p:cNvSpPr>
          <p:nvPr/>
        </p:nvSpPr>
        <p:spPr>
          <a:xfrm xmlns:a="http://schemas.openxmlformats.org/drawingml/2006/main">
            <a:off x="5705856" y="2651760"/>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b="1">
                <a:solidFill>
                  <a:srgbClr val="A6A9A2"/>
                </a:solidFill>
                <a:latin typeface="JetBrains Mono"/>
                <a:ea typeface="JetBrains Mono"/>
                <a:cs typeface="JetBrains Mono"/>
              </a:rPr>
              <a:t>TAM</a:t>
            </a:r>
            <a:endParaRPr sz="900"/>
          </a:p>
        </p:txBody>
      </p:sp>
      <p:sp>
        <p:nvSpPr>
          <p:cNvPr id="16" name="Shape 13">
            <a:extLst xmlns:a="http://schemas.openxmlformats.org/drawingml/2006/main">
              <a:ext uri="{FF2B5EF4-FFF2-40B4-BE49-F238E27FC236}">
                <a16:creationId xmlns:a16="http://schemas.microsoft.com/office/drawing/2014/main" id="{FE0C6E80-0184-4287-8DD1-5C8E50F55C63}"/>
              </a:ext>
            </a:extLst>
          </p:cNvPr>
          <p:cNvSpPr>
            <a:spLocks xmlns:a="http://schemas.openxmlformats.org/drawingml/2006/main" noGrp="1"/>
          </p:cNvSpPr>
          <p:nvPr/>
        </p:nvSpPr>
        <p:spPr>
          <a:xfrm xmlns:a="http://schemas.openxmlformats.org/drawingml/2006/main">
            <a:off x="6720840" y="2651760"/>
            <a:ext cx="4133088" cy="256032"/>
          </a:xfrm>
          <a:prstGeom xmlns:a="http://schemas.openxmlformats.org/drawingml/2006/main" prst="roundRect">
            <a:avLst>
              <a:gd name="adj" fmla="val 42857"/>
            </a:avLst>
          </a:prstGeom>
          <a:solidFill xmlns:a="http://schemas.openxmlformats.org/drawingml/2006/main">
            <a:srgbClr val="171C1C"/>
          </a:solidFill>
          <a:ln xmlns:a="http://schemas.openxmlformats.org/drawingml/2006/main" w="12700">
            <a:solidFill>
              <a:srgbClr val="050505">
                <a:alpha val="0"/>
              </a:srgbClr>
            </a:solidFill>
            <a:prstDash val="solid"/>
          </a:ln>
        </p:spPr>
      </p:sp>
      <p:sp>
        <p:nvSpPr>
          <p:cNvPr id="17" name="Shape 14">
            <a:extLst xmlns:a="http://schemas.openxmlformats.org/drawingml/2006/main">
              <a:ext uri="{FF2B5EF4-FFF2-40B4-BE49-F238E27FC236}">
                <a16:creationId xmlns:a16="http://schemas.microsoft.com/office/drawing/2014/main" id="{70EAC6E4-7815-4E5C-9E32-54B40EE2328D}"/>
              </a:ext>
            </a:extLst>
          </p:cNvPr>
          <p:cNvSpPr>
            <a:spLocks xmlns:a="http://schemas.openxmlformats.org/drawingml/2006/main" noGrp="1"/>
          </p:cNvSpPr>
          <p:nvPr/>
        </p:nvSpPr>
        <p:spPr>
          <a:xfrm xmlns:a="http://schemas.openxmlformats.org/drawingml/2006/main">
            <a:off x="6720840" y="2651760"/>
            <a:ext cx="4754880" cy="256032"/>
          </a:xfrm>
          <a:prstGeom xmlns:a="http://schemas.openxmlformats.org/drawingml/2006/main" prst="roundRect">
            <a:avLst>
              <a:gd name="adj" fmla="val 42857"/>
            </a:avLst>
          </a:prstGeom>
          <a:solidFill xmlns:a="http://schemas.openxmlformats.org/drawingml/2006/main">
            <a:srgbClr val="CCFF00"/>
          </a:solidFill>
          <a:ln xmlns:a="http://schemas.openxmlformats.org/drawingml/2006/main" w="12700">
            <a:solidFill>
              <a:srgbClr val="050505">
                <a:alpha val="0"/>
              </a:srgbClr>
            </a:solidFill>
            <a:prstDash val="solid"/>
          </a:ln>
        </p:spPr>
      </p:sp>
      <p:sp>
        <p:nvSpPr>
          <p:cNvPr id="18" name="Text 15">
            <a:extLst xmlns:a="http://schemas.openxmlformats.org/drawingml/2006/main">
              <a:ext uri="{FF2B5EF4-FFF2-40B4-BE49-F238E27FC236}">
                <a16:creationId xmlns:a16="http://schemas.microsoft.com/office/drawing/2014/main" id="{6B2BF177-B763-4E1A-B226-966CDBE2FB54}"/>
              </a:ext>
            </a:extLst>
          </p:cNvPr>
          <p:cNvSpPr>
            <a:spLocks xmlns:a="http://schemas.openxmlformats.org/drawingml/2006/main" noGrp="1"/>
          </p:cNvSpPr>
          <p:nvPr/>
        </p:nvSpPr>
        <p:spPr>
          <a:xfrm xmlns:a="http://schemas.openxmlformats.org/drawingml/2006/main">
            <a:off x="5705856" y="2962656"/>
            <a:ext cx="25603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200" b="1">
                <a:solidFill>
                  <a:srgbClr val="CCFF00"/>
                </a:solidFill>
                <a:latin typeface="Inter"/>
                <a:ea typeface="Inter"/>
                <a:cs typeface="Inter"/>
              </a:rPr>
              <a:t>$3–5B</a:t>
            </a:r>
            <a:endParaRPr sz="1200"/>
          </a:p>
        </p:txBody>
      </p:sp>
      <p:sp>
        <p:nvSpPr>
          <p:cNvPr id="19" name="Text 16">
            <a:extLst xmlns:a="http://schemas.openxmlformats.org/drawingml/2006/main">
              <a:ext uri="{FF2B5EF4-FFF2-40B4-BE49-F238E27FC236}">
                <a16:creationId xmlns:a16="http://schemas.microsoft.com/office/drawing/2014/main" id="{B31EA8CC-4EEF-4613-AACA-48E5995D3BC2}"/>
              </a:ext>
            </a:extLst>
          </p:cNvPr>
          <p:cNvSpPr>
            <a:spLocks xmlns:a="http://schemas.openxmlformats.org/drawingml/2006/main" noGrp="1"/>
          </p:cNvSpPr>
          <p:nvPr/>
        </p:nvSpPr>
        <p:spPr>
          <a:xfrm xmlns:a="http://schemas.openxmlformats.org/drawingml/2006/main">
            <a:off x="8366760" y="2962656"/>
            <a:ext cx="248716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a:solidFill>
                  <a:srgbClr val="A6A9A2"/>
                </a:solidFill>
                <a:latin typeface="IBM Plex Sans"/>
                <a:ea typeface="IBM Plex Sans"/>
                <a:cs typeface="IBM Plex Sans"/>
              </a:rPr>
              <a:t>Broad mission-data + infrastructure category</a:t>
            </a:r>
            <a:endParaRPr sz="800"/>
          </a:p>
        </p:txBody>
      </p:sp>
      <p:sp>
        <p:nvSpPr>
          <p:cNvPr id="20" name="Text 17">
            <a:extLst xmlns:a="http://schemas.openxmlformats.org/drawingml/2006/main">
              <a:ext uri="{FF2B5EF4-FFF2-40B4-BE49-F238E27FC236}">
                <a16:creationId xmlns:a16="http://schemas.microsoft.com/office/drawing/2014/main" id="{2009952A-2FF8-48DC-BBB4-4ED105CC40E4}"/>
              </a:ext>
            </a:extLst>
          </p:cNvPr>
          <p:cNvSpPr>
            <a:spLocks xmlns:a="http://schemas.openxmlformats.org/drawingml/2006/main" noGrp="1"/>
          </p:cNvSpPr>
          <p:nvPr/>
        </p:nvSpPr>
        <p:spPr>
          <a:xfrm xmlns:a="http://schemas.openxmlformats.org/drawingml/2006/main">
            <a:off x="5705856" y="3401568"/>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b="1">
                <a:solidFill>
                  <a:srgbClr val="A6A9A2"/>
                </a:solidFill>
                <a:latin typeface="JetBrains Mono"/>
                <a:ea typeface="JetBrains Mono"/>
                <a:cs typeface="JetBrains Mono"/>
              </a:rPr>
              <a:t>SAM</a:t>
            </a:r>
            <a:endParaRPr sz="900"/>
          </a:p>
        </p:txBody>
      </p:sp>
      <p:sp>
        <p:nvSpPr>
          <p:cNvPr id="21" name="Shape 18">
            <a:extLst xmlns:a="http://schemas.openxmlformats.org/drawingml/2006/main">
              <a:ext uri="{FF2B5EF4-FFF2-40B4-BE49-F238E27FC236}">
                <a16:creationId xmlns:a16="http://schemas.microsoft.com/office/drawing/2014/main" id="{5ADEC10D-E759-454A-B630-B74F0DB7F3F4}"/>
              </a:ext>
            </a:extLst>
          </p:cNvPr>
          <p:cNvSpPr>
            <a:spLocks xmlns:a="http://schemas.openxmlformats.org/drawingml/2006/main" noGrp="1"/>
          </p:cNvSpPr>
          <p:nvPr/>
        </p:nvSpPr>
        <p:spPr>
          <a:xfrm xmlns:a="http://schemas.openxmlformats.org/drawingml/2006/main">
            <a:off x="6720840" y="3401568"/>
            <a:ext cx="4133088" cy="256032"/>
          </a:xfrm>
          <a:prstGeom xmlns:a="http://schemas.openxmlformats.org/drawingml/2006/main" prst="roundRect">
            <a:avLst>
              <a:gd name="adj" fmla="val 42857"/>
            </a:avLst>
          </a:prstGeom>
          <a:solidFill xmlns:a="http://schemas.openxmlformats.org/drawingml/2006/main">
            <a:srgbClr val="171C1C"/>
          </a:solidFill>
          <a:ln xmlns:a="http://schemas.openxmlformats.org/drawingml/2006/main" w="12700">
            <a:solidFill>
              <a:srgbClr val="050505">
                <a:alpha val="0"/>
              </a:srgbClr>
            </a:solidFill>
            <a:prstDash val="solid"/>
          </a:ln>
        </p:spPr>
      </p:sp>
      <p:sp>
        <p:nvSpPr>
          <p:cNvPr id="22" name="Shape 19">
            <a:extLst xmlns:a="http://schemas.openxmlformats.org/drawingml/2006/main">
              <a:ext uri="{FF2B5EF4-FFF2-40B4-BE49-F238E27FC236}">
                <a16:creationId xmlns:a16="http://schemas.microsoft.com/office/drawing/2014/main" id="{CFF77215-5D21-49F6-A1D5-BC67044D2789}"/>
              </a:ext>
            </a:extLst>
          </p:cNvPr>
          <p:cNvSpPr>
            <a:spLocks xmlns:a="http://schemas.openxmlformats.org/drawingml/2006/main" noGrp="1"/>
          </p:cNvSpPr>
          <p:nvPr/>
        </p:nvSpPr>
        <p:spPr>
          <a:xfrm xmlns:a="http://schemas.openxmlformats.org/drawingml/2006/main">
            <a:off x="6720840" y="3401568"/>
            <a:ext cx="2743200" cy="256032"/>
          </a:xfrm>
          <a:prstGeom xmlns:a="http://schemas.openxmlformats.org/drawingml/2006/main" prst="roundRect">
            <a:avLst>
              <a:gd name="adj" fmla="val 42857"/>
            </a:avLst>
          </a:prstGeom>
          <a:solidFill xmlns:a="http://schemas.openxmlformats.org/drawingml/2006/main">
            <a:srgbClr val="E7B14A"/>
          </a:solidFill>
          <a:ln xmlns:a="http://schemas.openxmlformats.org/drawingml/2006/main" w="12700">
            <a:solidFill>
              <a:srgbClr val="050505">
                <a:alpha val="0"/>
              </a:srgbClr>
            </a:solidFill>
            <a:prstDash val="solid"/>
          </a:ln>
        </p:spPr>
      </p:sp>
      <p:sp>
        <p:nvSpPr>
          <p:cNvPr id="23" name="Text 20">
            <a:extLst xmlns:a="http://schemas.openxmlformats.org/drawingml/2006/main">
              <a:ext uri="{FF2B5EF4-FFF2-40B4-BE49-F238E27FC236}">
                <a16:creationId xmlns:a16="http://schemas.microsoft.com/office/drawing/2014/main" id="{A738CA7F-7D26-43D2-8D40-8E5AB1C2C5B2}"/>
              </a:ext>
            </a:extLst>
          </p:cNvPr>
          <p:cNvSpPr>
            <a:spLocks xmlns:a="http://schemas.openxmlformats.org/drawingml/2006/main" noGrp="1"/>
          </p:cNvSpPr>
          <p:nvPr/>
        </p:nvSpPr>
        <p:spPr>
          <a:xfrm xmlns:a="http://schemas.openxmlformats.org/drawingml/2006/main">
            <a:off x="5705856" y="3712464"/>
            <a:ext cx="25603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200" b="1">
                <a:solidFill>
                  <a:srgbClr val="E7B14A"/>
                </a:solidFill>
                <a:latin typeface="Inter"/>
                <a:ea typeface="Inter"/>
                <a:cs typeface="Inter"/>
              </a:rPr>
              <a:t>$900M–$1.75B</a:t>
            </a:r>
            <a:endParaRPr sz="1200"/>
          </a:p>
        </p:txBody>
      </p:sp>
      <p:sp>
        <p:nvSpPr>
          <p:cNvPr id="24" name="Text 21">
            <a:extLst xmlns:a="http://schemas.openxmlformats.org/drawingml/2006/main">
              <a:ext uri="{FF2B5EF4-FFF2-40B4-BE49-F238E27FC236}">
                <a16:creationId xmlns:a16="http://schemas.microsoft.com/office/drawing/2014/main" id="{051C2C6F-1E49-425F-8F34-4112A100E612}"/>
              </a:ext>
            </a:extLst>
          </p:cNvPr>
          <p:cNvSpPr>
            <a:spLocks xmlns:a="http://schemas.openxmlformats.org/drawingml/2006/main" noGrp="1"/>
          </p:cNvSpPr>
          <p:nvPr/>
        </p:nvSpPr>
        <p:spPr>
          <a:xfrm xmlns:a="http://schemas.openxmlformats.org/drawingml/2006/main">
            <a:off x="8366760" y="3712464"/>
            <a:ext cx="248716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a:solidFill>
                  <a:srgbClr val="A6A9A2"/>
                </a:solidFill>
                <a:latin typeface="IBM Plex Sans"/>
                <a:ea typeface="IBM Plex Sans"/>
                <a:cs typeface="IBM Plex Sans"/>
              </a:rPr>
              <a:t>Initial ground and distributed-space wedge</a:t>
            </a:r>
            <a:endParaRPr sz="800"/>
          </a:p>
        </p:txBody>
      </p:sp>
      <p:sp>
        <p:nvSpPr>
          <p:cNvPr id="25" name="Text 22">
            <a:extLst xmlns:a="http://schemas.openxmlformats.org/drawingml/2006/main">
              <a:ext uri="{FF2B5EF4-FFF2-40B4-BE49-F238E27FC236}">
                <a16:creationId xmlns:a16="http://schemas.microsoft.com/office/drawing/2014/main" id="{DF12C80F-81B0-4F16-BCD2-18C670B3C334}"/>
              </a:ext>
            </a:extLst>
          </p:cNvPr>
          <p:cNvSpPr>
            <a:spLocks xmlns:a="http://schemas.openxmlformats.org/drawingml/2006/main" noGrp="1"/>
          </p:cNvSpPr>
          <p:nvPr/>
        </p:nvSpPr>
        <p:spPr>
          <a:xfrm xmlns:a="http://schemas.openxmlformats.org/drawingml/2006/main">
            <a:off x="5705856" y="4151376"/>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b="1">
                <a:solidFill>
                  <a:srgbClr val="A6A9A2"/>
                </a:solidFill>
                <a:latin typeface="JetBrains Mono"/>
                <a:ea typeface="JetBrains Mono"/>
                <a:cs typeface="JetBrains Mono"/>
              </a:rPr>
              <a:t>SOM</a:t>
            </a:r>
            <a:endParaRPr sz="900"/>
          </a:p>
        </p:txBody>
      </p:sp>
      <p:sp>
        <p:nvSpPr>
          <p:cNvPr id="26" name="Shape 23">
            <a:extLst xmlns:a="http://schemas.openxmlformats.org/drawingml/2006/main">
              <a:ext uri="{FF2B5EF4-FFF2-40B4-BE49-F238E27FC236}">
                <a16:creationId xmlns:a16="http://schemas.microsoft.com/office/drawing/2014/main" id="{405E4E24-305C-4062-BA29-C435C21E9BD4}"/>
              </a:ext>
            </a:extLst>
          </p:cNvPr>
          <p:cNvSpPr>
            <a:spLocks xmlns:a="http://schemas.openxmlformats.org/drawingml/2006/main" noGrp="1"/>
          </p:cNvSpPr>
          <p:nvPr/>
        </p:nvSpPr>
        <p:spPr>
          <a:xfrm xmlns:a="http://schemas.openxmlformats.org/drawingml/2006/main">
            <a:off x="6720840" y="4151376"/>
            <a:ext cx="4133088" cy="256032"/>
          </a:xfrm>
          <a:prstGeom xmlns:a="http://schemas.openxmlformats.org/drawingml/2006/main" prst="roundRect">
            <a:avLst>
              <a:gd name="adj" fmla="val 42857"/>
            </a:avLst>
          </a:prstGeom>
          <a:solidFill xmlns:a="http://schemas.openxmlformats.org/drawingml/2006/main">
            <a:srgbClr val="171C1C"/>
          </a:solidFill>
          <a:ln xmlns:a="http://schemas.openxmlformats.org/drawingml/2006/main" w="12700">
            <a:solidFill>
              <a:srgbClr val="050505">
                <a:alpha val="0"/>
              </a:srgbClr>
            </a:solidFill>
            <a:prstDash val="solid"/>
          </a:ln>
        </p:spPr>
      </p:sp>
      <p:sp>
        <p:nvSpPr>
          <p:cNvPr id="27" name="Shape 24">
            <a:extLst xmlns:a="http://schemas.openxmlformats.org/drawingml/2006/main">
              <a:ext uri="{FF2B5EF4-FFF2-40B4-BE49-F238E27FC236}">
                <a16:creationId xmlns:a16="http://schemas.microsoft.com/office/drawing/2014/main" id="{619071F3-516C-4645-99F4-91370A4FAADD}"/>
              </a:ext>
            </a:extLst>
          </p:cNvPr>
          <p:cNvSpPr>
            <a:spLocks xmlns:a="http://schemas.openxmlformats.org/drawingml/2006/main" noGrp="1"/>
          </p:cNvSpPr>
          <p:nvPr/>
        </p:nvSpPr>
        <p:spPr>
          <a:xfrm xmlns:a="http://schemas.openxmlformats.org/drawingml/2006/main">
            <a:off x="6720840" y="4151376"/>
            <a:ext cx="768096" cy="256032"/>
          </a:xfrm>
          <a:prstGeom xmlns:a="http://schemas.openxmlformats.org/drawingml/2006/main" prst="roundRect">
            <a:avLst>
              <a:gd name="adj" fmla="val 42857"/>
            </a:avLst>
          </a:prstGeom>
          <a:solidFill xmlns:a="http://schemas.openxmlformats.org/drawingml/2006/main">
            <a:srgbClr val="F3F0E8"/>
          </a:solidFill>
          <a:ln xmlns:a="http://schemas.openxmlformats.org/drawingml/2006/main" w="12700">
            <a:solidFill>
              <a:srgbClr val="050505">
                <a:alpha val="0"/>
              </a:srgbClr>
            </a:solidFill>
            <a:prstDash val="solid"/>
          </a:ln>
        </p:spPr>
      </p:sp>
      <p:sp>
        <p:nvSpPr>
          <p:cNvPr id="28" name="Text 25">
            <a:extLst xmlns:a="http://schemas.openxmlformats.org/drawingml/2006/main">
              <a:ext uri="{FF2B5EF4-FFF2-40B4-BE49-F238E27FC236}">
                <a16:creationId xmlns:a16="http://schemas.microsoft.com/office/drawing/2014/main" id="{30766A76-EF4D-4EC9-83C5-A0F0EE1324DF}"/>
              </a:ext>
            </a:extLst>
          </p:cNvPr>
          <p:cNvSpPr>
            <a:spLocks xmlns:a="http://schemas.openxmlformats.org/drawingml/2006/main" noGrp="1"/>
          </p:cNvSpPr>
          <p:nvPr/>
        </p:nvSpPr>
        <p:spPr>
          <a:xfrm xmlns:a="http://schemas.openxmlformats.org/drawingml/2006/main">
            <a:off x="5705856" y="4462272"/>
            <a:ext cx="25603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200" b="1">
                <a:solidFill>
                  <a:srgbClr val="F3F0E8"/>
                </a:solidFill>
                <a:latin typeface="Inter"/>
                <a:ea typeface="Inter"/>
                <a:cs typeface="Inter"/>
              </a:rPr>
              <a:t>$500k ARR</a:t>
            </a:r>
            <a:endParaRPr sz="1200"/>
          </a:p>
        </p:txBody>
      </p:sp>
      <p:sp>
        <p:nvSpPr>
          <p:cNvPr id="29" name="Text 26">
            <a:extLst xmlns:a="http://schemas.openxmlformats.org/drawingml/2006/main">
              <a:ext uri="{FF2B5EF4-FFF2-40B4-BE49-F238E27FC236}">
                <a16:creationId xmlns:a16="http://schemas.microsoft.com/office/drawing/2014/main" id="{A647BDEF-759F-472C-80E7-34AFEFB62311}"/>
              </a:ext>
            </a:extLst>
          </p:cNvPr>
          <p:cNvSpPr>
            <a:spLocks xmlns:a="http://schemas.openxmlformats.org/drawingml/2006/main" noGrp="1"/>
          </p:cNvSpPr>
          <p:nvPr/>
        </p:nvSpPr>
        <p:spPr>
          <a:xfrm xmlns:a="http://schemas.openxmlformats.org/drawingml/2006/main">
            <a:off x="8366760" y="4462272"/>
            <a:ext cx="248716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a:solidFill>
                  <a:srgbClr val="A6A9A2"/>
                </a:solidFill>
                <a:latin typeface="IBM Plex Sans"/>
                <a:ea typeface="IBM Plex Sans"/>
                <a:cs typeface="IBM Plex Sans"/>
              </a:rPr>
              <a:t>Five $100k fleet accounts</a:t>
            </a:r>
            <a:endParaRPr sz="800"/>
          </a:p>
        </p:txBody>
      </p:sp>
      <p:sp>
        <p:nvSpPr>
          <p:cNvPr id="30" name="Text 27">
            <a:extLst xmlns:a="http://schemas.openxmlformats.org/drawingml/2006/main">
              <a:ext uri="{FF2B5EF4-FFF2-40B4-BE49-F238E27FC236}">
                <a16:creationId xmlns:a16="http://schemas.microsoft.com/office/drawing/2014/main" id="{4106FA87-DCB6-4964-8A43-5D15DF0EB26F}"/>
              </a:ext>
            </a:extLst>
          </p:cNvPr>
          <p:cNvSpPr>
            <a:spLocks xmlns:a="http://schemas.openxmlformats.org/drawingml/2006/main" noGrp="1"/>
          </p:cNvSpPr>
          <p:nvPr/>
        </p:nvSpPr>
        <p:spPr>
          <a:xfrm xmlns:a="http://schemas.openxmlformats.org/drawingml/2006/main">
            <a:off x="5705856" y="4736592"/>
            <a:ext cx="52120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300" b="1">
                <a:solidFill>
                  <a:srgbClr val="F3F0E8"/>
                </a:solidFill>
                <a:latin typeface="Inter"/>
                <a:ea typeface="Inter"/>
                <a:cs typeface="Inter"/>
              </a:rPr>
              <a:t>SOM is deliberately operational: five $100k fleet accounts, not a speculative share of a trillion-dollar category.</a:t>
            </a:r>
            <a:endParaRPr sz="1300"/>
          </a:p>
        </p:txBody>
      </p:sp>
      <p:sp>
        <p:nvSpPr>
          <p:cNvPr id="32" name="Slide Number Placeholder 0">
            <a:extLst xmlns:a="http://schemas.openxmlformats.org/drawingml/2006/main">
              <a:ext uri="{FF2B5EF4-FFF2-40B4-BE49-F238E27FC236}">
                <a16:creationId xmlns:a16="http://schemas.microsoft.com/office/drawing/2014/main" id="{80D349C5-E354-4A28-B6C4-B64533ED1C2A}"/>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7</a:t>
            </a:fld>
            <a:endParaRPr/>
          </a:p>
        </p:txBody>
      </p:sp>
    </p:spTree>
    <p:extLst>
      <p:ext uri="{BB962C8B-B14F-4D97-AF65-F5344CB8AC3E}">
        <p14:creationId xmlns:p14="http://schemas.microsoft.com/office/powerpoint/2010/main" val="926918407"/>
      </p:ext>
    </p:extLst>
  </p:cSld>
</p:sld>
</file>

<file path=ppt/slides/slide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1A58A04-BD85-4082-9CF2-2AD63F4844D3}"/>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3" name="Text 1">
            <a:extLst xmlns:a="http://schemas.openxmlformats.org/drawingml/2006/main">
              <a:ext uri="{FF2B5EF4-FFF2-40B4-BE49-F238E27FC236}">
                <a16:creationId xmlns:a16="http://schemas.microsoft.com/office/drawing/2014/main" id="{8B3ADECB-279E-4F13-AA6E-88A462AA3AF8}"/>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COMMERCIAL</a:t>
            </a:r>
            <a:endParaRPr sz="800"/>
          </a:p>
        </p:txBody>
      </p:sp>
      <p:sp>
        <p:nvSpPr>
          <p:cNvPr id="4" name="Text 2">
            <a:extLst xmlns:a="http://schemas.openxmlformats.org/drawingml/2006/main">
              <a:ext uri="{FF2B5EF4-FFF2-40B4-BE49-F238E27FC236}">
                <a16:creationId xmlns:a16="http://schemas.microsoft.com/office/drawing/2014/main" id="{D113A158-B305-42AD-A23F-454B85FC90E8}"/>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08</a:t>
            </a:r>
            <a:endParaRPr sz="800"/>
          </a:p>
        </p:txBody>
      </p:sp>
      <p:sp>
        <p:nvSpPr>
          <p:cNvPr id="5" name="Shape 3">
            <a:extLst xmlns:a="http://schemas.openxmlformats.org/drawingml/2006/main">
              <a:ext uri="{FF2B5EF4-FFF2-40B4-BE49-F238E27FC236}">
                <a16:creationId xmlns:a16="http://schemas.microsoft.com/office/drawing/2014/main" id="{AE7E2189-6260-4D5E-811C-34FE5D20DCA1}"/>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6" name="Text 4">
            <a:extLst xmlns:a="http://schemas.openxmlformats.org/drawingml/2006/main">
              <a:ext uri="{FF2B5EF4-FFF2-40B4-BE49-F238E27FC236}">
                <a16:creationId xmlns:a16="http://schemas.microsoft.com/office/drawing/2014/main" id="{C77BE3E3-2F53-451D-9ADD-3F05F335BDA3}"/>
              </a:ext>
            </a:extLst>
          </p:cNvPr>
          <p:cNvSpPr>
            <a:spLocks xmlns:a="http://schemas.openxmlformats.org/drawingml/2006/main" noGrp="1"/>
          </p:cNvSpPr>
          <p:nvPr/>
        </p:nvSpPr>
        <p:spPr>
          <a:xfrm xmlns:a="http://schemas.openxmlformats.org/drawingml/2006/main">
            <a:off x="685800" y="932688"/>
            <a:ext cx="106984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800" b="1">
                <a:solidFill>
                  <a:srgbClr val="F3F0E8"/>
                </a:solidFill>
                <a:latin typeface="Inter"/>
                <a:ea typeface="Inter"/>
                <a:cs typeface="Inter"/>
              </a:rPr>
              <a:t>Five fleet accounts can establish the first $500k ARR base.</a:t>
            </a:r>
            <a:endParaRPr sz="2800"/>
          </a:p>
        </p:txBody>
      </p:sp>
      <p:sp>
        <p:nvSpPr>
          <p:cNvPr id="7" name="Text 5">
            <a:extLst xmlns:a="http://schemas.openxmlformats.org/drawingml/2006/main">
              <a:ext uri="{FF2B5EF4-FFF2-40B4-BE49-F238E27FC236}">
                <a16:creationId xmlns:a16="http://schemas.microsoft.com/office/drawing/2014/main" id="{1FF6E996-5ACD-4D4B-850E-EB41A55D45D6}"/>
              </a:ext>
            </a:extLst>
          </p:cNvPr>
          <p:cNvSpPr>
            <a:spLocks xmlns:a="http://schemas.openxmlformats.org/drawingml/2006/main" noGrp="1"/>
          </p:cNvSpPr>
          <p:nvPr/>
        </p:nvSpPr>
        <p:spPr>
          <a:xfrm xmlns:a="http://schemas.openxmlformats.org/drawingml/2006/main">
            <a:off x="685800" y="1472184"/>
            <a:ext cx="10287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500">
                <a:solidFill>
                  <a:srgbClr val="A6A9A2"/>
                </a:solidFill>
                <a:latin typeface="IBM Plex Sans"/>
                <a:ea typeface="IBM Plex Sans"/>
                <a:cs typeface="IBM Plex Sans"/>
              </a:rPr>
              <a:t>Charge for the platform annually; keep implementation and flight engineering outside ARR.</a:t>
            </a:r>
            <a:endParaRPr sz="1500"/>
          </a:p>
        </p:txBody>
      </p:sp>
      <p:sp>
        <p:nvSpPr>
          <p:cNvPr id="8" name="Text 6">
            <a:extLst xmlns:a="http://schemas.openxmlformats.org/drawingml/2006/main">
              <a:ext uri="{FF2B5EF4-FFF2-40B4-BE49-F238E27FC236}">
                <a16:creationId xmlns:a16="http://schemas.microsoft.com/office/drawing/2014/main" id="{D18286FA-1A8D-4C81-842B-322191E40039}"/>
              </a:ext>
            </a:extLst>
          </p:cNvPr>
          <p:cNvSpPr>
            <a:spLocks xmlns:a="http://schemas.openxmlformats.org/drawingml/2006/main" noGrp="1"/>
          </p:cNvSpPr>
          <p:nvPr/>
        </p:nvSpPr>
        <p:spPr>
          <a:xfrm xmlns:a="http://schemas.openxmlformats.org/drawingml/2006/main">
            <a:off x="685800" y="2103120"/>
            <a:ext cx="17373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CCFF00"/>
                </a:solidFill>
                <a:latin typeface="JetBrains Mono"/>
                <a:ea typeface="JetBrains Mono"/>
                <a:cs typeface="JetBrains Mono"/>
              </a:rPr>
              <a:t>REVENUE STACK</a:t>
            </a:r>
            <a:endParaRPr sz="800"/>
          </a:p>
        </p:txBody>
      </p:sp>
      <p:sp>
        <p:nvSpPr>
          <p:cNvPr id="9" name="Text 7">
            <a:extLst xmlns:a="http://schemas.openxmlformats.org/drawingml/2006/main">
              <a:ext uri="{FF2B5EF4-FFF2-40B4-BE49-F238E27FC236}">
                <a16:creationId xmlns:a16="http://schemas.microsoft.com/office/drawing/2014/main" id="{19C8FB36-F708-4586-AD7B-C7C4238F459F}"/>
              </a:ext>
            </a:extLst>
          </p:cNvPr>
          <p:cNvSpPr>
            <a:spLocks xmlns:a="http://schemas.openxmlformats.org/drawingml/2006/main" noGrp="1"/>
          </p:cNvSpPr>
          <p:nvPr/>
        </p:nvSpPr>
        <p:spPr>
          <a:xfrm xmlns:a="http://schemas.openxmlformats.org/drawingml/2006/main">
            <a:off x="2359152" y="2057400"/>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CCFF00"/>
                </a:solidFill>
                <a:latin typeface="JetBrains Mono"/>
                <a:ea typeface="JetBrains Mono"/>
                <a:cs typeface="JetBrains Mono"/>
              </a:rPr>
              <a:t>◒</a:t>
            </a:r>
            <a:endParaRPr sz="1400"/>
          </a:p>
        </p:txBody>
      </p:sp>
      <p:graphicFrame>
        <p:nvGraphicFramePr>
          <p:cNvPr id="39" name="Chart 0"/>
          <p:cNvGraphicFramePr/>
          <p:nvPr/>
        </p:nvGraphicFramePr>
        <p:xfrm>
          <a:off xmlns:a="http://schemas.openxmlformats.org/drawingml/2006/main" x="685800" y="2450592"/>
          <a:ext xmlns:a="http://schemas.openxmlformats.org/drawingml/2006/main" cx="5623560" cy="2651760"/>
        </p:xfrm>
        <a:graphic xmlns:a="http://schemas.openxmlformats.org/drawingml/2006/main">
          <a:graphicData uri="http://schemas.openxmlformats.org/drawingml/2006/chart">
            <c:chart xmlns:r="http://schemas.openxmlformats.org/officeDocument/2006/relationships" xmlns:c="http://schemas.openxmlformats.org/drawingml/2006/chart" r:id="Rabc46b6939a8473c"/>
          </a:graphicData>
        </a:graphic>
      </p:graphicFrame>
      <p:sp>
        <p:nvSpPr>
          <p:cNvPr id="11" name="Text 8">
            <a:extLst xmlns:a="http://schemas.openxmlformats.org/drawingml/2006/main">
              <a:ext uri="{FF2B5EF4-FFF2-40B4-BE49-F238E27FC236}">
                <a16:creationId xmlns:a16="http://schemas.microsoft.com/office/drawing/2014/main" id="{A0FE0D0A-FDF9-49CF-BBAD-9EAB32F57C39}"/>
              </a:ext>
            </a:extLst>
          </p:cNvPr>
          <p:cNvSpPr>
            <a:spLocks xmlns:a="http://schemas.openxmlformats.org/drawingml/2006/main" noGrp="1"/>
          </p:cNvSpPr>
          <p:nvPr/>
        </p:nvSpPr>
        <p:spPr>
          <a:xfrm xmlns:a="http://schemas.openxmlformats.org/drawingml/2006/main">
            <a:off x="685800" y="5257800"/>
            <a:ext cx="2926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a:solidFill>
                  <a:srgbClr val="A6A9A2"/>
                </a:solidFill>
                <a:latin typeface="JetBrains Mono"/>
                <a:ea typeface="JetBrains Mono"/>
                <a:cs typeface="JetBrains Mono"/>
              </a:rPr>
              <a:t>$k ARR / annualized contract value</a:t>
            </a:r>
            <a:endParaRPr sz="800"/>
          </a:p>
        </p:txBody>
      </p:sp>
      <p:sp>
        <p:nvSpPr>
          <p:cNvPr id="12" name="Shape 9">
            <a:extLst xmlns:a="http://schemas.openxmlformats.org/drawingml/2006/main">
              <a:ext uri="{FF2B5EF4-FFF2-40B4-BE49-F238E27FC236}">
                <a16:creationId xmlns:a16="http://schemas.microsoft.com/office/drawing/2014/main" id="{CAD7B660-7CFA-4B01-9AF9-E4A2A0C3F168}"/>
              </a:ext>
            </a:extLst>
          </p:cNvPr>
          <p:cNvSpPr>
            <a:spLocks xmlns:a="http://schemas.openxmlformats.org/drawingml/2006/main" noGrp="1"/>
          </p:cNvSpPr>
          <p:nvPr/>
        </p:nvSpPr>
        <p:spPr>
          <a:xfrm xmlns:a="http://schemas.openxmlformats.org/drawingml/2006/main">
            <a:off x="7269480" y="2971800"/>
            <a:ext cx="423367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13" name="Text 10">
            <a:extLst xmlns:a="http://schemas.openxmlformats.org/drawingml/2006/main">
              <a:ext uri="{FF2B5EF4-FFF2-40B4-BE49-F238E27FC236}">
                <a16:creationId xmlns:a16="http://schemas.microsoft.com/office/drawing/2014/main" id="{81467B98-9B99-4D31-A46E-AC4C7FD7F3D0}"/>
              </a:ext>
            </a:extLst>
          </p:cNvPr>
          <p:cNvSpPr>
            <a:spLocks xmlns:a="http://schemas.openxmlformats.org/drawingml/2006/main" noGrp="1"/>
          </p:cNvSpPr>
          <p:nvPr/>
        </p:nvSpPr>
        <p:spPr>
          <a:xfrm xmlns:a="http://schemas.openxmlformats.org/drawingml/2006/main">
            <a:off x="7269480" y="2468880"/>
            <a:ext cx="1691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300" b="1">
                <a:solidFill>
                  <a:srgbClr val="F3F0E8"/>
                </a:solidFill>
                <a:latin typeface="Inter"/>
                <a:ea typeface="Inter"/>
                <a:cs typeface="Inter"/>
              </a:rPr>
              <a:t>Paid evaluation</a:t>
            </a:r>
            <a:endParaRPr sz="1300"/>
          </a:p>
        </p:txBody>
      </p:sp>
      <p:sp>
        <p:nvSpPr>
          <p:cNvPr id="14" name="Text 11">
            <a:extLst xmlns:a="http://schemas.openxmlformats.org/drawingml/2006/main">
              <a:ext uri="{FF2B5EF4-FFF2-40B4-BE49-F238E27FC236}">
                <a16:creationId xmlns:a16="http://schemas.microsoft.com/office/drawing/2014/main" id="{707E76B1-2D70-4C53-BFDE-A24D8E1D69DC}"/>
              </a:ext>
            </a:extLst>
          </p:cNvPr>
          <p:cNvSpPr>
            <a:spLocks xmlns:a="http://schemas.openxmlformats.org/drawingml/2006/main" noGrp="1"/>
          </p:cNvSpPr>
          <p:nvPr/>
        </p:nvSpPr>
        <p:spPr>
          <a:xfrm xmlns:a="http://schemas.openxmlformats.org/drawingml/2006/main">
            <a:off x="9464040" y="2468880"/>
            <a:ext cx="20116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1100" b="1">
                <a:solidFill>
                  <a:srgbClr val="E7B14A"/>
                </a:solidFill>
                <a:latin typeface="JetBrains Mono"/>
                <a:ea typeface="JetBrains Mono"/>
                <a:cs typeface="JetBrains Mono"/>
              </a:rPr>
              <a:t>$20k–$35k</a:t>
            </a:r>
            <a:endParaRPr sz="1100"/>
          </a:p>
        </p:txBody>
      </p:sp>
      <p:sp>
        <p:nvSpPr>
          <p:cNvPr id="15" name="Text 12">
            <a:extLst xmlns:a="http://schemas.openxmlformats.org/drawingml/2006/main">
              <a:ext uri="{FF2B5EF4-FFF2-40B4-BE49-F238E27FC236}">
                <a16:creationId xmlns:a16="http://schemas.microsoft.com/office/drawing/2014/main" id="{A9F3D2FD-92C3-48CF-A6EB-D93A3B48B9A3}"/>
              </a:ext>
            </a:extLst>
          </p:cNvPr>
          <p:cNvSpPr>
            <a:spLocks xmlns:a="http://schemas.openxmlformats.org/drawingml/2006/main" noGrp="1"/>
          </p:cNvSpPr>
          <p:nvPr/>
        </p:nvSpPr>
        <p:spPr>
          <a:xfrm xmlns:a="http://schemas.openxmlformats.org/drawingml/2006/main">
            <a:off x="7269480" y="2743200"/>
            <a:ext cx="41605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A6A9A2"/>
                </a:solidFill>
                <a:latin typeface="IBM Plex Sans"/>
                <a:ea typeface="IBM Plex Sans"/>
                <a:cs typeface="IBM Plex Sans"/>
              </a:rPr>
              <a:t>6–10 weeks; credit toward conversion</a:t>
            </a:r>
            <a:endParaRPr sz="900"/>
          </a:p>
        </p:txBody>
      </p:sp>
      <p:sp>
        <p:nvSpPr>
          <p:cNvPr id="16" name="Shape 13">
            <a:extLst xmlns:a="http://schemas.openxmlformats.org/drawingml/2006/main">
              <a:ext uri="{FF2B5EF4-FFF2-40B4-BE49-F238E27FC236}">
                <a16:creationId xmlns:a16="http://schemas.microsoft.com/office/drawing/2014/main" id="{E1E9B7B3-45D6-478C-9976-CB8FCA4B9C14}"/>
              </a:ext>
            </a:extLst>
          </p:cNvPr>
          <p:cNvSpPr>
            <a:spLocks xmlns:a="http://schemas.openxmlformats.org/drawingml/2006/main" noGrp="1"/>
          </p:cNvSpPr>
          <p:nvPr/>
        </p:nvSpPr>
        <p:spPr>
          <a:xfrm xmlns:a="http://schemas.openxmlformats.org/drawingml/2006/main">
            <a:off x="7269480" y="3630168"/>
            <a:ext cx="423367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17" name="Text 14">
            <a:extLst xmlns:a="http://schemas.openxmlformats.org/drawingml/2006/main">
              <a:ext uri="{FF2B5EF4-FFF2-40B4-BE49-F238E27FC236}">
                <a16:creationId xmlns:a16="http://schemas.microsoft.com/office/drawing/2014/main" id="{253CC369-F628-4DF5-AE26-C0C328F3FDEB}"/>
              </a:ext>
            </a:extLst>
          </p:cNvPr>
          <p:cNvSpPr>
            <a:spLocks xmlns:a="http://schemas.openxmlformats.org/drawingml/2006/main" noGrp="1"/>
          </p:cNvSpPr>
          <p:nvPr/>
        </p:nvSpPr>
        <p:spPr>
          <a:xfrm xmlns:a="http://schemas.openxmlformats.org/drawingml/2006/main">
            <a:off x="7269480" y="3127248"/>
            <a:ext cx="1691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300" b="1">
                <a:solidFill>
                  <a:srgbClr val="F3F0E8"/>
                </a:solidFill>
                <a:latin typeface="Inter"/>
                <a:ea typeface="Inter"/>
                <a:cs typeface="Inter"/>
              </a:rPr>
              <a:t>Annual platform</a:t>
            </a:r>
            <a:endParaRPr sz="1300"/>
          </a:p>
        </p:txBody>
      </p:sp>
      <p:sp>
        <p:nvSpPr>
          <p:cNvPr id="18" name="Text 15">
            <a:extLst xmlns:a="http://schemas.openxmlformats.org/drawingml/2006/main">
              <a:ext uri="{FF2B5EF4-FFF2-40B4-BE49-F238E27FC236}">
                <a16:creationId xmlns:a16="http://schemas.microsoft.com/office/drawing/2014/main" id="{C857CAE3-BAAE-41E1-BB8B-9E13CF757BB6}"/>
              </a:ext>
            </a:extLst>
          </p:cNvPr>
          <p:cNvSpPr>
            <a:spLocks xmlns:a="http://schemas.openxmlformats.org/drawingml/2006/main" noGrp="1"/>
          </p:cNvSpPr>
          <p:nvPr/>
        </p:nvSpPr>
        <p:spPr>
          <a:xfrm xmlns:a="http://schemas.openxmlformats.org/drawingml/2006/main">
            <a:off x="9464040" y="3127248"/>
            <a:ext cx="20116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1100" b="1">
                <a:solidFill>
                  <a:srgbClr val="CCFF00"/>
                </a:solidFill>
                <a:latin typeface="JetBrains Mono"/>
                <a:ea typeface="JetBrains Mono"/>
                <a:cs typeface="JetBrains Mono"/>
              </a:rPr>
              <a:t>$100k–$150k</a:t>
            </a:r>
            <a:endParaRPr sz="1100"/>
          </a:p>
        </p:txBody>
      </p:sp>
      <p:sp>
        <p:nvSpPr>
          <p:cNvPr id="19" name="Text 16">
            <a:extLst xmlns:a="http://schemas.openxmlformats.org/drawingml/2006/main">
              <a:ext uri="{FF2B5EF4-FFF2-40B4-BE49-F238E27FC236}">
                <a16:creationId xmlns:a16="http://schemas.microsoft.com/office/drawing/2014/main" id="{84F0367F-A84C-4F11-BF30-293760C32C83}"/>
              </a:ext>
            </a:extLst>
          </p:cNvPr>
          <p:cNvSpPr>
            <a:spLocks xmlns:a="http://schemas.openxmlformats.org/drawingml/2006/main" noGrp="1"/>
          </p:cNvSpPr>
          <p:nvPr/>
        </p:nvSpPr>
        <p:spPr>
          <a:xfrm xmlns:a="http://schemas.openxmlformats.org/drawingml/2006/main">
            <a:off x="7269480" y="3401568"/>
            <a:ext cx="41605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A6A9A2"/>
                </a:solidFill>
                <a:latin typeface="IBM Plex Sans"/>
                <a:ea typeface="IBM Plex Sans"/>
                <a:cs typeface="IBM Plex Sans"/>
              </a:rPr>
              <a:t>Fleet / mission capacity, not seats</a:t>
            </a:r>
            <a:endParaRPr sz="900"/>
          </a:p>
        </p:txBody>
      </p:sp>
      <p:sp>
        <p:nvSpPr>
          <p:cNvPr id="20" name="Shape 17">
            <a:extLst xmlns:a="http://schemas.openxmlformats.org/drawingml/2006/main">
              <a:ext uri="{FF2B5EF4-FFF2-40B4-BE49-F238E27FC236}">
                <a16:creationId xmlns:a16="http://schemas.microsoft.com/office/drawing/2014/main" id="{29F13F33-1E85-43F7-9611-B1EF4BB4660F}"/>
              </a:ext>
            </a:extLst>
          </p:cNvPr>
          <p:cNvSpPr>
            <a:spLocks xmlns:a="http://schemas.openxmlformats.org/drawingml/2006/main" noGrp="1"/>
          </p:cNvSpPr>
          <p:nvPr/>
        </p:nvSpPr>
        <p:spPr>
          <a:xfrm xmlns:a="http://schemas.openxmlformats.org/drawingml/2006/main">
            <a:off x="7269480" y="4288536"/>
            <a:ext cx="423367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21" name="Text 18">
            <a:extLst xmlns:a="http://schemas.openxmlformats.org/drawingml/2006/main">
              <a:ext uri="{FF2B5EF4-FFF2-40B4-BE49-F238E27FC236}">
                <a16:creationId xmlns:a16="http://schemas.microsoft.com/office/drawing/2014/main" id="{4AE1FBA0-3B3F-48BB-B795-3BA71FA4496B}"/>
              </a:ext>
            </a:extLst>
          </p:cNvPr>
          <p:cNvSpPr>
            <a:spLocks xmlns:a="http://schemas.openxmlformats.org/drawingml/2006/main" noGrp="1"/>
          </p:cNvSpPr>
          <p:nvPr/>
        </p:nvSpPr>
        <p:spPr>
          <a:xfrm xmlns:a="http://schemas.openxmlformats.org/drawingml/2006/main">
            <a:off x="7269480" y="3785616"/>
            <a:ext cx="1691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300" b="1">
                <a:solidFill>
                  <a:srgbClr val="F3F0E8"/>
                </a:solidFill>
                <a:latin typeface="Inter"/>
                <a:ea typeface="Inter"/>
                <a:cs typeface="Inter"/>
              </a:rPr>
              <a:t>Implementation</a:t>
            </a:r>
            <a:endParaRPr sz="1300"/>
          </a:p>
        </p:txBody>
      </p:sp>
      <p:sp>
        <p:nvSpPr>
          <p:cNvPr id="22" name="Text 19">
            <a:extLst xmlns:a="http://schemas.openxmlformats.org/drawingml/2006/main">
              <a:ext uri="{FF2B5EF4-FFF2-40B4-BE49-F238E27FC236}">
                <a16:creationId xmlns:a16="http://schemas.microsoft.com/office/drawing/2014/main" id="{8BB8B42D-29F5-48FA-9EC9-E430151B39B7}"/>
              </a:ext>
            </a:extLst>
          </p:cNvPr>
          <p:cNvSpPr>
            <a:spLocks xmlns:a="http://schemas.openxmlformats.org/drawingml/2006/main" noGrp="1"/>
          </p:cNvSpPr>
          <p:nvPr/>
        </p:nvSpPr>
        <p:spPr>
          <a:xfrm xmlns:a="http://schemas.openxmlformats.org/drawingml/2006/main">
            <a:off x="9464040" y="3785616"/>
            <a:ext cx="20116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1100" b="1">
                <a:solidFill>
                  <a:srgbClr val="E7B14A"/>
                </a:solidFill>
                <a:latin typeface="JetBrains Mono"/>
                <a:ea typeface="JetBrains Mono"/>
                <a:cs typeface="JetBrains Mono"/>
              </a:rPr>
              <a:t>$30k–$100k</a:t>
            </a:r>
            <a:endParaRPr sz="1100"/>
          </a:p>
        </p:txBody>
      </p:sp>
      <p:sp>
        <p:nvSpPr>
          <p:cNvPr id="23" name="Text 20">
            <a:extLst xmlns:a="http://schemas.openxmlformats.org/drawingml/2006/main">
              <a:ext uri="{FF2B5EF4-FFF2-40B4-BE49-F238E27FC236}">
                <a16:creationId xmlns:a16="http://schemas.microsoft.com/office/drawing/2014/main" id="{BE196290-A934-4553-AC0C-8A62543DCF59}"/>
              </a:ext>
            </a:extLst>
          </p:cNvPr>
          <p:cNvSpPr>
            <a:spLocks xmlns:a="http://schemas.openxmlformats.org/drawingml/2006/main" noGrp="1"/>
          </p:cNvSpPr>
          <p:nvPr/>
        </p:nvSpPr>
        <p:spPr>
          <a:xfrm xmlns:a="http://schemas.openxmlformats.org/drawingml/2006/main">
            <a:off x="7269480" y="4059936"/>
            <a:ext cx="41605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A6A9A2"/>
                </a:solidFill>
                <a:latin typeface="IBM Plex Sans"/>
                <a:ea typeface="IBM Plex Sans"/>
                <a:cs typeface="IBM Plex Sans"/>
              </a:rPr>
              <a:t>One-time adapters and onboarding</a:t>
            </a:r>
            <a:endParaRPr sz="900"/>
          </a:p>
        </p:txBody>
      </p:sp>
      <p:sp>
        <p:nvSpPr>
          <p:cNvPr id="24" name="Shape 21">
            <a:extLst xmlns:a="http://schemas.openxmlformats.org/drawingml/2006/main">
              <a:ext uri="{FF2B5EF4-FFF2-40B4-BE49-F238E27FC236}">
                <a16:creationId xmlns:a16="http://schemas.microsoft.com/office/drawing/2014/main" id="{BEE818CE-1B81-4889-80EB-071363A179F6}"/>
              </a:ext>
            </a:extLst>
          </p:cNvPr>
          <p:cNvSpPr>
            <a:spLocks xmlns:a="http://schemas.openxmlformats.org/drawingml/2006/main" noGrp="1"/>
          </p:cNvSpPr>
          <p:nvPr/>
        </p:nvSpPr>
        <p:spPr>
          <a:xfrm xmlns:a="http://schemas.openxmlformats.org/drawingml/2006/main">
            <a:off x="7269480" y="4946904"/>
            <a:ext cx="423367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25" name="Text 22">
            <a:extLst xmlns:a="http://schemas.openxmlformats.org/drawingml/2006/main">
              <a:ext uri="{FF2B5EF4-FFF2-40B4-BE49-F238E27FC236}">
                <a16:creationId xmlns:a16="http://schemas.microsoft.com/office/drawing/2014/main" id="{4655D5EB-D991-4DDF-A96D-392DD3EEE478}"/>
              </a:ext>
            </a:extLst>
          </p:cNvPr>
          <p:cNvSpPr>
            <a:spLocks xmlns:a="http://schemas.openxmlformats.org/drawingml/2006/main" noGrp="1"/>
          </p:cNvSpPr>
          <p:nvPr/>
        </p:nvSpPr>
        <p:spPr>
          <a:xfrm xmlns:a="http://schemas.openxmlformats.org/drawingml/2006/main">
            <a:off x="7269480" y="4443984"/>
            <a:ext cx="1691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300" b="1">
                <a:solidFill>
                  <a:srgbClr val="F3F0E8"/>
                </a:solidFill>
                <a:latin typeface="Inter"/>
                <a:ea typeface="Inter"/>
                <a:cs typeface="Inter"/>
              </a:rPr>
              <a:t>Flight candidate</a:t>
            </a:r>
            <a:endParaRPr sz="1300"/>
          </a:p>
        </p:txBody>
      </p:sp>
      <p:sp>
        <p:nvSpPr>
          <p:cNvPr id="26" name="Text 23">
            <a:extLst xmlns:a="http://schemas.openxmlformats.org/drawingml/2006/main">
              <a:ext uri="{FF2B5EF4-FFF2-40B4-BE49-F238E27FC236}">
                <a16:creationId xmlns:a16="http://schemas.microsoft.com/office/drawing/2014/main" id="{80784210-424F-4EDE-BBF8-7CD17BD8D3E3}"/>
              </a:ext>
            </a:extLst>
          </p:cNvPr>
          <p:cNvSpPr>
            <a:spLocks xmlns:a="http://schemas.openxmlformats.org/drawingml/2006/main" noGrp="1"/>
          </p:cNvSpPr>
          <p:nvPr/>
        </p:nvSpPr>
        <p:spPr>
          <a:xfrm xmlns:a="http://schemas.openxmlformats.org/drawingml/2006/main">
            <a:off x="9464040" y="4443984"/>
            <a:ext cx="20116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1100" b="1">
                <a:solidFill>
                  <a:srgbClr val="E7B14A"/>
                </a:solidFill>
                <a:latin typeface="JetBrains Mono"/>
                <a:ea typeface="JetBrains Mono"/>
                <a:cs typeface="JetBrains Mono"/>
              </a:rPr>
              <a:t>$150k–$400k</a:t>
            </a:r>
            <a:endParaRPr sz="1100"/>
          </a:p>
        </p:txBody>
      </p:sp>
      <p:sp>
        <p:nvSpPr>
          <p:cNvPr id="27" name="Text 24">
            <a:extLst xmlns:a="http://schemas.openxmlformats.org/drawingml/2006/main">
              <a:ext uri="{FF2B5EF4-FFF2-40B4-BE49-F238E27FC236}">
                <a16:creationId xmlns:a16="http://schemas.microsoft.com/office/drawing/2014/main" id="{D249789D-4508-4F54-84E5-2BE0E9ED7280}"/>
              </a:ext>
            </a:extLst>
          </p:cNvPr>
          <p:cNvSpPr>
            <a:spLocks xmlns:a="http://schemas.openxmlformats.org/drawingml/2006/main" noGrp="1"/>
          </p:cNvSpPr>
          <p:nvPr/>
        </p:nvSpPr>
        <p:spPr>
          <a:xfrm xmlns:a="http://schemas.openxmlformats.org/drawingml/2006/main">
            <a:off x="7269480" y="4718304"/>
            <a:ext cx="41605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A6A9A2"/>
                </a:solidFill>
                <a:latin typeface="IBM Plex Sans"/>
                <a:ea typeface="IBM Plex Sans"/>
                <a:cs typeface="IBM Plex Sans"/>
              </a:rPr>
              <a:t>NRE; external evidence gates</a:t>
            </a:r>
            <a:endParaRPr sz="900"/>
          </a:p>
        </p:txBody>
      </p:sp>
      <p:sp>
        <p:nvSpPr>
          <p:cNvPr id="29" name="Slide Number Placeholder 0">
            <a:extLst xmlns:a="http://schemas.openxmlformats.org/drawingml/2006/main">
              <a:ext uri="{FF2B5EF4-FFF2-40B4-BE49-F238E27FC236}">
                <a16:creationId xmlns:a16="http://schemas.microsoft.com/office/drawing/2014/main" id="{D4417E04-E870-448C-9F63-E28F1A5B796F}"/>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8</a:t>
            </a:fld>
            <a:endParaRPr/>
          </a:p>
        </p:txBody>
      </p:sp>
    </p:spTree>
    <p:extLst>
      <p:ext uri="{BB962C8B-B14F-4D97-AF65-F5344CB8AC3E}">
        <p14:creationId xmlns:p14="http://schemas.microsoft.com/office/powerpoint/2010/main" val="610153782"/>
      </p:ext>
    </p:extLst>
  </p:cSld>
</p:sld>
</file>

<file path=ppt/slides/slide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81B4F3F-32C4-4625-BD99-4C2C2EC44CCC}"/>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3" name="Text 1">
            <a:extLst xmlns:a="http://schemas.openxmlformats.org/drawingml/2006/main">
              <a:ext uri="{FF2B5EF4-FFF2-40B4-BE49-F238E27FC236}">
                <a16:creationId xmlns:a16="http://schemas.microsoft.com/office/drawing/2014/main" id="{E22C47AC-0F49-43DC-84CD-7926A3628DD0}"/>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COMMERCIAL</a:t>
            </a:r>
            <a:endParaRPr sz="800"/>
          </a:p>
        </p:txBody>
      </p:sp>
      <p:sp>
        <p:nvSpPr>
          <p:cNvPr id="4" name="Text 2">
            <a:extLst xmlns:a="http://schemas.openxmlformats.org/drawingml/2006/main">
              <a:ext uri="{FF2B5EF4-FFF2-40B4-BE49-F238E27FC236}">
                <a16:creationId xmlns:a16="http://schemas.microsoft.com/office/drawing/2014/main" id="{5EFBBFB9-BB2C-407C-A0AD-1E024506665C}"/>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09</a:t>
            </a:r>
            <a:endParaRPr sz="800"/>
          </a:p>
        </p:txBody>
      </p:sp>
      <p:sp>
        <p:nvSpPr>
          <p:cNvPr id="5" name="Shape 3">
            <a:extLst xmlns:a="http://schemas.openxmlformats.org/drawingml/2006/main">
              <a:ext uri="{FF2B5EF4-FFF2-40B4-BE49-F238E27FC236}">
                <a16:creationId xmlns:a16="http://schemas.microsoft.com/office/drawing/2014/main" id="{6C45A642-151B-49DC-854F-92F2B8C3C52A}"/>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6" name="Text 4">
            <a:extLst xmlns:a="http://schemas.openxmlformats.org/drawingml/2006/main">
              <a:ext uri="{FF2B5EF4-FFF2-40B4-BE49-F238E27FC236}">
                <a16:creationId xmlns:a16="http://schemas.microsoft.com/office/drawing/2014/main" id="{F4E7D93C-84C1-405D-9CC3-E2C79538534D}"/>
              </a:ext>
            </a:extLst>
          </p:cNvPr>
          <p:cNvSpPr>
            <a:spLocks xmlns:a="http://schemas.openxmlformats.org/drawingml/2006/main" noGrp="1"/>
          </p:cNvSpPr>
          <p:nvPr/>
        </p:nvSpPr>
        <p:spPr>
          <a:xfrm xmlns:a="http://schemas.openxmlformats.org/drawingml/2006/main">
            <a:off x="685800" y="932688"/>
            <a:ext cx="106984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800" b="1">
                <a:solidFill>
                  <a:srgbClr val="F3F0E8"/>
                </a:solidFill>
                <a:latin typeface="Inter"/>
                <a:ea typeface="Inter"/>
                <a:cs typeface="Inter"/>
              </a:rPr>
              <a:t>Charge now. Gate access with evidence.</a:t>
            </a:r>
            <a:endParaRPr sz="2800"/>
          </a:p>
        </p:txBody>
      </p:sp>
      <p:sp>
        <p:nvSpPr>
          <p:cNvPr id="7" name="Text 5">
            <a:extLst xmlns:a="http://schemas.openxmlformats.org/drawingml/2006/main">
              <a:ext uri="{FF2B5EF4-FFF2-40B4-BE49-F238E27FC236}">
                <a16:creationId xmlns:a16="http://schemas.microsoft.com/office/drawing/2014/main" id="{BC569A12-BFE6-4EC3-804F-AA2D86D338A3}"/>
              </a:ext>
            </a:extLst>
          </p:cNvPr>
          <p:cNvSpPr>
            <a:spLocks xmlns:a="http://schemas.openxmlformats.org/drawingml/2006/main" noGrp="1"/>
          </p:cNvSpPr>
          <p:nvPr/>
        </p:nvSpPr>
        <p:spPr>
          <a:xfrm xmlns:a="http://schemas.openxmlformats.org/drawingml/2006/main">
            <a:off x="685800" y="1472184"/>
            <a:ext cx="10287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500">
                <a:solidFill>
                  <a:srgbClr val="A6A9A2"/>
                </a:solidFill>
                <a:latin typeface="IBM Plex Sans"/>
                <a:ea typeface="IBM Plex Sans"/>
                <a:cs typeface="IBM Plex Sans"/>
              </a:rPr>
              <a:t>Billing, compliance, and mission clearance are separate server-side gates.</a:t>
            </a:r>
            <a:endParaRPr sz="1500"/>
          </a:p>
        </p:txBody>
      </p:sp>
      <p:sp>
        <p:nvSpPr>
          <p:cNvPr id="8" name="Text 6">
            <a:extLst xmlns:a="http://schemas.openxmlformats.org/drawingml/2006/main">
              <a:ext uri="{FF2B5EF4-FFF2-40B4-BE49-F238E27FC236}">
                <a16:creationId xmlns:a16="http://schemas.microsoft.com/office/drawing/2014/main" id="{AF664A7E-2FF4-45A7-8C0A-AD4F20A50A70}"/>
              </a:ext>
            </a:extLst>
          </p:cNvPr>
          <p:cNvSpPr>
            <a:spLocks xmlns:a="http://schemas.openxmlformats.org/drawingml/2006/main" noGrp="1"/>
          </p:cNvSpPr>
          <p:nvPr/>
        </p:nvSpPr>
        <p:spPr>
          <a:xfrm xmlns:a="http://schemas.openxmlformats.org/drawingml/2006/main">
            <a:off x="758952" y="2359152"/>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CCFF00"/>
                </a:solidFill>
                <a:latin typeface="JetBrains Mono"/>
                <a:ea typeface="JetBrains Mono"/>
                <a:cs typeface="JetBrains Mono"/>
              </a:rPr>
              <a:t>□</a:t>
            </a:r>
            <a:endParaRPr sz="1400"/>
          </a:p>
        </p:txBody>
      </p:sp>
      <p:sp>
        <p:nvSpPr>
          <p:cNvPr id="9" name="Shape 7">
            <a:extLst xmlns:a="http://schemas.openxmlformats.org/drawingml/2006/main">
              <a:ext uri="{FF2B5EF4-FFF2-40B4-BE49-F238E27FC236}">
                <a16:creationId xmlns:a16="http://schemas.microsoft.com/office/drawing/2014/main" id="{91FDEC77-63E3-4841-A404-3C0BE5871D5E}"/>
              </a:ext>
            </a:extLst>
          </p:cNvPr>
          <p:cNvSpPr>
            <a:spLocks xmlns:a="http://schemas.openxmlformats.org/drawingml/2006/main" noGrp="1"/>
          </p:cNvSpPr>
          <p:nvPr/>
        </p:nvSpPr>
        <p:spPr>
          <a:xfrm xmlns:a="http://schemas.openxmlformats.org/drawingml/2006/main">
            <a:off x="685800" y="2724912"/>
            <a:ext cx="320040" cy="320040"/>
          </a:xfrm>
          <a:prstGeom xmlns:a="http://schemas.openxmlformats.org/drawingml/2006/main" prst="ellipse">
            <a:avLst/>
          </a:prstGeom>
          <a:solidFill xmlns:a="http://schemas.openxmlformats.org/drawingml/2006/main">
            <a:srgbClr val="CCFF00"/>
          </a:solidFill>
          <a:ln xmlns:a="http://schemas.openxmlformats.org/drawingml/2006/main" w="12700">
            <a:solidFill>
              <a:srgbClr val="050505">
                <a:alpha val="0"/>
              </a:srgbClr>
            </a:solidFill>
            <a:prstDash val="solid"/>
          </a:ln>
        </p:spPr>
      </p:sp>
      <p:sp>
        <p:nvSpPr>
          <p:cNvPr id="10" name="Text 8">
            <a:extLst xmlns:a="http://schemas.openxmlformats.org/drawingml/2006/main">
              <a:ext uri="{FF2B5EF4-FFF2-40B4-BE49-F238E27FC236}">
                <a16:creationId xmlns:a16="http://schemas.microsoft.com/office/drawing/2014/main" id="{16A4EEE8-6449-423D-9307-F831C2DC3FFF}"/>
              </a:ext>
            </a:extLst>
          </p:cNvPr>
          <p:cNvSpPr>
            <a:spLocks xmlns:a="http://schemas.openxmlformats.org/drawingml/2006/main" noGrp="1"/>
          </p:cNvSpPr>
          <p:nvPr/>
        </p:nvSpPr>
        <p:spPr>
          <a:xfrm xmlns:a="http://schemas.openxmlformats.org/drawingml/2006/main">
            <a:off x="685800" y="2798064"/>
            <a:ext cx="320040"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800" b="1">
                <a:solidFill>
                  <a:srgbClr val="050505"/>
                </a:solidFill>
                <a:latin typeface="JetBrains Mono"/>
                <a:ea typeface="JetBrains Mono"/>
                <a:cs typeface="JetBrains Mono"/>
              </a:rPr>
              <a:t>01</a:t>
            </a:r>
            <a:endParaRPr sz="800"/>
          </a:p>
        </p:txBody>
      </p:sp>
      <p:sp>
        <p:nvSpPr>
          <p:cNvPr id="11" name="Shape 9">
            <a:extLst xmlns:a="http://schemas.openxmlformats.org/drawingml/2006/main">
              <a:ext uri="{FF2B5EF4-FFF2-40B4-BE49-F238E27FC236}">
                <a16:creationId xmlns:a16="http://schemas.microsoft.com/office/drawing/2014/main" id="{35215D18-D9FC-454A-82A2-8438A8B5AD32}"/>
              </a:ext>
            </a:extLst>
          </p:cNvPr>
          <p:cNvSpPr>
            <a:spLocks xmlns:a="http://schemas.openxmlformats.org/drawingml/2006/main" noGrp="1"/>
          </p:cNvSpPr>
          <p:nvPr/>
        </p:nvSpPr>
        <p:spPr>
          <a:xfrm xmlns:a="http://schemas.openxmlformats.org/drawingml/2006/main">
            <a:off x="1097280" y="2880360"/>
            <a:ext cx="1545336"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12" name="Text 10">
            <a:extLst xmlns:a="http://schemas.openxmlformats.org/drawingml/2006/main">
              <a:ext uri="{FF2B5EF4-FFF2-40B4-BE49-F238E27FC236}">
                <a16:creationId xmlns:a16="http://schemas.microsoft.com/office/drawing/2014/main" id="{4C25317E-23D5-4328-98BD-E8FB25C5BE57}"/>
              </a:ext>
            </a:extLst>
          </p:cNvPr>
          <p:cNvSpPr>
            <a:spLocks xmlns:a="http://schemas.openxmlformats.org/drawingml/2006/main" noGrp="1"/>
          </p:cNvSpPr>
          <p:nvPr/>
        </p:nvSpPr>
        <p:spPr>
          <a:xfrm xmlns:a="http://schemas.openxmlformats.org/drawingml/2006/main">
            <a:off x="685800" y="3319272"/>
            <a:ext cx="17830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200" b="1">
                <a:solidFill>
                  <a:srgbClr val="F3F0E8"/>
                </a:solidFill>
                <a:latin typeface="Inter"/>
                <a:ea typeface="Inter"/>
                <a:cs typeface="Inter"/>
              </a:rPr>
              <a:t>Select package</a:t>
            </a:r>
            <a:endParaRPr sz="1200"/>
          </a:p>
        </p:txBody>
      </p:sp>
      <p:sp>
        <p:nvSpPr>
          <p:cNvPr id="13" name="Text 11">
            <a:extLst xmlns:a="http://schemas.openxmlformats.org/drawingml/2006/main">
              <a:ext uri="{FF2B5EF4-FFF2-40B4-BE49-F238E27FC236}">
                <a16:creationId xmlns:a16="http://schemas.microsoft.com/office/drawing/2014/main" id="{7691BCC8-76B5-4688-BF39-33053F23AB0B}"/>
              </a:ext>
            </a:extLst>
          </p:cNvPr>
          <p:cNvSpPr>
            <a:spLocks xmlns:a="http://schemas.openxmlformats.org/drawingml/2006/main" noGrp="1"/>
          </p:cNvSpPr>
          <p:nvPr/>
        </p:nvSpPr>
        <p:spPr>
          <a:xfrm xmlns:a="http://schemas.openxmlformats.org/drawingml/2006/main">
            <a:off x="685800" y="3675888"/>
            <a:ext cx="173736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A6A9A2"/>
                </a:solidFill>
                <a:latin typeface="IBM Plex Sans"/>
                <a:ea typeface="IBM Plex Sans"/>
                <a:cs typeface="IBM Plex Sans"/>
              </a:rPr>
              <a:t>Ground / fleet / enterprise</a:t>
            </a:r>
            <a:endParaRPr sz="900"/>
          </a:p>
        </p:txBody>
      </p:sp>
      <p:sp>
        <p:nvSpPr>
          <p:cNvPr id="14" name="Text 12">
            <a:extLst xmlns:a="http://schemas.openxmlformats.org/drawingml/2006/main">
              <a:ext uri="{FF2B5EF4-FFF2-40B4-BE49-F238E27FC236}">
                <a16:creationId xmlns:a16="http://schemas.microsoft.com/office/drawing/2014/main" id="{8C061596-7A74-4F3B-88D3-662380DCE0DC}"/>
              </a:ext>
            </a:extLst>
          </p:cNvPr>
          <p:cNvSpPr>
            <a:spLocks xmlns:a="http://schemas.openxmlformats.org/drawingml/2006/main" noGrp="1"/>
          </p:cNvSpPr>
          <p:nvPr/>
        </p:nvSpPr>
        <p:spPr>
          <a:xfrm xmlns:a="http://schemas.openxmlformats.org/drawingml/2006/main">
            <a:off x="2880360" y="2359152"/>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CCFF00"/>
                </a:solidFill>
                <a:latin typeface="JetBrains Mono"/>
                <a:ea typeface="JetBrains Mono"/>
                <a:cs typeface="JetBrains Mono"/>
              </a:rPr>
              <a:t>◎</a:t>
            </a:r>
            <a:endParaRPr sz="1400"/>
          </a:p>
        </p:txBody>
      </p:sp>
      <p:sp>
        <p:nvSpPr>
          <p:cNvPr id="15" name="Shape 13">
            <a:extLst xmlns:a="http://schemas.openxmlformats.org/drawingml/2006/main">
              <a:ext uri="{FF2B5EF4-FFF2-40B4-BE49-F238E27FC236}">
                <a16:creationId xmlns:a16="http://schemas.microsoft.com/office/drawing/2014/main" id="{3B4EA409-67E0-40D4-AF98-F8E292D9BBA0}"/>
              </a:ext>
            </a:extLst>
          </p:cNvPr>
          <p:cNvSpPr>
            <a:spLocks xmlns:a="http://schemas.openxmlformats.org/drawingml/2006/main" noGrp="1"/>
          </p:cNvSpPr>
          <p:nvPr/>
        </p:nvSpPr>
        <p:spPr>
          <a:xfrm xmlns:a="http://schemas.openxmlformats.org/drawingml/2006/main">
            <a:off x="2807208" y="2724912"/>
            <a:ext cx="320040" cy="320040"/>
          </a:xfrm>
          <a:prstGeom xmlns:a="http://schemas.openxmlformats.org/drawingml/2006/main" prst="ellipse">
            <a:avLst/>
          </a:prstGeom>
          <a:solidFill xmlns:a="http://schemas.openxmlformats.org/drawingml/2006/main">
            <a:srgbClr val="CCFF00"/>
          </a:solidFill>
          <a:ln xmlns:a="http://schemas.openxmlformats.org/drawingml/2006/main" w="12700">
            <a:solidFill>
              <a:srgbClr val="050505">
                <a:alpha val="0"/>
              </a:srgbClr>
            </a:solidFill>
            <a:prstDash val="solid"/>
          </a:ln>
        </p:spPr>
      </p:sp>
      <p:sp>
        <p:nvSpPr>
          <p:cNvPr id="16" name="Text 14">
            <a:extLst xmlns:a="http://schemas.openxmlformats.org/drawingml/2006/main">
              <a:ext uri="{FF2B5EF4-FFF2-40B4-BE49-F238E27FC236}">
                <a16:creationId xmlns:a16="http://schemas.microsoft.com/office/drawing/2014/main" id="{A7768EE4-3DD2-458E-86B2-41F673439425}"/>
              </a:ext>
            </a:extLst>
          </p:cNvPr>
          <p:cNvSpPr>
            <a:spLocks xmlns:a="http://schemas.openxmlformats.org/drawingml/2006/main" noGrp="1"/>
          </p:cNvSpPr>
          <p:nvPr/>
        </p:nvSpPr>
        <p:spPr>
          <a:xfrm xmlns:a="http://schemas.openxmlformats.org/drawingml/2006/main">
            <a:off x="2807208" y="2798064"/>
            <a:ext cx="320040"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800" b="1">
                <a:solidFill>
                  <a:srgbClr val="050505"/>
                </a:solidFill>
                <a:latin typeface="JetBrains Mono"/>
                <a:ea typeface="JetBrains Mono"/>
                <a:cs typeface="JetBrains Mono"/>
              </a:rPr>
              <a:t>02</a:t>
            </a:r>
            <a:endParaRPr sz="800"/>
          </a:p>
        </p:txBody>
      </p:sp>
      <p:sp>
        <p:nvSpPr>
          <p:cNvPr id="17" name="Shape 15">
            <a:extLst xmlns:a="http://schemas.openxmlformats.org/drawingml/2006/main">
              <a:ext uri="{FF2B5EF4-FFF2-40B4-BE49-F238E27FC236}">
                <a16:creationId xmlns:a16="http://schemas.microsoft.com/office/drawing/2014/main" id="{1E078F05-AD9B-4037-9E9E-D80AF90CCF19}"/>
              </a:ext>
            </a:extLst>
          </p:cNvPr>
          <p:cNvSpPr>
            <a:spLocks xmlns:a="http://schemas.openxmlformats.org/drawingml/2006/main" noGrp="1"/>
          </p:cNvSpPr>
          <p:nvPr/>
        </p:nvSpPr>
        <p:spPr>
          <a:xfrm xmlns:a="http://schemas.openxmlformats.org/drawingml/2006/main">
            <a:off x="3218688" y="2880360"/>
            <a:ext cx="1545336"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18" name="Text 16">
            <a:extLst xmlns:a="http://schemas.openxmlformats.org/drawingml/2006/main">
              <a:ext uri="{FF2B5EF4-FFF2-40B4-BE49-F238E27FC236}">
                <a16:creationId xmlns:a16="http://schemas.microsoft.com/office/drawing/2014/main" id="{E8E8DA14-8EE2-479C-AF5D-3F70CC6C4196}"/>
              </a:ext>
            </a:extLst>
          </p:cNvPr>
          <p:cNvSpPr>
            <a:spLocks xmlns:a="http://schemas.openxmlformats.org/drawingml/2006/main" noGrp="1"/>
          </p:cNvSpPr>
          <p:nvPr/>
        </p:nvSpPr>
        <p:spPr>
          <a:xfrm xmlns:a="http://schemas.openxmlformats.org/drawingml/2006/main">
            <a:off x="2807208" y="3319272"/>
            <a:ext cx="17830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200" b="1">
                <a:solidFill>
                  <a:srgbClr val="F3F0E8"/>
                </a:solidFill>
                <a:latin typeface="Inter"/>
                <a:ea typeface="Inter"/>
                <a:cs typeface="Inter"/>
              </a:rPr>
              <a:t>Profile the mission</a:t>
            </a:r>
            <a:endParaRPr sz="1200"/>
          </a:p>
        </p:txBody>
      </p:sp>
      <p:sp>
        <p:nvSpPr>
          <p:cNvPr id="19" name="Text 17">
            <a:extLst xmlns:a="http://schemas.openxmlformats.org/drawingml/2006/main">
              <a:ext uri="{FF2B5EF4-FFF2-40B4-BE49-F238E27FC236}">
                <a16:creationId xmlns:a16="http://schemas.microsoft.com/office/drawing/2014/main" id="{38DD00A4-F7EA-4138-A46E-866B0F9158AA}"/>
              </a:ext>
            </a:extLst>
          </p:cNvPr>
          <p:cNvSpPr>
            <a:spLocks xmlns:a="http://schemas.openxmlformats.org/drawingml/2006/main" noGrp="1"/>
          </p:cNvSpPr>
          <p:nvPr/>
        </p:nvSpPr>
        <p:spPr>
          <a:xfrm xmlns:a="http://schemas.openxmlformats.org/drawingml/2006/main">
            <a:off x="2807208" y="3675888"/>
            <a:ext cx="173736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A6A9A2"/>
                </a:solidFill>
                <a:latin typeface="IBM Plex Sans"/>
                <a:ea typeface="IBM Plex Sans"/>
                <a:cs typeface="IBM Plex Sans"/>
              </a:rPr>
              <a:t>Jurisdiction, data class, deployment</a:t>
            </a:r>
            <a:endParaRPr sz="900"/>
          </a:p>
        </p:txBody>
      </p:sp>
      <p:sp>
        <p:nvSpPr>
          <p:cNvPr id="20" name="Text 18">
            <a:extLst xmlns:a="http://schemas.openxmlformats.org/drawingml/2006/main">
              <a:ext uri="{FF2B5EF4-FFF2-40B4-BE49-F238E27FC236}">
                <a16:creationId xmlns:a16="http://schemas.microsoft.com/office/drawing/2014/main" id="{24B1684C-91DF-47B9-836C-A8645179BAB4}"/>
              </a:ext>
            </a:extLst>
          </p:cNvPr>
          <p:cNvSpPr>
            <a:spLocks xmlns:a="http://schemas.openxmlformats.org/drawingml/2006/main" noGrp="1"/>
          </p:cNvSpPr>
          <p:nvPr/>
        </p:nvSpPr>
        <p:spPr>
          <a:xfrm xmlns:a="http://schemas.openxmlformats.org/drawingml/2006/main">
            <a:off x="5001768" y="2359152"/>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CCFF00"/>
                </a:solidFill>
                <a:latin typeface="JetBrains Mono"/>
                <a:ea typeface="JetBrains Mono"/>
                <a:cs typeface="JetBrains Mono"/>
              </a:rPr>
              <a:t>∑</a:t>
            </a:r>
            <a:endParaRPr sz="1400"/>
          </a:p>
        </p:txBody>
      </p:sp>
      <p:sp>
        <p:nvSpPr>
          <p:cNvPr id="21" name="Shape 19">
            <a:extLst xmlns:a="http://schemas.openxmlformats.org/drawingml/2006/main">
              <a:ext uri="{FF2B5EF4-FFF2-40B4-BE49-F238E27FC236}">
                <a16:creationId xmlns:a16="http://schemas.microsoft.com/office/drawing/2014/main" id="{51C1F3FD-07CF-4CC2-92E0-2B86788B9F82}"/>
              </a:ext>
            </a:extLst>
          </p:cNvPr>
          <p:cNvSpPr>
            <a:spLocks xmlns:a="http://schemas.openxmlformats.org/drawingml/2006/main" noGrp="1"/>
          </p:cNvSpPr>
          <p:nvPr/>
        </p:nvSpPr>
        <p:spPr>
          <a:xfrm xmlns:a="http://schemas.openxmlformats.org/drawingml/2006/main">
            <a:off x="4928616" y="2724912"/>
            <a:ext cx="320040" cy="320040"/>
          </a:xfrm>
          <a:prstGeom xmlns:a="http://schemas.openxmlformats.org/drawingml/2006/main" prst="ellipse">
            <a:avLst/>
          </a:prstGeom>
          <a:solidFill xmlns:a="http://schemas.openxmlformats.org/drawingml/2006/main">
            <a:srgbClr val="CCFF00"/>
          </a:solidFill>
          <a:ln xmlns:a="http://schemas.openxmlformats.org/drawingml/2006/main" w="12700">
            <a:solidFill>
              <a:srgbClr val="050505">
                <a:alpha val="0"/>
              </a:srgbClr>
            </a:solidFill>
            <a:prstDash val="solid"/>
          </a:ln>
        </p:spPr>
      </p:sp>
      <p:sp>
        <p:nvSpPr>
          <p:cNvPr id="22" name="Text 20">
            <a:extLst xmlns:a="http://schemas.openxmlformats.org/drawingml/2006/main">
              <a:ext uri="{FF2B5EF4-FFF2-40B4-BE49-F238E27FC236}">
                <a16:creationId xmlns:a16="http://schemas.microsoft.com/office/drawing/2014/main" id="{BB58B3BD-9876-488F-A2C9-0709B44892B7}"/>
              </a:ext>
            </a:extLst>
          </p:cNvPr>
          <p:cNvSpPr>
            <a:spLocks xmlns:a="http://schemas.openxmlformats.org/drawingml/2006/main" noGrp="1"/>
          </p:cNvSpPr>
          <p:nvPr/>
        </p:nvSpPr>
        <p:spPr>
          <a:xfrm xmlns:a="http://schemas.openxmlformats.org/drawingml/2006/main">
            <a:off x="4928616" y="2798064"/>
            <a:ext cx="320040"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800" b="1">
                <a:solidFill>
                  <a:srgbClr val="050505"/>
                </a:solidFill>
                <a:latin typeface="JetBrains Mono"/>
                <a:ea typeface="JetBrains Mono"/>
                <a:cs typeface="JetBrains Mono"/>
              </a:rPr>
              <a:t>03</a:t>
            </a:r>
            <a:endParaRPr sz="800"/>
          </a:p>
        </p:txBody>
      </p:sp>
      <p:sp>
        <p:nvSpPr>
          <p:cNvPr id="23" name="Shape 21">
            <a:extLst xmlns:a="http://schemas.openxmlformats.org/drawingml/2006/main">
              <a:ext uri="{FF2B5EF4-FFF2-40B4-BE49-F238E27FC236}">
                <a16:creationId xmlns:a16="http://schemas.microsoft.com/office/drawing/2014/main" id="{1846540D-F63A-4FBF-82D9-CD41871452DF}"/>
              </a:ext>
            </a:extLst>
          </p:cNvPr>
          <p:cNvSpPr>
            <a:spLocks xmlns:a="http://schemas.openxmlformats.org/drawingml/2006/main" noGrp="1"/>
          </p:cNvSpPr>
          <p:nvPr/>
        </p:nvSpPr>
        <p:spPr>
          <a:xfrm xmlns:a="http://schemas.openxmlformats.org/drawingml/2006/main">
            <a:off x="5340096" y="2880360"/>
            <a:ext cx="1545336"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24" name="Text 22">
            <a:extLst xmlns:a="http://schemas.openxmlformats.org/drawingml/2006/main">
              <a:ext uri="{FF2B5EF4-FFF2-40B4-BE49-F238E27FC236}">
                <a16:creationId xmlns:a16="http://schemas.microsoft.com/office/drawing/2014/main" id="{1CC3C2BD-6D34-4955-8E0D-6C3306860892}"/>
              </a:ext>
            </a:extLst>
          </p:cNvPr>
          <p:cNvSpPr>
            <a:spLocks xmlns:a="http://schemas.openxmlformats.org/drawingml/2006/main" noGrp="1"/>
          </p:cNvSpPr>
          <p:nvPr/>
        </p:nvSpPr>
        <p:spPr>
          <a:xfrm xmlns:a="http://schemas.openxmlformats.org/drawingml/2006/main">
            <a:off x="4928616" y="3319272"/>
            <a:ext cx="17830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200" b="1">
                <a:solidFill>
                  <a:srgbClr val="F3F0E8"/>
                </a:solidFill>
                <a:latin typeface="Inter"/>
                <a:ea typeface="Inter"/>
                <a:cs typeface="Inter"/>
              </a:rPr>
              <a:t>Contract + pay</a:t>
            </a:r>
            <a:endParaRPr sz="1200"/>
          </a:p>
        </p:txBody>
      </p:sp>
      <p:sp>
        <p:nvSpPr>
          <p:cNvPr id="25" name="Text 23">
            <a:extLst xmlns:a="http://schemas.openxmlformats.org/drawingml/2006/main">
              <a:ext uri="{FF2B5EF4-FFF2-40B4-BE49-F238E27FC236}">
                <a16:creationId xmlns:a16="http://schemas.microsoft.com/office/drawing/2014/main" id="{6F4E3D16-97F3-427B-B69E-0B997B172CEC}"/>
              </a:ext>
            </a:extLst>
          </p:cNvPr>
          <p:cNvSpPr>
            <a:spLocks xmlns:a="http://schemas.openxmlformats.org/drawingml/2006/main" noGrp="1"/>
          </p:cNvSpPr>
          <p:nvPr/>
        </p:nvSpPr>
        <p:spPr>
          <a:xfrm xmlns:a="http://schemas.openxmlformats.org/drawingml/2006/main">
            <a:off x="4928616" y="3675888"/>
            <a:ext cx="173736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A6A9A2"/>
                </a:solidFill>
                <a:latin typeface="IBM Plex Sans"/>
                <a:ea typeface="IBM Plex Sans"/>
                <a:cs typeface="IBM Plex Sans"/>
              </a:rPr>
              <a:t>Stripe or invoice / PO</a:t>
            </a:r>
            <a:endParaRPr sz="900"/>
          </a:p>
        </p:txBody>
      </p:sp>
      <p:sp>
        <p:nvSpPr>
          <p:cNvPr id="26" name="Text 24">
            <a:extLst xmlns:a="http://schemas.openxmlformats.org/drawingml/2006/main">
              <a:ext uri="{FF2B5EF4-FFF2-40B4-BE49-F238E27FC236}">
                <a16:creationId xmlns:a16="http://schemas.microsoft.com/office/drawing/2014/main" id="{8623E538-93AD-46A6-9670-434337469991}"/>
              </a:ext>
            </a:extLst>
          </p:cNvPr>
          <p:cNvSpPr>
            <a:spLocks xmlns:a="http://schemas.openxmlformats.org/drawingml/2006/main" noGrp="1"/>
          </p:cNvSpPr>
          <p:nvPr/>
        </p:nvSpPr>
        <p:spPr>
          <a:xfrm xmlns:a="http://schemas.openxmlformats.org/drawingml/2006/main">
            <a:off x="7123176" y="2359152"/>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CCFF00"/>
                </a:solidFill>
                <a:latin typeface="JetBrains Mono"/>
                <a:ea typeface="JetBrains Mono"/>
                <a:cs typeface="JetBrains Mono"/>
              </a:rPr>
              <a:t>&gt;</a:t>
            </a:r>
            <a:endParaRPr sz="1400"/>
          </a:p>
        </p:txBody>
      </p:sp>
      <p:sp>
        <p:nvSpPr>
          <p:cNvPr id="27" name="Shape 25">
            <a:extLst xmlns:a="http://schemas.openxmlformats.org/drawingml/2006/main">
              <a:ext uri="{FF2B5EF4-FFF2-40B4-BE49-F238E27FC236}">
                <a16:creationId xmlns:a16="http://schemas.microsoft.com/office/drawing/2014/main" id="{711682FD-0930-4BF2-835D-2A1F9C4CEB12}"/>
              </a:ext>
            </a:extLst>
          </p:cNvPr>
          <p:cNvSpPr>
            <a:spLocks xmlns:a="http://schemas.openxmlformats.org/drawingml/2006/main" noGrp="1"/>
          </p:cNvSpPr>
          <p:nvPr/>
        </p:nvSpPr>
        <p:spPr>
          <a:xfrm xmlns:a="http://schemas.openxmlformats.org/drawingml/2006/main">
            <a:off x="7050024" y="2724912"/>
            <a:ext cx="320040" cy="320040"/>
          </a:xfrm>
          <a:prstGeom xmlns:a="http://schemas.openxmlformats.org/drawingml/2006/main" prst="ellipse">
            <a:avLst/>
          </a:prstGeom>
          <a:solidFill xmlns:a="http://schemas.openxmlformats.org/drawingml/2006/main">
            <a:srgbClr val="CCFF00"/>
          </a:solidFill>
          <a:ln xmlns:a="http://schemas.openxmlformats.org/drawingml/2006/main" w="12700">
            <a:solidFill>
              <a:srgbClr val="050505">
                <a:alpha val="0"/>
              </a:srgbClr>
            </a:solidFill>
            <a:prstDash val="solid"/>
          </a:ln>
        </p:spPr>
      </p:sp>
      <p:sp>
        <p:nvSpPr>
          <p:cNvPr id="28" name="Text 26">
            <a:extLst xmlns:a="http://schemas.openxmlformats.org/drawingml/2006/main">
              <a:ext uri="{FF2B5EF4-FFF2-40B4-BE49-F238E27FC236}">
                <a16:creationId xmlns:a16="http://schemas.microsoft.com/office/drawing/2014/main" id="{0D659A24-3C8A-4BFD-B41B-5F047732C736}"/>
              </a:ext>
            </a:extLst>
          </p:cNvPr>
          <p:cNvSpPr>
            <a:spLocks xmlns:a="http://schemas.openxmlformats.org/drawingml/2006/main" noGrp="1"/>
          </p:cNvSpPr>
          <p:nvPr/>
        </p:nvSpPr>
        <p:spPr>
          <a:xfrm xmlns:a="http://schemas.openxmlformats.org/drawingml/2006/main">
            <a:off x="7050024" y="2798064"/>
            <a:ext cx="320040"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800" b="1">
                <a:solidFill>
                  <a:srgbClr val="050505"/>
                </a:solidFill>
                <a:latin typeface="JetBrains Mono"/>
                <a:ea typeface="JetBrains Mono"/>
                <a:cs typeface="JetBrains Mono"/>
              </a:rPr>
              <a:t>04</a:t>
            </a:r>
            <a:endParaRPr sz="800"/>
          </a:p>
        </p:txBody>
      </p:sp>
      <p:sp>
        <p:nvSpPr>
          <p:cNvPr id="29" name="Shape 27">
            <a:extLst xmlns:a="http://schemas.openxmlformats.org/drawingml/2006/main">
              <a:ext uri="{FF2B5EF4-FFF2-40B4-BE49-F238E27FC236}">
                <a16:creationId xmlns:a16="http://schemas.microsoft.com/office/drawing/2014/main" id="{BB245CFC-4CA7-4D89-B67F-585CFBBDCF96}"/>
              </a:ext>
            </a:extLst>
          </p:cNvPr>
          <p:cNvSpPr>
            <a:spLocks xmlns:a="http://schemas.openxmlformats.org/drawingml/2006/main" noGrp="1"/>
          </p:cNvSpPr>
          <p:nvPr/>
        </p:nvSpPr>
        <p:spPr>
          <a:xfrm xmlns:a="http://schemas.openxmlformats.org/drawingml/2006/main">
            <a:off x="7461504" y="2880360"/>
            <a:ext cx="1545336"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30" name="Text 28">
            <a:extLst xmlns:a="http://schemas.openxmlformats.org/drawingml/2006/main">
              <a:ext uri="{FF2B5EF4-FFF2-40B4-BE49-F238E27FC236}">
                <a16:creationId xmlns:a16="http://schemas.microsoft.com/office/drawing/2014/main" id="{12D28A9A-80A8-488C-999E-234EA7E63275}"/>
              </a:ext>
            </a:extLst>
          </p:cNvPr>
          <p:cNvSpPr>
            <a:spLocks xmlns:a="http://schemas.openxmlformats.org/drawingml/2006/main" noGrp="1"/>
          </p:cNvSpPr>
          <p:nvPr/>
        </p:nvSpPr>
        <p:spPr>
          <a:xfrm xmlns:a="http://schemas.openxmlformats.org/drawingml/2006/main">
            <a:off x="7050024" y="3319272"/>
            <a:ext cx="17830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200" b="1">
                <a:solidFill>
                  <a:srgbClr val="F3F0E8"/>
                </a:solidFill>
                <a:latin typeface="Inter"/>
                <a:ea typeface="Inter"/>
                <a:cs typeface="Inter"/>
              </a:rPr>
              <a:t>Provision</a:t>
            </a:r>
            <a:endParaRPr sz="1200"/>
          </a:p>
        </p:txBody>
      </p:sp>
      <p:sp>
        <p:nvSpPr>
          <p:cNvPr id="31" name="Text 29">
            <a:extLst xmlns:a="http://schemas.openxmlformats.org/drawingml/2006/main">
              <a:ext uri="{FF2B5EF4-FFF2-40B4-BE49-F238E27FC236}">
                <a16:creationId xmlns:a16="http://schemas.microsoft.com/office/drawing/2014/main" id="{7270C63E-EB15-423E-AC12-83AE08FAD631}"/>
              </a:ext>
            </a:extLst>
          </p:cNvPr>
          <p:cNvSpPr>
            <a:spLocks xmlns:a="http://schemas.openxmlformats.org/drawingml/2006/main" noGrp="1"/>
          </p:cNvSpPr>
          <p:nvPr/>
        </p:nvSpPr>
        <p:spPr>
          <a:xfrm xmlns:a="http://schemas.openxmlformats.org/drawingml/2006/main">
            <a:off x="7050024" y="3675888"/>
            <a:ext cx="173736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A6A9A2"/>
                </a:solidFill>
                <a:latin typeface="IBM Plex Sans"/>
                <a:ea typeface="IBM Plex Sans"/>
                <a:cs typeface="IBM Plex Sans"/>
              </a:rPr>
              <a:t>Entitlements after verified webhook</a:t>
            </a:r>
            <a:endParaRPr sz="900"/>
          </a:p>
        </p:txBody>
      </p:sp>
      <p:sp>
        <p:nvSpPr>
          <p:cNvPr id="32" name="Text 30">
            <a:extLst xmlns:a="http://schemas.openxmlformats.org/drawingml/2006/main">
              <a:ext uri="{FF2B5EF4-FFF2-40B4-BE49-F238E27FC236}">
                <a16:creationId xmlns:a16="http://schemas.microsoft.com/office/drawing/2014/main" id="{4417ED79-D069-4030-863B-1E41FF8F693E}"/>
              </a:ext>
            </a:extLst>
          </p:cNvPr>
          <p:cNvSpPr>
            <a:spLocks xmlns:a="http://schemas.openxmlformats.org/drawingml/2006/main" noGrp="1"/>
          </p:cNvSpPr>
          <p:nvPr/>
        </p:nvSpPr>
        <p:spPr>
          <a:xfrm xmlns:a="http://schemas.openxmlformats.org/drawingml/2006/main">
            <a:off x="9244584" y="2359152"/>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E7B14A"/>
                </a:solidFill>
                <a:latin typeface="JetBrains Mono"/>
                <a:ea typeface="JetBrains Mono"/>
                <a:cs typeface="JetBrains Mono"/>
              </a:rPr>
              <a:t>⊙</a:t>
            </a:r>
            <a:endParaRPr sz="1400"/>
          </a:p>
        </p:txBody>
      </p:sp>
      <p:sp>
        <p:nvSpPr>
          <p:cNvPr id="33" name="Shape 31">
            <a:extLst xmlns:a="http://schemas.openxmlformats.org/drawingml/2006/main">
              <a:ext uri="{FF2B5EF4-FFF2-40B4-BE49-F238E27FC236}">
                <a16:creationId xmlns:a16="http://schemas.microsoft.com/office/drawing/2014/main" id="{E9527A53-8686-4DBB-8D57-5C83C42402B5}"/>
              </a:ext>
            </a:extLst>
          </p:cNvPr>
          <p:cNvSpPr>
            <a:spLocks xmlns:a="http://schemas.openxmlformats.org/drawingml/2006/main" noGrp="1"/>
          </p:cNvSpPr>
          <p:nvPr/>
        </p:nvSpPr>
        <p:spPr>
          <a:xfrm xmlns:a="http://schemas.openxmlformats.org/drawingml/2006/main">
            <a:off x="9171432" y="2724912"/>
            <a:ext cx="320040" cy="320040"/>
          </a:xfrm>
          <a:prstGeom xmlns:a="http://schemas.openxmlformats.org/drawingml/2006/main" prst="ellipse">
            <a:avLst/>
          </a:prstGeom>
          <a:solidFill xmlns:a="http://schemas.openxmlformats.org/drawingml/2006/main">
            <a:srgbClr val="E7B14A"/>
          </a:solidFill>
          <a:ln xmlns:a="http://schemas.openxmlformats.org/drawingml/2006/main" w="12700">
            <a:solidFill>
              <a:srgbClr val="050505">
                <a:alpha val="0"/>
              </a:srgbClr>
            </a:solidFill>
            <a:prstDash val="solid"/>
          </a:ln>
        </p:spPr>
      </p:sp>
      <p:sp>
        <p:nvSpPr>
          <p:cNvPr id="34" name="Text 32">
            <a:extLst xmlns:a="http://schemas.openxmlformats.org/drawingml/2006/main">
              <a:ext uri="{FF2B5EF4-FFF2-40B4-BE49-F238E27FC236}">
                <a16:creationId xmlns:a16="http://schemas.microsoft.com/office/drawing/2014/main" id="{6E13AEA1-FF1B-450E-AA7C-4C00E0561993}"/>
              </a:ext>
            </a:extLst>
          </p:cNvPr>
          <p:cNvSpPr>
            <a:spLocks xmlns:a="http://schemas.openxmlformats.org/drawingml/2006/main" noGrp="1"/>
          </p:cNvSpPr>
          <p:nvPr/>
        </p:nvSpPr>
        <p:spPr>
          <a:xfrm xmlns:a="http://schemas.openxmlformats.org/drawingml/2006/main">
            <a:off x="9171432" y="2798064"/>
            <a:ext cx="320040"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800" b="1">
                <a:solidFill>
                  <a:srgbClr val="050505"/>
                </a:solidFill>
                <a:latin typeface="JetBrains Mono"/>
                <a:ea typeface="JetBrains Mono"/>
                <a:cs typeface="JetBrains Mono"/>
              </a:rPr>
              <a:t>05</a:t>
            </a:r>
            <a:endParaRPr sz="800"/>
          </a:p>
        </p:txBody>
      </p:sp>
      <p:sp>
        <p:nvSpPr>
          <p:cNvPr id="35" name="Text 33">
            <a:extLst xmlns:a="http://schemas.openxmlformats.org/drawingml/2006/main">
              <a:ext uri="{FF2B5EF4-FFF2-40B4-BE49-F238E27FC236}">
                <a16:creationId xmlns:a16="http://schemas.microsoft.com/office/drawing/2014/main" id="{5D86C3B7-577A-4D16-B902-1F0D8BCF1723}"/>
              </a:ext>
            </a:extLst>
          </p:cNvPr>
          <p:cNvSpPr>
            <a:spLocks xmlns:a="http://schemas.openxmlformats.org/drawingml/2006/main" noGrp="1"/>
          </p:cNvSpPr>
          <p:nvPr/>
        </p:nvSpPr>
        <p:spPr>
          <a:xfrm xmlns:a="http://schemas.openxmlformats.org/drawingml/2006/main">
            <a:off x="9171432" y="3319272"/>
            <a:ext cx="17830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200" b="1">
                <a:solidFill>
                  <a:srgbClr val="F3F0E8"/>
                </a:solidFill>
                <a:latin typeface="Inter"/>
                <a:ea typeface="Inter"/>
                <a:cs typeface="Inter"/>
              </a:rPr>
              <a:t>Approve scope</a:t>
            </a:r>
            <a:endParaRPr sz="1200"/>
          </a:p>
        </p:txBody>
      </p:sp>
      <p:sp>
        <p:nvSpPr>
          <p:cNvPr id="36" name="Text 34">
            <a:extLst xmlns:a="http://schemas.openxmlformats.org/drawingml/2006/main">
              <a:ext uri="{FF2B5EF4-FFF2-40B4-BE49-F238E27FC236}">
                <a16:creationId xmlns:a16="http://schemas.microsoft.com/office/drawing/2014/main" id="{2F0CD0B7-D30A-48D4-8C6F-E96A566AED36}"/>
              </a:ext>
            </a:extLst>
          </p:cNvPr>
          <p:cNvSpPr>
            <a:spLocks xmlns:a="http://schemas.openxmlformats.org/drawingml/2006/main" noGrp="1"/>
          </p:cNvSpPr>
          <p:nvPr/>
        </p:nvSpPr>
        <p:spPr>
          <a:xfrm xmlns:a="http://schemas.openxmlformats.org/drawingml/2006/main">
            <a:off x="9171432" y="3675888"/>
            <a:ext cx="173736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A6A9A2"/>
                </a:solidFill>
                <a:latin typeface="IBM Plex Sans"/>
                <a:ea typeface="IBM Plex Sans"/>
                <a:cs typeface="IBM Plex Sans"/>
              </a:rPr>
              <a:t>Evidence-ready access only</a:t>
            </a:r>
            <a:endParaRPr sz="900"/>
          </a:p>
        </p:txBody>
      </p:sp>
      <p:sp>
        <p:nvSpPr>
          <p:cNvPr id="37" name="Shape 35">
            <a:extLst xmlns:a="http://schemas.openxmlformats.org/drawingml/2006/main">
              <a:ext uri="{FF2B5EF4-FFF2-40B4-BE49-F238E27FC236}">
                <a16:creationId xmlns:a16="http://schemas.microsoft.com/office/drawing/2014/main" id="{41FB27D3-248B-47FA-A576-FFE940259F31}"/>
              </a:ext>
            </a:extLst>
          </p:cNvPr>
          <p:cNvSpPr>
            <a:spLocks xmlns:a="http://schemas.openxmlformats.org/drawingml/2006/main" noGrp="1"/>
          </p:cNvSpPr>
          <p:nvPr/>
        </p:nvSpPr>
        <p:spPr>
          <a:xfrm xmlns:a="http://schemas.openxmlformats.org/drawingml/2006/main">
            <a:off x="685800" y="4617720"/>
            <a:ext cx="10817352" cy="896112"/>
          </a:xfrm>
          <a:prstGeom xmlns:a="http://schemas.openxmlformats.org/drawingml/2006/main" prst="roundRect">
            <a:avLst>
              <a:gd name="adj" fmla="val 16327"/>
            </a:avLst>
          </a:prstGeom>
          <a:solidFill xmlns:a="http://schemas.openxmlformats.org/drawingml/2006/main">
            <a:srgbClr val="0D1010"/>
          </a:solidFill>
          <a:ln xmlns:a="http://schemas.openxmlformats.org/drawingml/2006/main" w="12700">
            <a:solidFill>
              <a:srgbClr val="252A2A"/>
            </a:solidFill>
            <a:prstDash val="solid"/>
          </a:ln>
        </p:spPr>
      </p:sp>
      <p:sp>
        <p:nvSpPr>
          <p:cNvPr id="38" name="Text 36">
            <a:extLst xmlns:a="http://schemas.openxmlformats.org/drawingml/2006/main">
              <a:ext uri="{FF2B5EF4-FFF2-40B4-BE49-F238E27FC236}">
                <a16:creationId xmlns:a16="http://schemas.microsoft.com/office/drawing/2014/main" id="{09810100-A4E4-48F1-95F3-F60A03D2E765}"/>
              </a:ext>
            </a:extLst>
          </p:cNvPr>
          <p:cNvSpPr>
            <a:spLocks xmlns:a="http://schemas.openxmlformats.org/drawingml/2006/main" noGrp="1"/>
          </p:cNvSpPr>
          <p:nvPr/>
        </p:nvSpPr>
        <p:spPr>
          <a:xfrm xmlns:a="http://schemas.openxmlformats.org/drawingml/2006/main">
            <a:off x="914400" y="4828032"/>
            <a:ext cx="20116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REGULATORY READINESS PACK</a:t>
            </a:r>
            <a:endParaRPr sz="800"/>
          </a:p>
        </p:txBody>
      </p:sp>
      <p:sp>
        <p:nvSpPr>
          <p:cNvPr id="39" name="Text 37">
            <a:extLst xmlns:a="http://schemas.openxmlformats.org/drawingml/2006/main">
              <a:ext uri="{FF2B5EF4-FFF2-40B4-BE49-F238E27FC236}">
                <a16:creationId xmlns:a16="http://schemas.microsoft.com/office/drawing/2014/main" id="{CCFBB333-FE17-4EFD-AEB6-FFA8EB296B12}"/>
              </a:ext>
            </a:extLst>
          </p:cNvPr>
          <p:cNvSpPr>
            <a:spLocks xmlns:a="http://schemas.openxmlformats.org/drawingml/2006/main" noGrp="1"/>
          </p:cNvSpPr>
          <p:nvPr/>
        </p:nvSpPr>
        <p:spPr>
          <a:xfrm xmlns:a="http://schemas.openxmlformats.org/drawingml/2006/main">
            <a:off x="3566160" y="4828032"/>
            <a:ext cx="1188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b="1">
                <a:solidFill>
                  <a:srgbClr val="F3F0E8"/>
                </a:solidFill>
                <a:latin typeface="Inter"/>
                <a:ea typeface="Inter"/>
                <a:cs typeface="Inter"/>
              </a:rPr>
              <a:t>GDPR / DPA</a:t>
            </a:r>
            <a:endParaRPr sz="1100"/>
          </a:p>
        </p:txBody>
      </p:sp>
      <p:sp>
        <p:nvSpPr>
          <p:cNvPr id="40" name="Text 38">
            <a:extLst xmlns:a="http://schemas.openxmlformats.org/drawingml/2006/main">
              <a:ext uri="{FF2B5EF4-FFF2-40B4-BE49-F238E27FC236}">
                <a16:creationId xmlns:a16="http://schemas.microsoft.com/office/drawing/2014/main" id="{B759FA0C-5D74-48DD-849E-909A4E07E56B}"/>
              </a:ext>
            </a:extLst>
          </p:cNvPr>
          <p:cNvSpPr>
            <a:spLocks xmlns:a="http://schemas.openxmlformats.org/drawingml/2006/main" noGrp="1"/>
          </p:cNvSpPr>
          <p:nvPr/>
        </p:nvSpPr>
        <p:spPr>
          <a:xfrm xmlns:a="http://schemas.openxmlformats.org/drawingml/2006/main">
            <a:off x="5074920" y="4828032"/>
            <a:ext cx="14630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b="1">
                <a:solidFill>
                  <a:srgbClr val="F3F0E8"/>
                </a:solidFill>
                <a:latin typeface="Inter"/>
                <a:ea typeface="Inter"/>
                <a:cs typeface="Inter"/>
              </a:rPr>
              <a:t>NIS2 applicability</a:t>
            </a:r>
            <a:endParaRPr sz="1100"/>
          </a:p>
        </p:txBody>
      </p:sp>
      <p:sp>
        <p:nvSpPr>
          <p:cNvPr id="41" name="Text 39">
            <a:extLst xmlns:a="http://schemas.openxmlformats.org/drawingml/2006/main">
              <a:ext uri="{FF2B5EF4-FFF2-40B4-BE49-F238E27FC236}">
                <a16:creationId xmlns:a16="http://schemas.microsoft.com/office/drawing/2014/main" id="{29FF45F9-A223-439A-837D-E79504994F81}"/>
              </a:ext>
            </a:extLst>
          </p:cNvPr>
          <p:cNvSpPr>
            <a:spLocks xmlns:a="http://schemas.openxmlformats.org/drawingml/2006/main" noGrp="1"/>
          </p:cNvSpPr>
          <p:nvPr/>
        </p:nvSpPr>
        <p:spPr>
          <a:xfrm xmlns:a="http://schemas.openxmlformats.org/drawingml/2006/main">
            <a:off x="6903720" y="4828032"/>
            <a:ext cx="1554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b="1">
                <a:solidFill>
                  <a:srgbClr val="F3F0E8"/>
                </a:solidFill>
                <a:latin typeface="Inter"/>
                <a:ea typeface="Inter"/>
                <a:cs typeface="Inter"/>
              </a:rPr>
              <a:t>EAR / ITAR review</a:t>
            </a:r>
            <a:endParaRPr sz="1100"/>
          </a:p>
        </p:txBody>
      </p:sp>
      <p:sp>
        <p:nvSpPr>
          <p:cNvPr id="42" name="Text 40">
            <a:extLst xmlns:a="http://schemas.openxmlformats.org/drawingml/2006/main">
              <a:ext uri="{FF2B5EF4-FFF2-40B4-BE49-F238E27FC236}">
                <a16:creationId xmlns:a16="http://schemas.microsoft.com/office/drawing/2014/main" id="{E6B98EB9-0F01-40EB-A6E2-19BF9FD0F576}"/>
              </a:ext>
            </a:extLst>
          </p:cNvPr>
          <p:cNvSpPr>
            <a:spLocks xmlns:a="http://schemas.openxmlformats.org/drawingml/2006/main" noGrp="1"/>
          </p:cNvSpPr>
          <p:nvPr/>
        </p:nvSpPr>
        <p:spPr>
          <a:xfrm xmlns:a="http://schemas.openxmlformats.org/drawingml/2006/main">
            <a:off x="8915400" y="4828032"/>
            <a:ext cx="1554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b="1">
                <a:solidFill>
                  <a:srgbClr val="F3F0E8"/>
                </a:solidFill>
                <a:latin typeface="Inter"/>
                <a:ea typeface="Inter"/>
                <a:cs typeface="Inter"/>
              </a:rPr>
              <a:t>NIST / CUI scope</a:t>
            </a:r>
            <a:endParaRPr sz="1100"/>
          </a:p>
        </p:txBody>
      </p:sp>
      <p:sp>
        <p:nvSpPr>
          <p:cNvPr id="43" name="Text 41">
            <a:extLst xmlns:a="http://schemas.openxmlformats.org/drawingml/2006/main">
              <a:ext uri="{FF2B5EF4-FFF2-40B4-BE49-F238E27FC236}">
                <a16:creationId xmlns:a16="http://schemas.microsoft.com/office/drawing/2014/main" id="{02769060-D4E5-4022-A33A-2AC736D163A6}"/>
              </a:ext>
            </a:extLst>
          </p:cNvPr>
          <p:cNvSpPr>
            <a:spLocks xmlns:a="http://schemas.openxmlformats.org/drawingml/2006/main" noGrp="1"/>
          </p:cNvSpPr>
          <p:nvPr/>
        </p:nvSpPr>
        <p:spPr>
          <a:xfrm xmlns:a="http://schemas.openxmlformats.org/drawingml/2006/main">
            <a:off x="914400" y="5175504"/>
            <a:ext cx="79552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A6A9A2"/>
                </a:solidFill>
                <a:latin typeface="IBM Plex Sans"/>
                <a:ea typeface="IBM Plex Sans"/>
                <a:cs typeface="IBM Plex Sans"/>
              </a:rPr>
              <a:t>Status is evidence-based: unknown → assessing → evidence required → approved.</a:t>
            </a:r>
            <a:endParaRPr sz="900"/>
          </a:p>
        </p:txBody>
      </p:sp>
      <p:sp>
        <p:nvSpPr>
          <p:cNvPr id="44" name="Slide Number Placeholder 0">
            <a:extLst xmlns:a="http://schemas.openxmlformats.org/drawingml/2006/main">
              <a:ext uri="{FF2B5EF4-FFF2-40B4-BE49-F238E27FC236}">
                <a16:creationId xmlns:a16="http://schemas.microsoft.com/office/drawing/2014/main" id="{5E63CEA8-C89C-461E-ABB4-5405B651E2B4}"/>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9</a:t>
            </a:fld>
            <a:endParaRPr/>
          </a:p>
        </p:txBody>
      </p:sp>
    </p:spTree>
    <p:extLst>
      <p:ext uri="{BB962C8B-B14F-4D97-AF65-F5344CB8AC3E}">
        <p14:creationId xmlns:p14="http://schemas.microsoft.com/office/powerpoint/2010/main" val="32924197"/>
      </p:ext>
    </p:extLst>
  </p:cSld>
</p:sld>
</file>

<file path=ppt/slides/slide1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pic>
        <p:nvPicPr>
          <p:cNvPr id="28" name="Image 0"/>
          <p:cNvPicPr>
            <a:picLocks xmlns:a="http://schemas.openxmlformats.org/drawingml/2006/main" noChangeAspect="1"/>
          </p:cNvPicPr>
          <p:nvPr/>
        </p:nvPicPr>
        <p:blipFill>
          <a:blip xmlns:r="http://schemas.openxmlformats.org/officeDocument/2006/relationships" xmlns:a="http://schemas.openxmlformats.org/drawingml/2006/main" r:embed="R831589dca56e469a">
            <a:alphaModFix amt="96000"/>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785D1189-6ECD-437B-A2E4-81DC4F82735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alpha val="12000"/>
            </a:srgbClr>
          </a:solidFill>
          <a:ln xmlns:a="http://schemas.openxmlformats.org/drawingml/2006/main" w="12700">
            <a:solidFill>
              <a:srgbClr val="050505">
                <a:alpha val="0"/>
              </a:srgbClr>
            </a:solidFill>
            <a:prstDash val="solid"/>
          </a:ln>
        </p:spPr>
      </p:sp>
      <p:sp>
        <p:nvSpPr>
          <p:cNvPr id="4" name="Text 1">
            <a:extLst xmlns:a="http://schemas.openxmlformats.org/drawingml/2006/main">
              <a:ext uri="{FF2B5EF4-FFF2-40B4-BE49-F238E27FC236}">
                <a16:creationId xmlns:a16="http://schemas.microsoft.com/office/drawing/2014/main" id="{22F90A88-EE69-4FAF-8075-C37296BAFEBD}"/>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5" name="Text 2">
            <a:extLst xmlns:a="http://schemas.openxmlformats.org/drawingml/2006/main">
              <a:ext uri="{FF2B5EF4-FFF2-40B4-BE49-F238E27FC236}">
                <a16:creationId xmlns:a16="http://schemas.microsoft.com/office/drawing/2014/main" id="{5A482D22-9CD2-40D5-91E4-B893A1F220B6}"/>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POSITIONING</a:t>
            </a:r>
            <a:endParaRPr sz="800"/>
          </a:p>
        </p:txBody>
      </p:sp>
      <p:sp>
        <p:nvSpPr>
          <p:cNvPr id="6" name="Text 3">
            <a:extLst xmlns:a="http://schemas.openxmlformats.org/drawingml/2006/main">
              <a:ext uri="{FF2B5EF4-FFF2-40B4-BE49-F238E27FC236}">
                <a16:creationId xmlns:a16="http://schemas.microsoft.com/office/drawing/2014/main" id="{88EA2EC3-2B5E-42DD-BBC1-B134EF3F8612}"/>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10</a:t>
            </a:r>
            <a:endParaRPr sz="800"/>
          </a:p>
        </p:txBody>
      </p:sp>
      <p:sp>
        <p:nvSpPr>
          <p:cNvPr id="7" name="Shape 4">
            <a:extLst xmlns:a="http://schemas.openxmlformats.org/drawingml/2006/main">
              <a:ext uri="{FF2B5EF4-FFF2-40B4-BE49-F238E27FC236}">
                <a16:creationId xmlns:a16="http://schemas.microsoft.com/office/drawing/2014/main" id="{D349530C-3354-4DC1-8AD7-D7E10CFBEC04}"/>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8" name="Text 5">
            <a:extLst xmlns:a="http://schemas.openxmlformats.org/drawingml/2006/main">
              <a:ext uri="{FF2B5EF4-FFF2-40B4-BE49-F238E27FC236}">
                <a16:creationId xmlns:a16="http://schemas.microsoft.com/office/drawing/2014/main" id="{C080AE9D-22E6-48C5-9D19-598CEE23A9FC}"/>
              </a:ext>
            </a:extLst>
          </p:cNvPr>
          <p:cNvSpPr>
            <a:spLocks xmlns:a="http://schemas.openxmlformats.org/drawingml/2006/main" noGrp="1"/>
          </p:cNvSpPr>
          <p:nvPr/>
        </p:nvSpPr>
        <p:spPr>
          <a:xfrm xmlns:a="http://schemas.openxmlformats.org/drawingml/2006/main">
            <a:off x="685800" y="932688"/>
            <a:ext cx="106984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l">
              <a:lnSpc>
                <a:spcPct val="100000"/>
              </a:lnSpc>
              <a:buNone/>
            </a:pPr>
            <a:r>
              <a:rPr sz="2800" b="1">
                <a:solidFill>
                  <a:srgbClr val="F3F0E8"/>
                </a:solidFill>
                <a:latin typeface="Inter"/>
                <a:ea typeface="Inter"/>
                <a:cs typeface="Inter"/>
              </a:rPr>
              <a:t>The whitespace sits between operations, context, and trust.</a:t>
            </a:r>
            <a:endParaRPr sz="2800"/>
          </a:p>
        </p:txBody>
      </p:sp>
      <p:sp>
        <p:nvSpPr>
          <p:cNvPr id="9" name="Text 6">
            <a:extLst xmlns:a="http://schemas.openxmlformats.org/drawingml/2006/main">
              <a:ext uri="{FF2B5EF4-FFF2-40B4-BE49-F238E27FC236}">
                <a16:creationId xmlns:a16="http://schemas.microsoft.com/office/drawing/2014/main" id="{124C7153-5666-4D05-8EF4-EEC0D5C58418}"/>
              </a:ext>
            </a:extLst>
          </p:cNvPr>
          <p:cNvSpPr>
            <a:spLocks xmlns:a="http://schemas.openxmlformats.org/drawingml/2006/main" noGrp="1"/>
          </p:cNvSpPr>
          <p:nvPr/>
        </p:nvSpPr>
        <p:spPr>
          <a:xfrm xmlns:a="http://schemas.openxmlformats.org/drawingml/2006/main">
            <a:off x="685800" y="1472184"/>
            <a:ext cx="10287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l">
              <a:lnSpc>
                <a:spcPct val="100000"/>
              </a:lnSpc>
              <a:buNone/>
            </a:pPr>
            <a:r>
              <a:rPr sz="1500">
                <a:solidFill>
                  <a:srgbClr val="A6A9A2"/>
                </a:solidFill>
                <a:latin typeface="IBM Plex Sans"/>
                <a:ea typeface="IBM Plex Sans"/>
                <a:cs typeface="IBM Plex Sans"/>
              </a:rPr>
              <a:t>Adjacent platforms own one layer. Gauss connects the evidence needed to act.</a:t>
            </a:r>
            <a:endParaRPr sz="1500"/>
          </a:p>
        </p:txBody>
      </p:sp>
      <p:graphicFrame>
        <p:nvGraphicFramePr>
          <p:cNvPr id="36" name="Table 0"/>
          <p:cNvGraphicFramePr/>
          <p:nvPr/>
        </p:nvGraphicFramePr>
        <p:xfrm>
          <a:off xmlns:a="http://schemas.openxmlformats.org/drawingml/2006/main" x="685800" y="2176272"/>
          <a:ext xmlns:a="http://schemas.openxmlformats.org/drawingml/2006/main" cx="10817352" cy="2852928"/>
        </p:xfrm>
        <a:graphic xmlns:a="http://schemas.openxmlformats.org/drawingml/2006/main">
          <a:graphicData uri="http://schemas.openxmlformats.org/drawingml/2006/table">
            <a:tbl>
              <a:tblPr/>
              <a:tblGrid>
                <a:gridCol w="2148840"/>
                <a:gridCol w="3017520"/>
                <a:gridCol w="3154680"/>
                <a:gridCol w="2496312"/>
              </a:tblGrid>
              <a:tr h="475488">
                <a:tc>
                  <a:txBody>
                    <a:bodyPr/>
                    <a:lstStyle/>
                    <a:p>
                      <a:pPr marL="0" indent="0">
                        <a:buNone/>
                      </a:pPr>
                      <a:r>
                        <a:rPr sz="900" b="1">
                          <a:solidFill>
                            <a:srgbClr val="050505"/>
                          </a:solidFill>
                          <a:latin typeface="JetBrains Mono"/>
                          <a:ea typeface="JetBrains Mono"/>
                          <a:cs typeface="JetBrains Mono"/>
                        </a:rPr>
                        <a:t>CATEGORY</a:t>
                      </a:r>
                      <a:endParaRPr sz="900">
                        <a:latin typeface="JetBrains Mono"/>
                        <a:ea typeface="JetBrains Mono"/>
                        <a:cs typeface="JetBrains Mono"/>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E7B14A"/>
                    </a:solidFill>
                  </a:tcPr>
                </a:tc>
                <a:tc>
                  <a:txBody>
                    <a:bodyPr/>
                    <a:lstStyle/>
                    <a:p>
                      <a:pPr marL="0" indent="0">
                        <a:buNone/>
                      </a:pPr>
                      <a:r>
                        <a:rPr sz="900" b="1">
                          <a:solidFill>
                            <a:srgbClr val="050505"/>
                          </a:solidFill>
                          <a:latin typeface="JetBrains Mono"/>
                          <a:ea typeface="JetBrains Mono"/>
                          <a:cs typeface="JetBrains Mono"/>
                        </a:rPr>
                        <a:t>EXAMPLE</a:t>
                      </a:r>
                      <a:endParaRPr sz="900">
                        <a:latin typeface="JetBrains Mono"/>
                        <a:ea typeface="JetBrains Mono"/>
                        <a:cs typeface="JetBrains Mono"/>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E7B14A"/>
                    </a:solidFill>
                  </a:tcPr>
                </a:tc>
                <a:tc>
                  <a:txBody>
                    <a:bodyPr/>
                    <a:lstStyle/>
                    <a:p>
                      <a:pPr marL="0" indent="0">
                        <a:buNone/>
                      </a:pPr>
                      <a:r>
                        <a:rPr sz="900" b="1">
                          <a:solidFill>
                            <a:srgbClr val="050505"/>
                          </a:solidFill>
                          <a:latin typeface="JetBrains Mono"/>
                          <a:ea typeface="JetBrains Mono"/>
                          <a:cs typeface="JetBrains Mono"/>
                        </a:rPr>
                        <a:t>PUBLICLY POSITIONED STRENGTH</a:t>
                      </a:r>
                      <a:endParaRPr sz="900">
                        <a:latin typeface="JetBrains Mono"/>
                        <a:ea typeface="JetBrains Mono"/>
                        <a:cs typeface="JetBrains Mono"/>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E7B14A"/>
                    </a:solidFill>
                  </a:tcPr>
                </a:tc>
                <a:tc>
                  <a:txBody>
                    <a:bodyPr/>
                    <a:lstStyle/>
                    <a:p>
                      <a:pPr marL="0" indent="0">
                        <a:buNone/>
                      </a:pPr>
                      <a:r>
                        <a:rPr sz="900" b="1">
                          <a:solidFill>
                            <a:srgbClr val="050505"/>
                          </a:solidFill>
                          <a:latin typeface="JetBrains Mono"/>
                          <a:ea typeface="JetBrains Mono"/>
                          <a:cs typeface="JetBrains Mono"/>
                        </a:rPr>
                        <a:t>GAUSS WHITE SPACE</a:t>
                      </a:r>
                      <a:endParaRPr sz="900">
                        <a:latin typeface="JetBrains Mono"/>
                        <a:ea typeface="JetBrains Mono"/>
                        <a:cs typeface="JetBrains Mono"/>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E7B14A"/>
                    </a:solidFill>
                  </a:tcPr>
                </a:tc>
              </a:tr>
              <a:tr h="475488">
                <a:tc>
                  <a:txBody>
                    <a:bodyPr/>
                    <a:lstStyle/>
                    <a:p>
                      <a:pPr marL="0" indent="0">
                        <a:buNone/>
                      </a:pPr>
                      <a:r>
                        <a:rPr sz="900">
                          <a:solidFill>
                            <a:srgbClr val="F3F0E8"/>
                          </a:solidFill>
                          <a:latin typeface="IBM Plex Sans"/>
                          <a:ea typeface="IBM Plex Sans"/>
                          <a:cs typeface="IBM Plex Sans"/>
                        </a:rPr>
                        <a:t>GROUND C3</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Yamcs / OpenC3</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Command, telemetry, procedures, limits, logs, replay, and operator control.</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Cross-system evidence, provenance, and decision gates.</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r>
              <a:tr h="475488">
                <a:tc>
                  <a:txBody>
                    <a:bodyPr/>
                    <a:lstStyle/>
                    <a:p>
                      <a:pPr marL="0" indent="0">
                        <a:buNone/>
                      </a:pPr>
                      <a:r>
                        <a:rPr sz="900">
                          <a:solidFill>
                            <a:srgbClr val="F3F0E8"/>
                          </a:solidFill>
                          <a:latin typeface="IBM Plex Sans"/>
                          <a:ea typeface="IBM Plex Sans"/>
                          <a:cs typeface="IBM Plex Sans"/>
                        </a:rPr>
                        <a:t>SPACE INTELLIGENCE</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Slingshot Portal</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Space data, AI analytics, and mission workflows from sense → fuse → decide → act.</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Auditable evidence that travels across the customer stack.</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r>
              <a:tr h="475488">
                <a:tc>
                  <a:txBody>
                    <a:bodyPr/>
                    <a:lstStyle/>
                    <a:p>
                      <a:pPr marL="0" indent="0">
                        <a:buNone/>
                      </a:pPr>
                      <a:r>
                        <a:rPr sz="900">
                          <a:solidFill>
                            <a:srgbClr val="F3F0E8"/>
                          </a:solidFill>
                          <a:latin typeface="IBM Plex Sans"/>
                          <a:ea typeface="IBM Plex Sans"/>
                          <a:cs typeface="IBM Plex Sans"/>
                        </a:rPr>
                        <a:t>AI OBSERVABILITY</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Arize / Fiddler</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Model and agent evals, monitoring, drift, explainability, and trust metrics.</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Mission context: telemetry, radiation, safety, and operator authority.</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r>
              <a:tr h="475488">
                <a:tc>
                  <a:txBody>
                    <a:bodyPr/>
                    <a:lstStyle/>
                    <a:p>
                      <a:pPr marL="0" indent="0">
                        <a:buNone/>
                      </a:pPr>
                      <a:r>
                        <a:rPr sz="900">
                          <a:solidFill>
                            <a:srgbClr val="F3F0E8"/>
                          </a:solidFill>
                          <a:latin typeface="IBM Plex Sans"/>
                          <a:ea typeface="IBM Plex Sans"/>
                          <a:cs typeface="IBM Plex Sans"/>
                        </a:rPr>
                        <a:t>ONBOARD AUTONOMY</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AIKO orbital_OLIVER</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Onboard planning, resource-aware decisions, and autonomous execution.</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Ground-first assurance before flight deployment; partner-neutral by design.</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r>
              <a:tr h="475488">
                <a:tc>
                  <a:txBody>
                    <a:bodyPr/>
                    <a:lstStyle/>
                    <a:p>
                      <a:pPr marL="0" indent="0">
                        <a:buNone/>
                      </a:pPr>
                      <a:r>
                        <a:rPr sz="900">
                          <a:solidFill>
                            <a:srgbClr val="F3F0E8"/>
                          </a:solidFill>
                          <a:latin typeface="IBM Plex Sans"/>
                          <a:ea typeface="IBM Plex Sans"/>
                          <a:cs typeface="IBM Plex Sans"/>
                        </a:rPr>
                        <a:t>GAUSS</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Evidence layer</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Validate, explain, and gate decisions across heterogeneous mission data.</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Own the seam between raw signals and safe action.</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r>
            </a:tbl>
          </a:graphicData>
        </a:graphic>
      </p:graphicFrame>
      <p:sp>
        <p:nvSpPr>
          <p:cNvPr id="11" name="Shape 7">
            <a:extLst xmlns:a="http://schemas.openxmlformats.org/drawingml/2006/main">
              <a:ext uri="{FF2B5EF4-FFF2-40B4-BE49-F238E27FC236}">
                <a16:creationId xmlns:a16="http://schemas.microsoft.com/office/drawing/2014/main" id="{7F9EF4FC-A92F-45FD-BB62-83D9650B6235}"/>
              </a:ext>
            </a:extLst>
          </p:cNvPr>
          <p:cNvSpPr>
            <a:spLocks xmlns:a="http://schemas.openxmlformats.org/drawingml/2006/main" noGrp="1"/>
          </p:cNvSpPr>
          <p:nvPr/>
        </p:nvSpPr>
        <p:spPr>
          <a:xfrm xmlns:a="http://schemas.openxmlformats.org/drawingml/2006/main">
            <a:off x="685800" y="5321808"/>
            <a:ext cx="10817352" cy="411480"/>
          </a:xfrm>
          <a:prstGeom xmlns:a="http://schemas.openxmlformats.org/drawingml/2006/main" prst="roundRect">
            <a:avLst>
              <a:gd name="adj" fmla="val 31111"/>
            </a:avLst>
          </a:prstGeom>
          <a:solidFill xmlns:a="http://schemas.openxmlformats.org/drawingml/2006/main">
            <a:srgbClr val="132000"/>
          </a:solidFill>
          <a:ln xmlns:a="http://schemas.openxmlformats.org/drawingml/2006/main" w="12700">
            <a:solidFill>
              <a:srgbClr val="CCFF00"/>
            </a:solidFill>
            <a:prstDash val="solid"/>
          </a:ln>
        </p:spPr>
      </p:sp>
      <p:sp>
        <p:nvSpPr>
          <p:cNvPr id="12" name="Text 8">
            <a:extLst xmlns:a="http://schemas.openxmlformats.org/drawingml/2006/main">
              <a:ext uri="{FF2B5EF4-FFF2-40B4-BE49-F238E27FC236}">
                <a16:creationId xmlns:a16="http://schemas.microsoft.com/office/drawing/2014/main" id="{F2304DE2-B104-44A1-A357-53C059AD6C81}"/>
              </a:ext>
            </a:extLst>
          </p:cNvPr>
          <p:cNvSpPr>
            <a:spLocks xmlns:a="http://schemas.openxmlformats.org/drawingml/2006/main" noGrp="1"/>
          </p:cNvSpPr>
          <p:nvPr/>
        </p:nvSpPr>
        <p:spPr>
          <a:xfrm xmlns:a="http://schemas.openxmlformats.org/drawingml/2006/main">
            <a:off x="896112" y="5468112"/>
            <a:ext cx="192024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l">
              <a:lnSpc>
                <a:spcPct val="100000"/>
              </a:lnSpc>
              <a:buNone/>
            </a:pPr>
            <a:r>
              <a:rPr sz="800" b="1">
                <a:solidFill>
                  <a:srgbClr val="CCFF00"/>
                </a:solidFill>
                <a:latin typeface="JetBrains Mono"/>
                <a:ea typeface="JetBrains Mono"/>
                <a:cs typeface="JetBrains Mono"/>
              </a:rPr>
              <a:t>CATEGORY WEDGE</a:t>
            </a:r>
            <a:endParaRPr sz="800"/>
          </a:p>
        </p:txBody>
      </p:sp>
      <p:sp>
        <p:nvSpPr>
          <p:cNvPr id="13" name="Text 9">
            <a:extLst xmlns:a="http://schemas.openxmlformats.org/drawingml/2006/main">
              <a:ext uri="{FF2B5EF4-FFF2-40B4-BE49-F238E27FC236}">
                <a16:creationId xmlns:a16="http://schemas.microsoft.com/office/drawing/2014/main" id="{5250DC48-7E9F-4E6B-91AD-4B5888313185}"/>
              </a:ext>
            </a:extLst>
          </p:cNvPr>
          <p:cNvSpPr>
            <a:spLocks xmlns:a="http://schemas.openxmlformats.org/drawingml/2006/main" noGrp="1"/>
          </p:cNvSpPr>
          <p:nvPr/>
        </p:nvSpPr>
        <p:spPr>
          <a:xfrm xmlns:a="http://schemas.openxmlformats.org/drawingml/2006/main">
            <a:off x="3182112" y="5468112"/>
            <a:ext cx="76809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7273"/>
          </a:bodyPr>
          <a:lstStyle xmlns:a="http://schemas.openxmlformats.org/drawingml/2006/main"/>
          <a:p xmlns:a="http://schemas.openxmlformats.org/drawingml/2006/main">
            <a:pPr marL="0" indent="0" algn="l">
              <a:lnSpc>
                <a:spcPct val="100000"/>
              </a:lnSpc>
              <a:buNone/>
            </a:pPr>
            <a:r>
              <a:rPr sz="1100" b="1">
                <a:solidFill>
                  <a:srgbClr val="F3F0E8"/>
                </a:solidFill>
                <a:latin typeface="Inter"/>
                <a:ea typeface="Inter"/>
                <a:cs typeface="Inter"/>
              </a:rPr>
              <a:t>A partner-neutral evidence layer across space data, mission control, and AI.</a:t>
            </a:r>
            <a:endParaRPr sz="1100"/>
          </a:p>
        </p:txBody>
      </p:sp>
      <p:sp>
        <p:nvSpPr>
          <p:cNvPr id="25" name="Slide Number Placeholder 0">
            <a:extLst xmlns:a="http://schemas.openxmlformats.org/drawingml/2006/main">
              <a:ext uri="{FF2B5EF4-FFF2-40B4-BE49-F238E27FC236}">
                <a16:creationId xmlns:a16="http://schemas.microsoft.com/office/drawing/2014/main" id="{5614F266-BDBC-4E64-A1D1-5D4C58BB475E}"/>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10</a:t>
            </a:fld>
            <a:endParaRPr/>
          </a:p>
        </p:txBody>
      </p:sp>
    </p:spTree>
    <p:extLst>
      <p:ext uri="{BB962C8B-B14F-4D97-AF65-F5344CB8AC3E}">
        <p14:creationId xmlns:p14="http://schemas.microsoft.com/office/powerpoint/2010/main" val="958682168"/>
      </p:ext>
    </p:extLst>
  </p:cSld>
</p:sld>
</file>

<file path=ppt/slides/slide1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pic>
        <p:nvPicPr>
          <p:cNvPr id="43" name="Image 0"/>
          <p:cNvPicPr>
            <a:picLocks xmlns:a="http://schemas.openxmlformats.org/drawingml/2006/main" noChangeAspect="1"/>
          </p:cNvPicPr>
          <p:nvPr/>
        </p:nvPicPr>
        <p:blipFill>
          <a:blip xmlns:r="http://schemas.openxmlformats.org/officeDocument/2006/relationships" xmlns:a="http://schemas.openxmlformats.org/drawingml/2006/main" r:embed="R82bb84ee630240be">
            <a:alphaModFix amt="96000"/>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AF587926-DCCC-4A2E-9988-38BBCF77C85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alpha val="12000"/>
            </a:srgbClr>
          </a:solidFill>
          <a:ln xmlns:a="http://schemas.openxmlformats.org/drawingml/2006/main" w="12700">
            <a:solidFill>
              <a:srgbClr val="050505">
                <a:alpha val="0"/>
              </a:srgbClr>
            </a:solidFill>
            <a:prstDash val="solid"/>
          </a:ln>
        </p:spPr>
      </p:sp>
      <p:sp>
        <p:nvSpPr>
          <p:cNvPr id="4" name="Text 1">
            <a:extLst xmlns:a="http://schemas.openxmlformats.org/drawingml/2006/main">
              <a:ext uri="{FF2B5EF4-FFF2-40B4-BE49-F238E27FC236}">
                <a16:creationId xmlns:a16="http://schemas.microsoft.com/office/drawing/2014/main" id="{764F437F-DAB8-477A-B7EB-9185CF704FCE}"/>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5" name="Text 2">
            <a:extLst xmlns:a="http://schemas.openxmlformats.org/drawingml/2006/main">
              <a:ext uri="{FF2B5EF4-FFF2-40B4-BE49-F238E27FC236}">
                <a16:creationId xmlns:a16="http://schemas.microsoft.com/office/drawing/2014/main" id="{3F09B3A8-4B2A-469D-A5F8-4A8E87528BD6}"/>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TEAM</a:t>
            </a:r>
            <a:endParaRPr sz="800"/>
          </a:p>
        </p:txBody>
      </p:sp>
      <p:sp>
        <p:nvSpPr>
          <p:cNvPr id="6" name="Text 3">
            <a:extLst xmlns:a="http://schemas.openxmlformats.org/drawingml/2006/main">
              <a:ext uri="{FF2B5EF4-FFF2-40B4-BE49-F238E27FC236}">
                <a16:creationId xmlns:a16="http://schemas.microsoft.com/office/drawing/2014/main" id="{B6337744-8DCE-460E-B8EA-E24EF16A6BB2}"/>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11</a:t>
            </a:r>
            <a:endParaRPr sz="800"/>
          </a:p>
        </p:txBody>
      </p:sp>
      <p:sp>
        <p:nvSpPr>
          <p:cNvPr id="7" name="Shape 4">
            <a:extLst xmlns:a="http://schemas.openxmlformats.org/drawingml/2006/main">
              <a:ext uri="{FF2B5EF4-FFF2-40B4-BE49-F238E27FC236}">
                <a16:creationId xmlns:a16="http://schemas.microsoft.com/office/drawing/2014/main" id="{B0FC7B2A-D02E-49ED-98E3-077F6292AD3F}"/>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8" name="Text 5">
            <a:extLst xmlns:a="http://schemas.openxmlformats.org/drawingml/2006/main">
              <a:ext uri="{FF2B5EF4-FFF2-40B4-BE49-F238E27FC236}">
                <a16:creationId xmlns:a16="http://schemas.microsoft.com/office/drawing/2014/main" id="{3A2FC63E-2CC5-4757-8D64-46F52BF7A9A9}"/>
              </a:ext>
            </a:extLst>
          </p:cNvPr>
          <p:cNvSpPr>
            <a:spLocks xmlns:a="http://schemas.openxmlformats.org/drawingml/2006/main" noGrp="1"/>
          </p:cNvSpPr>
          <p:nvPr/>
        </p:nvSpPr>
        <p:spPr>
          <a:xfrm xmlns:a="http://schemas.openxmlformats.org/drawingml/2006/main">
            <a:off x="685800" y="932688"/>
            <a:ext cx="106984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800" b="1">
                <a:solidFill>
                  <a:srgbClr val="F3F0E8"/>
                </a:solidFill>
                <a:latin typeface="Inter"/>
                <a:ea typeface="Inter"/>
                <a:cs typeface="Inter"/>
              </a:rPr>
              <a:t>A compact founding team built around mission context.</a:t>
            </a:r>
            <a:endParaRPr sz="2800"/>
          </a:p>
        </p:txBody>
      </p:sp>
      <p:sp>
        <p:nvSpPr>
          <p:cNvPr id="9" name="Text 6">
            <a:extLst xmlns:a="http://schemas.openxmlformats.org/drawingml/2006/main">
              <a:ext uri="{FF2B5EF4-FFF2-40B4-BE49-F238E27FC236}">
                <a16:creationId xmlns:a16="http://schemas.microsoft.com/office/drawing/2014/main" id="{923F56BC-97D1-42F1-8AD0-6631FEC87E28}"/>
              </a:ext>
            </a:extLst>
          </p:cNvPr>
          <p:cNvSpPr>
            <a:spLocks xmlns:a="http://schemas.openxmlformats.org/drawingml/2006/main" noGrp="1"/>
          </p:cNvSpPr>
          <p:nvPr/>
        </p:nvSpPr>
        <p:spPr>
          <a:xfrm xmlns:a="http://schemas.openxmlformats.org/drawingml/2006/main">
            <a:off x="685800" y="1472184"/>
            <a:ext cx="10287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500">
                <a:solidFill>
                  <a:srgbClr val="A6A9A2"/>
                </a:solidFill>
                <a:latin typeface="IBM Plex Sans"/>
                <a:ea typeface="IBM Plex Sans"/>
                <a:cs typeface="IBM Plex Sans"/>
              </a:rPr>
              <a:t>Product leadership, operator experience, and space-systems execution in one loop.</a:t>
            </a:r>
            <a:endParaRPr sz="1500"/>
          </a:p>
        </p:txBody>
      </p:sp>
      <p:sp>
        <p:nvSpPr>
          <p:cNvPr id="10" name="Shape 7">
            <a:extLst xmlns:a="http://schemas.openxmlformats.org/drawingml/2006/main">
              <a:ext uri="{FF2B5EF4-FFF2-40B4-BE49-F238E27FC236}">
                <a16:creationId xmlns:a16="http://schemas.microsoft.com/office/drawing/2014/main" id="{45129F59-1B45-4F4D-855F-DC9D8E2F26D5}"/>
              </a:ext>
            </a:extLst>
          </p:cNvPr>
          <p:cNvSpPr>
            <a:spLocks xmlns:a="http://schemas.openxmlformats.org/drawingml/2006/main" noGrp="1"/>
          </p:cNvSpPr>
          <p:nvPr/>
        </p:nvSpPr>
        <p:spPr>
          <a:xfrm xmlns:a="http://schemas.openxmlformats.org/drawingml/2006/main">
            <a:off x="685800" y="2267712"/>
            <a:ext cx="3154680" cy="2103120"/>
          </a:xfrm>
          <a:prstGeom xmlns:a="http://schemas.openxmlformats.org/drawingml/2006/main" prst="roundRect">
            <a:avLst>
              <a:gd name="adj" fmla="val 7826"/>
            </a:avLst>
          </a:prstGeom>
          <a:solidFill xmlns:a="http://schemas.openxmlformats.org/drawingml/2006/main">
            <a:srgbClr val="0D1010"/>
          </a:solidFill>
          <a:ln xmlns:a="http://schemas.openxmlformats.org/drawingml/2006/main" w="12700">
            <a:solidFill>
              <a:srgbClr val="252A2A"/>
            </a:solidFill>
            <a:prstDash val="solid"/>
          </a:ln>
        </p:spPr>
      </p:sp>
      <p:sp>
        <p:nvSpPr>
          <p:cNvPr id="11" name="Shape 8">
            <a:extLst xmlns:a="http://schemas.openxmlformats.org/drawingml/2006/main">
              <a:ext uri="{FF2B5EF4-FFF2-40B4-BE49-F238E27FC236}">
                <a16:creationId xmlns:a16="http://schemas.microsoft.com/office/drawing/2014/main" id="{520EBDA1-3B8C-4742-A7E1-D9ACBDEAC0AF}"/>
              </a:ext>
            </a:extLst>
          </p:cNvPr>
          <p:cNvSpPr>
            <a:spLocks xmlns:a="http://schemas.openxmlformats.org/drawingml/2006/main" noGrp="1"/>
          </p:cNvSpPr>
          <p:nvPr/>
        </p:nvSpPr>
        <p:spPr>
          <a:xfrm xmlns:a="http://schemas.openxmlformats.org/drawingml/2006/main">
            <a:off x="914400" y="2523744"/>
            <a:ext cx="457200" cy="457200"/>
          </a:xfrm>
          <a:prstGeom xmlns:a="http://schemas.openxmlformats.org/drawingml/2006/main" prst="ellipse">
            <a:avLst/>
          </a:prstGeom>
          <a:solidFill xmlns:a="http://schemas.openxmlformats.org/drawingml/2006/main">
            <a:srgbClr val="CCFF00"/>
          </a:solidFill>
          <a:ln xmlns:a="http://schemas.openxmlformats.org/drawingml/2006/main" w="12700">
            <a:solidFill>
              <a:srgbClr val="CCFF00">
                <a:alpha val="0"/>
              </a:srgbClr>
            </a:solidFill>
            <a:prstDash val="solid"/>
          </a:ln>
        </p:spPr>
      </p:sp>
      <p:sp>
        <p:nvSpPr>
          <p:cNvPr id="12" name="Text 9">
            <a:extLst xmlns:a="http://schemas.openxmlformats.org/drawingml/2006/main">
              <a:ext uri="{FF2B5EF4-FFF2-40B4-BE49-F238E27FC236}">
                <a16:creationId xmlns:a16="http://schemas.microsoft.com/office/drawing/2014/main" id="{0ECFBE7B-78EC-4A2D-A4D3-4EC7E0FC5EF9}"/>
              </a:ext>
            </a:extLst>
          </p:cNvPr>
          <p:cNvSpPr>
            <a:spLocks xmlns:a="http://schemas.openxmlformats.org/drawingml/2006/main" noGrp="1"/>
          </p:cNvSpPr>
          <p:nvPr/>
        </p:nvSpPr>
        <p:spPr>
          <a:xfrm xmlns:a="http://schemas.openxmlformats.org/drawingml/2006/main">
            <a:off x="914400" y="2679192"/>
            <a:ext cx="457200"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900" b="1">
                <a:solidFill>
                  <a:srgbClr val="050505"/>
                </a:solidFill>
                <a:latin typeface="JetBrains Mono"/>
                <a:ea typeface="JetBrains Mono"/>
                <a:cs typeface="JetBrains Mono"/>
              </a:rPr>
              <a:t>JN</a:t>
            </a:r>
            <a:endParaRPr sz="900"/>
          </a:p>
        </p:txBody>
      </p:sp>
      <p:sp>
        <p:nvSpPr>
          <p:cNvPr id="13" name="Text 10">
            <a:extLst xmlns:a="http://schemas.openxmlformats.org/drawingml/2006/main">
              <a:ext uri="{FF2B5EF4-FFF2-40B4-BE49-F238E27FC236}">
                <a16:creationId xmlns:a16="http://schemas.microsoft.com/office/drawing/2014/main" id="{CD45277A-7DA1-42EE-A74C-1EAD6964FD5B}"/>
              </a:ext>
            </a:extLst>
          </p:cNvPr>
          <p:cNvSpPr>
            <a:spLocks xmlns:a="http://schemas.openxmlformats.org/drawingml/2006/main" noGrp="1"/>
          </p:cNvSpPr>
          <p:nvPr/>
        </p:nvSpPr>
        <p:spPr>
          <a:xfrm xmlns:a="http://schemas.openxmlformats.org/drawingml/2006/main">
            <a:off x="3410712" y="2578608"/>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CCFF00"/>
                </a:solidFill>
                <a:latin typeface="JetBrains Mono"/>
                <a:ea typeface="JetBrains Mono"/>
                <a:cs typeface="JetBrains Mono"/>
              </a:rPr>
              <a:t>◈</a:t>
            </a:r>
            <a:endParaRPr sz="1400"/>
          </a:p>
        </p:txBody>
      </p:sp>
      <p:sp>
        <p:nvSpPr>
          <p:cNvPr id="14" name="Text 11">
            <a:extLst xmlns:a="http://schemas.openxmlformats.org/drawingml/2006/main">
              <a:ext uri="{FF2B5EF4-FFF2-40B4-BE49-F238E27FC236}">
                <a16:creationId xmlns:a16="http://schemas.microsoft.com/office/drawing/2014/main" id="{48058F95-4F24-4F77-8B77-E369F16C665A}"/>
              </a:ext>
            </a:extLst>
          </p:cNvPr>
          <p:cNvSpPr>
            <a:spLocks xmlns:a="http://schemas.openxmlformats.org/drawingml/2006/main" noGrp="1"/>
          </p:cNvSpPr>
          <p:nvPr/>
        </p:nvSpPr>
        <p:spPr>
          <a:xfrm xmlns:a="http://schemas.openxmlformats.org/drawingml/2006/main">
            <a:off x="1600200" y="2560320"/>
            <a:ext cx="19202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400" b="1">
                <a:solidFill>
                  <a:srgbClr val="F3F0E8"/>
                </a:solidFill>
                <a:latin typeface="Inter"/>
                <a:ea typeface="Inter"/>
                <a:cs typeface="Inter"/>
              </a:rPr>
              <a:t>Joshua Nathan</a:t>
            </a:r>
            <a:endParaRPr sz="1400"/>
          </a:p>
        </p:txBody>
      </p:sp>
      <p:sp>
        <p:nvSpPr>
          <p:cNvPr id="15" name="Text 12">
            <a:extLst xmlns:a="http://schemas.openxmlformats.org/drawingml/2006/main">
              <a:ext uri="{FF2B5EF4-FFF2-40B4-BE49-F238E27FC236}">
                <a16:creationId xmlns:a16="http://schemas.microsoft.com/office/drawing/2014/main" id="{0AC92DA5-6FF3-4178-A536-D187323F1E9A}"/>
              </a:ext>
            </a:extLst>
          </p:cNvPr>
          <p:cNvSpPr>
            <a:spLocks xmlns:a="http://schemas.openxmlformats.org/drawingml/2006/main" noGrp="1"/>
          </p:cNvSpPr>
          <p:nvPr/>
        </p:nvSpPr>
        <p:spPr>
          <a:xfrm xmlns:a="http://schemas.openxmlformats.org/drawingml/2006/main">
            <a:off x="1600200" y="2944368"/>
            <a:ext cx="18288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CCFF00"/>
                </a:solidFill>
                <a:latin typeface="JetBrains Mono"/>
                <a:ea typeface="JetBrains Mono"/>
                <a:cs typeface="JetBrains Mono"/>
              </a:rPr>
              <a:t>CEO / Founder &amp; mission lead</a:t>
            </a:r>
            <a:endParaRPr sz="800"/>
          </a:p>
        </p:txBody>
      </p:sp>
      <p:sp>
        <p:nvSpPr>
          <p:cNvPr id="16" name="Shape 13">
            <a:extLst xmlns:a="http://schemas.openxmlformats.org/drawingml/2006/main">
              <a:ext uri="{FF2B5EF4-FFF2-40B4-BE49-F238E27FC236}">
                <a16:creationId xmlns:a16="http://schemas.microsoft.com/office/drawing/2014/main" id="{8C6C7171-1F65-4448-ACA8-A06BF3D0BD13}"/>
              </a:ext>
            </a:extLst>
          </p:cNvPr>
          <p:cNvSpPr>
            <a:spLocks xmlns:a="http://schemas.openxmlformats.org/drawingml/2006/main" noGrp="1"/>
          </p:cNvSpPr>
          <p:nvPr/>
        </p:nvSpPr>
        <p:spPr>
          <a:xfrm xmlns:a="http://schemas.openxmlformats.org/drawingml/2006/main">
            <a:off x="914400" y="3310128"/>
            <a:ext cx="267919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17" name="Text 14">
            <a:extLst xmlns:a="http://schemas.openxmlformats.org/drawingml/2006/main">
              <a:ext uri="{FF2B5EF4-FFF2-40B4-BE49-F238E27FC236}">
                <a16:creationId xmlns:a16="http://schemas.microsoft.com/office/drawing/2014/main" id="{7ED17EAE-B02B-4A6F-AF73-C426AB8F19D6}"/>
              </a:ext>
            </a:extLst>
          </p:cNvPr>
          <p:cNvSpPr>
            <a:spLocks xmlns:a="http://schemas.openxmlformats.org/drawingml/2006/main" noGrp="1"/>
          </p:cNvSpPr>
          <p:nvPr/>
        </p:nvSpPr>
        <p:spPr>
          <a:xfrm xmlns:a="http://schemas.openxmlformats.org/drawingml/2006/main">
            <a:off x="914400" y="3611880"/>
            <a:ext cx="25603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A6A9A2"/>
                </a:solidFill>
                <a:latin typeface="IBM Plex Sans"/>
                <a:ea typeface="IBM Plex Sans"/>
                <a:cs typeface="IBM Plex Sans"/>
              </a:rPr>
              <a:t>Product direction, mission context, and commercial wedge.</a:t>
            </a:r>
            <a:endParaRPr sz="1100"/>
          </a:p>
        </p:txBody>
      </p:sp>
      <p:sp>
        <p:nvSpPr>
          <p:cNvPr id="18" name="Shape 15">
            <a:extLst xmlns:a="http://schemas.openxmlformats.org/drawingml/2006/main">
              <a:ext uri="{FF2B5EF4-FFF2-40B4-BE49-F238E27FC236}">
                <a16:creationId xmlns:a16="http://schemas.microsoft.com/office/drawing/2014/main" id="{93CB4B89-1E0E-4108-AC2D-E625804C0647}"/>
              </a:ext>
            </a:extLst>
          </p:cNvPr>
          <p:cNvSpPr>
            <a:spLocks xmlns:a="http://schemas.openxmlformats.org/drawingml/2006/main" noGrp="1"/>
          </p:cNvSpPr>
          <p:nvPr/>
        </p:nvSpPr>
        <p:spPr>
          <a:xfrm xmlns:a="http://schemas.openxmlformats.org/drawingml/2006/main">
            <a:off x="4297680" y="2267712"/>
            <a:ext cx="3154680" cy="2103120"/>
          </a:xfrm>
          <a:prstGeom xmlns:a="http://schemas.openxmlformats.org/drawingml/2006/main" prst="roundRect">
            <a:avLst>
              <a:gd name="adj" fmla="val 7826"/>
            </a:avLst>
          </a:prstGeom>
          <a:solidFill xmlns:a="http://schemas.openxmlformats.org/drawingml/2006/main">
            <a:srgbClr val="0D1010"/>
          </a:solidFill>
          <a:ln xmlns:a="http://schemas.openxmlformats.org/drawingml/2006/main" w="12700">
            <a:solidFill>
              <a:srgbClr val="252A2A"/>
            </a:solidFill>
            <a:prstDash val="solid"/>
          </a:ln>
        </p:spPr>
      </p:sp>
      <p:sp>
        <p:nvSpPr>
          <p:cNvPr id="19" name="Shape 16">
            <a:extLst xmlns:a="http://schemas.openxmlformats.org/drawingml/2006/main">
              <a:ext uri="{FF2B5EF4-FFF2-40B4-BE49-F238E27FC236}">
                <a16:creationId xmlns:a16="http://schemas.microsoft.com/office/drawing/2014/main" id="{DFBE11FD-2D37-4B47-8143-D4419222EB38}"/>
              </a:ext>
            </a:extLst>
          </p:cNvPr>
          <p:cNvSpPr>
            <a:spLocks xmlns:a="http://schemas.openxmlformats.org/drawingml/2006/main" noGrp="1"/>
          </p:cNvSpPr>
          <p:nvPr/>
        </p:nvSpPr>
        <p:spPr>
          <a:xfrm xmlns:a="http://schemas.openxmlformats.org/drawingml/2006/main">
            <a:off x="4526280" y="2523744"/>
            <a:ext cx="457200" cy="457200"/>
          </a:xfrm>
          <a:prstGeom xmlns:a="http://schemas.openxmlformats.org/drawingml/2006/main" prst="ellipse">
            <a:avLst/>
          </a:prstGeom>
          <a:solidFill xmlns:a="http://schemas.openxmlformats.org/drawingml/2006/main">
            <a:srgbClr val="E7B14A"/>
          </a:solidFill>
          <a:ln xmlns:a="http://schemas.openxmlformats.org/drawingml/2006/main" w="12700">
            <a:solidFill>
              <a:srgbClr val="E7B14A">
                <a:alpha val="0"/>
              </a:srgbClr>
            </a:solidFill>
            <a:prstDash val="solid"/>
          </a:ln>
        </p:spPr>
      </p:sp>
      <p:sp>
        <p:nvSpPr>
          <p:cNvPr id="20" name="Text 17">
            <a:extLst xmlns:a="http://schemas.openxmlformats.org/drawingml/2006/main">
              <a:ext uri="{FF2B5EF4-FFF2-40B4-BE49-F238E27FC236}">
                <a16:creationId xmlns:a16="http://schemas.microsoft.com/office/drawing/2014/main" id="{BF92AA1B-31D1-4435-BD98-50B61DA264E6}"/>
              </a:ext>
            </a:extLst>
          </p:cNvPr>
          <p:cNvSpPr>
            <a:spLocks xmlns:a="http://schemas.openxmlformats.org/drawingml/2006/main" noGrp="1"/>
          </p:cNvSpPr>
          <p:nvPr/>
        </p:nvSpPr>
        <p:spPr>
          <a:xfrm xmlns:a="http://schemas.openxmlformats.org/drawingml/2006/main">
            <a:off x="4526280" y="2679192"/>
            <a:ext cx="457200"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900" b="1">
                <a:solidFill>
                  <a:srgbClr val="050505"/>
                </a:solidFill>
                <a:latin typeface="JetBrains Mono"/>
                <a:ea typeface="JetBrains Mono"/>
                <a:cs typeface="JetBrains Mono"/>
              </a:rPr>
              <a:t>KL</a:t>
            </a:r>
            <a:endParaRPr sz="900"/>
          </a:p>
        </p:txBody>
      </p:sp>
      <p:sp>
        <p:nvSpPr>
          <p:cNvPr id="21" name="Text 18">
            <a:extLst xmlns:a="http://schemas.openxmlformats.org/drawingml/2006/main">
              <a:ext uri="{FF2B5EF4-FFF2-40B4-BE49-F238E27FC236}">
                <a16:creationId xmlns:a16="http://schemas.microsoft.com/office/drawing/2014/main" id="{8E186CFA-D407-443D-B305-855E4999EEA8}"/>
              </a:ext>
            </a:extLst>
          </p:cNvPr>
          <p:cNvSpPr>
            <a:spLocks xmlns:a="http://schemas.openxmlformats.org/drawingml/2006/main" noGrp="1"/>
          </p:cNvSpPr>
          <p:nvPr/>
        </p:nvSpPr>
        <p:spPr>
          <a:xfrm xmlns:a="http://schemas.openxmlformats.org/drawingml/2006/main">
            <a:off x="7022592" y="2578608"/>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E7B14A"/>
                </a:solidFill>
                <a:latin typeface="JetBrains Mono"/>
                <a:ea typeface="JetBrains Mono"/>
                <a:cs typeface="JetBrains Mono"/>
              </a:rPr>
              <a:t>◎</a:t>
            </a:r>
            <a:endParaRPr sz="1400"/>
          </a:p>
        </p:txBody>
      </p:sp>
      <p:sp>
        <p:nvSpPr>
          <p:cNvPr id="22" name="Text 19">
            <a:extLst xmlns:a="http://schemas.openxmlformats.org/drawingml/2006/main">
              <a:ext uri="{FF2B5EF4-FFF2-40B4-BE49-F238E27FC236}">
                <a16:creationId xmlns:a16="http://schemas.microsoft.com/office/drawing/2014/main" id="{29CDEC9C-7F6D-49B3-BCCD-0E549DEC4EDF}"/>
              </a:ext>
            </a:extLst>
          </p:cNvPr>
          <p:cNvSpPr>
            <a:spLocks xmlns:a="http://schemas.openxmlformats.org/drawingml/2006/main" noGrp="1"/>
          </p:cNvSpPr>
          <p:nvPr/>
        </p:nvSpPr>
        <p:spPr>
          <a:xfrm xmlns:a="http://schemas.openxmlformats.org/drawingml/2006/main">
            <a:off x="5212080" y="2560320"/>
            <a:ext cx="19202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400" b="1">
                <a:solidFill>
                  <a:srgbClr val="F3F0E8"/>
                </a:solidFill>
                <a:latin typeface="Inter"/>
                <a:ea typeface="Inter"/>
                <a:cs typeface="Inter"/>
              </a:rPr>
              <a:t>Kristina Logunova</a:t>
            </a:r>
            <a:endParaRPr sz="1400"/>
          </a:p>
        </p:txBody>
      </p:sp>
      <p:sp>
        <p:nvSpPr>
          <p:cNvPr id="23" name="Text 20">
            <a:extLst xmlns:a="http://schemas.openxmlformats.org/drawingml/2006/main">
              <a:ext uri="{FF2B5EF4-FFF2-40B4-BE49-F238E27FC236}">
                <a16:creationId xmlns:a16="http://schemas.microsoft.com/office/drawing/2014/main" id="{DA268C13-E24C-4514-91A9-840356D748D7}"/>
              </a:ext>
            </a:extLst>
          </p:cNvPr>
          <p:cNvSpPr>
            <a:spLocks xmlns:a="http://schemas.openxmlformats.org/drawingml/2006/main" noGrp="1"/>
          </p:cNvSpPr>
          <p:nvPr/>
        </p:nvSpPr>
        <p:spPr>
          <a:xfrm xmlns:a="http://schemas.openxmlformats.org/drawingml/2006/main">
            <a:off x="5212080" y="2944368"/>
            <a:ext cx="18288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COO</a:t>
            </a:r>
            <a:endParaRPr sz="800"/>
          </a:p>
        </p:txBody>
      </p:sp>
      <p:sp>
        <p:nvSpPr>
          <p:cNvPr id="24" name="Shape 21">
            <a:extLst xmlns:a="http://schemas.openxmlformats.org/drawingml/2006/main">
              <a:ext uri="{FF2B5EF4-FFF2-40B4-BE49-F238E27FC236}">
                <a16:creationId xmlns:a16="http://schemas.microsoft.com/office/drawing/2014/main" id="{2DEE299B-9FEC-49DA-B76C-69D93296C0ED}"/>
              </a:ext>
            </a:extLst>
          </p:cNvPr>
          <p:cNvSpPr>
            <a:spLocks xmlns:a="http://schemas.openxmlformats.org/drawingml/2006/main" noGrp="1"/>
          </p:cNvSpPr>
          <p:nvPr/>
        </p:nvSpPr>
        <p:spPr>
          <a:xfrm xmlns:a="http://schemas.openxmlformats.org/drawingml/2006/main">
            <a:off x="4526280" y="3310128"/>
            <a:ext cx="267919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25" name="Text 22">
            <a:extLst xmlns:a="http://schemas.openxmlformats.org/drawingml/2006/main">
              <a:ext uri="{FF2B5EF4-FFF2-40B4-BE49-F238E27FC236}">
                <a16:creationId xmlns:a16="http://schemas.microsoft.com/office/drawing/2014/main" id="{925A3554-3F02-4B06-BCB8-7B74A466656F}"/>
              </a:ext>
            </a:extLst>
          </p:cNvPr>
          <p:cNvSpPr>
            <a:spLocks xmlns:a="http://schemas.openxmlformats.org/drawingml/2006/main" noGrp="1"/>
          </p:cNvSpPr>
          <p:nvPr/>
        </p:nvSpPr>
        <p:spPr>
          <a:xfrm xmlns:a="http://schemas.openxmlformats.org/drawingml/2006/main">
            <a:off x="4526280" y="3611880"/>
            <a:ext cx="25603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A6A9A2"/>
                </a:solidFill>
                <a:latin typeface="IBM Plex Sans"/>
                <a:ea typeface="IBM Plex Sans"/>
                <a:cs typeface="IBM Plex Sans"/>
              </a:rPr>
              <a:t>Human–computer interaction and operator experience.</a:t>
            </a:r>
            <a:endParaRPr sz="1100"/>
          </a:p>
        </p:txBody>
      </p:sp>
      <p:sp>
        <p:nvSpPr>
          <p:cNvPr id="26" name="Shape 23">
            <a:extLst xmlns:a="http://schemas.openxmlformats.org/drawingml/2006/main">
              <a:ext uri="{FF2B5EF4-FFF2-40B4-BE49-F238E27FC236}">
                <a16:creationId xmlns:a16="http://schemas.microsoft.com/office/drawing/2014/main" id="{B32D540C-BB92-4E63-9C30-45DC9BC8360D}"/>
              </a:ext>
            </a:extLst>
          </p:cNvPr>
          <p:cNvSpPr>
            <a:spLocks xmlns:a="http://schemas.openxmlformats.org/drawingml/2006/main" noGrp="1"/>
          </p:cNvSpPr>
          <p:nvPr/>
        </p:nvSpPr>
        <p:spPr>
          <a:xfrm xmlns:a="http://schemas.openxmlformats.org/drawingml/2006/main">
            <a:off x="7909560" y="2267712"/>
            <a:ext cx="3154680" cy="2103120"/>
          </a:xfrm>
          <a:prstGeom xmlns:a="http://schemas.openxmlformats.org/drawingml/2006/main" prst="roundRect">
            <a:avLst>
              <a:gd name="adj" fmla="val 7826"/>
            </a:avLst>
          </a:prstGeom>
          <a:solidFill xmlns:a="http://schemas.openxmlformats.org/drawingml/2006/main">
            <a:srgbClr val="0D1010"/>
          </a:solidFill>
          <a:ln xmlns:a="http://schemas.openxmlformats.org/drawingml/2006/main" w="12700">
            <a:solidFill>
              <a:srgbClr val="252A2A"/>
            </a:solidFill>
            <a:prstDash val="solid"/>
          </a:ln>
        </p:spPr>
      </p:sp>
      <p:sp>
        <p:nvSpPr>
          <p:cNvPr id="27" name="Shape 24">
            <a:extLst xmlns:a="http://schemas.openxmlformats.org/drawingml/2006/main">
              <a:ext uri="{FF2B5EF4-FFF2-40B4-BE49-F238E27FC236}">
                <a16:creationId xmlns:a16="http://schemas.microsoft.com/office/drawing/2014/main" id="{4D835749-C84A-44A1-8427-41483139356E}"/>
              </a:ext>
            </a:extLst>
          </p:cNvPr>
          <p:cNvSpPr>
            <a:spLocks xmlns:a="http://schemas.openxmlformats.org/drawingml/2006/main" noGrp="1"/>
          </p:cNvSpPr>
          <p:nvPr/>
        </p:nvSpPr>
        <p:spPr>
          <a:xfrm xmlns:a="http://schemas.openxmlformats.org/drawingml/2006/main">
            <a:off x="8138160" y="2523744"/>
            <a:ext cx="457200" cy="457200"/>
          </a:xfrm>
          <a:prstGeom xmlns:a="http://schemas.openxmlformats.org/drawingml/2006/main" prst="ellipse">
            <a:avLst/>
          </a:prstGeom>
          <a:solidFill xmlns:a="http://schemas.openxmlformats.org/drawingml/2006/main">
            <a:srgbClr val="CCFF00"/>
          </a:solidFill>
          <a:ln xmlns:a="http://schemas.openxmlformats.org/drawingml/2006/main" w="12700">
            <a:solidFill>
              <a:srgbClr val="CCFF00">
                <a:alpha val="0"/>
              </a:srgbClr>
            </a:solidFill>
            <a:prstDash val="solid"/>
          </a:ln>
        </p:spPr>
      </p:sp>
      <p:sp>
        <p:nvSpPr>
          <p:cNvPr id="28" name="Text 25">
            <a:extLst xmlns:a="http://schemas.openxmlformats.org/drawingml/2006/main">
              <a:ext uri="{FF2B5EF4-FFF2-40B4-BE49-F238E27FC236}">
                <a16:creationId xmlns:a16="http://schemas.microsoft.com/office/drawing/2014/main" id="{23DA993A-917C-469F-A7CB-68BEEA9C75C4}"/>
              </a:ext>
            </a:extLst>
          </p:cNvPr>
          <p:cNvSpPr>
            <a:spLocks xmlns:a="http://schemas.openxmlformats.org/drawingml/2006/main" noGrp="1"/>
          </p:cNvSpPr>
          <p:nvPr/>
        </p:nvSpPr>
        <p:spPr>
          <a:xfrm xmlns:a="http://schemas.openxmlformats.org/drawingml/2006/main">
            <a:off x="8138160" y="2679192"/>
            <a:ext cx="457200"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900" b="1">
                <a:solidFill>
                  <a:srgbClr val="050505"/>
                </a:solidFill>
                <a:latin typeface="JetBrains Mono"/>
                <a:ea typeface="JetBrains Mono"/>
                <a:cs typeface="JetBrains Mono"/>
              </a:rPr>
              <a:t>SH</a:t>
            </a:r>
            <a:endParaRPr sz="900"/>
          </a:p>
        </p:txBody>
      </p:sp>
      <p:sp>
        <p:nvSpPr>
          <p:cNvPr id="29" name="Text 26">
            <a:extLst xmlns:a="http://schemas.openxmlformats.org/drawingml/2006/main">
              <a:ext uri="{FF2B5EF4-FFF2-40B4-BE49-F238E27FC236}">
                <a16:creationId xmlns:a16="http://schemas.microsoft.com/office/drawing/2014/main" id="{4279494E-2E45-4FF9-98C8-231742DE88B4}"/>
              </a:ext>
            </a:extLst>
          </p:cNvPr>
          <p:cNvSpPr>
            <a:spLocks xmlns:a="http://schemas.openxmlformats.org/drawingml/2006/main" noGrp="1"/>
          </p:cNvSpPr>
          <p:nvPr/>
        </p:nvSpPr>
        <p:spPr>
          <a:xfrm xmlns:a="http://schemas.openxmlformats.org/drawingml/2006/main">
            <a:off x="10634472" y="2578608"/>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CCFF00"/>
                </a:solidFill>
                <a:latin typeface="JetBrains Mono"/>
                <a:ea typeface="JetBrains Mono"/>
                <a:cs typeface="JetBrains Mono"/>
              </a:rPr>
              <a:t>✦</a:t>
            </a:r>
            <a:endParaRPr sz="1400"/>
          </a:p>
        </p:txBody>
      </p:sp>
      <p:sp>
        <p:nvSpPr>
          <p:cNvPr id="30" name="Text 27">
            <a:extLst xmlns:a="http://schemas.openxmlformats.org/drawingml/2006/main">
              <a:ext uri="{FF2B5EF4-FFF2-40B4-BE49-F238E27FC236}">
                <a16:creationId xmlns:a16="http://schemas.microsoft.com/office/drawing/2014/main" id="{EF68145B-67D8-4B0C-A192-AAD88C70BE95}"/>
              </a:ext>
            </a:extLst>
          </p:cNvPr>
          <p:cNvSpPr>
            <a:spLocks xmlns:a="http://schemas.openxmlformats.org/drawingml/2006/main" noGrp="1"/>
          </p:cNvSpPr>
          <p:nvPr/>
        </p:nvSpPr>
        <p:spPr>
          <a:xfrm xmlns:a="http://schemas.openxmlformats.org/drawingml/2006/main">
            <a:off x="8823960" y="2560320"/>
            <a:ext cx="19202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400" b="1">
                <a:solidFill>
                  <a:srgbClr val="F3F0E8"/>
                </a:solidFill>
                <a:latin typeface="Inter"/>
                <a:ea typeface="Inter"/>
                <a:cs typeface="Inter"/>
              </a:rPr>
              <a:t>Shubham Hule</a:t>
            </a:r>
            <a:endParaRPr sz="1400"/>
          </a:p>
        </p:txBody>
      </p:sp>
      <p:sp>
        <p:nvSpPr>
          <p:cNvPr id="31" name="Text 28">
            <a:extLst xmlns:a="http://schemas.openxmlformats.org/drawingml/2006/main">
              <a:ext uri="{FF2B5EF4-FFF2-40B4-BE49-F238E27FC236}">
                <a16:creationId xmlns:a16="http://schemas.microsoft.com/office/drawing/2014/main" id="{E52D0128-D3A7-43EE-BCBB-21267A0FB4E3}"/>
              </a:ext>
            </a:extLst>
          </p:cNvPr>
          <p:cNvSpPr>
            <a:spLocks xmlns:a="http://schemas.openxmlformats.org/drawingml/2006/main" noGrp="1"/>
          </p:cNvSpPr>
          <p:nvPr/>
        </p:nvSpPr>
        <p:spPr>
          <a:xfrm xmlns:a="http://schemas.openxmlformats.org/drawingml/2006/main">
            <a:off x="8823960" y="2944368"/>
            <a:ext cx="18288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CCFF00"/>
                </a:solidFill>
                <a:latin typeface="JetBrains Mono"/>
                <a:ea typeface="JetBrains Mono"/>
                <a:cs typeface="JetBrains Mono"/>
              </a:rPr>
              <a:t>CTO</a:t>
            </a:r>
            <a:endParaRPr sz="800"/>
          </a:p>
        </p:txBody>
      </p:sp>
      <p:sp>
        <p:nvSpPr>
          <p:cNvPr id="32" name="Shape 29">
            <a:extLst xmlns:a="http://schemas.openxmlformats.org/drawingml/2006/main">
              <a:ext uri="{FF2B5EF4-FFF2-40B4-BE49-F238E27FC236}">
                <a16:creationId xmlns:a16="http://schemas.microsoft.com/office/drawing/2014/main" id="{18C7ABC4-7B04-46C0-B83F-31017B3A65C3}"/>
              </a:ext>
            </a:extLst>
          </p:cNvPr>
          <p:cNvSpPr>
            <a:spLocks xmlns:a="http://schemas.openxmlformats.org/drawingml/2006/main" noGrp="1"/>
          </p:cNvSpPr>
          <p:nvPr/>
        </p:nvSpPr>
        <p:spPr>
          <a:xfrm xmlns:a="http://schemas.openxmlformats.org/drawingml/2006/main">
            <a:off x="8138160" y="3310128"/>
            <a:ext cx="267919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33" name="Text 30">
            <a:extLst xmlns:a="http://schemas.openxmlformats.org/drawingml/2006/main">
              <a:ext uri="{FF2B5EF4-FFF2-40B4-BE49-F238E27FC236}">
                <a16:creationId xmlns:a16="http://schemas.microsoft.com/office/drawing/2014/main" id="{6A07186E-71C1-4247-81CC-D10BB62F10F5}"/>
              </a:ext>
            </a:extLst>
          </p:cNvPr>
          <p:cNvSpPr>
            <a:spLocks xmlns:a="http://schemas.openxmlformats.org/drawingml/2006/main" noGrp="1"/>
          </p:cNvSpPr>
          <p:nvPr/>
        </p:nvSpPr>
        <p:spPr>
          <a:xfrm xmlns:a="http://schemas.openxmlformats.org/drawingml/2006/main">
            <a:off x="8138160" y="3611880"/>
            <a:ext cx="25603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A6A9A2"/>
                </a:solidFill>
                <a:latin typeface="IBM Plex Sans"/>
                <a:ea typeface="IBM Plex Sans"/>
                <a:cs typeface="IBM Plex Sans"/>
              </a:rPr>
              <a:t>Space systems engineering and technical execution.</a:t>
            </a:r>
            <a:endParaRPr sz="1100"/>
          </a:p>
        </p:txBody>
      </p:sp>
      <p:sp>
        <p:nvSpPr>
          <p:cNvPr id="34" name="Shape 31">
            <a:extLst xmlns:a="http://schemas.openxmlformats.org/drawingml/2006/main">
              <a:ext uri="{FF2B5EF4-FFF2-40B4-BE49-F238E27FC236}">
                <a16:creationId xmlns:a16="http://schemas.microsoft.com/office/drawing/2014/main" id="{4159CC84-8688-4B27-9775-36B588DDFEB8}"/>
              </a:ext>
            </a:extLst>
          </p:cNvPr>
          <p:cNvSpPr>
            <a:spLocks xmlns:a="http://schemas.openxmlformats.org/drawingml/2006/main" noGrp="1"/>
          </p:cNvSpPr>
          <p:nvPr/>
        </p:nvSpPr>
        <p:spPr>
          <a:xfrm xmlns:a="http://schemas.openxmlformats.org/drawingml/2006/main">
            <a:off x="685800" y="4736592"/>
            <a:ext cx="10817352" cy="841248"/>
          </a:xfrm>
          <a:prstGeom xmlns:a="http://schemas.openxmlformats.org/drawingml/2006/main" prst="roundRect">
            <a:avLst>
              <a:gd name="adj" fmla="val 17391"/>
            </a:avLst>
          </a:prstGeom>
          <a:solidFill xmlns:a="http://schemas.openxmlformats.org/drawingml/2006/main">
            <a:srgbClr val="0D1010"/>
          </a:solidFill>
          <a:ln xmlns:a="http://schemas.openxmlformats.org/drawingml/2006/main" w="12700">
            <a:solidFill>
              <a:srgbClr val="252A2A"/>
            </a:solidFill>
            <a:prstDash val="solid"/>
          </a:ln>
        </p:spPr>
      </p:sp>
      <p:sp>
        <p:nvSpPr>
          <p:cNvPr id="35" name="Text 32">
            <a:extLst xmlns:a="http://schemas.openxmlformats.org/drawingml/2006/main">
              <a:ext uri="{FF2B5EF4-FFF2-40B4-BE49-F238E27FC236}">
                <a16:creationId xmlns:a16="http://schemas.microsoft.com/office/drawing/2014/main" id="{1DE99188-39AF-4CD3-89F8-AA234F0CF5FB}"/>
              </a:ext>
            </a:extLst>
          </p:cNvPr>
          <p:cNvSpPr>
            <a:spLocks xmlns:a="http://schemas.openxmlformats.org/drawingml/2006/main" noGrp="1"/>
          </p:cNvSpPr>
          <p:nvPr/>
        </p:nvSpPr>
        <p:spPr>
          <a:xfrm xmlns:a="http://schemas.openxmlformats.org/drawingml/2006/main">
            <a:off x="914400" y="4974336"/>
            <a:ext cx="17373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ADVISOR NETWORK</a:t>
            </a:r>
            <a:endParaRPr sz="800"/>
          </a:p>
        </p:txBody>
      </p:sp>
      <p:sp>
        <p:nvSpPr>
          <p:cNvPr id="36" name="Text 33">
            <a:extLst xmlns:a="http://schemas.openxmlformats.org/drawingml/2006/main">
              <a:ext uri="{FF2B5EF4-FFF2-40B4-BE49-F238E27FC236}">
                <a16:creationId xmlns:a16="http://schemas.microsoft.com/office/drawing/2014/main" id="{A28E7474-3D00-4D51-824D-1FF4D18C0D13}"/>
              </a:ext>
            </a:extLst>
          </p:cNvPr>
          <p:cNvSpPr>
            <a:spLocks xmlns:a="http://schemas.openxmlformats.org/drawingml/2006/main" noGrp="1"/>
          </p:cNvSpPr>
          <p:nvPr/>
        </p:nvSpPr>
        <p:spPr>
          <a:xfrm xmlns:a="http://schemas.openxmlformats.org/drawingml/2006/main">
            <a:off x="2971800" y="4919472"/>
            <a:ext cx="2377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F3F0E8"/>
                </a:solidFill>
                <a:latin typeface="IBM Plex Sans"/>
                <a:ea typeface="IBM Plex Sans"/>
                <a:cs typeface="IBM Plex Sans"/>
              </a:rPr>
              <a:t>Barbara J. Thompson  /  Solar physics &amp; NASA Goddard</a:t>
            </a:r>
            <a:endParaRPr sz="900"/>
          </a:p>
        </p:txBody>
      </p:sp>
      <p:sp>
        <p:nvSpPr>
          <p:cNvPr id="37" name="Text 34">
            <a:extLst xmlns:a="http://schemas.openxmlformats.org/drawingml/2006/main">
              <a:ext uri="{FF2B5EF4-FFF2-40B4-BE49-F238E27FC236}">
                <a16:creationId xmlns:a16="http://schemas.microsoft.com/office/drawing/2014/main" id="{4EDBE9A7-DE24-4522-B8B4-015B6A69E9E5}"/>
              </a:ext>
            </a:extLst>
          </p:cNvPr>
          <p:cNvSpPr>
            <a:spLocks xmlns:a="http://schemas.openxmlformats.org/drawingml/2006/main" noGrp="1"/>
          </p:cNvSpPr>
          <p:nvPr/>
        </p:nvSpPr>
        <p:spPr>
          <a:xfrm xmlns:a="http://schemas.openxmlformats.org/drawingml/2006/main">
            <a:off x="5504688" y="4919472"/>
            <a:ext cx="22402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F3F0E8"/>
                </a:solidFill>
                <a:latin typeface="IBM Plex Sans"/>
                <a:ea typeface="IBM Plex Sans"/>
                <a:cs typeface="IBM Plex Sans"/>
              </a:rPr>
              <a:t>Eleni Petrakou  /  Particle physics &amp; space weather</a:t>
            </a:r>
            <a:endParaRPr sz="900"/>
          </a:p>
        </p:txBody>
      </p:sp>
      <p:sp>
        <p:nvSpPr>
          <p:cNvPr id="38" name="Text 35">
            <a:extLst xmlns:a="http://schemas.openxmlformats.org/drawingml/2006/main">
              <a:ext uri="{FF2B5EF4-FFF2-40B4-BE49-F238E27FC236}">
                <a16:creationId xmlns:a16="http://schemas.microsoft.com/office/drawing/2014/main" id="{21EF76CB-9A2E-4690-B276-45FB77556230}"/>
              </a:ext>
            </a:extLst>
          </p:cNvPr>
          <p:cNvSpPr>
            <a:spLocks xmlns:a="http://schemas.openxmlformats.org/drawingml/2006/main" noGrp="1"/>
          </p:cNvSpPr>
          <p:nvPr/>
        </p:nvSpPr>
        <p:spPr>
          <a:xfrm xmlns:a="http://schemas.openxmlformats.org/drawingml/2006/main">
            <a:off x="7973568" y="4919472"/>
            <a:ext cx="2468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F3F0E8"/>
                </a:solidFill>
                <a:latin typeface="IBM Plex Sans"/>
                <a:ea typeface="IBM Plex Sans"/>
                <a:cs typeface="IBM Plex Sans"/>
              </a:rPr>
              <a:t>Jamie Berry  /  Aerospace, defence &amp; space finance</a:t>
            </a:r>
            <a:endParaRPr sz="900"/>
          </a:p>
        </p:txBody>
      </p:sp>
      <p:sp>
        <p:nvSpPr>
          <p:cNvPr id="39" name="Text 36">
            <a:extLst xmlns:a="http://schemas.openxmlformats.org/drawingml/2006/main">
              <a:ext uri="{FF2B5EF4-FFF2-40B4-BE49-F238E27FC236}">
                <a16:creationId xmlns:a16="http://schemas.microsoft.com/office/drawing/2014/main" id="{58FAC365-06D3-4D79-B5FD-E5274B0F8A14}"/>
              </a:ext>
            </a:extLst>
          </p:cNvPr>
          <p:cNvSpPr>
            <a:spLocks xmlns:a="http://schemas.openxmlformats.org/drawingml/2006/main" noGrp="1"/>
          </p:cNvSpPr>
          <p:nvPr/>
        </p:nvSpPr>
        <p:spPr>
          <a:xfrm xmlns:a="http://schemas.openxmlformats.org/drawingml/2006/main">
            <a:off x="685800" y="5989320"/>
            <a:ext cx="104241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A6A9A2"/>
                </a:solidFill>
                <a:latin typeface="IBM Plex Sans"/>
                <a:ea typeface="IBM Plex Sans"/>
                <a:cs typeface="IBM Plex Sans"/>
              </a:rPr>
              <a:t>The team slide is factual; the next diligence layer is specific founder proof and customer evidence.</a:t>
            </a:r>
            <a:endParaRPr sz="1100"/>
          </a:p>
        </p:txBody>
      </p:sp>
      <p:sp>
        <p:nvSpPr>
          <p:cNvPr id="41" name="Slide Number Placeholder 0">
            <a:extLst xmlns:a="http://schemas.openxmlformats.org/drawingml/2006/main">
              <a:ext uri="{FF2B5EF4-FFF2-40B4-BE49-F238E27FC236}">
                <a16:creationId xmlns:a16="http://schemas.microsoft.com/office/drawing/2014/main" id="{809CE116-63C5-43FD-B0F1-BF62886205A6}"/>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11</a:t>
            </a:fld>
            <a:endParaRPr/>
          </a:p>
        </p:txBody>
      </p:sp>
    </p:spTree>
    <p:extLst>
      <p:ext uri="{BB962C8B-B14F-4D97-AF65-F5344CB8AC3E}">
        <p14:creationId xmlns:p14="http://schemas.microsoft.com/office/powerpoint/2010/main" val="34510453"/>
      </p:ext>
    </p:extLst>
  </p:cSld>
</p:sld>
</file>

<file path=ppt/slides/slide1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6C74B83-FDA2-4427-8D75-B6A8F4C962DE}"/>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3" name="Text 1">
            <a:extLst xmlns:a="http://schemas.openxmlformats.org/drawingml/2006/main">
              <a:ext uri="{FF2B5EF4-FFF2-40B4-BE49-F238E27FC236}">
                <a16:creationId xmlns:a16="http://schemas.microsoft.com/office/drawing/2014/main" id="{ED11B2BE-94C6-4DE0-8333-E338A370BA46}"/>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EXECUTION</a:t>
            </a:r>
            <a:endParaRPr sz="800"/>
          </a:p>
        </p:txBody>
      </p:sp>
      <p:sp>
        <p:nvSpPr>
          <p:cNvPr id="4" name="Text 2">
            <a:extLst xmlns:a="http://schemas.openxmlformats.org/drawingml/2006/main">
              <a:ext uri="{FF2B5EF4-FFF2-40B4-BE49-F238E27FC236}">
                <a16:creationId xmlns:a16="http://schemas.microsoft.com/office/drawing/2014/main" id="{29CCB15A-885F-411C-B01A-FB160578E237}"/>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12</a:t>
            </a:r>
            <a:endParaRPr sz="800"/>
          </a:p>
        </p:txBody>
      </p:sp>
      <p:sp>
        <p:nvSpPr>
          <p:cNvPr id="5" name="Shape 3">
            <a:extLst xmlns:a="http://schemas.openxmlformats.org/drawingml/2006/main">
              <a:ext uri="{FF2B5EF4-FFF2-40B4-BE49-F238E27FC236}">
                <a16:creationId xmlns:a16="http://schemas.microsoft.com/office/drawing/2014/main" id="{CA4B2008-E180-4895-8BB7-964076CEE450}"/>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6" name="Text 4">
            <a:extLst xmlns:a="http://schemas.openxmlformats.org/drawingml/2006/main">
              <a:ext uri="{FF2B5EF4-FFF2-40B4-BE49-F238E27FC236}">
                <a16:creationId xmlns:a16="http://schemas.microsoft.com/office/drawing/2014/main" id="{80E56B86-95DC-4D55-BDD0-B9602014B55D}"/>
              </a:ext>
            </a:extLst>
          </p:cNvPr>
          <p:cNvSpPr>
            <a:spLocks xmlns:a="http://schemas.openxmlformats.org/drawingml/2006/main" noGrp="1"/>
          </p:cNvSpPr>
          <p:nvPr/>
        </p:nvSpPr>
        <p:spPr>
          <a:xfrm xmlns:a="http://schemas.openxmlformats.org/drawingml/2006/main">
            <a:off x="685800" y="932688"/>
            <a:ext cx="106984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800" b="1">
                <a:solidFill>
                  <a:srgbClr val="F3F0E8"/>
                </a:solidFill>
                <a:latin typeface="Inter"/>
                <a:ea typeface="Inter"/>
                <a:cs typeface="Inter"/>
              </a:rPr>
              <a:t>Design partners first. Procurement-ready expansion next.</a:t>
            </a:r>
            <a:endParaRPr sz="2800"/>
          </a:p>
        </p:txBody>
      </p:sp>
      <p:sp>
        <p:nvSpPr>
          <p:cNvPr id="7" name="Text 5">
            <a:extLst xmlns:a="http://schemas.openxmlformats.org/drawingml/2006/main">
              <a:ext uri="{FF2B5EF4-FFF2-40B4-BE49-F238E27FC236}">
                <a16:creationId xmlns:a16="http://schemas.microsoft.com/office/drawing/2014/main" id="{54A84A92-0A40-4F79-89FE-D06A620638BB}"/>
              </a:ext>
            </a:extLst>
          </p:cNvPr>
          <p:cNvSpPr>
            <a:spLocks xmlns:a="http://schemas.openxmlformats.org/drawingml/2006/main" noGrp="1"/>
          </p:cNvSpPr>
          <p:nvPr/>
        </p:nvSpPr>
        <p:spPr>
          <a:xfrm xmlns:a="http://schemas.openxmlformats.org/drawingml/2006/main">
            <a:off x="685800" y="1472184"/>
            <a:ext cx="10287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500">
                <a:solidFill>
                  <a:srgbClr val="A6A9A2"/>
                </a:solidFill>
                <a:latin typeface="IBM Plex Sans"/>
                <a:ea typeface="IBM Plex Sans"/>
                <a:cs typeface="IBM Plex Sans"/>
              </a:rPr>
              <a:t>The next 18 months turn the evidence contract into repeatable revenue.</a:t>
            </a:r>
            <a:endParaRPr sz="1500"/>
          </a:p>
        </p:txBody>
      </p:sp>
      <p:sp>
        <p:nvSpPr>
          <p:cNvPr id="8" name="Shape 6">
            <a:extLst xmlns:a="http://schemas.openxmlformats.org/drawingml/2006/main">
              <a:ext uri="{FF2B5EF4-FFF2-40B4-BE49-F238E27FC236}">
                <a16:creationId xmlns:a16="http://schemas.microsoft.com/office/drawing/2014/main" id="{CE879543-79C8-4156-828C-58A865D13A39}"/>
              </a:ext>
            </a:extLst>
          </p:cNvPr>
          <p:cNvSpPr>
            <a:spLocks xmlns:a="http://schemas.openxmlformats.org/drawingml/2006/main" noGrp="1"/>
          </p:cNvSpPr>
          <p:nvPr/>
        </p:nvSpPr>
        <p:spPr>
          <a:xfrm xmlns:a="http://schemas.openxmlformats.org/drawingml/2006/main">
            <a:off x="685800" y="2395728"/>
            <a:ext cx="3154680" cy="2240280"/>
          </a:xfrm>
          <a:prstGeom xmlns:a="http://schemas.openxmlformats.org/drawingml/2006/main" prst="roundRect">
            <a:avLst>
              <a:gd name="adj" fmla="val 7347"/>
            </a:avLst>
          </a:prstGeom>
          <a:solidFill xmlns:a="http://schemas.openxmlformats.org/drawingml/2006/main">
            <a:srgbClr val="0D1010"/>
          </a:solidFill>
          <a:ln xmlns:a="http://schemas.openxmlformats.org/drawingml/2006/main" w="12700">
            <a:solidFill>
              <a:srgbClr val="252A2A"/>
            </a:solidFill>
            <a:prstDash val="solid"/>
          </a:ln>
        </p:spPr>
      </p:sp>
      <p:sp>
        <p:nvSpPr>
          <p:cNvPr id="9" name="Text 7">
            <a:extLst xmlns:a="http://schemas.openxmlformats.org/drawingml/2006/main">
              <a:ext uri="{FF2B5EF4-FFF2-40B4-BE49-F238E27FC236}">
                <a16:creationId xmlns:a16="http://schemas.microsoft.com/office/drawing/2014/main" id="{FA574F04-053F-401A-8E16-FF048251EC94}"/>
              </a:ext>
            </a:extLst>
          </p:cNvPr>
          <p:cNvSpPr>
            <a:spLocks xmlns:a="http://schemas.openxmlformats.org/drawingml/2006/main" noGrp="1"/>
          </p:cNvSpPr>
          <p:nvPr/>
        </p:nvSpPr>
        <p:spPr>
          <a:xfrm xmlns:a="http://schemas.openxmlformats.org/drawingml/2006/main">
            <a:off x="914400" y="2670048"/>
            <a:ext cx="9144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CCFF00"/>
                </a:solidFill>
                <a:latin typeface="JetBrains Mono"/>
                <a:ea typeface="JetBrains Mono"/>
                <a:cs typeface="JetBrains Mono"/>
              </a:rPr>
              <a:t>0–6 mo</a:t>
            </a:r>
            <a:endParaRPr sz="800"/>
          </a:p>
        </p:txBody>
      </p:sp>
      <p:sp>
        <p:nvSpPr>
          <p:cNvPr id="10" name="Text 8">
            <a:extLst xmlns:a="http://schemas.openxmlformats.org/drawingml/2006/main">
              <a:ext uri="{FF2B5EF4-FFF2-40B4-BE49-F238E27FC236}">
                <a16:creationId xmlns:a16="http://schemas.microsoft.com/office/drawing/2014/main" id="{8C056316-2886-4469-99AD-BF2AE471CD45}"/>
              </a:ext>
            </a:extLst>
          </p:cNvPr>
          <p:cNvSpPr>
            <a:spLocks xmlns:a="http://schemas.openxmlformats.org/drawingml/2006/main" noGrp="1"/>
          </p:cNvSpPr>
          <p:nvPr/>
        </p:nvSpPr>
        <p:spPr>
          <a:xfrm xmlns:a="http://schemas.openxmlformats.org/drawingml/2006/main">
            <a:off x="3410712" y="2633472"/>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CCFF00"/>
                </a:solidFill>
                <a:latin typeface="JetBrains Mono"/>
                <a:ea typeface="JetBrains Mono"/>
                <a:cs typeface="JetBrains Mono"/>
              </a:rPr>
              <a:t>◈</a:t>
            </a:r>
            <a:endParaRPr sz="1400"/>
          </a:p>
        </p:txBody>
      </p:sp>
      <p:sp>
        <p:nvSpPr>
          <p:cNvPr id="11" name="Text 9">
            <a:extLst xmlns:a="http://schemas.openxmlformats.org/drawingml/2006/main">
              <a:ext uri="{FF2B5EF4-FFF2-40B4-BE49-F238E27FC236}">
                <a16:creationId xmlns:a16="http://schemas.microsoft.com/office/drawing/2014/main" id="{701A07BD-64D6-49BA-86C6-5536FACCF9D6}"/>
              </a:ext>
            </a:extLst>
          </p:cNvPr>
          <p:cNvSpPr>
            <a:spLocks xmlns:a="http://schemas.openxmlformats.org/drawingml/2006/main" noGrp="1"/>
          </p:cNvSpPr>
          <p:nvPr/>
        </p:nvSpPr>
        <p:spPr>
          <a:xfrm xmlns:a="http://schemas.openxmlformats.org/drawingml/2006/main">
            <a:off x="914400" y="3081528"/>
            <a:ext cx="2468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700" b="1">
                <a:solidFill>
                  <a:srgbClr val="F3F0E8"/>
                </a:solidFill>
                <a:latin typeface="Inter"/>
                <a:ea typeface="Inter"/>
                <a:cs typeface="Inter"/>
              </a:rPr>
              <a:t>Prove the wedge</a:t>
            </a:r>
            <a:endParaRPr sz="1700"/>
          </a:p>
        </p:txBody>
      </p:sp>
      <p:sp>
        <p:nvSpPr>
          <p:cNvPr id="12" name="Text 10">
            <a:extLst xmlns:a="http://schemas.openxmlformats.org/drawingml/2006/main">
              <a:ext uri="{FF2B5EF4-FFF2-40B4-BE49-F238E27FC236}">
                <a16:creationId xmlns:a16="http://schemas.microsoft.com/office/drawing/2014/main" id="{234AF457-9362-4A2C-B6C9-6659E8C505E8}"/>
              </a:ext>
            </a:extLst>
          </p:cNvPr>
          <p:cNvSpPr>
            <a:spLocks xmlns:a="http://schemas.openxmlformats.org/drawingml/2006/main" noGrp="1"/>
          </p:cNvSpPr>
          <p:nvPr/>
        </p:nvSpPr>
        <p:spPr>
          <a:xfrm xmlns:a="http://schemas.openxmlformats.org/drawingml/2006/main">
            <a:off x="914400" y="3685032"/>
            <a:ext cx="2423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A6A9A2"/>
                </a:solidFill>
                <a:latin typeface="IBM Plex Sans"/>
                <a:ea typeface="IBM Plex Sans"/>
                <a:cs typeface="IBM Plex Sans"/>
              </a:rPr>
              <a:t>2 paid ground pilots</a:t>
            </a:r>
            <a:endParaRPr sz="1100"/>
          </a:p>
          <a:p xmlns:a="http://schemas.openxmlformats.org/drawingml/2006/main">
            <a:pPr marL="0" indent="0" algn="l">
              <a:lnSpc>
                <a:spcPct val="100000"/>
              </a:lnSpc>
              <a:buNone/>
            </a:pPr>
            <a:r>
              <a:rPr sz="1100">
                <a:solidFill>
                  <a:srgbClr val="A6A9A2"/>
                </a:solidFill>
                <a:latin typeface="IBM Plex Sans"/>
                <a:ea typeface="IBM Plex Sans"/>
                <a:cs typeface="IBM Plex Sans"/>
              </a:rPr>
              <a:t>First compliance evidence pack</a:t>
            </a:r>
            <a:endParaRPr sz="1100"/>
          </a:p>
        </p:txBody>
      </p:sp>
      <p:sp>
        <p:nvSpPr>
          <p:cNvPr id="13" name="Shape 11">
            <a:extLst xmlns:a="http://schemas.openxmlformats.org/drawingml/2006/main">
              <a:ext uri="{FF2B5EF4-FFF2-40B4-BE49-F238E27FC236}">
                <a16:creationId xmlns:a16="http://schemas.microsoft.com/office/drawing/2014/main" id="{2FADDA7E-D506-4E11-AC39-AA32D93F868B}"/>
              </a:ext>
            </a:extLst>
          </p:cNvPr>
          <p:cNvSpPr>
            <a:spLocks xmlns:a="http://schemas.openxmlformats.org/drawingml/2006/main" noGrp="1"/>
          </p:cNvSpPr>
          <p:nvPr/>
        </p:nvSpPr>
        <p:spPr>
          <a:xfrm xmlns:a="http://schemas.openxmlformats.org/drawingml/2006/main">
            <a:off x="3886200" y="3566160"/>
            <a:ext cx="365760" cy="0"/>
          </a:xfrm>
          <a:prstGeom xmlns:a="http://schemas.openxmlformats.org/drawingml/2006/main" prst="line">
            <a:avLst/>
          </a:prstGeom>
          <a:noFill xmlns:a="http://schemas.openxmlformats.org/drawingml/2006/main"/>
          <a:ln xmlns:a="http://schemas.openxmlformats.org/drawingml/2006/main" w="12700">
            <a:solidFill>
              <a:srgbClr val="E7B14A"/>
            </a:solidFill>
            <a:prstDash val="solid"/>
          </a:ln>
        </p:spPr>
      </p:sp>
      <p:sp>
        <p:nvSpPr>
          <p:cNvPr id="14" name="Shape 12">
            <a:extLst xmlns:a="http://schemas.openxmlformats.org/drawingml/2006/main">
              <a:ext uri="{FF2B5EF4-FFF2-40B4-BE49-F238E27FC236}">
                <a16:creationId xmlns:a16="http://schemas.microsoft.com/office/drawing/2014/main" id="{E3F158D4-1578-4D36-BC28-A9E60350F111}"/>
              </a:ext>
            </a:extLst>
          </p:cNvPr>
          <p:cNvSpPr>
            <a:spLocks xmlns:a="http://schemas.openxmlformats.org/drawingml/2006/main" noGrp="1"/>
          </p:cNvSpPr>
          <p:nvPr/>
        </p:nvSpPr>
        <p:spPr>
          <a:xfrm xmlns:a="http://schemas.openxmlformats.org/drawingml/2006/main">
            <a:off x="4297680" y="2395728"/>
            <a:ext cx="3154680" cy="2240280"/>
          </a:xfrm>
          <a:prstGeom xmlns:a="http://schemas.openxmlformats.org/drawingml/2006/main" prst="roundRect">
            <a:avLst>
              <a:gd name="adj" fmla="val 7347"/>
            </a:avLst>
          </a:prstGeom>
          <a:solidFill xmlns:a="http://schemas.openxmlformats.org/drawingml/2006/main">
            <a:srgbClr val="0D1010"/>
          </a:solidFill>
          <a:ln xmlns:a="http://schemas.openxmlformats.org/drawingml/2006/main" w="12700">
            <a:solidFill>
              <a:srgbClr val="252A2A"/>
            </a:solidFill>
            <a:prstDash val="solid"/>
          </a:ln>
        </p:spPr>
      </p:sp>
      <p:sp>
        <p:nvSpPr>
          <p:cNvPr id="15" name="Text 13">
            <a:extLst xmlns:a="http://schemas.openxmlformats.org/drawingml/2006/main">
              <a:ext uri="{FF2B5EF4-FFF2-40B4-BE49-F238E27FC236}">
                <a16:creationId xmlns:a16="http://schemas.microsoft.com/office/drawing/2014/main" id="{A7869885-199B-49D1-BCA7-811C89A24FFE}"/>
              </a:ext>
            </a:extLst>
          </p:cNvPr>
          <p:cNvSpPr>
            <a:spLocks xmlns:a="http://schemas.openxmlformats.org/drawingml/2006/main" noGrp="1"/>
          </p:cNvSpPr>
          <p:nvPr/>
        </p:nvSpPr>
        <p:spPr>
          <a:xfrm xmlns:a="http://schemas.openxmlformats.org/drawingml/2006/main">
            <a:off x="4526280" y="2670048"/>
            <a:ext cx="9144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6–12 mo</a:t>
            </a:r>
            <a:endParaRPr sz="800"/>
          </a:p>
        </p:txBody>
      </p:sp>
      <p:sp>
        <p:nvSpPr>
          <p:cNvPr id="16" name="Text 14">
            <a:extLst xmlns:a="http://schemas.openxmlformats.org/drawingml/2006/main">
              <a:ext uri="{FF2B5EF4-FFF2-40B4-BE49-F238E27FC236}">
                <a16:creationId xmlns:a16="http://schemas.microsoft.com/office/drawing/2014/main" id="{BD6F3248-4020-4ABF-B1FD-5F85093A692B}"/>
              </a:ext>
            </a:extLst>
          </p:cNvPr>
          <p:cNvSpPr>
            <a:spLocks xmlns:a="http://schemas.openxmlformats.org/drawingml/2006/main" noGrp="1"/>
          </p:cNvSpPr>
          <p:nvPr/>
        </p:nvSpPr>
        <p:spPr>
          <a:xfrm xmlns:a="http://schemas.openxmlformats.org/drawingml/2006/main">
            <a:off x="7022592" y="2633472"/>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E7B14A"/>
                </a:solidFill>
                <a:latin typeface="JetBrains Mono"/>
                <a:ea typeface="JetBrains Mono"/>
                <a:cs typeface="JetBrains Mono"/>
              </a:rPr>
              <a:t>◎</a:t>
            </a:r>
            <a:endParaRPr sz="1400"/>
          </a:p>
        </p:txBody>
      </p:sp>
      <p:sp>
        <p:nvSpPr>
          <p:cNvPr id="17" name="Text 15">
            <a:extLst xmlns:a="http://schemas.openxmlformats.org/drawingml/2006/main">
              <a:ext uri="{FF2B5EF4-FFF2-40B4-BE49-F238E27FC236}">
                <a16:creationId xmlns:a16="http://schemas.microsoft.com/office/drawing/2014/main" id="{57147DF4-B67A-4B08-930C-04095364038D}"/>
              </a:ext>
            </a:extLst>
          </p:cNvPr>
          <p:cNvSpPr>
            <a:spLocks xmlns:a="http://schemas.openxmlformats.org/drawingml/2006/main" noGrp="1"/>
          </p:cNvSpPr>
          <p:nvPr/>
        </p:nvSpPr>
        <p:spPr>
          <a:xfrm xmlns:a="http://schemas.openxmlformats.org/drawingml/2006/main">
            <a:off x="4526280" y="3081528"/>
            <a:ext cx="2468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700" b="1">
                <a:solidFill>
                  <a:srgbClr val="F3F0E8"/>
                </a:solidFill>
                <a:latin typeface="Inter"/>
                <a:ea typeface="Inter"/>
                <a:cs typeface="Inter"/>
              </a:rPr>
              <a:t>Convert the motion</a:t>
            </a:r>
            <a:endParaRPr sz="1700"/>
          </a:p>
        </p:txBody>
      </p:sp>
      <p:sp>
        <p:nvSpPr>
          <p:cNvPr id="18" name="Text 16">
            <a:extLst xmlns:a="http://schemas.openxmlformats.org/drawingml/2006/main">
              <a:ext uri="{FF2B5EF4-FFF2-40B4-BE49-F238E27FC236}">
                <a16:creationId xmlns:a16="http://schemas.microsoft.com/office/drawing/2014/main" id="{4B790CF8-1D30-43B4-B5B3-C40BCF4BE74D}"/>
              </a:ext>
            </a:extLst>
          </p:cNvPr>
          <p:cNvSpPr>
            <a:spLocks xmlns:a="http://schemas.openxmlformats.org/drawingml/2006/main" noGrp="1"/>
          </p:cNvSpPr>
          <p:nvPr/>
        </p:nvSpPr>
        <p:spPr>
          <a:xfrm xmlns:a="http://schemas.openxmlformats.org/drawingml/2006/main">
            <a:off x="4526280" y="3685032"/>
            <a:ext cx="2423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A6A9A2"/>
                </a:solidFill>
                <a:latin typeface="IBM Plex Sans"/>
                <a:ea typeface="IBM Plex Sans"/>
                <a:cs typeface="IBM Plex Sans"/>
              </a:rPr>
              <a:t>2–3 annual fleet contracts</a:t>
            </a:r>
            <a:endParaRPr sz="1100"/>
          </a:p>
          <a:p xmlns:a="http://schemas.openxmlformats.org/drawingml/2006/main">
            <a:pPr marL="0" indent="0" algn="l">
              <a:lnSpc>
                <a:spcPct val="100000"/>
              </a:lnSpc>
              <a:buNone/>
            </a:pPr>
            <a:r>
              <a:rPr sz="1100">
                <a:solidFill>
                  <a:srgbClr val="A6A9A2"/>
                </a:solidFill>
                <a:latin typeface="IBM Plex Sans"/>
                <a:ea typeface="IBM Plex Sans"/>
                <a:cs typeface="IBM Plex Sans"/>
              </a:rPr>
              <a:t>Repeatable onboarding + billing</a:t>
            </a:r>
            <a:endParaRPr sz="1100"/>
          </a:p>
        </p:txBody>
      </p:sp>
      <p:sp>
        <p:nvSpPr>
          <p:cNvPr id="19" name="Shape 17">
            <a:extLst xmlns:a="http://schemas.openxmlformats.org/drawingml/2006/main">
              <a:ext uri="{FF2B5EF4-FFF2-40B4-BE49-F238E27FC236}">
                <a16:creationId xmlns:a16="http://schemas.microsoft.com/office/drawing/2014/main" id="{C5EC4B7D-38E7-4E78-89BB-F82E43257854}"/>
              </a:ext>
            </a:extLst>
          </p:cNvPr>
          <p:cNvSpPr>
            <a:spLocks xmlns:a="http://schemas.openxmlformats.org/drawingml/2006/main" noGrp="1"/>
          </p:cNvSpPr>
          <p:nvPr/>
        </p:nvSpPr>
        <p:spPr>
          <a:xfrm xmlns:a="http://schemas.openxmlformats.org/drawingml/2006/main">
            <a:off x="7498080" y="3566160"/>
            <a:ext cx="365760" cy="0"/>
          </a:xfrm>
          <a:prstGeom xmlns:a="http://schemas.openxmlformats.org/drawingml/2006/main" prst="line">
            <a:avLst/>
          </a:prstGeom>
          <a:noFill xmlns:a="http://schemas.openxmlformats.org/drawingml/2006/main"/>
          <a:ln xmlns:a="http://schemas.openxmlformats.org/drawingml/2006/main" w="12700">
            <a:solidFill>
              <a:srgbClr val="E7B14A"/>
            </a:solidFill>
            <a:prstDash val="solid"/>
          </a:ln>
        </p:spPr>
      </p:sp>
      <p:sp>
        <p:nvSpPr>
          <p:cNvPr id="20" name="Shape 18">
            <a:extLst xmlns:a="http://schemas.openxmlformats.org/drawingml/2006/main">
              <a:ext uri="{FF2B5EF4-FFF2-40B4-BE49-F238E27FC236}">
                <a16:creationId xmlns:a16="http://schemas.microsoft.com/office/drawing/2014/main" id="{E50AC0F4-F141-4626-9FA3-5D40147197E3}"/>
              </a:ext>
            </a:extLst>
          </p:cNvPr>
          <p:cNvSpPr>
            <a:spLocks xmlns:a="http://schemas.openxmlformats.org/drawingml/2006/main" noGrp="1"/>
          </p:cNvSpPr>
          <p:nvPr/>
        </p:nvSpPr>
        <p:spPr>
          <a:xfrm xmlns:a="http://schemas.openxmlformats.org/drawingml/2006/main">
            <a:off x="7909560" y="2395728"/>
            <a:ext cx="3154680" cy="2240280"/>
          </a:xfrm>
          <a:prstGeom xmlns:a="http://schemas.openxmlformats.org/drawingml/2006/main" prst="roundRect">
            <a:avLst>
              <a:gd name="adj" fmla="val 7347"/>
            </a:avLst>
          </a:prstGeom>
          <a:solidFill xmlns:a="http://schemas.openxmlformats.org/drawingml/2006/main">
            <a:srgbClr val="0D1010"/>
          </a:solidFill>
          <a:ln xmlns:a="http://schemas.openxmlformats.org/drawingml/2006/main" w="12700">
            <a:solidFill>
              <a:srgbClr val="252A2A"/>
            </a:solidFill>
            <a:prstDash val="solid"/>
          </a:ln>
        </p:spPr>
      </p:sp>
      <p:sp>
        <p:nvSpPr>
          <p:cNvPr id="21" name="Text 19">
            <a:extLst xmlns:a="http://schemas.openxmlformats.org/drawingml/2006/main">
              <a:ext uri="{FF2B5EF4-FFF2-40B4-BE49-F238E27FC236}">
                <a16:creationId xmlns:a16="http://schemas.microsoft.com/office/drawing/2014/main" id="{23B096AB-6615-44E7-8349-8A5B5A8C1BF8}"/>
              </a:ext>
            </a:extLst>
          </p:cNvPr>
          <p:cNvSpPr>
            <a:spLocks xmlns:a="http://schemas.openxmlformats.org/drawingml/2006/main" noGrp="1"/>
          </p:cNvSpPr>
          <p:nvPr/>
        </p:nvSpPr>
        <p:spPr>
          <a:xfrm xmlns:a="http://schemas.openxmlformats.org/drawingml/2006/main">
            <a:off x="8138160" y="2670048"/>
            <a:ext cx="9144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CCFF00"/>
                </a:solidFill>
                <a:latin typeface="JetBrains Mono"/>
                <a:ea typeface="JetBrains Mono"/>
                <a:cs typeface="JetBrains Mono"/>
              </a:rPr>
              <a:t>12–18 mo</a:t>
            </a:r>
            <a:endParaRPr sz="800"/>
          </a:p>
        </p:txBody>
      </p:sp>
      <p:sp>
        <p:nvSpPr>
          <p:cNvPr id="22" name="Text 20">
            <a:extLst xmlns:a="http://schemas.openxmlformats.org/drawingml/2006/main">
              <a:ext uri="{FF2B5EF4-FFF2-40B4-BE49-F238E27FC236}">
                <a16:creationId xmlns:a16="http://schemas.microsoft.com/office/drawing/2014/main" id="{584972C8-77C8-4E49-8B28-2B7DA92EBA56}"/>
              </a:ext>
            </a:extLst>
          </p:cNvPr>
          <p:cNvSpPr>
            <a:spLocks xmlns:a="http://schemas.openxmlformats.org/drawingml/2006/main" noGrp="1"/>
          </p:cNvSpPr>
          <p:nvPr/>
        </p:nvSpPr>
        <p:spPr>
          <a:xfrm xmlns:a="http://schemas.openxmlformats.org/drawingml/2006/main">
            <a:off x="10634472" y="2633472"/>
            <a:ext cx="228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ct val="100000"/>
              </a:lnSpc>
              <a:buNone/>
            </a:pPr>
            <a:r>
              <a:rPr sz="1400" b="1">
                <a:solidFill>
                  <a:srgbClr val="CCFF00"/>
                </a:solidFill>
                <a:latin typeface="JetBrains Mono"/>
                <a:ea typeface="JetBrains Mono"/>
                <a:cs typeface="JetBrains Mono"/>
              </a:rPr>
              <a:t>⊕</a:t>
            </a:r>
            <a:endParaRPr sz="1400"/>
          </a:p>
        </p:txBody>
      </p:sp>
      <p:sp>
        <p:nvSpPr>
          <p:cNvPr id="23" name="Text 21">
            <a:extLst xmlns:a="http://schemas.openxmlformats.org/drawingml/2006/main">
              <a:ext uri="{FF2B5EF4-FFF2-40B4-BE49-F238E27FC236}">
                <a16:creationId xmlns:a16="http://schemas.microsoft.com/office/drawing/2014/main" id="{D41EEC6E-6A97-4AD6-9CF5-A81D7D4D0C36}"/>
              </a:ext>
            </a:extLst>
          </p:cNvPr>
          <p:cNvSpPr>
            <a:spLocks xmlns:a="http://schemas.openxmlformats.org/drawingml/2006/main" noGrp="1"/>
          </p:cNvSpPr>
          <p:nvPr/>
        </p:nvSpPr>
        <p:spPr>
          <a:xfrm xmlns:a="http://schemas.openxmlformats.org/drawingml/2006/main">
            <a:off x="8138160" y="3081528"/>
            <a:ext cx="2468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700" b="1">
                <a:solidFill>
                  <a:srgbClr val="F3F0E8"/>
                </a:solidFill>
                <a:latin typeface="Inter"/>
                <a:ea typeface="Inter"/>
                <a:cs typeface="Inter"/>
              </a:rPr>
              <a:t>Expand the boundary</a:t>
            </a:r>
            <a:endParaRPr sz="1700"/>
          </a:p>
        </p:txBody>
      </p:sp>
      <p:sp>
        <p:nvSpPr>
          <p:cNvPr id="24" name="Text 22">
            <a:extLst xmlns:a="http://schemas.openxmlformats.org/drawingml/2006/main">
              <a:ext uri="{FF2B5EF4-FFF2-40B4-BE49-F238E27FC236}">
                <a16:creationId xmlns:a16="http://schemas.microsoft.com/office/drawing/2014/main" id="{E5CFD24D-E0C2-45A9-A00D-416BD1833632}"/>
              </a:ext>
            </a:extLst>
          </p:cNvPr>
          <p:cNvSpPr>
            <a:spLocks xmlns:a="http://schemas.openxmlformats.org/drawingml/2006/main" noGrp="1"/>
          </p:cNvSpPr>
          <p:nvPr/>
        </p:nvSpPr>
        <p:spPr>
          <a:xfrm xmlns:a="http://schemas.openxmlformats.org/drawingml/2006/main">
            <a:off x="8138160" y="3685032"/>
            <a:ext cx="2423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A6A9A2"/>
                </a:solidFill>
                <a:latin typeface="IBM Plex Sans"/>
                <a:ea typeface="IBM Plex Sans"/>
                <a:cs typeface="IBM Plex Sans"/>
              </a:rPr>
              <a:t>5 paid fleet accounts</a:t>
            </a:r>
            <a:endParaRPr sz="1100"/>
          </a:p>
          <a:p xmlns:a="http://schemas.openxmlformats.org/drawingml/2006/main">
            <a:pPr marL="0" indent="0" algn="l">
              <a:lnSpc>
                <a:spcPct val="100000"/>
              </a:lnSpc>
              <a:buNone/>
            </a:pPr>
            <a:r>
              <a:rPr sz="1100">
                <a:solidFill>
                  <a:srgbClr val="A6A9A2"/>
                </a:solidFill>
                <a:latin typeface="IBM Plex Sans"/>
                <a:ea typeface="IBM Plex Sans"/>
                <a:cs typeface="IBM Plex Sans"/>
              </a:rPr>
              <a:t>$500k ARR target</a:t>
            </a:r>
            <a:endParaRPr sz="1100"/>
          </a:p>
        </p:txBody>
      </p:sp>
      <p:sp>
        <p:nvSpPr>
          <p:cNvPr id="25" name="Text 23">
            <a:extLst xmlns:a="http://schemas.openxmlformats.org/drawingml/2006/main">
              <a:ext uri="{FF2B5EF4-FFF2-40B4-BE49-F238E27FC236}">
                <a16:creationId xmlns:a16="http://schemas.microsoft.com/office/drawing/2014/main" id="{D8BCD47B-F567-46F1-92FB-EA4D4109A1CC}"/>
              </a:ext>
            </a:extLst>
          </p:cNvPr>
          <p:cNvSpPr>
            <a:spLocks xmlns:a="http://schemas.openxmlformats.org/drawingml/2006/main" noGrp="1"/>
          </p:cNvSpPr>
          <p:nvPr/>
        </p:nvSpPr>
        <p:spPr>
          <a:xfrm xmlns:a="http://schemas.openxmlformats.org/drawingml/2006/main">
            <a:off x="685800" y="5522976"/>
            <a:ext cx="104241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400" b="1">
                <a:solidFill>
                  <a:srgbClr val="F3F0E8"/>
                </a:solidFill>
                <a:latin typeface="Inter"/>
                <a:ea typeface="Inter"/>
                <a:cs typeface="Inter"/>
              </a:rPr>
              <a:t>The commercial proof point is repeatable evidence delivery, not a speculative claim of autonomous spacecraft operations.</a:t>
            </a:r>
            <a:endParaRPr sz="1400"/>
          </a:p>
        </p:txBody>
      </p:sp>
      <p:sp>
        <p:nvSpPr>
          <p:cNvPr id="26" name="Slide Number Placeholder 0">
            <a:extLst xmlns:a="http://schemas.openxmlformats.org/drawingml/2006/main">
              <a:ext uri="{FF2B5EF4-FFF2-40B4-BE49-F238E27FC236}">
                <a16:creationId xmlns:a16="http://schemas.microsoft.com/office/drawing/2014/main" id="{C92F9547-734F-4CE1-B9E5-63568DB478F0}"/>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12</a:t>
            </a:fld>
            <a:endParaRPr/>
          </a:p>
        </p:txBody>
      </p:sp>
    </p:spTree>
    <p:extLst>
      <p:ext uri="{BB962C8B-B14F-4D97-AF65-F5344CB8AC3E}">
        <p14:creationId xmlns:p14="http://schemas.microsoft.com/office/powerpoint/2010/main" val="1628632755"/>
      </p:ext>
    </p:extLst>
  </p:cSld>
</p:sld>
</file>

<file path=ppt/slides/slide1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48C4638-4F1D-4F9A-927A-BD25673682D1}"/>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3" name="Text 1">
            <a:extLst xmlns:a="http://schemas.openxmlformats.org/drawingml/2006/main">
              <a:ext uri="{FF2B5EF4-FFF2-40B4-BE49-F238E27FC236}">
                <a16:creationId xmlns:a16="http://schemas.microsoft.com/office/drawing/2014/main" id="{AEC2A040-B9B4-4CE8-A1DA-5E15E50B4F7F}"/>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THE ASK</a:t>
            </a:r>
            <a:endParaRPr sz="800"/>
          </a:p>
        </p:txBody>
      </p:sp>
      <p:sp>
        <p:nvSpPr>
          <p:cNvPr id="4" name="Text 2">
            <a:extLst xmlns:a="http://schemas.openxmlformats.org/drawingml/2006/main">
              <a:ext uri="{FF2B5EF4-FFF2-40B4-BE49-F238E27FC236}">
                <a16:creationId xmlns:a16="http://schemas.microsoft.com/office/drawing/2014/main" id="{481939C5-95D2-42FE-BEE5-5A69C3C92252}"/>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13</a:t>
            </a:r>
            <a:endParaRPr sz="800"/>
          </a:p>
        </p:txBody>
      </p:sp>
      <p:sp>
        <p:nvSpPr>
          <p:cNvPr id="5" name="Shape 3">
            <a:extLst xmlns:a="http://schemas.openxmlformats.org/drawingml/2006/main">
              <a:ext uri="{FF2B5EF4-FFF2-40B4-BE49-F238E27FC236}">
                <a16:creationId xmlns:a16="http://schemas.microsoft.com/office/drawing/2014/main" id="{241134AA-76D6-458B-BBAD-D84E64025B7C}"/>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3f88de5068a4426a"/>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20642337-2EE1-4D77-8CC8-CA32FE5DD57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alpha val="32000"/>
            </a:srgbClr>
          </a:solidFill>
          <a:ln xmlns:a="http://schemas.openxmlformats.org/drawingml/2006/main" w="12700">
            <a:solidFill>
              <a:srgbClr val="050505">
                <a:alpha val="0"/>
              </a:srgbClr>
            </a:solidFill>
            <a:prstDash val="solid"/>
          </a:ln>
        </p:spPr>
      </p:sp>
      <p:sp>
        <p:nvSpPr>
          <p:cNvPr id="8" name="Text 5">
            <a:extLst xmlns:a="http://schemas.openxmlformats.org/drawingml/2006/main">
              <a:ext uri="{FF2B5EF4-FFF2-40B4-BE49-F238E27FC236}">
                <a16:creationId xmlns:a16="http://schemas.microsoft.com/office/drawing/2014/main" id="{7FDB0853-3B40-4DF5-A4D0-DA7ADF8E9EF4}"/>
              </a:ext>
            </a:extLst>
          </p:cNvPr>
          <p:cNvSpPr>
            <a:spLocks xmlns:a="http://schemas.openxmlformats.org/drawingml/2006/main" noGrp="1"/>
          </p:cNvSpPr>
          <p:nvPr/>
        </p:nvSpPr>
        <p:spPr>
          <a:xfrm xmlns:a="http://schemas.openxmlformats.org/drawingml/2006/main">
            <a:off x="685800" y="1554480"/>
            <a:ext cx="32918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5400" b="1">
                <a:solidFill>
                  <a:srgbClr val="CCFF00"/>
                </a:solidFill>
                <a:latin typeface="Inter"/>
                <a:ea typeface="Inter"/>
                <a:cs typeface="Inter"/>
              </a:rPr>
              <a:t>$1.5M</a:t>
            </a:r>
            <a:endParaRPr sz="5400"/>
          </a:p>
        </p:txBody>
      </p:sp>
      <p:sp>
        <p:nvSpPr>
          <p:cNvPr id="9" name="Text 6">
            <a:extLst xmlns:a="http://schemas.openxmlformats.org/drawingml/2006/main">
              <a:ext uri="{FF2B5EF4-FFF2-40B4-BE49-F238E27FC236}">
                <a16:creationId xmlns:a16="http://schemas.microsoft.com/office/drawing/2014/main" id="{2F7088F9-07CE-4AE6-BDCE-67605851F48E}"/>
              </a:ext>
            </a:extLst>
          </p:cNvPr>
          <p:cNvSpPr>
            <a:spLocks xmlns:a="http://schemas.openxmlformats.org/drawingml/2006/main" noGrp="1"/>
          </p:cNvSpPr>
          <p:nvPr/>
        </p:nvSpPr>
        <p:spPr>
          <a:xfrm xmlns:a="http://schemas.openxmlformats.org/drawingml/2006/main">
            <a:off x="731520" y="2331720"/>
            <a:ext cx="59436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300" b="1">
                <a:solidFill>
                  <a:srgbClr val="F3F0E8"/>
                </a:solidFill>
                <a:latin typeface="Inter"/>
                <a:ea typeface="Inter"/>
                <a:cs typeface="Inter"/>
              </a:rPr>
              <a:t>to make mission-data assurance a repeatable commercial category.</a:t>
            </a:r>
            <a:endParaRPr sz="2300"/>
          </a:p>
        </p:txBody>
      </p:sp>
      <p:sp>
        <p:nvSpPr>
          <p:cNvPr id="10" name="Text 7">
            <a:extLst xmlns:a="http://schemas.openxmlformats.org/drawingml/2006/main">
              <a:ext uri="{FF2B5EF4-FFF2-40B4-BE49-F238E27FC236}">
                <a16:creationId xmlns:a16="http://schemas.microsoft.com/office/drawing/2014/main" id="{A7C3674C-0E7C-4E6B-A105-47C91750F654}"/>
              </a:ext>
            </a:extLst>
          </p:cNvPr>
          <p:cNvSpPr>
            <a:spLocks xmlns:a="http://schemas.openxmlformats.org/drawingml/2006/main" noGrp="1"/>
          </p:cNvSpPr>
          <p:nvPr/>
        </p:nvSpPr>
        <p:spPr>
          <a:xfrm xmlns:a="http://schemas.openxmlformats.org/drawingml/2006/main">
            <a:off x="749808" y="3493008"/>
            <a:ext cx="21945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USE OF FUNDS  /  INTERNAL PLAN</a:t>
            </a:r>
            <a:endParaRPr sz="800"/>
          </a:p>
        </p:txBody>
      </p:sp>
      <p:sp>
        <p:nvSpPr>
          <p:cNvPr id="11" name="Text 8">
            <a:extLst xmlns:a="http://schemas.openxmlformats.org/drawingml/2006/main">
              <a:ext uri="{FF2B5EF4-FFF2-40B4-BE49-F238E27FC236}">
                <a16:creationId xmlns:a16="http://schemas.microsoft.com/office/drawing/2014/main" id="{A93DD0B6-8AB0-407C-95FD-2BB7B87F88E3}"/>
              </a:ext>
            </a:extLst>
          </p:cNvPr>
          <p:cNvSpPr>
            <a:spLocks xmlns:a="http://schemas.openxmlformats.org/drawingml/2006/main" noGrp="1"/>
          </p:cNvSpPr>
          <p:nvPr/>
        </p:nvSpPr>
        <p:spPr>
          <a:xfrm xmlns:a="http://schemas.openxmlformats.org/drawingml/2006/main">
            <a:off x="749808" y="3886200"/>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F3F0E8"/>
                </a:solidFill>
                <a:latin typeface="IBM Plex Sans"/>
                <a:ea typeface="IBM Plex Sans"/>
                <a:cs typeface="IBM Plex Sans"/>
              </a:rPr>
              <a:t>Product + integrations</a:t>
            </a:r>
            <a:endParaRPr sz="1100"/>
          </a:p>
        </p:txBody>
      </p:sp>
      <p:sp>
        <p:nvSpPr>
          <p:cNvPr id="12" name="Shape 9">
            <a:extLst xmlns:a="http://schemas.openxmlformats.org/drawingml/2006/main">
              <a:ext uri="{FF2B5EF4-FFF2-40B4-BE49-F238E27FC236}">
                <a16:creationId xmlns:a16="http://schemas.microsoft.com/office/drawing/2014/main" id="{2978B1B6-E8BE-412E-A766-348C68B487F6}"/>
              </a:ext>
            </a:extLst>
          </p:cNvPr>
          <p:cNvSpPr>
            <a:spLocks xmlns:a="http://schemas.openxmlformats.org/drawingml/2006/main" noGrp="1"/>
          </p:cNvSpPr>
          <p:nvPr/>
        </p:nvSpPr>
        <p:spPr>
          <a:xfrm xmlns:a="http://schemas.openxmlformats.org/drawingml/2006/main">
            <a:off x="3063240" y="3931920"/>
            <a:ext cx="2240280" cy="118872"/>
          </a:xfrm>
          <a:prstGeom xmlns:a="http://schemas.openxmlformats.org/drawingml/2006/main" prst="roundRect">
            <a:avLst>
              <a:gd name="adj" fmla="val 46154"/>
            </a:avLst>
          </a:prstGeom>
          <a:solidFill xmlns:a="http://schemas.openxmlformats.org/drawingml/2006/main">
            <a:srgbClr val="1B201F"/>
          </a:solidFill>
          <a:ln xmlns:a="http://schemas.openxmlformats.org/drawingml/2006/main" w="12700">
            <a:solidFill>
              <a:srgbClr val="050505">
                <a:alpha val="0"/>
              </a:srgbClr>
            </a:solidFill>
            <a:prstDash val="solid"/>
          </a:ln>
        </p:spPr>
      </p:sp>
      <p:sp>
        <p:nvSpPr>
          <p:cNvPr id="13" name="Shape 10">
            <a:extLst xmlns:a="http://schemas.openxmlformats.org/drawingml/2006/main">
              <a:ext uri="{FF2B5EF4-FFF2-40B4-BE49-F238E27FC236}">
                <a16:creationId xmlns:a16="http://schemas.microsoft.com/office/drawing/2014/main" id="{4F7F7688-159C-43F9-B87E-803CE6931935}"/>
              </a:ext>
            </a:extLst>
          </p:cNvPr>
          <p:cNvSpPr>
            <a:spLocks xmlns:a="http://schemas.openxmlformats.org/drawingml/2006/main" noGrp="1"/>
          </p:cNvSpPr>
          <p:nvPr/>
        </p:nvSpPr>
        <p:spPr>
          <a:xfrm xmlns:a="http://schemas.openxmlformats.org/drawingml/2006/main">
            <a:off x="3063240" y="3931920"/>
            <a:ext cx="2240280" cy="118872"/>
          </a:xfrm>
          <a:prstGeom xmlns:a="http://schemas.openxmlformats.org/drawingml/2006/main" prst="roundRect">
            <a:avLst>
              <a:gd name="adj" fmla="val 46154"/>
            </a:avLst>
          </a:prstGeom>
          <a:solidFill xmlns:a="http://schemas.openxmlformats.org/drawingml/2006/main">
            <a:srgbClr val="CCFF00"/>
          </a:solidFill>
          <a:ln xmlns:a="http://schemas.openxmlformats.org/drawingml/2006/main" w="12700">
            <a:solidFill>
              <a:srgbClr val="050505">
                <a:alpha val="0"/>
              </a:srgbClr>
            </a:solidFill>
            <a:prstDash val="solid"/>
          </a:ln>
        </p:spPr>
      </p:sp>
      <p:sp>
        <p:nvSpPr>
          <p:cNvPr id="14" name="Text 11">
            <a:extLst xmlns:a="http://schemas.openxmlformats.org/drawingml/2006/main">
              <a:ext uri="{FF2B5EF4-FFF2-40B4-BE49-F238E27FC236}">
                <a16:creationId xmlns:a16="http://schemas.microsoft.com/office/drawing/2014/main" id="{44DC7934-8F07-453A-83E7-99724EB9C838}"/>
              </a:ext>
            </a:extLst>
          </p:cNvPr>
          <p:cNvSpPr>
            <a:spLocks xmlns:a="http://schemas.openxmlformats.org/drawingml/2006/main" noGrp="1"/>
          </p:cNvSpPr>
          <p:nvPr/>
        </p:nvSpPr>
        <p:spPr>
          <a:xfrm xmlns:a="http://schemas.openxmlformats.org/drawingml/2006/main">
            <a:off x="5440680" y="3886200"/>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1000" b="1">
                <a:solidFill>
                  <a:srgbClr val="CCFF00"/>
                </a:solidFill>
                <a:latin typeface="JetBrains Mono"/>
                <a:ea typeface="JetBrains Mono"/>
                <a:cs typeface="JetBrains Mono"/>
              </a:rPr>
              <a:t>45%</a:t>
            </a:r>
            <a:endParaRPr sz="1000"/>
          </a:p>
        </p:txBody>
      </p:sp>
      <p:sp>
        <p:nvSpPr>
          <p:cNvPr id="15" name="Text 12">
            <a:extLst xmlns:a="http://schemas.openxmlformats.org/drawingml/2006/main">
              <a:ext uri="{FF2B5EF4-FFF2-40B4-BE49-F238E27FC236}">
                <a16:creationId xmlns:a16="http://schemas.microsoft.com/office/drawing/2014/main" id="{84625EC8-2F68-4463-BCAB-AC80BAAD03D6}"/>
              </a:ext>
            </a:extLst>
          </p:cNvPr>
          <p:cNvSpPr>
            <a:spLocks xmlns:a="http://schemas.openxmlformats.org/drawingml/2006/main" noGrp="1"/>
          </p:cNvSpPr>
          <p:nvPr/>
        </p:nvSpPr>
        <p:spPr>
          <a:xfrm xmlns:a="http://schemas.openxmlformats.org/drawingml/2006/main">
            <a:off x="749808" y="4233672"/>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F3F0E8"/>
                </a:solidFill>
                <a:latin typeface="IBM Plex Sans"/>
                <a:ea typeface="IBM Plex Sans"/>
                <a:cs typeface="IBM Plex Sans"/>
              </a:rPr>
              <a:t>Security + compliance</a:t>
            </a:r>
            <a:endParaRPr sz="1100"/>
          </a:p>
        </p:txBody>
      </p:sp>
      <p:sp>
        <p:nvSpPr>
          <p:cNvPr id="16" name="Shape 13">
            <a:extLst xmlns:a="http://schemas.openxmlformats.org/drawingml/2006/main">
              <a:ext uri="{FF2B5EF4-FFF2-40B4-BE49-F238E27FC236}">
                <a16:creationId xmlns:a16="http://schemas.microsoft.com/office/drawing/2014/main" id="{8DD2D7EA-8538-471F-804E-EBA3EAB3C794}"/>
              </a:ext>
            </a:extLst>
          </p:cNvPr>
          <p:cNvSpPr>
            <a:spLocks xmlns:a="http://schemas.openxmlformats.org/drawingml/2006/main" noGrp="1"/>
          </p:cNvSpPr>
          <p:nvPr/>
        </p:nvSpPr>
        <p:spPr>
          <a:xfrm xmlns:a="http://schemas.openxmlformats.org/drawingml/2006/main">
            <a:off x="3063240" y="4279392"/>
            <a:ext cx="2240280" cy="118872"/>
          </a:xfrm>
          <a:prstGeom xmlns:a="http://schemas.openxmlformats.org/drawingml/2006/main" prst="roundRect">
            <a:avLst>
              <a:gd name="adj" fmla="val 46154"/>
            </a:avLst>
          </a:prstGeom>
          <a:solidFill xmlns:a="http://schemas.openxmlformats.org/drawingml/2006/main">
            <a:srgbClr val="1B201F"/>
          </a:solidFill>
          <a:ln xmlns:a="http://schemas.openxmlformats.org/drawingml/2006/main" w="12700">
            <a:solidFill>
              <a:srgbClr val="050505">
                <a:alpha val="0"/>
              </a:srgbClr>
            </a:solidFill>
            <a:prstDash val="solid"/>
          </a:ln>
        </p:spPr>
      </p:sp>
      <p:sp>
        <p:nvSpPr>
          <p:cNvPr id="17" name="Shape 14">
            <a:extLst xmlns:a="http://schemas.openxmlformats.org/drawingml/2006/main">
              <a:ext uri="{FF2B5EF4-FFF2-40B4-BE49-F238E27FC236}">
                <a16:creationId xmlns:a16="http://schemas.microsoft.com/office/drawing/2014/main" id="{2EFD5DD0-1D90-429C-A63D-5CF4F1C69383}"/>
              </a:ext>
            </a:extLst>
          </p:cNvPr>
          <p:cNvSpPr>
            <a:spLocks xmlns:a="http://schemas.openxmlformats.org/drawingml/2006/main" noGrp="1"/>
          </p:cNvSpPr>
          <p:nvPr/>
        </p:nvSpPr>
        <p:spPr>
          <a:xfrm xmlns:a="http://schemas.openxmlformats.org/drawingml/2006/main">
            <a:off x="3063240" y="4279392"/>
            <a:ext cx="995680" cy="118872"/>
          </a:xfrm>
          <a:prstGeom xmlns:a="http://schemas.openxmlformats.org/drawingml/2006/main" prst="roundRect">
            <a:avLst>
              <a:gd name="adj" fmla="val 46154"/>
            </a:avLst>
          </a:prstGeom>
          <a:solidFill xmlns:a="http://schemas.openxmlformats.org/drawingml/2006/main">
            <a:srgbClr val="E7B14A"/>
          </a:solidFill>
          <a:ln xmlns:a="http://schemas.openxmlformats.org/drawingml/2006/main" w="12700">
            <a:solidFill>
              <a:srgbClr val="050505">
                <a:alpha val="0"/>
              </a:srgbClr>
            </a:solidFill>
            <a:prstDash val="solid"/>
          </a:ln>
        </p:spPr>
      </p:sp>
      <p:sp>
        <p:nvSpPr>
          <p:cNvPr id="18" name="Text 15">
            <a:extLst xmlns:a="http://schemas.openxmlformats.org/drawingml/2006/main">
              <a:ext uri="{FF2B5EF4-FFF2-40B4-BE49-F238E27FC236}">
                <a16:creationId xmlns:a16="http://schemas.microsoft.com/office/drawing/2014/main" id="{4AD32F52-F865-47BC-8D97-A53D543A7386}"/>
              </a:ext>
            </a:extLst>
          </p:cNvPr>
          <p:cNvSpPr>
            <a:spLocks xmlns:a="http://schemas.openxmlformats.org/drawingml/2006/main" noGrp="1"/>
          </p:cNvSpPr>
          <p:nvPr/>
        </p:nvSpPr>
        <p:spPr>
          <a:xfrm xmlns:a="http://schemas.openxmlformats.org/drawingml/2006/main">
            <a:off x="5440680" y="423367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1000" b="1">
                <a:solidFill>
                  <a:srgbClr val="E7B14A"/>
                </a:solidFill>
                <a:latin typeface="JetBrains Mono"/>
                <a:ea typeface="JetBrains Mono"/>
                <a:cs typeface="JetBrains Mono"/>
              </a:rPr>
              <a:t>20%</a:t>
            </a:r>
            <a:endParaRPr sz="1000"/>
          </a:p>
        </p:txBody>
      </p:sp>
      <p:sp>
        <p:nvSpPr>
          <p:cNvPr id="19" name="Text 16">
            <a:extLst xmlns:a="http://schemas.openxmlformats.org/drawingml/2006/main">
              <a:ext uri="{FF2B5EF4-FFF2-40B4-BE49-F238E27FC236}">
                <a16:creationId xmlns:a16="http://schemas.microsoft.com/office/drawing/2014/main" id="{AE02AC7F-A5B9-4C67-BA31-983E3C534562}"/>
              </a:ext>
            </a:extLst>
          </p:cNvPr>
          <p:cNvSpPr>
            <a:spLocks xmlns:a="http://schemas.openxmlformats.org/drawingml/2006/main" noGrp="1"/>
          </p:cNvSpPr>
          <p:nvPr/>
        </p:nvSpPr>
        <p:spPr>
          <a:xfrm xmlns:a="http://schemas.openxmlformats.org/drawingml/2006/main">
            <a:off x="749808" y="4581144"/>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F3F0E8"/>
                </a:solidFill>
                <a:latin typeface="IBM Plex Sans"/>
                <a:ea typeface="IBM Plex Sans"/>
                <a:cs typeface="IBM Plex Sans"/>
              </a:rPr>
              <a:t>GTM + design partners</a:t>
            </a:r>
            <a:endParaRPr sz="1100"/>
          </a:p>
        </p:txBody>
      </p:sp>
      <p:sp>
        <p:nvSpPr>
          <p:cNvPr id="20" name="Shape 17">
            <a:extLst xmlns:a="http://schemas.openxmlformats.org/drawingml/2006/main">
              <a:ext uri="{FF2B5EF4-FFF2-40B4-BE49-F238E27FC236}">
                <a16:creationId xmlns:a16="http://schemas.microsoft.com/office/drawing/2014/main" id="{C4B37A9E-1082-487E-B0FA-D529CE8B270D}"/>
              </a:ext>
            </a:extLst>
          </p:cNvPr>
          <p:cNvSpPr>
            <a:spLocks xmlns:a="http://schemas.openxmlformats.org/drawingml/2006/main" noGrp="1"/>
          </p:cNvSpPr>
          <p:nvPr/>
        </p:nvSpPr>
        <p:spPr>
          <a:xfrm xmlns:a="http://schemas.openxmlformats.org/drawingml/2006/main">
            <a:off x="3063240" y="4626864"/>
            <a:ext cx="2240280" cy="118872"/>
          </a:xfrm>
          <a:prstGeom xmlns:a="http://schemas.openxmlformats.org/drawingml/2006/main" prst="roundRect">
            <a:avLst>
              <a:gd name="adj" fmla="val 46154"/>
            </a:avLst>
          </a:prstGeom>
          <a:solidFill xmlns:a="http://schemas.openxmlformats.org/drawingml/2006/main">
            <a:srgbClr val="1B201F"/>
          </a:solidFill>
          <a:ln xmlns:a="http://schemas.openxmlformats.org/drawingml/2006/main" w="12700">
            <a:solidFill>
              <a:srgbClr val="050505">
                <a:alpha val="0"/>
              </a:srgbClr>
            </a:solidFill>
            <a:prstDash val="solid"/>
          </a:ln>
        </p:spPr>
      </p:sp>
      <p:sp>
        <p:nvSpPr>
          <p:cNvPr id="21" name="Shape 18">
            <a:extLst xmlns:a="http://schemas.openxmlformats.org/drawingml/2006/main">
              <a:ext uri="{FF2B5EF4-FFF2-40B4-BE49-F238E27FC236}">
                <a16:creationId xmlns:a16="http://schemas.microsoft.com/office/drawing/2014/main" id="{4E14E502-3202-4003-821A-AE5ADDE67DC2}"/>
              </a:ext>
            </a:extLst>
          </p:cNvPr>
          <p:cNvSpPr>
            <a:spLocks xmlns:a="http://schemas.openxmlformats.org/drawingml/2006/main" noGrp="1"/>
          </p:cNvSpPr>
          <p:nvPr/>
        </p:nvSpPr>
        <p:spPr>
          <a:xfrm xmlns:a="http://schemas.openxmlformats.org/drawingml/2006/main">
            <a:off x="3063240" y="4626864"/>
            <a:ext cx="995680" cy="118872"/>
          </a:xfrm>
          <a:prstGeom xmlns:a="http://schemas.openxmlformats.org/drawingml/2006/main" prst="roundRect">
            <a:avLst>
              <a:gd name="adj" fmla="val 46154"/>
            </a:avLst>
          </a:prstGeom>
          <a:solidFill xmlns:a="http://schemas.openxmlformats.org/drawingml/2006/main">
            <a:srgbClr val="E7B14A"/>
          </a:solidFill>
          <a:ln xmlns:a="http://schemas.openxmlformats.org/drawingml/2006/main" w="12700">
            <a:solidFill>
              <a:srgbClr val="050505">
                <a:alpha val="0"/>
              </a:srgbClr>
            </a:solidFill>
            <a:prstDash val="solid"/>
          </a:ln>
        </p:spPr>
      </p:sp>
      <p:sp>
        <p:nvSpPr>
          <p:cNvPr id="22" name="Text 19">
            <a:extLst xmlns:a="http://schemas.openxmlformats.org/drawingml/2006/main">
              <a:ext uri="{FF2B5EF4-FFF2-40B4-BE49-F238E27FC236}">
                <a16:creationId xmlns:a16="http://schemas.microsoft.com/office/drawing/2014/main" id="{C4BD7F1E-4D0E-40C4-B882-4299EE6BF747}"/>
              </a:ext>
            </a:extLst>
          </p:cNvPr>
          <p:cNvSpPr>
            <a:spLocks xmlns:a="http://schemas.openxmlformats.org/drawingml/2006/main" noGrp="1"/>
          </p:cNvSpPr>
          <p:nvPr/>
        </p:nvSpPr>
        <p:spPr>
          <a:xfrm xmlns:a="http://schemas.openxmlformats.org/drawingml/2006/main">
            <a:off x="5440680" y="4581144"/>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1000" b="1">
                <a:solidFill>
                  <a:srgbClr val="E7B14A"/>
                </a:solidFill>
                <a:latin typeface="JetBrains Mono"/>
                <a:ea typeface="JetBrains Mono"/>
                <a:cs typeface="JetBrains Mono"/>
              </a:rPr>
              <a:t>20%</a:t>
            </a:r>
            <a:endParaRPr sz="1000"/>
          </a:p>
        </p:txBody>
      </p:sp>
      <p:sp>
        <p:nvSpPr>
          <p:cNvPr id="23" name="Text 20">
            <a:extLst xmlns:a="http://schemas.openxmlformats.org/drawingml/2006/main">
              <a:ext uri="{FF2B5EF4-FFF2-40B4-BE49-F238E27FC236}">
                <a16:creationId xmlns:a16="http://schemas.microsoft.com/office/drawing/2014/main" id="{C2A1C0A8-C752-436B-9527-8E02028FC449}"/>
              </a:ext>
            </a:extLst>
          </p:cNvPr>
          <p:cNvSpPr>
            <a:spLocks xmlns:a="http://schemas.openxmlformats.org/drawingml/2006/main" noGrp="1"/>
          </p:cNvSpPr>
          <p:nvPr/>
        </p:nvSpPr>
        <p:spPr>
          <a:xfrm xmlns:a="http://schemas.openxmlformats.org/drawingml/2006/main">
            <a:off x="749808" y="4928616"/>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100">
                <a:solidFill>
                  <a:srgbClr val="F3F0E8"/>
                </a:solidFill>
                <a:latin typeface="IBM Plex Sans"/>
                <a:ea typeface="IBM Plex Sans"/>
                <a:cs typeface="IBM Plex Sans"/>
              </a:rPr>
              <a:t>Operations + runway</a:t>
            </a:r>
            <a:endParaRPr sz="1100"/>
          </a:p>
        </p:txBody>
      </p:sp>
      <p:sp>
        <p:nvSpPr>
          <p:cNvPr id="24" name="Shape 21">
            <a:extLst xmlns:a="http://schemas.openxmlformats.org/drawingml/2006/main">
              <a:ext uri="{FF2B5EF4-FFF2-40B4-BE49-F238E27FC236}">
                <a16:creationId xmlns:a16="http://schemas.microsoft.com/office/drawing/2014/main" id="{528148F8-E958-45A0-BD29-4216539113E7}"/>
              </a:ext>
            </a:extLst>
          </p:cNvPr>
          <p:cNvSpPr>
            <a:spLocks xmlns:a="http://schemas.openxmlformats.org/drawingml/2006/main" noGrp="1"/>
          </p:cNvSpPr>
          <p:nvPr/>
        </p:nvSpPr>
        <p:spPr>
          <a:xfrm xmlns:a="http://schemas.openxmlformats.org/drawingml/2006/main">
            <a:off x="3063240" y="4974336"/>
            <a:ext cx="2240280" cy="118872"/>
          </a:xfrm>
          <a:prstGeom xmlns:a="http://schemas.openxmlformats.org/drawingml/2006/main" prst="roundRect">
            <a:avLst>
              <a:gd name="adj" fmla="val 46154"/>
            </a:avLst>
          </a:prstGeom>
          <a:solidFill xmlns:a="http://schemas.openxmlformats.org/drawingml/2006/main">
            <a:srgbClr val="1B201F"/>
          </a:solidFill>
          <a:ln xmlns:a="http://schemas.openxmlformats.org/drawingml/2006/main" w="12700">
            <a:solidFill>
              <a:srgbClr val="050505">
                <a:alpha val="0"/>
              </a:srgbClr>
            </a:solidFill>
            <a:prstDash val="solid"/>
          </a:ln>
        </p:spPr>
      </p:sp>
      <p:sp>
        <p:nvSpPr>
          <p:cNvPr id="25" name="Shape 22">
            <a:extLst xmlns:a="http://schemas.openxmlformats.org/drawingml/2006/main">
              <a:ext uri="{FF2B5EF4-FFF2-40B4-BE49-F238E27FC236}">
                <a16:creationId xmlns:a16="http://schemas.microsoft.com/office/drawing/2014/main" id="{3963EBD8-8ACE-4F48-8271-D3EF092D622A}"/>
              </a:ext>
            </a:extLst>
          </p:cNvPr>
          <p:cNvSpPr>
            <a:spLocks xmlns:a="http://schemas.openxmlformats.org/drawingml/2006/main" noGrp="1"/>
          </p:cNvSpPr>
          <p:nvPr/>
        </p:nvSpPr>
        <p:spPr>
          <a:xfrm xmlns:a="http://schemas.openxmlformats.org/drawingml/2006/main">
            <a:off x="3063240" y="4974336"/>
            <a:ext cx="746760" cy="118872"/>
          </a:xfrm>
          <a:prstGeom xmlns:a="http://schemas.openxmlformats.org/drawingml/2006/main" prst="roundRect">
            <a:avLst>
              <a:gd name="adj" fmla="val 46154"/>
            </a:avLst>
          </a:prstGeom>
          <a:solidFill xmlns:a="http://schemas.openxmlformats.org/drawingml/2006/main">
            <a:srgbClr val="E7B14A"/>
          </a:solidFill>
          <a:ln xmlns:a="http://schemas.openxmlformats.org/drawingml/2006/main" w="12700">
            <a:solidFill>
              <a:srgbClr val="050505">
                <a:alpha val="0"/>
              </a:srgbClr>
            </a:solidFill>
            <a:prstDash val="solid"/>
          </a:ln>
        </p:spPr>
      </p:sp>
      <p:sp>
        <p:nvSpPr>
          <p:cNvPr id="26" name="Text 23">
            <a:extLst xmlns:a="http://schemas.openxmlformats.org/drawingml/2006/main">
              <a:ext uri="{FF2B5EF4-FFF2-40B4-BE49-F238E27FC236}">
                <a16:creationId xmlns:a16="http://schemas.microsoft.com/office/drawing/2014/main" id="{1A66252A-986A-4265-9EA0-B3FC1366923F}"/>
              </a:ext>
            </a:extLst>
          </p:cNvPr>
          <p:cNvSpPr>
            <a:spLocks xmlns:a="http://schemas.openxmlformats.org/drawingml/2006/main" noGrp="1"/>
          </p:cNvSpPr>
          <p:nvPr/>
        </p:nvSpPr>
        <p:spPr>
          <a:xfrm xmlns:a="http://schemas.openxmlformats.org/drawingml/2006/main">
            <a:off x="5440680" y="4928616"/>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1000" b="1">
                <a:solidFill>
                  <a:srgbClr val="E7B14A"/>
                </a:solidFill>
                <a:latin typeface="JetBrains Mono"/>
                <a:ea typeface="JetBrains Mono"/>
                <a:cs typeface="JetBrains Mono"/>
              </a:rPr>
              <a:t>15%</a:t>
            </a:r>
            <a:endParaRPr sz="1000"/>
          </a:p>
        </p:txBody>
      </p:sp>
      <p:sp>
        <p:nvSpPr>
          <p:cNvPr id="27" name="Shape 24">
            <a:extLst xmlns:a="http://schemas.openxmlformats.org/drawingml/2006/main">
              <a:ext uri="{FF2B5EF4-FFF2-40B4-BE49-F238E27FC236}">
                <a16:creationId xmlns:a16="http://schemas.microsoft.com/office/drawing/2014/main" id="{20CFE3C4-37FD-43D3-A8D8-09855E198519}"/>
              </a:ext>
            </a:extLst>
          </p:cNvPr>
          <p:cNvSpPr>
            <a:spLocks xmlns:a="http://schemas.openxmlformats.org/drawingml/2006/main" noGrp="1"/>
          </p:cNvSpPr>
          <p:nvPr/>
        </p:nvSpPr>
        <p:spPr>
          <a:xfrm xmlns:a="http://schemas.openxmlformats.org/drawingml/2006/main">
            <a:off x="7909560" y="1965960"/>
            <a:ext cx="3017520" cy="2606040"/>
          </a:xfrm>
          <a:prstGeom xmlns:a="http://schemas.openxmlformats.org/drawingml/2006/main" prst="roundRect">
            <a:avLst>
              <a:gd name="adj" fmla="val 6316"/>
            </a:avLst>
          </a:prstGeom>
          <a:solidFill xmlns:a="http://schemas.openxmlformats.org/drawingml/2006/main">
            <a:srgbClr val="0D1010"/>
          </a:solidFill>
          <a:ln xmlns:a="http://schemas.openxmlformats.org/drawingml/2006/main" w="12700">
            <a:solidFill>
              <a:srgbClr val="252A2A"/>
            </a:solidFill>
            <a:prstDash val="solid"/>
          </a:ln>
        </p:spPr>
      </p:sp>
      <p:sp>
        <p:nvSpPr>
          <p:cNvPr id="28" name="Text 25">
            <a:extLst xmlns:a="http://schemas.openxmlformats.org/drawingml/2006/main">
              <a:ext uri="{FF2B5EF4-FFF2-40B4-BE49-F238E27FC236}">
                <a16:creationId xmlns:a16="http://schemas.microsoft.com/office/drawing/2014/main" id="{C4C63FF3-C9AA-4835-B4AF-29A6018A1FF7}"/>
              </a:ext>
            </a:extLst>
          </p:cNvPr>
          <p:cNvSpPr>
            <a:spLocks xmlns:a="http://schemas.openxmlformats.org/drawingml/2006/main" noGrp="1"/>
          </p:cNvSpPr>
          <p:nvPr/>
        </p:nvSpPr>
        <p:spPr>
          <a:xfrm xmlns:a="http://schemas.openxmlformats.org/drawingml/2006/main">
            <a:off x="8183880" y="2286000"/>
            <a:ext cx="192024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THE PROOF POINT</a:t>
            </a:r>
            <a:endParaRPr sz="800"/>
          </a:p>
        </p:txBody>
      </p:sp>
      <p:sp>
        <p:nvSpPr>
          <p:cNvPr id="29" name="Text 26">
            <a:extLst xmlns:a="http://schemas.openxmlformats.org/drawingml/2006/main">
              <a:ext uri="{FF2B5EF4-FFF2-40B4-BE49-F238E27FC236}">
                <a16:creationId xmlns:a16="http://schemas.microsoft.com/office/drawing/2014/main" id="{1F66DD55-86C7-47F5-B2D0-8093D34E4A0F}"/>
              </a:ext>
            </a:extLst>
          </p:cNvPr>
          <p:cNvSpPr>
            <a:spLocks xmlns:a="http://schemas.openxmlformats.org/drawingml/2006/main" noGrp="1"/>
          </p:cNvSpPr>
          <p:nvPr/>
        </p:nvSpPr>
        <p:spPr>
          <a:xfrm xmlns:a="http://schemas.openxmlformats.org/drawingml/2006/main">
            <a:off x="8183880" y="2697480"/>
            <a:ext cx="22860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3100" b="1">
                <a:solidFill>
                  <a:srgbClr val="F3F0E8"/>
                </a:solidFill>
                <a:latin typeface="Inter"/>
                <a:ea typeface="Inter"/>
                <a:cs typeface="Inter"/>
              </a:rPr>
              <a:t>5 fleet</a:t>
            </a:r>
            <a:endParaRPr sz="3100"/>
          </a:p>
          <a:p xmlns:a="http://schemas.openxmlformats.org/drawingml/2006/main">
            <a:pPr marL="0" indent="0" algn="l">
              <a:lnSpc>
                <a:spcPct val="100000"/>
              </a:lnSpc>
              <a:buNone/>
            </a:pPr>
            <a:r>
              <a:rPr sz="3100" b="1">
                <a:solidFill>
                  <a:srgbClr val="F3F0E8"/>
                </a:solidFill>
                <a:latin typeface="Inter"/>
                <a:ea typeface="Inter"/>
                <a:cs typeface="Inter"/>
              </a:rPr>
              <a:t>accounts</a:t>
            </a:r>
            <a:endParaRPr sz="3100"/>
          </a:p>
        </p:txBody>
      </p:sp>
      <p:sp>
        <p:nvSpPr>
          <p:cNvPr id="30" name="Shape 27">
            <a:extLst xmlns:a="http://schemas.openxmlformats.org/drawingml/2006/main">
              <a:ext uri="{FF2B5EF4-FFF2-40B4-BE49-F238E27FC236}">
                <a16:creationId xmlns:a16="http://schemas.microsoft.com/office/drawing/2014/main" id="{EB44EE04-12E7-4D16-963D-EC0978D9E1C3}"/>
              </a:ext>
            </a:extLst>
          </p:cNvPr>
          <p:cNvSpPr>
            <a:spLocks xmlns:a="http://schemas.openxmlformats.org/drawingml/2006/main" noGrp="1"/>
          </p:cNvSpPr>
          <p:nvPr/>
        </p:nvSpPr>
        <p:spPr>
          <a:xfrm xmlns:a="http://schemas.openxmlformats.org/drawingml/2006/main">
            <a:off x="8183880" y="3703320"/>
            <a:ext cx="2377440"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31" name="Text 28">
            <a:extLst xmlns:a="http://schemas.openxmlformats.org/drawingml/2006/main">
              <a:ext uri="{FF2B5EF4-FFF2-40B4-BE49-F238E27FC236}">
                <a16:creationId xmlns:a16="http://schemas.microsoft.com/office/drawing/2014/main" id="{9B3DBE80-14D8-4F4D-95E0-D5EB6736E5EF}"/>
              </a:ext>
            </a:extLst>
          </p:cNvPr>
          <p:cNvSpPr>
            <a:spLocks xmlns:a="http://schemas.openxmlformats.org/drawingml/2006/main" noGrp="1"/>
          </p:cNvSpPr>
          <p:nvPr/>
        </p:nvSpPr>
        <p:spPr>
          <a:xfrm xmlns:a="http://schemas.openxmlformats.org/drawingml/2006/main">
            <a:off x="8183880" y="395020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400" b="1">
                <a:solidFill>
                  <a:srgbClr val="CCFF00"/>
                </a:solidFill>
                <a:latin typeface="JetBrains Mono"/>
                <a:ea typeface="JetBrains Mono"/>
                <a:cs typeface="JetBrains Mono"/>
              </a:rPr>
              <a:t>$500k ARR</a:t>
            </a:r>
            <a:endParaRPr sz="1400"/>
          </a:p>
          <a:p xmlns:a="http://schemas.openxmlformats.org/drawingml/2006/main">
            <a:pPr marL="0" indent="0" algn="l">
              <a:lnSpc>
                <a:spcPct val="100000"/>
              </a:lnSpc>
              <a:buNone/>
            </a:pPr>
            <a:r>
              <a:rPr sz="1400" b="1">
                <a:solidFill>
                  <a:srgbClr val="CCFF00"/>
                </a:solidFill>
                <a:latin typeface="JetBrains Mono"/>
                <a:ea typeface="JetBrains Mono"/>
                <a:cs typeface="JetBrains Mono"/>
              </a:rPr>
              <a:t>Ground-first</a:t>
            </a:r>
            <a:endParaRPr sz="1400"/>
          </a:p>
          <a:p xmlns:a="http://schemas.openxmlformats.org/drawingml/2006/main">
            <a:pPr marL="0" indent="0" algn="l">
              <a:lnSpc>
                <a:spcPct val="100000"/>
              </a:lnSpc>
              <a:buNone/>
            </a:pPr>
            <a:r>
              <a:rPr sz="1400" b="1">
                <a:solidFill>
                  <a:srgbClr val="CCFF00"/>
                </a:solidFill>
                <a:latin typeface="JetBrains Mono"/>
                <a:ea typeface="JetBrains Mono"/>
                <a:cs typeface="JetBrains Mono"/>
              </a:rPr>
              <a:t>Evidence-ready</a:t>
            </a:r>
            <a:endParaRPr sz="1400"/>
          </a:p>
        </p:txBody>
      </p:sp>
      <p:sp>
        <p:nvSpPr>
          <p:cNvPr id="32" name="Text 29">
            <a:extLst xmlns:a="http://schemas.openxmlformats.org/drawingml/2006/main">
              <a:ext uri="{FF2B5EF4-FFF2-40B4-BE49-F238E27FC236}">
                <a16:creationId xmlns:a16="http://schemas.microsoft.com/office/drawing/2014/main" id="{4B4CE7DB-9CCA-474B-BC3D-C047C467757E}"/>
              </a:ext>
            </a:extLst>
          </p:cNvPr>
          <p:cNvSpPr>
            <a:spLocks xmlns:a="http://schemas.openxmlformats.org/drawingml/2006/main" noGrp="1"/>
          </p:cNvSpPr>
          <p:nvPr/>
        </p:nvSpPr>
        <p:spPr>
          <a:xfrm xmlns:a="http://schemas.openxmlformats.org/drawingml/2006/main">
            <a:off x="731520" y="6181344"/>
            <a:ext cx="71323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a:solidFill>
                  <a:srgbClr val="A6A9A2"/>
                </a:solidFill>
                <a:latin typeface="IBM Plex Sans"/>
                <a:ea typeface="IBM Plex Sans"/>
                <a:cs typeface="IBM Plex Sans"/>
              </a:rPr>
              <a:t>Gauss gives space operators a safer path from data abundance to trusted action.</a:t>
            </a:r>
            <a:endParaRPr sz="1000"/>
          </a:p>
        </p:txBody>
      </p:sp>
      <p:sp>
        <p:nvSpPr>
          <p:cNvPr id="34" name="Slide Number Placeholder 0">
            <a:extLst xmlns:a="http://schemas.openxmlformats.org/drawingml/2006/main">
              <a:ext uri="{FF2B5EF4-FFF2-40B4-BE49-F238E27FC236}">
                <a16:creationId xmlns:a16="http://schemas.microsoft.com/office/drawing/2014/main" id="{D8EA657D-CD3C-4FB3-AE80-20AE402ECB8B}"/>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13</a:t>
            </a:fld>
            <a:endParaRPr/>
          </a:p>
        </p:txBody>
      </p:sp>
    </p:spTree>
    <p:extLst>
      <p:ext uri="{BB962C8B-B14F-4D97-AF65-F5344CB8AC3E}">
        <p14:creationId xmlns:p14="http://schemas.microsoft.com/office/powerpoint/2010/main" val="1725542154"/>
      </p:ext>
    </p:extLst>
  </p:cSld>
</p:sld>
</file>

<file path=ppt/slides/slide1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pic>
        <p:nvPicPr>
          <p:cNvPr id="28" name="Image 0"/>
          <p:cNvPicPr>
            <a:picLocks xmlns:a="http://schemas.openxmlformats.org/drawingml/2006/main" noChangeAspect="1"/>
          </p:cNvPicPr>
          <p:nvPr/>
        </p:nvPicPr>
        <p:blipFill>
          <a:blip xmlns:r="http://schemas.openxmlformats.org/officeDocument/2006/relationships" xmlns:a="http://schemas.openxmlformats.org/drawingml/2006/main" r:embed="Rdf117b40ba99487a">
            <a:alphaModFix amt="96000"/>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AA5D16EA-A594-4940-ADBD-A0CE7C56219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alpha val="12000"/>
            </a:srgbClr>
          </a:solidFill>
          <a:ln xmlns:a="http://schemas.openxmlformats.org/drawingml/2006/main" w="12700">
            <a:solidFill>
              <a:srgbClr val="050505">
                <a:alpha val="0"/>
              </a:srgbClr>
            </a:solidFill>
            <a:prstDash val="solid"/>
          </a:ln>
        </p:spPr>
      </p:sp>
      <p:sp>
        <p:nvSpPr>
          <p:cNvPr id="4" name="Text 1">
            <a:extLst xmlns:a="http://schemas.openxmlformats.org/drawingml/2006/main">
              <a:ext uri="{FF2B5EF4-FFF2-40B4-BE49-F238E27FC236}">
                <a16:creationId xmlns:a16="http://schemas.microsoft.com/office/drawing/2014/main" id="{F2E42D30-4FE5-4659-9713-1FF18A2B0DB4}"/>
              </a:ext>
            </a:extLst>
          </p:cNvPr>
          <p:cNvSpPr>
            <a:spLocks xmlns:a="http://schemas.openxmlformats.org/drawingml/2006/main" noGrp="1"/>
          </p:cNvSpPr>
          <p:nvPr/>
        </p:nvSpPr>
        <p:spPr>
          <a:xfrm xmlns:a="http://schemas.openxmlformats.org/drawingml/2006/main">
            <a:off x="685800" y="329184"/>
            <a:ext cx="822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000" b="1">
                <a:solidFill>
                  <a:srgbClr val="CCFF00"/>
                </a:solidFill>
                <a:latin typeface="JetBrains Mono"/>
                <a:ea typeface="JetBrains Mono"/>
                <a:cs typeface="JetBrains Mono"/>
              </a:rPr>
              <a:t>GAUSS</a:t>
            </a:r>
            <a:endParaRPr sz="1000"/>
          </a:p>
        </p:txBody>
      </p:sp>
      <p:sp>
        <p:nvSpPr>
          <p:cNvPr id="5" name="Text 2">
            <a:extLst xmlns:a="http://schemas.openxmlformats.org/drawingml/2006/main">
              <a:ext uri="{FF2B5EF4-FFF2-40B4-BE49-F238E27FC236}">
                <a16:creationId xmlns:a16="http://schemas.microsoft.com/office/drawing/2014/main" id="{4FB60255-380F-4608-9E19-40541833927A}"/>
              </a:ext>
            </a:extLst>
          </p:cNvPr>
          <p:cNvSpPr>
            <a:spLocks xmlns:a="http://schemas.openxmlformats.org/drawingml/2006/main" noGrp="1"/>
          </p:cNvSpPr>
          <p:nvPr/>
        </p:nvSpPr>
        <p:spPr>
          <a:xfrm xmlns:a="http://schemas.openxmlformats.org/drawingml/2006/main">
            <a:off x="1810512" y="338328"/>
            <a:ext cx="3657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A6A9A2"/>
                </a:solidFill>
                <a:latin typeface="JetBrains Mono"/>
                <a:ea typeface="JetBrains Mono"/>
                <a:cs typeface="JetBrains Mono"/>
              </a:rPr>
              <a:t>READINESS</a:t>
            </a:r>
            <a:endParaRPr sz="800"/>
          </a:p>
        </p:txBody>
      </p:sp>
      <p:sp>
        <p:nvSpPr>
          <p:cNvPr id="6" name="Text 3">
            <a:extLst xmlns:a="http://schemas.openxmlformats.org/drawingml/2006/main">
              <a:ext uri="{FF2B5EF4-FFF2-40B4-BE49-F238E27FC236}">
                <a16:creationId xmlns:a16="http://schemas.microsoft.com/office/drawing/2014/main" id="{9840C083-8E58-4D9B-BAEF-3E7AB5822A76}"/>
              </a:ext>
            </a:extLst>
          </p:cNvPr>
          <p:cNvSpPr>
            <a:spLocks xmlns:a="http://schemas.openxmlformats.org/drawingml/2006/main" noGrp="1"/>
          </p:cNvSpPr>
          <p:nvPr/>
        </p:nvSpPr>
        <p:spPr>
          <a:xfrm xmlns:a="http://schemas.openxmlformats.org/drawingml/2006/main">
            <a:off x="10991088" y="338328"/>
            <a:ext cx="43891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lnSpc>
                <a:spcPct val="100000"/>
              </a:lnSpc>
              <a:buNone/>
            </a:pPr>
            <a:r>
              <a:rPr sz="800" b="1">
                <a:solidFill>
                  <a:srgbClr val="E7B14A"/>
                </a:solidFill>
                <a:latin typeface="JetBrains Mono"/>
                <a:ea typeface="JetBrains Mono"/>
                <a:cs typeface="JetBrains Mono"/>
              </a:rPr>
              <a:t>14</a:t>
            </a:r>
            <a:endParaRPr sz="800"/>
          </a:p>
        </p:txBody>
      </p:sp>
      <p:sp>
        <p:nvSpPr>
          <p:cNvPr id="7" name="Shape 4">
            <a:extLst xmlns:a="http://schemas.openxmlformats.org/drawingml/2006/main">
              <a:ext uri="{FF2B5EF4-FFF2-40B4-BE49-F238E27FC236}">
                <a16:creationId xmlns:a16="http://schemas.microsoft.com/office/drawing/2014/main" id="{F3FFD099-4698-4FB0-A813-DE627477B9E7}"/>
              </a:ext>
            </a:extLst>
          </p:cNvPr>
          <p:cNvSpPr>
            <a:spLocks xmlns:a="http://schemas.openxmlformats.org/drawingml/2006/main" noGrp="1"/>
          </p:cNvSpPr>
          <p:nvPr/>
        </p:nvSpPr>
        <p:spPr>
          <a:xfrm xmlns:a="http://schemas.openxmlformats.org/drawingml/2006/main">
            <a:off x="685800" y="685800"/>
            <a:ext cx="10817352" cy="0"/>
          </a:xfrm>
          <a:prstGeom xmlns:a="http://schemas.openxmlformats.org/drawingml/2006/main" prst="line">
            <a:avLst/>
          </a:prstGeom>
          <a:noFill xmlns:a="http://schemas.openxmlformats.org/drawingml/2006/main"/>
          <a:ln xmlns:a="http://schemas.openxmlformats.org/drawingml/2006/main" w="12700">
            <a:solidFill>
              <a:srgbClr val="252A2A"/>
            </a:solidFill>
            <a:prstDash val="solid"/>
          </a:ln>
        </p:spPr>
      </p:sp>
      <p:sp>
        <p:nvSpPr>
          <p:cNvPr id="8" name="Text 5">
            <a:extLst xmlns:a="http://schemas.openxmlformats.org/drawingml/2006/main">
              <a:ext uri="{FF2B5EF4-FFF2-40B4-BE49-F238E27FC236}">
                <a16:creationId xmlns:a16="http://schemas.microsoft.com/office/drawing/2014/main" id="{6EF7924A-0FC7-4F88-8358-385D71627435}"/>
              </a:ext>
            </a:extLst>
          </p:cNvPr>
          <p:cNvSpPr>
            <a:spLocks xmlns:a="http://schemas.openxmlformats.org/drawingml/2006/main" noGrp="1"/>
          </p:cNvSpPr>
          <p:nvPr/>
        </p:nvSpPr>
        <p:spPr>
          <a:xfrm xmlns:a="http://schemas.openxmlformats.org/drawingml/2006/main">
            <a:off x="685800" y="932688"/>
            <a:ext cx="106984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2800" b="1">
                <a:solidFill>
                  <a:srgbClr val="F3F0E8"/>
                </a:solidFill>
                <a:latin typeface="Inter"/>
                <a:ea typeface="Inter"/>
                <a:cs typeface="Inter"/>
              </a:rPr>
              <a:t>Investor-ready story; diligence-ready evidence is next.</a:t>
            </a:r>
            <a:endParaRPr sz="2800"/>
          </a:p>
        </p:txBody>
      </p:sp>
      <p:sp>
        <p:nvSpPr>
          <p:cNvPr id="9" name="Text 6">
            <a:extLst xmlns:a="http://schemas.openxmlformats.org/drawingml/2006/main">
              <a:ext uri="{FF2B5EF4-FFF2-40B4-BE49-F238E27FC236}">
                <a16:creationId xmlns:a16="http://schemas.microsoft.com/office/drawing/2014/main" id="{5A3D415A-9CE2-48E7-A639-F2EDC69060C7}"/>
              </a:ext>
            </a:extLst>
          </p:cNvPr>
          <p:cNvSpPr>
            <a:spLocks xmlns:a="http://schemas.openxmlformats.org/drawingml/2006/main" noGrp="1"/>
          </p:cNvSpPr>
          <p:nvPr/>
        </p:nvSpPr>
        <p:spPr>
          <a:xfrm xmlns:a="http://schemas.openxmlformats.org/drawingml/2006/main">
            <a:off x="685800" y="1472184"/>
            <a:ext cx="10287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1500">
                <a:solidFill>
                  <a:srgbClr val="A6A9A2"/>
                </a:solidFill>
                <a:latin typeface="IBM Plex Sans"/>
                <a:ea typeface="IBM Plex Sans"/>
                <a:cs typeface="IBM Plex Sans"/>
              </a:rPr>
              <a:t>A practical scorecard against ESA BIC, YC, Seraphim, and the current SpaceTech visual bar.</a:t>
            </a:r>
            <a:endParaRPr sz="1500"/>
          </a:p>
        </p:txBody>
      </p:sp>
      <p:graphicFrame>
        <p:nvGraphicFramePr>
          <p:cNvPr id="36" name="Table 0"/>
          <p:cNvGraphicFramePr/>
          <p:nvPr/>
        </p:nvGraphicFramePr>
        <p:xfrm>
          <a:off xmlns:a="http://schemas.openxmlformats.org/drawingml/2006/main" x="685800" y="2157984"/>
          <a:ext xmlns:a="http://schemas.openxmlformats.org/drawingml/2006/main" cx="10817352" cy="2880360"/>
        </p:xfrm>
        <a:graphic xmlns:a="http://schemas.openxmlformats.org/drawingml/2006/main">
          <a:graphicData uri="http://schemas.openxmlformats.org/drawingml/2006/table">
            <a:tbl>
              <a:tblPr/>
              <a:tblGrid>
                <a:gridCol w="1691640"/>
                <a:gridCol w="2880360"/>
                <a:gridCol w="4983480"/>
                <a:gridCol w="1261872"/>
              </a:tblGrid>
              <a:tr h="480060">
                <a:tc>
                  <a:txBody>
                    <a:bodyPr/>
                    <a:lstStyle/>
                    <a:p>
                      <a:pPr marL="0" indent="0">
                        <a:buNone/>
                      </a:pPr>
                      <a:r>
                        <a:rPr sz="900" b="1">
                          <a:solidFill>
                            <a:srgbClr val="050505"/>
                          </a:solidFill>
                          <a:latin typeface="JetBrains Mono"/>
                          <a:ea typeface="JetBrains Mono"/>
                          <a:cs typeface="JetBrains Mono"/>
                        </a:rPr>
                        <a:t>LENS</a:t>
                      </a:r>
                      <a:endParaRPr sz="900">
                        <a:latin typeface="JetBrains Mono"/>
                        <a:ea typeface="JetBrains Mono"/>
                        <a:cs typeface="JetBrains Mono"/>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E7B14A"/>
                    </a:solidFill>
                  </a:tcPr>
                </a:tc>
                <a:tc>
                  <a:txBody>
                    <a:bodyPr/>
                    <a:lstStyle/>
                    <a:p>
                      <a:pPr marL="0" indent="0">
                        <a:buNone/>
                      </a:pPr>
                      <a:r>
                        <a:rPr sz="900" b="1">
                          <a:solidFill>
                            <a:srgbClr val="050505"/>
                          </a:solidFill>
                          <a:latin typeface="JetBrains Mono"/>
                          <a:ea typeface="JetBrains Mono"/>
                          <a:cs typeface="JetBrains Mono"/>
                        </a:rPr>
                        <a:t>MUST SHOW</a:t>
                      </a:r>
                      <a:endParaRPr sz="900">
                        <a:latin typeface="JetBrains Mono"/>
                        <a:ea typeface="JetBrains Mono"/>
                        <a:cs typeface="JetBrains Mono"/>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E7B14A"/>
                    </a:solidFill>
                  </a:tcPr>
                </a:tc>
                <a:tc>
                  <a:txBody>
                    <a:bodyPr/>
                    <a:lstStyle/>
                    <a:p>
                      <a:pPr marL="0" indent="0">
                        <a:buNone/>
                      </a:pPr>
                      <a:r>
                        <a:rPr sz="900" b="1">
                          <a:solidFill>
                            <a:srgbClr val="050505"/>
                          </a:solidFill>
                          <a:latin typeface="JetBrains Mono"/>
                          <a:ea typeface="JetBrains Mono"/>
                          <a:cs typeface="JetBrains Mono"/>
                        </a:rPr>
                        <a:t>GAUSS TODAY</a:t>
                      </a:r>
                      <a:endParaRPr sz="900">
                        <a:latin typeface="JetBrains Mono"/>
                        <a:ea typeface="JetBrains Mono"/>
                        <a:cs typeface="JetBrains Mono"/>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E7B14A"/>
                    </a:solidFill>
                  </a:tcPr>
                </a:tc>
                <a:tc>
                  <a:txBody>
                    <a:bodyPr/>
                    <a:lstStyle/>
                    <a:p>
                      <a:pPr marL="0" indent="0">
                        <a:buNone/>
                      </a:pPr>
                      <a:r>
                        <a:rPr sz="900" b="1">
                          <a:solidFill>
                            <a:srgbClr val="050505"/>
                          </a:solidFill>
                          <a:latin typeface="JetBrains Mono"/>
                          <a:ea typeface="JetBrains Mono"/>
                          <a:cs typeface="JetBrains Mono"/>
                        </a:rPr>
                        <a:t>STATUS</a:t>
                      </a:r>
                      <a:endParaRPr sz="900">
                        <a:latin typeface="JetBrains Mono"/>
                        <a:ea typeface="JetBrains Mono"/>
                        <a:cs typeface="JetBrains Mono"/>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E7B14A"/>
                    </a:solidFill>
                  </a:tcPr>
                </a:tc>
              </a:tr>
              <a:tr h="480060">
                <a:tc>
                  <a:txBody>
                    <a:bodyPr/>
                    <a:lstStyle/>
                    <a:p>
                      <a:pPr marL="0" indent="0">
                        <a:buNone/>
                      </a:pPr>
                      <a:r>
                        <a:rPr sz="900">
                          <a:solidFill>
                            <a:srgbClr val="F3F0E8"/>
                          </a:solidFill>
                          <a:latin typeface="IBM Plex Sans"/>
                          <a:ea typeface="IBM Plex Sans"/>
                          <a:cs typeface="IBM Plex Sans"/>
                        </a:rPr>
                        <a:t>ESA BIC</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Clear space connection; viable business plan; incubation milestones.</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Ground-first space operations wedge, product packages, market model, 18-month plan.</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PARTIAL</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r>
              <a:tr h="480060">
                <a:tc>
                  <a:txBody>
                    <a:bodyPr/>
                    <a:lstStyle/>
                    <a:p>
                      <a:pPr marL="0" indent="0">
                        <a:buNone/>
                      </a:pPr>
                      <a:r>
                        <a:rPr sz="900">
                          <a:solidFill>
                            <a:srgbClr val="F3F0E8"/>
                          </a:solidFill>
                          <a:latin typeface="IBM Plex Sans"/>
                          <a:ea typeface="IBM Plex Sans"/>
                          <a:cs typeface="IBM Plex Sans"/>
                        </a:rPr>
                        <a:t>YC</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Matter-of-fact product; unique insight; progress; business model; founders; ask.</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Clear wedge, pricing, ARR path, and team slide. Specific founder proof and customer progress remain thin.</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PARTIAL</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r>
              <a:tr h="480060">
                <a:tc>
                  <a:txBody>
                    <a:bodyPr/>
                    <a:lstStyle/>
                    <a:p>
                      <a:pPr marL="0" indent="0">
                        <a:buNone/>
                      </a:pPr>
                      <a:r>
                        <a:rPr sz="900">
                          <a:solidFill>
                            <a:srgbClr val="F3F0E8"/>
                          </a:solidFill>
                          <a:latin typeface="IBM Plex Sans"/>
                          <a:ea typeface="IBM Plex Sans"/>
                          <a:cs typeface="IBM Plex Sans"/>
                        </a:rPr>
                        <a:t>SERAPHIM</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Sensible IP; addressable market; experienced team; TRL 5+ / scalable model.</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Market wedge, competition, commercial path, and team roles are visible. IP, heritage, and TRL evidence still need proof.</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PARTIAL</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r>
              <a:tr h="480060">
                <a:tc>
                  <a:txBody>
                    <a:bodyPr/>
                    <a:lstStyle/>
                    <a:p>
                      <a:pPr marL="0" indent="0">
                        <a:buNone/>
                      </a:pPr>
                      <a:r>
                        <a:rPr sz="900">
                          <a:solidFill>
                            <a:srgbClr val="F3F0E8"/>
                          </a:solidFill>
                          <a:latin typeface="IBM Plex Sans"/>
                          <a:ea typeface="IBM Plex Sans"/>
                          <a:cs typeface="IBM Plex Sans"/>
                        </a:rPr>
                        <a:t>SPACE STARTUP BAR</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One claim per slide; hard proof; bold visuals; credible milestones; clear next action.</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Consistent system, source-backed notes, native charts/tables, and ground-first milestones.</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c>
                  <a:txBody>
                    <a:bodyPr/>
                    <a:lstStyle/>
                    <a:p>
                      <a:pPr marL="0" indent="0">
                        <a:buNone/>
                      </a:pPr>
                      <a:r>
                        <a:rPr sz="900">
                          <a:solidFill>
                            <a:srgbClr val="F3F0E8"/>
                          </a:solidFill>
                          <a:latin typeface="IBM Plex Sans"/>
                          <a:ea typeface="IBM Plex Sans"/>
                          <a:cs typeface="IBM Plex Sans"/>
                        </a:rPr>
                        <a:t>PASS</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101414"/>
                    </a:solidFill>
                  </a:tcPr>
                </a:tc>
              </a:tr>
              <a:tr h="480060">
                <a:tc>
                  <a:txBody>
                    <a:bodyPr/>
                    <a:lstStyle/>
                    <a:p>
                      <a:pPr marL="0" indent="0">
                        <a:buNone/>
                      </a:pPr>
                      <a:r>
                        <a:rPr sz="900">
                          <a:solidFill>
                            <a:srgbClr val="F3F0E8"/>
                          </a:solidFill>
                          <a:latin typeface="IBM Plex Sans"/>
                          <a:ea typeface="IBM Plex Sans"/>
                          <a:cs typeface="IBM Plex Sans"/>
                        </a:rPr>
                        <a:t>INVESTOR DECISION</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Why now; why this team; why this round; what changes after funding.</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Why now, $1.5M use of funds, $500k ARR, and team slide are clear. Why Gauss can win still needs proof.</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c>
                  <a:txBody>
                    <a:bodyPr/>
                    <a:lstStyle/>
                    <a:p>
                      <a:pPr marL="0" indent="0">
                        <a:buNone/>
                      </a:pPr>
                      <a:r>
                        <a:rPr sz="900">
                          <a:solidFill>
                            <a:srgbClr val="F3F0E8"/>
                          </a:solidFill>
                          <a:latin typeface="IBM Plex Sans"/>
                          <a:ea typeface="IBM Plex Sans"/>
                          <a:cs typeface="IBM Plex Sans"/>
                        </a:rPr>
                        <a:t>PARTIAL</a:t>
                      </a:r>
                      <a:endParaRPr sz="900">
                        <a:latin typeface="IBM Plex Sans"/>
                        <a:ea typeface="IBM Plex Sans"/>
                        <a:cs typeface="IBM Plex Sans"/>
                      </a:endParaRPr>
                    </a:p>
                  </a:txBody>
                  <a:tcPr marL="73152" marR="73152" marT="73152" marB="73152" anchor="ctr">
                    <a:lnL w="7620" cmpd="sng">
                      <a:solidFill>
                        <a:srgbClr val="252A2A"/>
                      </a:solidFill>
                      <a:prstDash val="solid"/>
                    </a:lnL>
                    <a:lnR w="7620" cmpd="sng">
                      <a:solidFill>
                        <a:srgbClr val="252A2A"/>
                      </a:solidFill>
                      <a:prstDash val="solid"/>
                    </a:lnR>
                    <a:lnT w="7620" cmpd="sng">
                      <a:solidFill>
                        <a:srgbClr val="252A2A"/>
                      </a:solidFill>
                      <a:prstDash val="solid"/>
                    </a:lnT>
                    <a:lnB w="7620" cmpd="sng">
                      <a:solidFill>
                        <a:srgbClr val="252A2A"/>
                      </a:solidFill>
                      <a:prstDash val="solid"/>
                    </a:lnB>
                    <a:solidFill>
                      <a:srgbClr val="0D1010"/>
                    </a:solidFill>
                  </a:tcPr>
                </a:tc>
              </a:tr>
            </a:tbl>
          </a:graphicData>
        </a:graphic>
      </p:graphicFrame>
      <p:sp>
        <p:nvSpPr>
          <p:cNvPr id="11" name="Shape 7">
            <a:extLst xmlns:a="http://schemas.openxmlformats.org/drawingml/2006/main">
              <a:ext uri="{FF2B5EF4-FFF2-40B4-BE49-F238E27FC236}">
                <a16:creationId xmlns:a16="http://schemas.microsoft.com/office/drawing/2014/main" id="{8FEA6530-C859-460B-968C-CBC75AAA419C}"/>
              </a:ext>
            </a:extLst>
          </p:cNvPr>
          <p:cNvSpPr>
            <a:spLocks xmlns:a="http://schemas.openxmlformats.org/drawingml/2006/main" noGrp="1"/>
          </p:cNvSpPr>
          <p:nvPr/>
        </p:nvSpPr>
        <p:spPr>
          <a:xfrm xmlns:a="http://schemas.openxmlformats.org/drawingml/2006/main">
            <a:off x="685800" y="5321808"/>
            <a:ext cx="10817352" cy="420624"/>
          </a:xfrm>
          <a:prstGeom xmlns:a="http://schemas.openxmlformats.org/drawingml/2006/main" prst="roundRect">
            <a:avLst>
              <a:gd name="adj" fmla="val 30435"/>
            </a:avLst>
          </a:prstGeom>
          <a:solidFill xmlns:a="http://schemas.openxmlformats.org/drawingml/2006/main">
            <a:srgbClr val="0D1010"/>
          </a:solidFill>
          <a:ln xmlns:a="http://schemas.openxmlformats.org/drawingml/2006/main" w="12700">
            <a:solidFill>
              <a:srgbClr val="252A2A"/>
            </a:solidFill>
            <a:prstDash val="solid"/>
          </a:ln>
        </p:spPr>
      </p:sp>
      <p:sp>
        <p:nvSpPr>
          <p:cNvPr id="12" name="Text 8">
            <a:extLst xmlns:a="http://schemas.openxmlformats.org/drawingml/2006/main">
              <a:ext uri="{FF2B5EF4-FFF2-40B4-BE49-F238E27FC236}">
                <a16:creationId xmlns:a16="http://schemas.microsoft.com/office/drawing/2014/main" id="{3AB3C1DB-C6EA-4F81-BA8F-7045FE45CBAB}"/>
              </a:ext>
            </a:extLst>
          </p:cNvPr>
          <p:cNvSpPr>
            <a:spLocks xmlns:a="http://schemas.openxmlformats.org/drawingml/2006/main" noGrp="1"/>
          </p:cNvSpPr>
          <p:nvPr/>
        </p:nvSpPr>
        <p:spPr>
          <a:xfrm xmlns:a="http://schemas.openxmlformats.org/drawingml/2006/main">
            <a:off x="896112" y="5468112"/>
            <a:ext cx="118872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800" b="1">
                <a:solidFill>
                  <a:srgbClr val="E7B14A"/>
                </a:solidFill>
                <a:latin typeface="JetBrains Mono"/>
                <a:ea typeface="JetBrains Mono"/>
                <a:cs typeface="JetBrains Mono"/>
              </a:rPr>
              <a:t>NEXT UNLOCKS</a:t>
            </a:r>
            <a:endParaRPr sz="800"/>
          </a:p>
        </p:txBody>
      </p:sp>
      <p:sp>
        <p:nvSpPr>
          <p:cNvPr id="13" name="Text 9">
            <a:extLst xmlns:a="http://schemas.openxmlformats.org/drawingml/2006/main">
              <a:ext uri="{FF2B5EF4-FFF2-40B4-BE49-F238E27FC236}">
                <a16:creationId xmlns:a16="http://schemas.microsoft.com/office/drawing/2014/main" id="{37A413BE-7367-4A8D-BDAA-4AECDFFAD4A3}"/>
              </a:ext>
            </a:extLst>
          </p:cNvPr>
          <p:cNvSpPr>
            <a:spLocks xmlns:a="http://schemas.openxmlformats.org/drawingml/2006/main" noGrp="1"/>
          </p:cNvSpPr>
          <p:nvPr/>
        </p:nvSpPr>
        <p:spPr>
          <a:xfrm xmlns:a="http://schemas.openxmlformats.org/drawingml/2006/main">
            <a:off x="2395728" y="5468112"/>
            <a:ext cx="850392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l">
              <a:lnSpc>
                <a:spcPct val="100000"/>
              </a:lnSpc>
              <a:buNone/>
            </a:pPr>
            <a:r>
              <a:rPr sz="900">
                <a:solidFill>
                  <a:srgbClr val="F3F0E8"/>
                </a:solidFill>
                <a:latin typeface="IBM Plex Sans"/>
                <a:ea typeface="IBM Plex Sans"/>
                <a:cs typeface="IBM Plex Sans"/>
              </a:rPr>
              <a:t>Founder proof  •  customer LOI / pilot evidence  •  prototype + TRL / IRL  •  IP / moat map  •  CAC, payback, and gross-margin evidence</a:t>
            </a:r>
            <a:endParaRPr sz="900"/>
          </a:p>
        </p:txBody>
      </p:sp>
      <p:sp>
        <p:nvSpPr>
          <p:cNvPr id="25" name="Slide Number Placeholder 0">
            <a:extLst xmlns:a="http://schemas.openxmlformats.org/drawingml/2006/main">
              <a:ext uri="{FF2B5EF4-FFF2-40B4-BE49-F238E27FC236}">
                <a16:creationId xmlns:a16="http://schemas.microsoft.com/office/drawing/2014/main" id="{060EE302-4D6A-4117-B8F0-190DFBFF8713}"/>
              </a:ext>
            </a:extLst>
          </p:cNvPr>
          <p:cNvSpPr>
            <a:spLocks xmlns:a="http://schemas.openxmlformats.org/drawingml/2006/main" noGrp="1"/>
          </p:cNvSpPr>
          <p:nvPr>
            <p:ph type="sldNum" idx="4294967295"/>
          </p:nvPr>
        </p:nvSpPr>
        <p:spPr>
          <a:xfrm xmlns:a="http://schemas.openxmlformats.org/drawingml/2006/main">
            <a:off x="11064240" y="6473952"/>
            <a:ext cx="800000" cy="300000"/>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E7B14A"/>
                </a:solidFill>
                <a:latin typeface="JetBrains Mono"/>
                <a:ea typeface="JetBrains Mono"/>
                <a:cs typeface="JetBrains Mono"/>
              </a:defRPr>
            </a:lvl1pPr>
          </a:lstStyle>
          <a:p xmlns:a="http://schemas.openxmlformats.org/drawingml/2006/main">
            <a:pPr algn="l">
              <a:buNone/>
            </a:pPr>
            <a:fld id="{F7021451-1387-4CA6-816F-3879F97B5CBC}" type="slidenum">
              <a:rPr b="0"/>
              <a:t>14</a:t>
            </a:fld>
            <a:endParaRPr/>
          </a:p>
        </p:txBody>
      </p:sp>
    </p:spTree>
    <p:extLst>
      <p:ext uri="{BB962C8B-B14F-4D97-AF65-F5344CB8AC3E}">
        <p14:creationId xmlns:p14="http://schemas.microsoft.com/office/powerpoint/2010/main" val="84035389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2026-08-20T12:24:35.4390000Z</dcterms:created>
  <dcterms:modified xsi:type="dcterms:W3CDTF">2026-08-20T12:24:35.4400000Z</dcterms:modified>
</coreProperties>
</file>