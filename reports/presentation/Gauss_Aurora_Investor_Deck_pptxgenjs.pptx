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d50b867a416425b" /><Relationship Type="http://schemas.openxmlformats.org/officeDocument/2006/relationships/extended-properties" Target="/docProps/app.xml" Id="R3001496ab8f543f9" /><Relationship Type="http://schemas.openxmlformats.org/officeDocument/2006/relationships/officeDocument" Target="/ppt/presentation.xml" Id="R56d53d6652ec44a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022d36139a14638"/>
  </p:sldMasterIdLst>
  <p:notesMasterIdLst>
    <p:notesMasterId xmlns:r="http://schemas.openxmlformats.org/officeDocument/2006/relationships" r:id="R0c2bab59a8a44a3d"/>
  </p:notesMasterIdLst>
  <p:sldIdLst>
    <p:sldId xmlns:r="http://schemas.openxmlformats.org/officeDocument/2006/relationships" id="256" r:id="R95a19124ca9a4188"/>
    <p:sldId xmlns:r="http://schemas.openxmlformats.org/officeDocument/2006/relationships" id="257" r:id="R7bf493a912974647"/>
    <p:sldId xmlns:r="http://schemas.openxmlformats.org/officeDocument/2006/relationships" id="258" r:id="R1882499ef70544b3"/>
    <p:sldId xmlns:r="http://schemas.openxmlformats.org/officeDocument/2006/relationships" id="259" r:id="Re4514403cc814b14"/>
    <p:sldId xmlns:r="http://schemas.openxmlformats.org/officeDocument/2006/relationships" id="260" r:id="R9b7ae275dc0a4514"/>
    <p:sldId xmlns:r="http://schemas.openxmlformats.org/officeDocument/2006/relationships" id="261" r:id="R4ffed9801a28434d"/>
    <p:sldId xmlns:r="http://schemas.openxmlformats.org/officeDocument/2006/relationships" id="262" r:id="R1ad84d56dc8a4c33"/>
    <p:sldId xmlns:r="http://schemas.openxmlformats.org/officeDocument/2006/relationships" id="263" r:id="R5a1b5cefc21b42a4"/>
    <p:sldId xmlns:r="http://schemas.openxmlformats.org/officeDocument/2006/relationships" id="264" r:id="R6e0a33fee22c4116"/>
    <p:sldId xmlns:r="http://schemas.openxmlformats.org/officeDocument/2006/relationships" id="265" r:id="R7b5d66b70c2142fc"/>
    <p:sldId xmlns:r="http://schemas.openxmlformats.org/officeDocument/2006/relationships" id="266" r:id="Rc8f659bc199144ff"/>
    <p:sldId xmlns:r="http://schemas.openxmlformats.org/officeDocument/2006/relationships" id="267" r:id="Ref2b327065024ae3"/>
    <p:sldId xmlns:r="http://schemas.openxmlformats.org/officeDocument/2006/relationships" id="268" r:id="Rf5ca6add9a124c9a"/>
    <p:sldId xmlns:r="http://schemas.openxmlformats.org/officeDocument/2006/relationships" id="269" r:id="R0df2600bc354469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99b9aa892045d2" /><Relationship Type="http://schemas.openxmlformats.org/officeDocument/2006/relationships/slideMaster" Target="/ppt/slideMasters/slideMaster1.xml" Id="Rc022d36139a14638" /><Relationship Type="http://schemas.openxmlformats.org/officeDocument/2006/relationships/notesMaster" Target="/ppt/notesMasters/notesMaster1.xml" Id="R0c2bab59a8a44a3d" /><Relationship Type="http://schemas.openxmlformats.org/officeDocument/2006/relationships/presProps" Target="/ppt/presProps.xml" Id="R6d40a9e668ec41ae" /><Relationship Type="http://schemas.openxmlformats.org/officeDocument/2006/relationships/viewProps" Target="/ppt/viewProps.xml" Id="R79f9883e43fb43d5" /><Relationship Type="http://schemas.openxmlformats.org/officeDocument/2006/relationships/tableStyles" Target="/ppt/tableStyles.xml" Id="Rb6b18faaa01146ed" /><Relationship Type="http://schemas.openxmlformats.org/officeDocument/2006/relationships/slide" Target="/ppt/slides/slide1.xml" Id="R95a19124ca9a4188" /><Relationship Type="http://schemas.openxmlformats.org/officeDocument/2006/relationships/slide" Target="/ppt/slides/slide2.xml" Id="R7bf493a912974647" /><Relationship Type="http://schemas.openxmlformats.org/officeDocument/2006/relationships/slide" Target="/ppt/slides/slide3.xml" Id="R1882499ef70544b3" /><Relationship Type="http://schemas.openxmlformats.org/officeDocument/2006/relationships/slide" Target="/ppt/slides/slide4.xml" Id="Re4514403cc814b14" /><Relationship Type="http://schemas.openxmlformats.org/officeDocument/2006/relationships/slide" Target="/ppt/slides/slide5.xml" Id="R9b7ae275dc0a4514" /><Relationship Type="http://schemas.openxmlformats.org/officeDocument/2006/relationships/slide" Target="/ppt/slides/slide6.xml" Id="R4ffed9801a28434d" /><Relationship Type="http://schemas.openxmlformats.org/officeDocument/2006/relationships/slide" Target="/ppt/slides/slide7.xml" Id="R1ad84d56dc8a4c33" /><Relationship Type="http://schemas.openxmlformats.org/officeDocument/2006/relationships/slide" Target="/ppt/slides/slide8.xml" Id="R5a1b5cefc21b42a4" /><Relationship Type="http://schemas.openxmlformats.org/officeDocument/2006/relationships/slide" Target="/ppt/slides/slide9.xml" Id="R6e0a33fee22c4116" /><Relationship Type="http://schemas.openxmlformats.org/officeDocument/2006/relationships/slide" Target="/ppt/slides/slide10.xml" Id="R7b5d66b70c2142fc" /><Relationship Type="http://schemas.openxmlformats.org/officeDocument/2006/relationships/slide" Target="/ppt/slides/slide11.xml" Id="Rc8f659bc199144ff" /><Relationship Type="http://schemas.openxmlformats.org/officeDocument/2006/relationships/slide" Target="/ppt/slides/slide12.xml" Id="Ref2b327065024ae3" /><Relationship Type="http://schemas.openxmlformats.org/officeDocument/2006/relationships/slide" Target="/ppt/slides/slide13.xml" Id="Rf5ca6add9a124c9a" /><Relationship Type="http://schemas.openxmlformats.org/officeDocument/2006/relationships/slide" Target="/ppt/slides/slide14.xml" Id="R0df2600bc354469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19e0f922f9a4f3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7c9f8589c240c3" /><Relationship Type="http://schemas.openxmlformats.org/officeDocument/2006/relationships/notesMaster" Target="/ppt/notesMasters/notesMaster1.xml" Id="Rc178eb33d2c845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8102c7ffd640a9" /><Relationship Type="http://schemas.openxmlformats.org/officeDocument/2006/relationships/notesMaster" Target="/ppt/notesMasters/notesMaster1.xml" Id="R6c4a7dc375264e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ea07c070cb4010" /><Relationship Type="http://schemas.openxmlformats.org/officeDocument/2006/relationships/notesMaster" Target="/ppt/notesMasters/notesMaster1.xml" Id="Rb5b3839885d0498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7c8f268235474d" /><Relationship Type="http://schemas.openxmlformats.org/officeDocument/2006/relationships/notesMaster" Target="/ppt/notesMasters/notesMaster1.xml" Id="R8ae653e3e03f4f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fe5d0db0f29491d" /><Relationship Type="http://schemas.openxmlformats.org/officeDocument/2006/relationships/notesMaster" Target="/ppt/notesMasters/notesMaster1.xml" Id="R36daf98900ef4f8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d0d265489a42ac" /><Relationship Type="http://schemas.openxmlformats.org/officeDocument/2006/relationships/notesMaster" Target="/ppt/notesMasters/notesMaster1.xml" Id="R402b98774b4740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7665a13e24c4b00" /><Relationship Type="http://schemas.openxmlformats.org/officeDocument/2006/relationships/notesMaster" Target="/ppt/notesMasters/notesMaster1.xml" Id="Rbac6abfdb7ff4cf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3bf3669ee70467f" /><Relationship Type="http://schemas.openxmlformats.org/officeDocument/2006/relationships/notesMaster" Target="/ppt/notesMasters/notesMaster1.xml" Id="R25fd58fc6643487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d38ee3031e0442f" /><Relationship Type="http://schemas.openxmlformats.org/officeDocument/2006/relationships/notesMaster" Target="/ppt/notesMasters/notesMaster1.xml" Id="Ra5b3ca2353ab4b6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c604d42c7584a23" /><Relationship Type="http://schemas.openxmlformats.org/officeDocument/2006/relationships/notesMaster" Target="/ppt/notesMasters/notesMaster1.xml" Id="R58052b209e56429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e33e3b147d644d4" /><Relationship Type="http://schemas.openxmlformats.org/officeDocument/2006/relationships/notesMaster" Target="/ppt/notesMasters/notesMaster1.xml" Id="R536d47fcf34c415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a0a34ae56e74da5" /><Relationship Type="http://schemas.openxmlformats.org/officeDocument/2006/relationships/notesMaster" Target="/ppt/notesMasters/notesMaster1.xml" Id="R1be3bc6d6532491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baa8295db494a38" /><Relationship Type="http://schemas.openxmlformats.org/officeDocument/2006/relationships/notesMaster" Target="/ppt/notesMasters/notesMaster1.xml" Id="R179ed5aecf1d419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bed0e22f727481a" /><Relationship Type="http://schemas.openxmlformats.org/officeDocument/2006/relationships/notesMaster" Target="/ppt/notesMasters/notesMaster1.xml" Id="R867fe0b2941641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category shift: space operators have more data, more autonomy pressure, and less tolerance for untraceable decisions. The visible promise is deliberately ground-first and evidence-led; flight-candidate work remains an external gate.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User-provided: Gauss_Aurora_Pitch_Deck_v1.pptx</a:t>
            </a:r>
            <a:endParaRPr/>
          </a:p>
          <a:p xmlns:a="http://schemas.openxmlformats.org/drawingml/2006/main">
            <a:r>
              <a:t>- User-provided: Project_Gauss_Data_Architecture_for_AI_Automation_in_Space.pdf</a:t>
            </a:r>
            <a:endParaRPr/>
          </a:p>
          <a:p xmlns:a="http://schemas.openxmlformats.org/drawingml/2006/main">
            <a:r>
              <a:t>- NASA Earthrise image: https://science.nasa.gov/resource/image-earthrise/</a:t>
            </a:r>
            <a:endParaRPr/>
          </a:p>
          <a:p xmlns:a="http://schemas.openxmlformats.org/drawingml/2006/main">
            <a:r>
              <a:t>- Image asset: https://assets.science.nasa.gov/dynamicimage/assets/science/esd/climate/2023/12/August-2013_1920x1200.jpg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problem as operational evidence fragmentation, not a generic AI opportunity. The buyer is paying to reduce decision latency and audit friction.
[Sources]
- User-provided: Project_Gauss_Data_Architecture_for_AI_Automation_in_Space.pdf
- Repo: config/product-packages.json and config/product-packages.schema.json</a:t>
            </a:r>
            <a:endParaRPr/>
          </a:p>
          <a:p xmlns:a="http://schemas.openxmlformats.org/drawingml/2006/main">
            <a:r>
              <a:t>
[Sources]
- NASA solar-flare / space-weather asset in repository: research/documentation-rag/What Is the Solar Wind_ - NASA Science.html
- NASA SOHO CME gallery: https://soho.nascom.nasa.gov/bestofsoho/SolarCorona/las021.html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target count as research coverage, not traction. The commercial wedge is explicitly ground-first; flight-candidate work remains an external evidence gate.
[Sources]
- Repo: config/mission-targets.json and config/mission-target.schema.json
- Repo: development/memory/DECISIONS.md, D-110 (2026-08-19)
- User-provided: Gauss_Aurora_Pitch_Deck_v1.pptx</a:t>
            </a:r>
            <a:endParaRPr/>
          </a:p>
          <a:p xmlns:a="http://schemas.openxmlformats.org/drawingml/2006/main">
            <a:r>
              <a:t>
[Sources]
- NASA magnetosphere visualization asset in repository: research/documentation-rag/What Is the Solar Wind_ - NASA Science.html
- NASA radiation-belt context: https://svs.gsfc.nasa.gov/4241/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Visible copy is investor-facing. The underlying product boundary remains quality, provenance, correlation, replay, bounded inference, and approval-gated safety. Partners retain sensors, mission control, communications hardware, trust roots, and command authority.
[Sources]
- Repo: config/product-packages.json and config/product-packages.schema.json
- User-provided: Project_Gauss_Data_Architecture_for_AI_Automation_in_Space.pdf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Package names and boundaries are from the repository product catalog. The visible copy is intentionally non-technical; do not describe the flight-candidate adapter as flight-qualified.
[Sources]
- Repo: config/product-packages.json and config/product-packages.schema.json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profile mix is counted from the repository's eight research_profile entries: 2 satcom, 2 weather/space weather, 1 Earth observation, 1 PNT, and 2 lunar relay. These are research targets, not signed customers.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Internal repo: config/mission-targets.json</a:t>
            </a:r>
            <a:endParaRPr/>
          </a:p>
          <a:p xmlns:a="http://schemas.openxmlformats.org/drawingml/2006/main">
            <a:r>
              <a:t>- Internal repo: development/memory/DECISIONS.md (D-110, D-124)</a:t>
            </a:r>
            <a:endParaRPr/>
          </a:p>
          <a:p xmlns:a="http://schemas.openxmlformats.org/drawingml/2006/main">
            <a:r>
              <a:t>- Visual design reference: https://investors.seraphim.vc/wp-content/uploads/2022/05/Seraphim-Prospectus-PDF.pdf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TAM and SAM are internal planning ranges and should be presented as a scenario, not audited market research. SOM is tied to the current five-account ARR model; it is not a market-share forecast.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Repo: development/memory/DECISIONS.md, D-110 (2026-08-19)</a:t>
            </a:r>
            <a:endParaRPr/>
          </a:p>
          <a:p xmlns:a="http://schemas.openxmlformats.org/drawingml/2006/main">
            <a:r>
              <a:t>- Repo: config/mission-targets.json and config/mission-target.schema.json</a:t>
            </a:r>
            <a:endParaRPr/>
          </a:p>
          <a:p xmlns:a="http://schemas.openxmlformats.org/drawingml/2006/main">
            <a:r>
              <a:t>- User-provided: Gauss_Aurora_Pitch_Deck_v1.pptx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Pricing is a starting hypothesis for customer validation. The $500k ARR path is five $100k annual fleet accounts; pilots, implementation, and NRE are not ARR.
[Sources]
- Repo: development/memory/DECISIONS.md, D-110 (2026-08-19)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product workflow, not a legal conclusion. Keep payment separate from clearance. Stripe webhooks should drive internal entitlements; regulatory applicability requires customer-specific review.
[Sources]
- https://docs.stripe.com/billing/subscriptions/webhooks and https://docs.stripe.com/billing/entitlements
- https://eur-lex.europa.eu/legal-content/EN/TXT/?from=FI&amp;uri=CELEX%3A32022L2555; https://eur-lex.europa.eu/legal-content/EN/TXT/?qid=1590424137028&amp;uri=CELEX%3A32016R0679; https://csrc.nist.gov/pubs/sp/800/171/r3/final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positioning, not feature parity. Named companies are category references only; no partnership or endorsement is implied. Publicly positioned strengths are summarised from official product pages.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Yamcs official product overview and logo: https://yamcs.org/</a:t>
            </a:r>
            <a:endParaRPr/>
          </a:p>
          <a:p xmlns:a="http://schemas.openxmlformats.org/drawingml/2006/main">
            <a:r>
              <a:t>- OpenC3 COSMOS official overview and logo: https://openc3.com/</a:t>
            </a:r>
            <a:endParaRPr/>
          </a:p>
          <a:p xmlns:a="http://schemas.openxmlformats.org/drawingml/2006/main">
            <a:r>
              <a:t>- Slingshot Portal official product overview and logo: https://www.slingshot.space/product-portal</a:t>
            </a:r>
            <a:endParaRPr/>
          </a:p>
          <a:p xmlns:a="http://schemas.openxmlformats.org/drawingml/2006/main">
            <a:r>
              <a:t>- Arize official AI observability overview and logo: https://arize.com/</a:t>
            </a:r>
            <a:endParaRPr/>
          </a:p>
          <a:p xmlns:a="http://schemas.openxmlformats.org/drawingml/2006/main">
            <a:r>
              <a:t>- Fiddler official observability overview and logo: https://docs.fiddler.ai/observability/monitoring</a:t>
            </a:r>
            <a:endParaRPr/>
          </a:p>
          <a:p xmlns:a="http://schemas.openxmlformats.org/drawingml/2006/main">
            <a:r>
              <a:t>- AIKO orbital_OLIVER official product overview and logo: https://aikospace.com/solutions/oliver</a:t>
            </a:r>
            <a:endParaRPr/>
          </a:p>
          <a:p xmlns:a="http://schemas.openxmlformats.org/drawingml/2006/main">
            <a:r>
              <a:t>- Gauss positioning is an internal, partner-neutral thesis; not a claim of feature parity.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Named team members and advisor network are taken from the user-provided Gauss_Aurora_Pitch_Deck_v1.pptx. The visible slide intentionally does not invent founder metrics, customer references, or formal advisor status; those remain diligence unlocks.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User-provided: Gauss_Aurora_Pitch_Deck_v1.pptx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internal milestones, not achieved traction. Keep the hosted-payload path bounded and avoid claiming flight qualification.
[Sources]
- Repo: development/memory/DECISIONS.md, D-110 (2026-08-19)
- Repo: config/product-packages.json and config/product-packages.schema.json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proof point: five paid fleet accounts and a repeatable evidence contract. Funding allocation is an internal planning scenario.
[Sources]
- Repo: development/memory/DECISIONS.md, D-110 (2026-08-19)
- Repo: config/product-packages.json and config/product-packages.schema.json
- User-provided: Gauss_Aurora_Pitch_Deck_v1.pptx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an internal readiness scorecard for the current investor deck, not an eligibility determination. The next diligence unlocks are founder credibility, customer proof, explicit readiness evidence, and IP defensibility.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User-provided Gauss_Aurora_Pitch_Deck_v1.pptx</a:t>
            </a:r>
            <a:endParaRPr/>
          </a:p>
          <a:p xmlns:a="http://schemas.openxmlformats.org/drawingml/2006/main">
            <a:r>
              <a:t>- Internal Gauss repository planning model and product notes</a:t>
            </a:r>
            <a:endParaRPr/>
          </a:p>
          <a:p xmlns:a="http://schemas.openxmlformats.org/drawingml/2006/main">
            <a:r>
              <a:t>- https://www.starcloud.com/</a:t>
            </a:r>
            <a:endParaRPr/>
          </a:p>
          <a:p xmlns:a="http://schemas.openxmlformats.org/drawingml/2006/main">
            <a:r>
              <a:t>- https://investors.rocketlabcorp.com/</a:t>
            </a:r>
            <a:endParaRPr/>
          </a:p>
          <a:p xmlns:a="http://schemas.openxmlformats.org/drawingml/2006/main">
            <a:r>
              <a:t>- https://www.relativityspace.com/about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b37b0aaf334fb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88c807f1164223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GAUSS_MASTER"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F590EF9-5E2F-4119-A9F8-4F65435750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81dedd0c5f450d" /><Relationship Type="http://schemas.openxmlformats.org/officeDocument/2006/relationships/slideLayout" Target="/ppt/slideLayouts/slideLayout1.xml" Id="R91ab156bed784041" /><Relationship Type="http://schemas.openxmlformats.org/officeDocument/2006/relationships/slideLayout" Target="/ppt/slideLayouts/slideLayout2.xml" Id="Rd2216e766cc1417d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067DDE8-D0D5-4412-840E-FEB2670035E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ab156bed784041"/>
    <p:sldLayoutId xmlns:r="http://schemas.openxmlformats.org/officeDocument/2006/relationships" id="2147483650" r:id="Rd2216e766cc1417d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88ca70f29a4e75" /><Relationship Type="http://schemas.openxmlformats.org/officeDocument/2006/relationships/image" Target="/ppt/media/image.jpeg" Id="R40fb05829720448a" /><Relationship Type="http://schemas.openxmlformats.org/officeDocument/2006/relationships/notesSlide" Target="/ppt/notesSlides/notesSlide1.xml" Id="Rbf116d5e3eb243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1c89e92ed04916" /><Relationship Type="http://schemas.openxmlformats.org/officeDocument/2006/relationships/image" Target="/ppt/media/image2.jpeg" Id="R4534e3ed8b4f41dc" /><Relationship Type="http://schemas.openxmlformats.org/officeDocument/2006/relationships/notesSlide" Target="/ppt/notesSlides/notesSlide2.xml" Id="Rc01333833818429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dac6484e2a462d" /><Relationship Type="http://schemas.openxmlformats.org/officeDocument/2006/relationships/image" Target="/ppt/media/image3.jpeg" Id="R9e60fc96ec7b4978" /><Relationship Type="http://schemas.openxmlformats.org/officeDocument/2006/relationships/notesSlide" Target="/ppt/notesSlides/notesSlide3.xml" Id="R389777e46edc40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ecbc6abbf24a74" /><Relationship Type="http://schemas.openxmlformats.org/officeDocument/2006/relationships/notesSlide" Target="/ppt/notesSlides/notesSlide4.xml" Id="Rbe2c8ea47b0d48e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adc85205f4438f" /><Relationship Type="http://schemas.openxmlformats.org/officeDocument/2006/relationships/notesSlide" Target="/ppt/notesSlides/notesSlide5.xml" Id="R48081a3015b447c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f625a0ebbb4ef3" /><Relationship Type="http://schemas.openxmlformats.org/officeDocument/2006/relationships/image" Target="/ppt/media/image.png" Id="R4431eac15f6740a4" /><Relationship Type="http://schemas.openxmlformats.org/officeDocument/2006/relationships/notesSlide" Target="/ppt/notesSlides/notesSlide6.xml" Id="Ra42634c680bf444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0d7a6bd0c942be" /><Relationship Type="http://schemas.openxmlformats.org/officeDocument/2006/relationships/image" Target="/ppt/media/image2.png" Id="Rf04b017bee5e4a40" /><Relationship Type="http://schemas.openxmlformats.org/officeDocument/2006/relationships/notesSlide" Target="/ppt/notesSlides/notesSlide7.xml" Id="R8aa52ce54e3b462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f714a76caf419f" /><Relationship Type="http://schemas.openxmlformats.org/officeDocument/2006/relationships/chart" Target="/ppt/slides/charts/chart1.xml" Id="Rb819a769210d4c42" /><Relationship Type="http://schemas.openxmlformats.org/officeDocument/2006/relationships/notesSlide" Target="/ppt/notesSlides/notesSlide8.xml" Id="R3ca89c0e2fc846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280bbf39f04fd3" /><Relationship Type="http://schemas.openxmlformats.org/officeDocument/2006/relationships/notesSlide" Target="/ppt/notesSlides/notesSlide9.xml" Id="Re462d87dd07844c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26c20a699a43a3" /><Relationship Type="http://schemas.openxmlformats.org/officeDocument/2006/relationships/image" Target="/ppt/media/image3.png" Id="R5b3061d3ffdc40b0" /><Relationship Type="http://schemas.openxmlformats.org/officeDocument/2006/relationships/image" Target="/ppt/media/image.svg" Id="Rb7b68bab28744e5e" /><Relationship Type="http://schemas.openxmlformats.org/officeDocument/2006/relationships/image" Target="/ppt/media/image.jpeg" Id="Rd8d5e6d9db5a4c14" /><Relationship Type="http://schemas.openxmlformats.org/officeDocument/2006/relationships/image" Target="/ppt/media/image4.png" Id="R9f3dddee98ba4cc8" /><Relationship Type="http://schemas.openxmlformats.org/officeDocument/2006/relationships/image" Target="/ppt/media/image2.svg" Id="R466b714116d643a6" /><Relationship Type="http://schemas.openxmlformats.org/officeDocument/2006/relationships/image" Target="/ppt/media/image2.jpeg" Id="R8d369514f5f94b09" /><Relationship Type="http://schemas.openxmlformats.org/officeDocument/2006/relationships/image" Target="/ppt/media/image3.svg" Id="R4a620937b2004ce7" /><Relationship Type="http://schemas.openxmlformats.org/officeDocument/2006/relationships/image" Target="/ppt/media/image3.jpeg" Id="R8b62bfbf1b48431b" /><Relationship Type="http://schemas.openxmlformats.org/officeDocument/2006/relationships/image" Target="/ppt/media/image4.svg" Id="Reef662bdbeac4a51" /><Relationship Type="http://schemas.openxmlformats.org/officeDocument/2006/relationships/image" Target="/ppt/media/image5.png" Id="Rc67b07975d7d46b3" /><Relationship Type="http://schemas.openxmlformats.org/officeDocument/2006/relationships/notesSlide" Target="/ppt/notesSlides/notesSlide10.xml" Id="R757b30fa39a7405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d357ff488349ed" /><Relationship Type="http://schemas.openxmlformats.org/officeDocument/2006/relationships/image" Target="/ppt/media/image6.png" Id="R35c8adc4709f4470" /><Relationship Type="http://schemas.openxmlformats.org/officeDocument/2006/relationships/notesSlide" Target="/ppt/notesSlides/notesSlide11.xml" Id="R1b55b46588ab42e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15c690a5df461b" /><Relationship Type="http://schemas.openxmlformats.org/officeDocument/2006/relationships/notesSlide" Target="/ppt/notesSlides/notesSlide12.xml" Id="R3005a394f13b4b7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35e3cd02f0499b" /><Relationship Type="http://schemas.openxmlformats.org/officeDocument/2006/relationships/image" Target="/ppt/media/image7.png" Id="R7fe0d0e8ab614532" /><Relationship Type="http://schemas.openxmlformats.org/officeDocument/2006/relationships/notesSlide" Target="/ppt/notesSlides/notesSlide13.xml" Id="R17bdf510f6dc4ac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beb7e302cb43da" /><Relationship Type="http://schemas.openxmlformats.org/officeDocument/2006/relationships/image" Target="/ppt/media/image8.png" Id="R71e1994f09844372" /><Relationship Type="http://schemas.openxmlformats.org/officeDocument/2006/relationships/notesSlide" Target="/ppt/notesSlides/notesSlide14.xml" Id="Rcbdb7077598f4711" /></Relationships>
</file>

<file path=ppt/slides/charts/chart1.xml><?xml version="1.0" encoding="utf-8"?>
<c:chartSpace xmlns:c="http://schemas.openxmlformats.org/drawingml/2006/chart">
  <c:lang val="en-US"/>
  <c:roundedCorners val="1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Annualized value</c:v>
                </c:pt>
              </c:strCache>
            </c:strRef>
          </c:tx>
          <c:spPr>
            <a:solidFill xmlns:a="http://schemas.openxmlformats.org/drawingml/2006/main">
              <a:srgbClr val="CCFF00"/>
            </a:solidFill>
          </c:spPr>
          <c:dLbls>
            <c:numFmt formatCode="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i="0" u="none">
                    <a:solidFill>
                      <a:srgbClr val="F3F0E8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Pilot</c:v>
                </c:pt>
                <c:pt idx="1">
                  <c:v>Fleet 1</c:v>
                </c:pt>
                <c:pt idx="2">
                  <c:v>Fleet 2</c:v>
                </c:pt>
                <c:pt idx="3">
                  <c:v>Fleet 3</c:v>
                </c:pt>
                <c:pt idx="4">
                  <c:v>Fleet 4</c:v>
                </c:pt>
                <c:pt idx="5">
                  <c:v>Fleet 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 i="0" u="none">
                  <a:solidFill>
                    <a:srgbClr val="F3F0E8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9525">
            <a:solidFill>
              <a:srgbClr val="7A818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 b="0" i="0" u="none">
                <a:solidFill>
                  <a:srgbClr val="7A8181"/>
                </a:solidFill>
                <a:latin typeface="IBM Plex Sans"/>
                <a:ea typeface="IBM Plex Sans"/>
                <a:cs typeface="IBM Plex Sans"/>
              </a:defRPr>
            </a:pPr>
          </a:p>
        </c:txPr>
        <c:crossAx val="2094734552"/>
        <c:crosses val="autoZero"/>
      </c:catAx>
      <c:valAx>
        <c:axId val="2094734552"/>
        <c:scaling>
          <c:orientation val="minMax"/>
          <c:max val="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25302E"/>
              </a:solidFill>
              <a:prstDash val="solid"/>
            </a:ln>
          </c:spPr>
        </c:majorGridlines>
        <c:numFmt formatCode="0" sourceLinked="0"/>
        <c:majorTickMark val="out"/>
        <c:minorTickMark val="none"/>
        <c:tickLblPos val="nextTo"/>
        <c:spPr>
          <a:ln xmlns:a="http://schemas.openxmlformats.org/drawingml/2006/main" w="9525">
            <a:solidFill>
              <a:srgbClr val="7A818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0" i="0" u="none">
                <a:solidFill>
                  <a:srgbClr val="7A8181"/>
                </a:solidFill>
                <a:latin typeface="JetBrains Mono"/>
                <a:ea typeface="JetBrains Mono"/>
                <a:cs typeface="JetBrains Mono"/>
              </a:defRPr>
            </a:pPr>
          </a:p>
        </c:txPr>
        <c:crossAx val="2094734554"/>
        <c:crosses val="autoZero"/>
        <c:crossBetween val="between"/>
        <c:majorUnit val="100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F07765C-15E4-4D60-9E5D-EB863006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D352A7-A7B9-4FA7-903A-3469248B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INVESTOR BRIEF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D23DF6C-CE16-41ED-B4C0-A468E512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01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C4A880E-5C30-40B1-B46D-F57B4235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fb05829720448a"/>
          <a:srcRect xmlns:a="http://schemas.openxmlformats.org/drawingml/2006/main" l="0" t="4999" r="0" b="49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97045587-A5B6-43C5-8D12-B883584D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36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A266DCB-3EDB-4E96-8815-D331D682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69264"/>
            <a:ext cx="1280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CFF00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7EE1247-23F5-4742-BA2A-85DD417D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61872"/>
            <a:ext cx="34747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PROJECT GAUSS</a:t>
            </a:r>
            <a:endParaRPr sz="11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8E7368C-7F6A-44CC-9970-7F662BDB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4520"/>
            <a:ext cx="676656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4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Mission data,</a:t>
            </a:r>
            <a:endParaRPr sz="4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4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made decision-ready.</a:t>
            </a:r>
            <a:endParaRPr sz="42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FBEA302-EB5E-48AC-A78C-DDA1EC23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29584"/>
            <a:ext cx="5943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An evidence-first assurance layer for AI-augmented space operations.</a:t>
            </a:r>
            <a:endParaRPr sz="16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632C83A2-EC8E-4C86-A026-141788D1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897880"/>
            <a:ext cx="2926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INVESTOR BRIEF  /  AUGUST 2026</a:t>
            </a:r>
            <a:endParaRPr sz="8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F8F84E3-D21A-4E48-BCE2-83FC75C4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897880"/>
            <a:ext cx="4297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Ground-first. Evidence-led. Command-inert by design.</a:t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0C668B8-B67B-4EB1-B5A1-2FEB97F9805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091356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C51DBE0-3FFC-49E2-AE13-AC16F9C14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D3A685D-E1C1-45E5-BD85-FB776671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PROBLEM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68C7E57-4926-49DF-859D-2C9697CA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02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08DE4F5-444A-4F23-9A15-4AF61745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05FC363-ADFC-49D7-91B7-62F0AB93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Fragmented evidence is expensive.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5FD77A8-4ED3-43CA-85AC-22925D88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The data exists. The decision context does not.</a:t>
            </a:r>
            <a:endParaRPr sz="1500"/>
          </a:p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34e3ed8b4f41dc"/>
          <a:srcRect xmlns:a="http://schemas.openxmlformats.org/drawingml/2006/main" l="9091" t="0" r="909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4848" y="1078992"/>
            <a:ext cx="4681728" cy="3218688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FD6CCEDC-B014-4439-A4E4-17D2D6B5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848" y="1078992"/>
            <a:ext cx="4681728" cy="32186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8000"/>
            </a:srgbClr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5C074062-9C69-42F0-94B1-671E5970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848" y="3246120"/>
            <a:ext cx="4681728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0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267D19B-5BCE-4A41-80C2-DB73238FF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298448"/>
            <a:ext cx="2194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SPACE WEATHER SIGNAL</a:t>
            </a:r>
            <a:endParaRPr sz="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01E5540-8352-4B9C-B29D-28BF8867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611880"/>
            <a:ext cx="3977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7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CME context is only useful when the operator can trace it to the decision.</a:t>
            </a:r>
            <a:endParaRPr sz="17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B445065-26DB-43D5-9EE9-38035DC3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3697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3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ED37815-4E66-43B4-96D3-8D8E7E44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323697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Fragmented</a:t>
            </a:r>
            <a:endParaRPr sz="14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66B0477-5416-410F-B80D-D7D9798F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23697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Telemetry, space-weather, SSA, memory, and ground-system evidence live in separate lanes.</a:t>
            </a:r>
            <a:endParaRPr sz="11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C5A7A67-755F-4782-AD6A-9404877D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96849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3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44D553D8-E059-47C0-A0A7-4622A407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396849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Opaque</a:t>
            </a:r>
            <a:endParaRPr sz="14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9E18BD-3186-45E8-B26F-2FE6C973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96849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AI can flag an anomaly, but operators still need provenance, confidence, and a safe fallback.</a:t>
            </a:r>
            <a:endParaRPr sz="11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1D583D51-22D2-44E8-9774-D61AB1B1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00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3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16263DB-3E36-4202-9E4B-F447C936E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4700016"/>
            <a:ext cx="14173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Costly</a:t>
            </a:r>
            <a:endParaRPr sz="14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03E0D0F4-9C9E-42A9-9286-2BB6696B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700016"/>
            <a:ext cx="35204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Every delayed or disputed decision compounds mission risk, engineering time, and procurement friction.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0F21B8E-19CB-49F9-8BD9-E87A679189D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832451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BEEDA6D-EDD1-443F-B3FD-54BE8A840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67F500D-A4F1-4730-A117-5DD8A555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WHY NOW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8A8BF6D-7EFB-433A-9988-B21D282B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03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6D9D65C-A68A-484E-A927-95CF2F96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20C23B4-407B-4D62-8C0B-57A96AEE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AI is ready; mission infrastructure still needs trust.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5F4B1A6-F84E-458F-9C8F-296F5D4E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Gauss sits in the trust gap between raw data and safe action.</a:t>
            </a:r>
            <a:endParaRPr sz="1500"/>
          </a:p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60fc96ec7b4978"/>
          <a:srcRect xmlns:a="http://schemas.openxmlformats.org/drawingml/2006/main" l="2676" t="0" r="267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157984"/>
            <a:ext cx="5138928" cy="3054096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AB73EEBB-9FBC-49F3-ACF7-534564FEB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7984"/>
            <a:ext cx="5138928" cy="30540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2000"/>
            </a:srgbClr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05CB8A4A-75A8-46D1-90C4-32A69DAE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87952"/>
            <a:ext cx="5138928" cy="10241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8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30EE6EDA-EB50-43B4-9288-7B039DD5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359152"/>
            <a:ext cx="12801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THE WINDOW</a:t>
            </a:r>
            <a:endParaRPr sz="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73BAEA-6439-41DD-9B0F-1639563ED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434840"/>
            <a:ext cx="4251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More spacecraft. More sensor streams. More critical infrastructure depending on orbital services.</a:t>
            </a:r>
            <a:endParaRPr sz="16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C2C791F8-B197-40DF-BB06-EBE0FCDA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90578618-F993-47B6-BD01-E52F317F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TARGET PROFILES</a:t>
            </a:r>
            <a:endParaRPr sz="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599105F-470A-4927-9F3D-B00A498D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1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◈</a:t>
            </a:r>
            <a:endParaRPr sz="11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A761B45-111C-4A24-8473-D05CFB1B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300" b="1">
                <a:solidFill>
                  <a:srgbClr val="E7B14A"/>
                </a:solidFill>
                <a:latin typeface="Inter"/>
                <a:ea typeface="Inter"/>
                <a:cs typeface="Inter"/>
              </a:rPr>
              <a:t>8</a:t>
            </a:r>
            <a:endParaRPr sz="23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B87C458E-54DC-4EF3-B3BD-BC41527E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research profiles</a:t>
            </a:r>
            <a:endParaRPr sz="8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1204973A-5761-459D-9828-30C87A69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128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B58D081-FA1F-46BD-B818-51570498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FIRST MOTION</a:t>
            </a:r>
            <a:endParaRPr sz="8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2E15305-60F7-4F3A-9C55-0AF6A305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2288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1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&gt;</a:t>
            </a:r>
            <a:endParaRPr sz="11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BEF28B3-9242-4832-92CA-E286247B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3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Ground</a:t>
            </a:r>
            <a:endParaRPr sz="23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39A5FA8-FAF3-4E34-946C-ACC49939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integration first</a:t>
            </a:r>
            <a:endParaRPr sz="800"/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7C987F7-DC71-4BD8-B7FA-77B8412A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7776" y="2267712"/>
            <a:ext cx="1572768" cy="1078992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E1111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FF5954F-5D7D-4400-A3F0-7756EC2D4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423160"/>
            <a:ext cx="1078992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COMMAND PATH</a:t>
            </a:r>
            <a:endParaRPr sz="80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FCD38808-DD2A-4F95-8B0F-617A960B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7936" y="2414016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1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⊘</a:t>
            </a:r>
            <a:endParaRPr sz="110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2A607FCF-B51E-4512-9148-16FDB1A6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670048"/>
            <a:ext cx="12344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300" b="1">
                <a:solidFill>
                  <a:srgbClr val="E7B14A"/>
                </a:solidFill>
                <a:latin typeface="Inter"/>
                <a:ea typeface="Inter"/>
                <a:cs typeface="Inter"/>
              </a:rPr>
              <a:t>Inert</a:t>
            </a:r>
            <a:endParaRPr sz="23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7E23118-FD75-422A-AB55-BB792C7AB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3072384"/>
            <a:ext cx="12344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approval-gated</a:t>
            </a:r>
            <a:endParaRPr sz="80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0471EC2-CF6C-43FE-A77A-A056964C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913632"/>
            <a:ext cx="536752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8129F118-57C9-4589-8DED-3236276C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224528"/>
            <a:ext cx="42062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7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 sharper wedge than “AI for space”</a:t>
            </a:r>
            <a:endParaRPr sz="17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BAFBE8F6-0E05-495C-BF0A-A57047D4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645152"/>
            <a:ext cx="48920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Mission-data assurance: quality, provenance, radiation context, replay, and bounded inference across the existing ground segment.</a:t>
            </a:r>
            <a:endParaRPr sz="1200"/>
          </a:p>
        </p:txBody>
      </p:sp>
      <p:sp>
        <p:nvSpPr>
          <p:cNvPr id="3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F34083B-8045-4212-BE2A-BC7F88B92BB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783392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AB504AC-A90E-4B45-861E-07C44C88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1225809-9F24-4021-9E05-3F27E53C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PRODUCT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4FEB799-D605-4460-95EE-3077B285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04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AF36321-D16F-4362-8DFF-051D4812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B7FD0C9-9343-4815-9481-15E9B467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Gauss makes AI decisions ready for operations.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D5F8D09A-35C5-4254-A6EB-FCC8250D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A neutral assurance layer that helps teams trust, explain, and safely act on mission data.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7E18CD2-A909-4902-B782-3C2E4CB0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86000"/>
            <a:ext cx="2286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WHAT TEAMS ALREADY HAVE</a:t>
            </a:r>
            <a:endParaRPr sz="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0D9CBC6-6D87-4668-9DD2-ACDB54C6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86000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 ASSURANCE</a:t>
            </a:r>
            <a:endParaRPr sz="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C8985ED-4C38-4865-9E20-F29DD1D3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048" y="2286000"/>
            <a:ext cx="20116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WHAT OPERATORS GET</a:t>
            </a:r>
            <a:endParaRPr sz="8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2E613B1-55F6-471C-9823-556F0E46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3472"/>
            <a:ext cx="2578608" cy="1810512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5383C47-2AB5-4D2F-AE6F-E6D69B14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952" y="2359152"/>
            <a:ext cx="3730752" cy="2359152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32000"/>
          </a:solidFill>
          <a:ln xmlns:a="http://schemas.openxmlformats.org/drawingml/2006/main" w="12700">
            <a:solidFill>
              <a:srgbClr val="CCFF00"/>
            </a:solidFill>
            <a:prstDash val="solid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1C9DA08-8DA9-4E89-BB24-700C2817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633472"/>
            <a:ext cx="2715768" cy="1810512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B2F6CE56-0BCA-4C58-8E0A-91FB66B7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4408" y="3547872"/>
            <a:ext cx="92354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7B14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E121EE0-86BC-4780-944A-5B1AC976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438144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3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F4962E76-042E-4C55-ABD6-AECC8C052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3547872"/>
            <a:ext cx="8778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CFF00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2EFD8A0-8C08-40E3-A67E-B129D095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38144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3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•</a:t>
            </a:r>
            <a:endParaRPr sz="13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7BD71CF-08CC-4130-8D9F-E0ED8FD1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072384"/>
            <a:ext cx="1965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Mission data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Weather context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Operator history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Existing systems</a:t>
            </a:r>
            <a:endParaRPr sz="16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5504FAA-F30D-4FCE-A449-8EEDACC9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2779776"/>
            <a:ext cx="1115568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3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Validate</a:t>
            </a:r>
            <a:endParaRPr sz="23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3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Explain</a:t>
            </a:r>
            <a:endParaRPr sz="23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3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Gate</a:t>
            </a:r>
            <a:endParaRPr sz="23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D75F757-D416-4827-A5FD-AA7311C5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2944368"/>
            <a:ext cx="135331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Confidence signals</a:t>
            </a:r>
            <a:endParaRPr sz="1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Decision context</a:t>
            </a:r>
            <a:endParaRPr sz="12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Safe fallback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E53F0FC-B4F8-4BD8-8D3B-058400CA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072384"/>
            <a:ext cx="2011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Decision-ready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evidence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Audit trail</a:t>
            </a:r>
            <a:endParaRPr sz="16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No command authority</a:t>
            </a:r>
            <a:endParaRPr sz="16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DAC273F-6344-434A-870D-0B608B43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2976"/>
            <a:ext cx="8138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00" b="1">
                <a:solidFill>
                  <a:srgbClr val="E7B14A"/>
                </a:solidFill>
                <a:latin typeface="Inter"/>
                <a:ea typeface="Inter"/>
                <a:cs typeface="Inter"/>
              </a:rPr>
              <a:t>Start with the ground segment. Earn the right to move closer to flight.</a:t>
            </a:r>
            <a:endParaRPr sz="16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5299232-2C3E-4EED-A3E9-37F02AF0737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38819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1658AA2-7562-4FB8-B33C-D33D308D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CFB63C3-FE35-4B41-B1B8-A94428D12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PRODUCT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DABBB21-A015-4E35-820C-7A4390789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05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CB01684-6D39-4C04-9524-4EA543EB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954CC48-F307-4B42-A2F2-8DCA2A87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Three packages turn trust into expansion.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E64B8B1-C7BC-4F66-AD0D-6C43023E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Land with one mission team, then expand across fleets and infrastructure.</a:t>
            </a:r>
            <a:endParaRPr sz="15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87F7BDA-B5BC-41E3-984A-FCCAB15F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7712"/>
            <a:ext cx="2880360" cy="2395728"/>
          </a:xfrm>
          <a:prstGeom xmlns:a="http://schemas.openxmlformats.org/drawingml/2006/main" prst="roundRect">
            <a:avLst>
              <a:gd name="adj" fmla="val 6870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C6DCE00-8BE7-455B-9E54-21F21EFB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4600"/>
            <a:ext cx="13716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01 / LAND</a:t>
            </a:r>
            <a:endParaRPr sz="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26DFE66-1AC4-4286-B180-BF8379DE8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248716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↗</a:t>
            </a:r>
            <a:endParaRPr sz="14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437AC97-69A0-409C-B9E4-231B6267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7792"/>
            <a:ext cx="23774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Fleet Integration</a:t>
            </a:r>
            <a:endParaRPr sz="1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0942C9E-DB2C-410D-AE0B-59F6691B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2395728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Make existing mission data trustworthy across teams, workflows, and customer handoffs.</a:t>
            </a:r>
            <a:endParaRPr sz="11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B1ECD6E-781B-43BC-819C-E1FE2EB2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07408"/>
            <a:ext cx="21945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Start on the ground</a:t>
            </a:r>
            <a:endParaRPr sz="8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B220A6E-71EC-44E2-A473-CD94B549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0792" y="2267712"/>
            <a:ext cx="2880360" cy="2395728"/>
          </a:xfrm>
          <a:prstGeom xmlns:a="http://schemas.openxmlformats.org/drawingml/2006/main" prst="roundRect">
            <a:avLst>
              <a:gd name="adj" fmla="val 6870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AB817F5-581A-44C5-AE2C-97481EF34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2514600"/>
            <a:ext cx="13716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02 / EXPAND</a:t>
            </a:r>
            <a:endParaRPr sz="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71E6E58-F88D-47A9-9941-3890E9CA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248716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◎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FB05235-9557-4930-B7B1-7A14C8CD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2907792"/>
            <a:ext cx="23774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Flight Candidate Adapter</a:t>
            </a:r>
            <a:endParaRPr sz="18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1FD972D-2D84-41CC-B152-4296FC377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3657600"/>
            <a:ext cx="2395728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Carry validated evidence toward future onboard deployment without claiming flight qualification.</a:t>
            </a:r>
            <a:endParaRPr sz="11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C6306FCD-5D35-4264-87AF-48811762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4407408"/>
            <a:ext cx="21945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Earn the flight path</a:t>
            </a:r>
            <a:endParaRPr sz="8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DEEA0AB4-A5EF-4266-98A6-C700D72B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5784" y="2267712"/>
            <a:ext cx="2880360" cy="2395728"/>
          </a:xfrm>
          <a:prstGeom xmlns:a="http://schemas.openxmlformats.org/drawingml/2006/main" prst="roundRect">
            <a:avLst>
              <a:gd name="adj" fmla="val 6870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7552509-5E9D-4E95-ADF5-5AAC0D6B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384" y="2514600"/>
            <a:ext cx="13716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03 / EXTEND</a:t>
            </a:r>
            <a:endParaRPr sz="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2316A8F7-6852-4BBC-8A7B-C6D59FA8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8944" y="248716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⇄</a:t>
            </a:r>
            <a:endParaRPr sz="14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1E91773-C7CD-408A-B390-CDEEA5C21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384" y="2907792"/>
            <a:ext cx="23774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Federated Bridge Node</a:t>
            </a:r>
            <a:endParaRPr sz="18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225BED1-33CF-4F2C-B5E2-F2222B6F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384" y="3657600"/>
            <a:ext cx="2395728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Move trusted data across zones, partners, and protected infrastructure as the network grows.</a:t>
            </a:r>
            <a:endParaRPr sz="11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D65C9C6-986F-414F-8B0A-3A87E314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384" y="4407408"/>
            <a:ext cx="21945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Expand the boundary</a:t>
            </a:r>
            <a:endParaRPr sz="8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A40538B-B81E-443D-B369-B85FA573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2976"/>
            <a:ext cx="102412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The boundary is the moat: Gauss makes external mission systems more trustworthy without pretending to own them.</a:t>
            </a:r>
            <a:endParaRPr sz="1500"/>
          </a:p>
        </p:txBody>
      </p:sp>
      <p:sp>
        <p:nvSpPr>
          <p:cNvPr id="27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011FF0C-8EFA-4EC2-B981-C3E17C62D87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179742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31eac15f6740a4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0B55E61-5329-4635-BBE3-0595F7FD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E28375C-DFD2-4868-89BB-2B534C2D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0288A37-171A-4DB8-B1F5-C9478836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MARKET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344D385C-F789-40C5-94EB-7FF5A739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06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39667813-D76D-41AC-8FDA-9A9C4144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E0E25D64-E7EC-43F1-BBBE-723DE54E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Start where data quality is already a budget line.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9BD9C-CD66-4B77-A22F-DA5B4CD5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Gauss sells first to operators and integrators who cannot afford ambiguous telemetry.</a:t>
            </a:r>
            <a:endParaRPr sz="1500"/>
          </a:p>
        </p:txBody>
      </p:sp>
      <p:graphicFrame>
        <p:nvGraphicFramePr>
          <p:cNvPr id="54" name="Table 0"/>
          <p:cNvGraphicFramePr/>
          <p:nvPr/>
        </p:nvGraphicFramePr>
        <p:xfrm>
          <a:off xmlns:a="http://schemas.openxmlformats.org/drawingml/2006/main" x="685800" y="2157984"/>
          <a:ext xmlns:a="http://schemas.openxmlformats.org/drawingml/2006/main" cx="10817352" cy="2743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77440"/>
                <a:gridCol w="2331720"/>
                <a:gridCol w="3337560"/>
                <a:gridCol w="2770632"/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/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/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50505"/>
                    </a:solidFill>
                  </a:tcPr>
                </a:tc>
              </a:tr>
            </a:tbl>
          </a:graphicData>
        </a:graphic>
      </p:graphicFrame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EC3F4-CFAF-44A1-9660-F1870854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2392"/>
            <a:ext cx="98755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E7B14A"/>
                </a:solidFill>
                <a:latin typeface="Inter"/>
                <a:ea typeface="Inter"/>
                <a:cs typeface="Inter"/>
              </a:rPr>
              <a:t>8 sourced research profiles across five buyer wedges; no signed customers.</a:t>
            </a:r>
            <a:endParaRPr sz="14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1506A5F-61EB-432F-A0F4-2D8484F0C76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  <p:sp>
        <p:nvSpPr>
          <p:cNvPr id="28" name="profile-mix-label">
            <a:extLst xmlns:a="http://schemas.openxmlformats.org/drawingml/2006/main">
              <a:ext uri="{FF2B5EF4-FFF2-40B4-BE49-F238E27FC236}">
                <a16:creationId xmlns:a16="http://schemas.microsoft.com/office/drawing/2014/main" id="{BA6B8842-9F8C-4636-A08B-1D77502C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E7B14A"/>
                </a:solidFill>
              </a:defRPr>
            </a:pPr>
            <a:r>
              <a:rPr sz="900" b="1">
                <a:solidFill>
                  <a:srgbClr val="E7B14A"/>
                </a:solidFill>
              </a:rPr>
              <a:t>PROFILE MIX  /  8 RESEARCH TARGETS</a:t>
            </a:r>
          </a:p>
        </p:txBody>
      </p:sp>
      <p:sp>
        <p:nvSpPr>
          <p:cNvPr id="29" name="profile-grid-1">
            <a:extLst xmlns:a="http://schemas.openxmlformats.org/drawingml/2006/main">
              <a:ext uri="{FF2B5EF4-FFF2-40B4-BE49-F238E27FC236}">
                <a16:creationId xmlns:a16="http://schemas.microsoft.com/office/drawing/2014/main" id="{57B3CFCB-56A3-4A2C-A5E4-F3275AA2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228850"/>
            <a:ext cx="952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30" name="profile-grid-2">
            <a:extLst xmlns:a="http://schemas.openxmlformats.org/drawingml/2006/main">
              <a:ext uri="{FF2B5EF4-FFF2-40B4-BE49-F238E27FC236}">
                <a16:creationId xmlns:a16="http://schemas.microsoft.com/office/drawing/2014/main" id="{5489EA37-BD5F-4358-B4EA-AE329C53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228850"/>
            <a:ext cx="952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02E"/>
          </a:solidFill>
          <a:ln xmlns:a="http://schemas.openxmlformats.org/drawingml/2006/main" w="0">
            <a:solidFill>
              <a:srgbClr val="25302E"/>
            </a:solidFill>
            <a:prstDash val="solid"/>
          </a:ln>
        </p:spPr>
      </p:sp>
      <p:sp>
        <p:nvSpPr>
          <p:cNvPr id="31" name="profile-label-0">
            <a:extLst xmlns:a="http://schemas.openxmlformats.org/drawingml/2006/main">
              <a:ext uri="{FF2B5EF4-FFF2-40B4-BE49-F238E27FC236}">
                <a16:creationId xmlns:a16="http://schemas.microsoft.com/office/drawing/2014/main" id="{6F192035-CBED-4EC0-BAB3-48ADA93D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Satcom</a:t>
            </a:r>
          </a:p>
        </p:txBody>
      </p:sp>
      <p:sp>
        <p:nvSpPr>
          <p:cNvPr id="32" name="profile-bar-0">
            <a:extLst xmlns:a="http://schemas.openxmlformats.org/drawingml/2006/main">
              <a:ext uri="{FF2B5EF4-FFF2-40B4-BE49-F238E27FC236}">
                <a16:creationId xmlns:a16="http://schemas.microsoft.com/office/drawing/2014/main" id="{E481C2C6-7B39-42FD-9BCB-5430166D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228850"/>
            <a:ext cx="857250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</p:sp>
      <p:sp>
        <p:nvSpPr>
          <p:cNvPr id="33" name="profile-value-0">
            <a:extLst xmlns:a="http://schemas.openxmlformats.org/drawingml/2006/main">
              <a:ext uri="{FF2B5EF4-FFF2-40B4-BE49-F238E27FC236}">
                <a16:creationId xmlns:a16="http://schemas.microsoft.com/office/drawing/2014/main" id="{ED9836B4-81D2-4052-B894-D56C4554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2383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2</a:t>
            </a:r>
          </a:p>
        </p:txBody>
      </p:sp>
      <p:sp>
        <p:nvSpPr>
          <p:cNvPr id="34" name="profile-label-1">
            <a:extLst xmlns:a="http://schemas.openxmlformats.org/drawingml/2006/main">
              <a:ext uri="{FF2B5EF4-FFF2-40B4-BE49-F238E27FC236}">
                <a16:creationId xmlns:a16="http://schemas.microsoft.com/office/drawing/2014/main" id="{C6FBC265-BF20-43D0-86F1-7A4597D1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Weather</a:t>
            </a:r>
          </a:p>
        </p:txBody>
      </p:sp>
      <p:sp>
        <p:nvSpPr>
          <p:cNvPr id="35" name="profile-bar-1">
            <a:extLst xmlns:a="http://schemas.openxmlformats.org/drawingml/2006/main">
              <a:ext uri="{FF2B5EF4-FFF2-40B4-BE49-F238E27FC236}">
                <a16:creationId xmlns:a16="http://schemas.microsoft.com/office/drawing/2014/main" id="{D07CC964-AAE8-4B36-B86C-7030A73CE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86050"/>
            <a:ext cx="857250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</p:sp>
      <p:sp>
        <p:nvSpPr>
          <p:cNvPr id="36" name="profile-value-1">
            <a:extLst xmlns:a="http://schemas.openxmlformats.org/drawingml/2006/main">
              <a:ext uri="{FF2B5EF4-FFF2-40B4-BE49-F238E27FC236}">
                <a16:creationId xmlns:a16="http://schemas.microsoft.com/office/drawing/2014/main" id="{ED7864FB-0804-4AE8-B09F-E84A7D88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26955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2</a:t>
            </a:r>
          </a:p>
        </p:txBody>
      </p:sp>
      <p:sp>
        <p:nvSpPr>
          <p:cNvPr id="37" name="profile-label-2">
            <a:extLst xmlns:a="http://schemas.openxmlformats.org/drawingml/2006/main">
              <a:ext uri="{FF2B5EF4-FFF2-40B4-BE49-F238E27FC236}">
                <a16:creationId xmlns:a16="http://schemas.microsoft.com/office/drawing/2014/main" id="{2AE3D7AA-83B3-4B04-957B-D6BA109E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Earth observation</a:t>
            </a:r>
          </a:p>
        </p:txBody>
      </p:sp>
      <p:sp>
        <p:nvSpPr>
          <p:cNvPr id="38" name="profile-bar-2">
            <a:extLst xmlns:a="http://schemas.openxmlformats.org/drawingml/2006/main">
              <a:ext uri="{FF2B5EF4-FFF2-40B4-BE49-F238E27FC236}">
                <a16:creationId xmlns:a16="http://schemas.microsoft.com/office/drawing/2014/main" id="{62DAE713-5511-4B84-A26A-35873B54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43250"/>
            <a:ext cx="428625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</p:sp>
      <p:sp>
        <p:nvSpPr>
          <p:cNvPr id="39" name="profile-value-2">
            <a:extLst xmlns:a="http://schemas.openxmlformats.org/drawingml/2006/main">
              <a:ext uri="{FF2B5EF4-FFF2-40B4-BE49-F238E27FC236}">
                <a16:creationId xmlns:a16="http://schemas.microsoft.com/office/drawing/2014/main" id="{83B90E02-743F-4F2A-9067-D0BEAE356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527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1</a:t>
            </a:r>
          </a:p>
        </p:txBody>
      </p:sp>
      <p:sp>
        <p:nvSpPr>
          <p:cNvPr id="40" name="profile-label-3">
            <a:extLst xmlns:a="http://schemas.openxmlformats.org/drawingml/2006/main">
              <a:ext uri="{FF2B5EF4-FFF2-40B4-BE49-F238E27FC236}">
                <a16:creationId xmlns:a16="http://schemas.microsoft.com/office/drawing/2014/main" id="{40E9C5AD-FEB7-4677-8D04-43BD41BA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PNT</a:t>
            </a:r>
          </a:p>
        </p:txBody>
      </p:sp>
      <p:sp>
        <p:nvSpPr>
          <p:cNvPr id="41" name="profile-bar-3">
            <a:extLst xmlns:a="http://schemas.openxmlformats.org/drawingml/2006/main">
              <a:ext uri="{FF2B5EF4-FFF2-40B4-BE49-F238E27FC236}">
                <a16:creationId xmlns:a16="http://schemas.microsoft.com/office/drawing/2014/main" id="{83769DED-4F23-46EE-8380-1A2C7A1E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00450"/>
            <a:ext cx="428625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</p:sp>
      <p:sp>
        <p:nvSpPr>
          <p:cNvPr id="42" name="profile-value-3">
            <a:extLst xmlns:a="http://schemas.openxmlformats.org/drawingml/2006/main">
              <a:ext uri="{FF2B5EF4-FFF2-40B4-BE49-F238E27FC236}">
                <a16:creationId xmlns:a16="http://schemas.microsoft.com/office/drawing/2014/main" id="{6ABCF6A3-55F1-4579-BA2E-871E13CA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099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1</a:t>
            </a:r>
          </a:p>
        </p:txBody>
      </p:sp>
      <p:sp>
        <p:nvSpPr>
          <p:cNvPr id="43" name="profile-label-4">
            <a:extLst xmlns:a="http://schemas.openxmlformats.org/drawingml/2006/main">
              <a:ext uri="{FF2B5EF4-FFF2-40B4-BE49-F238E27FC236}">
                <a16:creationId xmlns:a16="http://schemas.microsoft.com/office/drawing/2014/main" id="{8B373A2C-17E3-4363-B686-BC2709F9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3F0E8"/>
                </a:solidFill>
              </a:defRPr>
            </a:pPr>
            <a:r>
              <a:rPr sz="1125">
                <a:solidFill>
                  <a:srgbClr val="F3F0E8"/>
                </a:solidFill>
              </a:rPr>
              <a:t>Lunar relay</a:t>
            </a:r>
          </a:p>
        </p:txBody>
      </p:sp>
      <p:sp>
        <p:nvSpPr>
          <p:cNvPr id="44" name="profile-bar-4">
            <a:extLst xmlns:a="http://schemas.openxmlformats.org/drawingml/2006/main">
              <a:ext uri="{FF2B5EF4-FFF2-40B4-BE49-F238E27FC236}">
                <a16:creationId xmlns:a16="http://schemas.microsoft.com/office/drawing/2014/main" id="{E9AA72FE-7056-4A8D-9AD6-5264869C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057650"/>
            <a:ext cx="8572500" cy="2476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0">
            <a:solidFill>
              <a:srgbClr val="CCFF00"/>
            </a:solidFill>
            <a:prstDash val="solid"/>
          </a:ln>
        </p:spPr>
      </p:sp>
      <p:sp>
        <p:nvSpPr>
          <p:cNvPr id="45" name="profile-value-4">
            <a:extLst xmlns:a="http://schemas.openxmlformats.org/drawingml/2006/main">
              <a:ext uri="{FF2B5EF4-FFF2-40B4-BE49-F238E27FC236}">
                <a16:creationId xmlns:a16="http://schemas.microsoft.com/office/drawing/2014/main" id="{15638DCB-ACC5-4173-8B54-B3AD050D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406717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3F0E8"/>
                </a:solidFill>
              </a:defRPr>
            </a:pPr>
            <a:r>
              <a:rPr sz="1200" b="1">
                <a:solidFill>
                  <a:srgbClr val="F3F0E8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02450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4b017bee5e4a40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F4D0ED68-9B2A-402A-8A98-0E9D9613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8BA27EE9-3160-4668-A61D-B56E23EBD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F82630D-1FA1-48CF-9EE8-AA776542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MARKET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D27E8BC-0E08-4CC8-A55F-CBF50C54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07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7927833-DC7F-4A82-B36A-D9C9C658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1393B113-E77E-456C-9C7B-1F3ED260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Start with a focused wedge; expand as evidence compounds.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5D3BD5E-6427-45D4-BF86-5FF585C7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TAM and SAM are internal ranges; SOM is five fleet accounts.</a:t>
            </a:r>
            <a:endParaRPr sz="15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8B22210-8477-4310-AF29-71EEE399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66544"/>
            <a:ext cx="49377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INTERNAL SCENARIO  /  NOT AUDITED RESEARCH</a:t>
            </a:r>
            <a:endParaRPr sz="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5788EA6-EC18-48D3-8BE4-2A60E0AC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2670048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TAM</a:t>
            </a:r>
            <a:endParaRPr sz="11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10B20D4-55C0-4E6E-8BEA-D07D41DB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3035808"/>
            <a:ext cx="32004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44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$3–5B</a:t>
            </a:r>
            <a:endParaRPr sz="44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7C36BB-EA09-4E07-84A3-2EF7D231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3767328"/>
            <a:ext cx="3127248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Mission-data + infrastructure category.</a:t>
            </a:r>
            <a:endParaRPr sz="13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E878C663-1427-4DB6-8920-EE2FBCB8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2331720"/>
            <a:ext cx="0" cy="25877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204AD369-DE50-4A91-9F7E-BD881D27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2651760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TAM</a:t>
            </a:r>
            <a:endParaRPr sz="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FE0C6E80-0184-4287-8DD1-5C8E50F5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651760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0EAC6E4-7815-4E5C-9E32-54B40EE2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651760"/>
            <a:ext cx="4754880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B2BF177-B763-4E1A-B226-966CDBE2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2962656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$3–5B</a:t>
            </a:r>
            <a:endParaRPr sz="12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31EA8CC-4EEF-4613-AACA-48E5995D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962656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Broad mission-data + infrastructure</a:t>
            </a:r>
            <a:endParaRPr sz="8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009952A-2FF8-48DC-BBB4-4ED105CC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3401568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SAM</a:t>
            </a:r>
            <a:endParaRPr sz="900"/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ADEC10D-E759-454A-B630-B74F0DB7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401568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CFF77215-5D21-49F6-A1D5-BC67044D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401568"/>
            <a:ext cx="2743200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A738CA7F-7D26-43D2-8D40-8E5AB1C2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3712464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 b="1">
                <a:solidFill>
                  <a:srgbClr val="E7B14A"/>
                </a:solidFill>
                <a:latin typeface="Inter"/>
                <a:ea typeface="Inter"/>
                <a:cs typeface="Inter"/>
              </a:rPr>
              <a:t>$900M–$1.75B</a:t>
            </a:r>
            <a:endParaRPr sz="1200"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1C2C6F-1E49-425F-8F34-4112A100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712464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Initial ground + distributed-space wedge</a:t>
            </a:r>
            <a:endParaRPr sz="80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DF12C80F-81B0-4F16-BCD2-18C670B3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151376"/>
            <a:ext cx="640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SOM</a:t>
            </a:r>
            <a:endParaRPr sz="90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05E4E24-305C-4062-BA29-C435C21E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151376"/>
            <a:ext cx="4133088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71C1C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19071F3-516C-4645-99F4-91370A4F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151376"/>
            <a:ext cx="768096" cy="256032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3F0E8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30766A76-EF4D-4EC9-83C5-A0F0EE13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462272"/>
            <a:ext cx="2560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$500k ARR</a:t>
            </a:r>
            <a:endParaRPr sz="12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A647BDEF-759F-472C-80E7-34AFEFB6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462272"/>
            <a:ext cx="248716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Five $100k fleet accounts</a:t>
            </a:r>
            <a:endParaRPr sz="8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4106FA87-DCB6-4964-8A43-5D15DF0E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4736592"/>
            <a:ext cx="5212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SOM is five $100k fleet accounts—not a speculative market-share claim.</a:t>
            </a:r>
            <a:endParaRPr sz="1300"/>
          </a:p>
        </p:txBody>
      </p:sp>
      <p:sp>
        <p:nvSpPr>
          <p:cNvPr id="3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0D349C5-E354-4A28-B6C4-B64533ED1C2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269184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A58A04-BD85-4082-9CF2-2AD63F48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B3ADECB-279E-4F13-AA6E-88A462AA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COMMERCIAL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113A158-B305-42AD-A23F-454B85FC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08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E7E2189-6260-4D5E-811C-34FE5D20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77BE3E3-2F53-451D-9ADD-3F05F335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Five fleet accounts can establish the first $500k ARR base.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FF6E996-5ACD-4D4B-850E-EB41A55D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Charge for the platform annually; keep implementation and flight engineering outside ARR.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18286FA-1A8D-4C81-842B-322191E4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03120"/>
            <a:ext cx="17373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REVENUE STACK</a:t>
            </a:r>
            <a:endParaRPr sz="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9C8FB36-F708-4586-AD7B-C7C4238F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2057400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◒</a:t>
            </a:r>
            <a:endParaRPr sz="1400"/>
          </a:p>
        </p:txBody>
      </p:sp>
      <p:graphicFrame>
        <p:nvGraphicFramePr>
          <p:cNvPr id="39" name="Chart 0"/>
          <p:cNvGraphicFramePr/>
          <p:nvPr/>
        </p:nvGraphicFramePr>
        <p:xfrm>
          <a:off xmlns:a="http://schemas.openxmlformats.org/drawingml/2006/main" x="685800" y="2450592"/>
          <a:ext xmlns:a="http://schemas.openxmlformats.org/drawingml/2006/main" cx="5623560" cy="265176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819a769210d4c42"/>
          </a:graphicData>
        </a:graphic>
      </p:graphicFrame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0FE0D0A-FDF9-49CF-BBAD-9EAB32F5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9260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$k ARR / annualized contract value</a:t>
            </a:r>
            <a:endParaRPr sz="8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CAD7B660-7CFA-4B01-9AF9-E4A2A0C3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971800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1467B98-9B99-4D31-A46E-AC4C7FD7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468880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Paid evaluation</a:t>
            </a:r>
            <a:endParaRPr sz="13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707E76B1-2D70-4C53-BFDE-A24D8E1D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468880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11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$20k–$35k</a:t>
            </a:r>
            <a:endParaRPr sz="11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9F3D2FD-92C3-48CF-A6EB-D93A3B48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743200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6–10 weeks; credit toward conversion</a:t>
            </a:r>
            <a:endParaRPr sz="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E1E9B7B3-45D6-478C-9976-CB8FCA4B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630168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253CC369-F628-4DF5-AE26-C0C328F3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127248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Annual platform</a:t>
            </a:r>
            <a:endParaRPr sz="13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C857CAE3-BAAE-41E1-BB8B-9E13CF75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3127248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11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$100k–$150k</a:t>
            </a:r>
            <a:endParaRPr sz="11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84F0367F-A84C-4F11-BF30-293760C3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401568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Fleet / mission capacity, not seats</a:t>
            </a:r>
            <a:endParaRPr sz="9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29F13F33-1E85-43F7-9611-B1EF4BB4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288536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AE1FBA0-3B3F-48BB-B795-3BA71FA4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3785616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Implementation</a:t>
            </a:r>
            <a:endParaRPr sz="13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BB8B42D-29F5-48FA-9EC9-E430151B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3785616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11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$30k–$100k</a:t>
            </a:r>
            <a:endParaRPr sz="11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BE196290-A934-4553-AC0C-8A62543D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059936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One-time adapters and onboarding</a:t>
            </a:r>
            <a:endParaRPr sz="9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BEE818CE-1B81-4889-80EB-071363A1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946904"/>
            <a:ext cx="42336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655D5EB-D991-4DDF-A96D-392DD3EE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443984"/>
            <a:ext cx="1691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Flight candidate</a:t>
            </a:r>
            <a:endParaRPr sz="130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80784210-424F-4EDE-BBF8-7CD17BD8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4443984"/>
            <a:ext cx="20116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11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$150k–$400k</a:t>
            </a:r>
            <a:endParaRPr sz="11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D249789D-4508-4F54-84E5-2BE0E9ED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4718304"/>
            <a:ext cx="41605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NRE; external evidence gates</a:t>
            </a:r>
            <a:endParaRPr sz="900"/>
          </a:p>
        </p:txBody>
      </p:sp>
      <p:sp>
        <p:nvSpPr>
          <p:cNvPr id="29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4417E04-E870-448C-9F63-E28F1A5B796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1015378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81B4F3F-32C4-4625-BD99-4C2C2EC4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22C47AC-0F49-43DC-84CD-7926A362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COMMERCIAL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EFBBFB9-BB2C-407C-A0AD-1E024506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09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6C45A642-151B-49DC-854F-92F2B8C3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4E7D93C-84C1-405D-9CC3-E2C795385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Charge now. Gate access with evidence.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C569A12-BFE6-4EC3-804F-AA2D86D3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Billing, compliance, and mission clearance are separate server-side gates.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F664A7E-2FF4-45A7-8C0A-AD4F20A5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2359152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□</a:t>
            </a:r>
            <a:endParaRPr sz="14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91FDEC77-63E3-4841-A404-3C0BE5871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912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6A4EEE8-6449-423D-9307-F831C2DC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98064"/>
            <a:ext cx="32004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800" b="1">
                <a:solidFill>
                  <a:srgbClr val="050505"/>
                </a:solidFill>
                <a:latin typeface="JetBrains Mono"/>
                <a:ea typeface="JetBrains Mono"/>
                <a:cs typeface="JetBrains Mono"/>
              </a:rPr>
              <a:t>01</a:t>
            </a:r>
            <a:endParaRPr sz="8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5215D18-D9FC-454A-82A2-8438A8B5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880360"/>
            <a:ext cx="15453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C25317E-23D5-4328-98BD-E8FB25C5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9272"/>
            <a:ext cx="1783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Select package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691BCC8-76B5-4688-BF39-33053F23A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5888"/>
            <a:ext cx="1737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Ground / fleet / enterprise</a:t>
            </a:r>
            <a:endParaRPr sz="9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C061596-7A74-4F3B-88D3-662380DCE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359152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◎</a:t>
            </a:r>
            <a:endParaRPr sz="14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B4EA409-67E0-40D4-AF98-F8E292D9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2724912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7768EE4-3DD2-458E-86B2-41F673439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2798064"/>
            <a:ext cx="32004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800" b="1">
                <a:solidFill>
                  <a:srgbClr val="050505"/>
                </a:solidFill>
                <a:latin typeface="JetBrains Mono"/>
                <a:ea typeface="JetBrains Mono"/>
                <a:cs typeface="JetBrains Mono"/>
              </a:rPr>
              <a:t>02</a:t>
            </a:r>
            <a:endParaRPr sz="8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E078F05-AD9B-4037-9E9E-D80AF90C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2880360"/>
            <a:ext cx="15453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8E8DA14-8EE2-479C-AF5D-3F70CC6C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3319272"/>
            <a:ext cx="1783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Profile the mission</a:t>
            </a:r>
            <a:endParaRPr sz="12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8DD00A4-F7EA-4138-A46E-866B0F91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3675888"/>
            <a:ext cx="1737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Jurisdiction, data class, deployment</a:t>
            </a:r>
            <a:endParaRPr sz="9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24B1684C-91DF-47B9-836C-A8645179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1768" y="2359152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∑</a:t>
            </a:r>
            <a:endParaRPr sz="14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1C1F3FD-07CF-4CC2-92E0-2B86788B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8616" y="2724912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B58B3BD-9876-488F-A2C9-0709B4489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8616" y="2798064"/>
            <a:ext cx="32004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800" b="1">
                <a:solidFill>
                  <a:srgbClr val="050505"/>
                </a:solidFill>
                <a:latin typeface="JetBrains Mono"/>
                <a:ea typeface="JetBrains Mono"/>
                <a:cs typeface="JetBrains Mono"/>
              </a:rPr>
              <a:t>03</a:t>
            </a:r>
            <a:endParaRPr sz="8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1846540D-F63A-4FBF-82D9-CD4187145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880360"/>
            <a:ext cx="15453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CC3C2BD-6D34-4955-8E0D-6C3306860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8616" y="3319272"/>
            <a:ext cx="1783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Contract + pay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F4E3D16-97F3-427B-B69E-0B997B172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8616" y="3675888"/>
            <a:ext cx="1737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Stripe or invoice / PO</a:t>
            </a:r>
            <a:endParaRPr sz="9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623E538-93AD-46A6-9670-434337469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3176" y="2359152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&gt;</a:t>
            </a:r>
            <a:endParaRPr sz="14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11682FD-0930-4BF2-835D-2A1F9C4C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2724912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D659A24-3C8A-4BFD-B41B-5F047732C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2798064"/>
            <a:ext cx="32004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800" b="1">
                <a:solidFill>
                  <a:srgbClr val="050505"/>
                </a:solidFill>
                <a:latin typeface="JetBrains Mono"/>
                <a:ea typeface="JetBrains Mono"/>
                <a:cs typeface="JetBrains Mono"/>
              </a:rPr>
              <a:t>04</a:t>
            </a:r>
            <a:endParaRPr sz="8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BB245CFC-4CA7-4D89-B67F-585CFBBDC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880360"/>
            <a:ext cx="15453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12D28A9A-80A8-488C-999E-234EA7E6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3319272"/>
            <a:ext cx="1783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Provision</a:t>
            </a:r>
            <a:endParaRPr sz="12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7270C63E-EB15-423E-AC12-83AE08FA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3675888"/>
            <a:ext cx="1737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Entitlements after verified webhook</a:t>
            </a:r>
            <a:endParaRPr sz="9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4417ED79-D069-4030-863B-1E41FF8F6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4584" y="2359152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⊙</a:t>
            </a:r>
            <a:endParaRPr sz="14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E9527A53-8686-4DBB-8D57-5C83C424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1432" y="2724912"/>
            <a:ext cx="320040" cy="32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6E13AEA1-FF1B-450E-AA7C-4C00E0561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1432" y="2798064"/>
            <a:ext cx="32004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800" b="1">
                <a:solidFill>
                  <a:srgbClr val="050505"/>
                </a:solidFill>
                <a:latin typeface="JetBrains Mono"/>
                <a:ea typeface="JetBrains Mono"/>
                <a:cs typeface="JetBrains Mono"/>
              </a:rPr>
              <a:t>05</a:t>
            </a:r>
            <a:endParaRPr sz="8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D86C3B7-577A-4D16-B902-1F0D8BCF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1432" y="3319272"/>
            <a:ext cx="1783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Approve scope</a:t>
            </a:r>
            <a:endParaRPr sz="120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2F0CD0B7-D30A-48D4-8C6F-E96A566A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1432" y="3675888"/>
            <a:ext cx="1737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Evidence-ready access only</a:t>
            </a:r>
            <a:endParaRPr sz="90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41FB27D3-248B-47FA-A576-FFE94025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7720"/>
            <a:ext cx="10817352" cy="896112"/>
          </a:xfrm>
          <a:prstGeom xmlns:a="http://schemas.openxmlformats.org/drawingml/2006/main" prst="roundRect">
            <a:avLst>
              <a:gd name="adj" fmla="val 16327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09810100-A4E4-48F1-95F3-F60A03D2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8032"/>
            <a:ext cx="201168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REGULATORY READINESS PACK</a:t>
            </a:r>
            <a:endParaRPr sz="80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CCFBB333-FE17-4EFD-AEB6-FFA8EB29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828032"/>
            <a:ext cx="1188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GDPR / DPA</a:t>
            </a:r>
            <a:endParaRPr sz="110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B759FA0C-5D74-48DD-849E-909A4E07E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82803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NIS2 applicability</a:t>
            </a:r>
            <a:endParaRPr sz="110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29FF45F9-A223-439A-837D-E7950499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4828032"/>
            <a:ext cx="1554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EAR / ITAR review</a:t>
            </a:r>
            <a:endParaRPr sz="1100"/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E6B98EB9-0F01-40EB-A6E2-19BF9FD0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828032"/>
            <a:ext cx="15544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NIST / CUI scope</a:t>
            </a:r>
            <a:endParaRPr sz="1100"/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02769060-D4E5-4022-A33A-2AC736D1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75504"/>
            <a:ext cx="795528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Status is evidence-based: unknown → assessing → evidence required → approved.</a:t>
            </a:r>
            <a:endParaRPr sz="900"/>
          </a:p>
        </p:txBody>
      </p:sp>
      <p:sp>
        <p:nvSpPr>
          <p:cNvPr id="44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E63CEA8-C89C-461E-ABB4-5405B651E2B4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241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3061d3ffdc40b0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785D1189-6ECD-437B-A2E4-81DC4F82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22F90A88-EE69-4FAF-8075-C37296BA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5A482D22-9CD2-40D5-91E4-B893A1F2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POSITIONING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8EA2EC3-2B5E-42DD-BBC1-B134EF3F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10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D349530C-3354-4DC1-8AD7-D7E10CFBE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C080AE9D-22E6-48C5-9D19-598CEE23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The whitespace sits between operations, context, and trust.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24C7153-5666-4D05-8EF4-EEC0D5C5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Adjacent platforms own one layer. Gauss connects the evidence needed to act.</a:t>
            </a:r>
            <a:endParaRPr sz="1500"/>
          </a:p>
        </p:txBody>
      </p:sp>
      <p:graphicFrame>
        <p:nvGraphicFramePr>
          <p:cNvPr id="55" name="Table 0"/>
          <p:cNvGraphicFramePr/>
          <p:nvPr/>
        </p:nvGraphicFramePr>
        <p:xfrm>
          <a:off xmlns:a="http://schemas.openxmlformats.org/drawingml/2006/main" x="685800" y="2176272"/>
          <a:ext xmlns:a="http://schemas.openxmlformats.org/drawingml/2006/main" cx="10817352" cy="2852928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8840"/>
                <a:gridCol w="3017520"/>
                <a:gridCol w="3154680"/>
                <a:gridCol w="2496312"/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CATEGORY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EXAMPLE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PUBLICLY POSITIONED STRENGTH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GAUSS WHITE SPACE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GROUND C3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Yamcs / OpenC3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Command, telemetry, procedures, limits, logs, replay, and operator control.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Cross-system evidence, provenance, and decision gates.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SPACE INTELLIGENCE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Slingshot Portal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Space data, AI analytics, and mission workflows from sense → fuse → decide → act.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Auditable evidence that travels across the customer stack.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AI OBSERVABILITY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Arize / Fiddler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Model and agent evals, monitoring, drift, explainability, and trust metrics.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Mission context: telemetry, radiation, safety, and operator authority.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ONBOARD AUTONOMY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AIKO orbital_OLIVER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Onboard planning, resource-aware decisions, and autonomous execution.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Ground-first assurance before flight deployment; partner-neutral by design.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GAUSS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Evidence layer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Validate, explain, and gate decisions across heterogeneous mission data.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Own the seam between raw signals and safe action.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</a:tbl>
          </a:graphicData>
        </a:graphic>
      </p:graphicFrame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F9EF4FC-A92F-45FD-BB62-83D9650B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21808"/>
            <a:ext cx="10817352" cy="411480"/>
          </a:xfrm>
          <a:prstGeom xmlns:a="http://schemas.openxmlformats.org/drawingml/2006/main" prst="roundRect">
            <a:avLst>
              <a:gd name="adj" fmla="val 31111"/>
            </a:avLst>
          </a:prstGeom>
          <a:solidFill xmlns:a="http://schemas.openxmlformats.org/drawingml/2006/main">
            <a:srgbClr val="132000"/>
          </a:solidFill>
          <a:ln xmlns:a="http://schemas.openxmlformats.org/drawingml/2006/main" w="12700">
            <a:solidFill>
              <a:srgbClr val="CCFF00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2304DE2-B104-44A1-A357-53C059AD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468112"/>
            <a:ext cx="19202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CATEGORY WEDGE</a:t>
            </a:r>
            <a:endParaRPr sz="8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250DC48-7E9F-4E6B-91AD-4B588831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2112" y="5468112"/>
            <a:ext cx="76809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7273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 partner-neutral evidence layer across space data, mission control, and AI.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614F266-BDBC-4E64-A1D1-5D4C58BB475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10</a:t>
            </a:fld>
            <a:endParaRPr/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13EF8A-C056-4207-8CF0-D83C01067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862138"/>
            <a:ext cx="1371600" cy="228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5715">
            <a:solidFill>
              <a:srgbClr val="3B4652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d5e6d9db5a4c14">
            <a:extLst>
              <a:ext uri="{96DAC541-7B7A-43D3-8B79-37D633B846F1}">
                <asvg:svgBlip xmlns:asvg="http://schemas.microsoft.com/office/drawing/2016/SVG/main" r:embed="Rb7b68bab28744e5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343150" y="1890713"/>
            <a:ext cx="1219200" cy="17145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3B9947-987C-4DD7-A5D3-25CB75F0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862138"/>
            <a:ext cx="1371600" cy="228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1171F"/>
          </a:solidFill>
          <a:ln xmlns:a="http://schemas.openxmlformats.org/drawingml/2006/main" w="5715">
            <a:solidFill>
              <a:srgbClr val="3B4652"/>
            </a:solidFill>
            <a:prstDash val="solid"/>
          </a:ln>
        </p:spPr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dddee98ba4cc8"/>
          <a:stretch xmlns:a="http://schemas.openxmlformats.org/drawingml/2006/main"/>
        </p:blipFill>
        <p:spPr>
          <a:xfrm xmlns:a="http://schemas.openxmlformats.org/drawingml/2006/main">
            <a:off x="4038535" y="1890713"/>
            <a:ext cx="743079" cy="171450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8B7C843-AC16-4416-BDCA-7DAEC651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862138"/>
            <a:ext cx="1371600" cy="228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1171F"/>
          </a:solidFill>
          <a:ln xmlns:a="http://schemas.openxmlformats.org/drawingml/2006/main" w="5715">
            <a:solidFill>
              <a:srgbClr val="3B4652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369514f5f94b09">
            <a:extLst>
              <a:ext uri="{96DAC541-7B7A-43D3-8B79-37D633B846F1}">
                <asvg:svgBlip xmlns:asvg="http://schemas.microsoft.com/office/drawing/2016/SVG/main" r:embed="R466b714116d643a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257800" y="1890713"/>
            <a:ext cx="1219200" cy="171450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17B85F-6822-4BAA-8B1E-AFA0A71C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862138"/>
            <a:ext cx="1371600" cy="228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5715">
            <a:solidFill>
              <a:srgbClr val="3B4652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62bfbf1b48431b">
            <a:extLst>
              <a:ext uri="{96DAC541-7B7A-43D3-8B79-37D633B846F1}">
                <asvg:svgBlip xmlns:asvg="http://schemas.microsoft.com/office/drawing/2016/SVG/main" r:embed="R4a620937b2004ce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715125" y="1890713"/>
            <a:ext cx="1219200" cy="171450"/>
          </a:xfrm>
          <a:prstGeom xmlns:a="http://schemas.openxmlformats.org/drawingml/2006/main" prst="rect">
            <a:avLst/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B53226C-77F8-4AD5-99BF-5F42E9AB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62138"/>
            <a:ext cx="1371600" cy="228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2F5FA"/>
          </a:solidFill>
          <a:ln xmlns:a="http://schemas.openxmlformats.org/drawingml/2006/main" w="5715">
            <a:solidFill>
              <a:srgbClr val="3B4652"/>
            </a:solidFill>
            <a:prstDash val="solid"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dddee98ba4cc8">
            <a:extLst>
              <a:ext uri="{96DAC541-7B7A-43D3-8B79-37D633B846F1}">
                <asvg:svgBlip xmlns:asvg="http://schemas.microsoft.com/office/drawing/2016/SVG/main" r:embed="Reef662bdbeac4a5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172450" y="1890713"/>
            <a:ext cx="1219200" cy="171450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398F99A-C8EC-4484-973B-D870CF1A3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1862138"/>
            <a:ext cx="1371600" cy="228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4D6972"/>
          </a:solidFill>
          <a:ln xmlns:a="http://schemas.openxmlformats.org/drawingml/2006/main" w="5715">
            <a:solidFill>
              <a:srgbClr val="3B4652"/>
            </a:solidFill>
            <a:prstDash val="solid"/>
          </a:ln>
        </p:spPr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7b07975d7d46b3"/>
          <a:stretch xmlns:a="http://schemas.openxmlformats.org/drawingml/2006/main"/>
        </p:blipFill>
        <p:spPr>
          <a:xfrm xmlns:a="http://schemas.openxmlformats.org/drawingml/2006/main">
            <a:off x="9827977" y="1890713"/>
            <a:ext cx="822795" cy="171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68216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c8adc4709f4470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F587926-DCCC-4A2E-9988-38BBCF77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764F437F-DAB8-477A-B7EB-9185CF70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3F09B3A8-4B2A-469D-A5F8-4A8E8752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TEAM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6337744-8DCE-460E-B8EA-E24EF16A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11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B0FC7B2A-D02E-49ED-98E3-077F6292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A2FC63E-2CC5-4757-8D64-46F52BF7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Three owners cover product, operators, and systems.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23F56BC-97D1-42F1-8AD0-6631FEC8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Product, operator experience, and space-systems execution are covered; customer proof is next.</a:t>
            </a:r>
            <a:endParaRPr sz="15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45129F59-1B45-4F4D-855F-DC9D8E2F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20EBDA1-3B8C-4742-A7E1-D9ACBDEAC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CCFF00">
                <a:alpha val="0"/>
              </a:srgbClr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ECFBE7B-78EC-4A2D-A4D3-4EC7E0FC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900" b="1">
                <a:solidFill>
                  <a:srgbClr val="050505"/>
                </a:solidFill>
                <a:latin typeface="JetBrains Mono"/>
                <a:ea typeface="JetBrains Mono"/>
                <a:cs typeface="JetBrains Mono"/>
              </a:rPr>
              <a:t>JN</a:t>
            </a:r>
            <a:endParaRPr sz="9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D45277A-7DA1-42EE-A74C-1EAD6964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◈</a:t>
            </a:r>
            <a:endParaRPr sz="14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48058F95-4F24-4F77-8B77-E369F16C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Joshua Nathan</a:t>
            </a:r>
            <a:endParaRPr sz="14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AC92DA5-6FF3-4178-A536-D187323F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CEO / Founder &amp; mission lead</a:t>
            </a:r>
            <a:endParaRPr sz="8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C6C7171-1F65-4448-ACA8-A06BF3D0B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7ED17EAE-B02B-4A6F-AF73-C426AB8F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Product direction, mission context, and commercial wedge.</a:t>
            </a:r>
            <a:endParaRPr sz="11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93CB4B89-1E0E-4108-AC2D-E625804C0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DFBE11FD-2D37-4B47-8143-D4419222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E7B14A">
                <a:alpha val="0"/>
              </a:srgbClr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BF92AA1B-31D1-4435-BD98-50B61DA2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900" b="1">
                <a:solidFill>
                  <a:srgbClr val="050505"/>
                </a:solidFill>
                <a:latin typeface="JetBrains Mono"/>
                <a:ea typeface="JetBrains Mono"/>
                <a:cs typeface="JetBrains Mono"/>
              </a:rPr>
              <a:t>KL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E186CFA-D407-443D-B305-855E4999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◎</a:t>
            </a:r>
            <a:endParaRPr sz="14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9CDEC9C-7F6D-49B3-BCCD-0E549DEC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Kristina Logunova</a:t>
            </a:r>
            <a:endParaRPr sz="14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DA268C13-E24C-4514-91A9-840356D74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COO</a:t>
            </a:r>
            <a:endParaRPr sz="8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2DEE299B-9FEC-49DA-B76C-69D9329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925A3554-3F02-4B06-BCB8-7B74A466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Human–computer interaction and operator experience.</a:t>
            </a:r>
            <a:endParaRPr sz="110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B32D540C-BB92-4E63-9C30-45DC9BC83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267712"/>
            <a:ext cx="3154680" cy="2103120"/>
          </a:xfrm>
          <a:prstGeom xmlns:a="http://schemas.openxmlformats.org/drawingml/2006/main" prst="roundRect">
            <a:avLst>
              <a:gd name="adj" fmla="val 782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4D835749-C84A-44A1-8427-41483139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5237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CCFF00">
                <a:alpha val="0"/>
              </a:srgbClr>
            </a:solidFill>
            <a:prstDash val="solid"/>
          </a:ln>
        </p:spPr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3DA993A-917C-469F-A7CB-68BEEA9C7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79192"/>
            <a:ext cx="45720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900" b="1">
                <a:solidFill>
                  <a:srgbClr val="050505"/>
                </a:solidFill>
                <a:latin typeface="JetBrains Mono"/>
                <a:ea typeface="JetBrains Mono"/>
                <a:cs typeface="JetBrains Mono"/>
              </a:rPr>
              <a:t>SH</a:t>
            </a:r>
            <a:endParaRPr sz="9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4279494E-2E45-4FF9-98C8-231742DE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578608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✦</a:t>
            </a:r>
            <a:endParaRPr sz="14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EF68145B-67D8-4B0C-A192-AAD88C70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560320"/>
            <a:ext cx="1920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Shubham Hule</a:t>
            </a:r>
            <a:endParaRPr sz="1400"/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E52D0128-D3A7-43EE-BCBB-21267A0F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44368"/>
            <a:ext cx="1828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CTO</a:t>
            </a:r>
            <a:endParaRPr sz="800"/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18C7ABC4-7B04-46C0-B83F-31017B3A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310128"/>
            <a:ext cx="26791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A07186E-71C1-4247-81CC-D10BB62F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11880"/>
            <a:ext cx="2560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Space systems engineering and technical execution.</a:t>
            </a:r>
            <a:endParaRPr sz="1100"/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4159CC84-8688-4B27-9775-36B588DDF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6592"/>
            <a:ext cx="10817352" cy="841248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1DE99188-39AF-4CD3-89F8-AA234F0C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4336"/>
            <a:ext cx="17373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ADVISOR NETWORK</a:t>
            </a:r>
            <a:endParaRPr sz="800"/>
          </a:p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A28E7474-3D00-4D51-824D-1FF4D18C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919472"/>
            <a:ext cx="23774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Barbara J. Thompson  /  Solar physics &amp; NASA Goddard</a:t>
            </a:r>
            <a:endParaRPr sz="900"/>
          </a:p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4EDBE9A7-DE24-4522-B8B4-015B6A69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4688" y="4919472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Eleni Petrakou  /  Particle physics &amp; space weather</a:t>
            </a:r>
            <a:endParaRPr sz="900"/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1EF76CB-9A2E-4690-B276-45FB7755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4919472"/>
            <a:ext cx="2468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Jamie Berry  /  Aerospace, defence &amp; space finance</a:t>
            </a:r>
            <a:endParaRPr sz="900"/>
          </a:p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8FAC365-06D3-4D79-B5FD-E5274B0F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9320"/>
            <a:ext cx="104241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The team slide is factual; the next diligence layer is specific founder proof and customer evidence.</a:t>
            </a:r>
            <a:endParaRPr sz="1100"/>
          </a:p>
        </p:txBody>
      </p:sp>
      <p:sp>
        <p:nvSpPr>
          <p:cNvPr id="41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09CE116-63C5-43FD-B0F1-BF62886205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5104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6C74B83-FDA2-4427-8D75-B6A8F4C9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D11B2BE-94C6-4DE0-8333-E338A370B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EXECUTION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9CCB15A-885F-411C-B01A-FB160578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12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A4B2008-E180-4895-8BB7-964076CE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0E56B86-95DC-4D55-BDD0-B9602014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Design partners first. Procurement-ready expansion next.</a:t>
            </a:r>
            <a:endParaRPr sz="28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4A84A92-0A40-4F79-89FE-D06A62063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The next 18 months turn the evidence contract into repeatable revenue.</a:t>
            </a:r>
            <a:endParaRPr sz="15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E879543-79C8-4156-828C-58A865D1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95728"/>
            <a:ext cx="3154680" cy="2240280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A574F04-053F-401A-8E16-FF048251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70048"/>
            <a:ext cx="914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0–6 mo</a:t>
            </a:r>
            <a:endParaRPr sz="8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C056316-2886-4469-99AD-BF2AE471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712" y="2633472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◈</a:t>
            </a:r>
            <a:endParaRPr sz="14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01A07BD-64D6-49BA-86C6-5536FACC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1528"/>
            <a:ext cx="2468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7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Prove the wedge</a:t>
            </a:r>
            <a:endParaRPr sz="17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34AF457-9362-4A2C-B6C9-6659E8C5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85032"/>
            <a:ext cx="2423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2 paid ground pilots</a:t>
            </a:r>
            <a:endParaRPr sz="11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First compliance evidence pack</a:t>
            </a:r>
            <a:endParaRPr sz="11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FADDA7E-D506-4E11-AC39-AA32D93F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566160"/>
            <a:ext cx="3657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7B14A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E3F158D4-1578-4D36-BC28-A9E60350F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395728"/>
            <a:ext cx="3154680" cy="2240280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7869885-199B-49D1-BCA7-811C89A2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670048"/>
            <a:ext cx="914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6–12 mo</a:t>
            </a:r>
            <a:endParaRPr sz="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D6F3248-4020-4ABF-B1FD-5F85093A6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2633472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◎</a:t>
            </a:r>
            <a:endParaRPr sz="14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7147DF4-B67A-4B08-930C-040953640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081528"/>
            <a:ext cx="2468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7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Convert the motion</a:t>
            </a:r>
            <a:endParaRPr sz="17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B790CF8-1D30-43B4-B5B3-C40BCF4BE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685032"/>
            <a:ext cx="2423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2–3 annual fleet contracts</a:t>
            </a:r>
            <a:endParaRPr sz="11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Repeatable onboarding + billing</a:t>
            </a:r>
            <a:endParaRPr sz="11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C5EC4B7D-38E7-4E78-89BB-F82E4325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3566160"/>
            <a:ext cx="3657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7B14A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50AC0F4-F141-4626-9FA3-5D4014719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395728"/>
            <a:ext cx="3154680" cy="2240280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3B096AB-6615-44E7-8349-8A5B5A8C1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70048"/>
            <a:ext cx="914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12–18 mo</a:t>
            </a:r>
            <a:endParaRPr sz="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84972C8-77C8-4E49-8B28-2B7DA92E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633472"/>
            <a:ext cx="228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⊕</a:t>
            </a:r>
            <a:endParaRPr sz="14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41EEC6E-6A97-4AD6-9CF5-A81D7D4D0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081528"/>
            <a:ext cx="2468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7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Expand the boundary</a:t>
            </a:r>
            <a:endParaRPr sz="17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5CFD24D-E0C2-45A9-A00D-416BD183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685032"/>
            <a:ext cx="2423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5 paid fleet accounts</a:t>
            </a:r>
            <a:endParaRPr sz="11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$500k ARR target</a:t>
            </a:r>
            <a:endParaRPr sz="11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8BCD47B-F567-46F1-92FB-EA4D4109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2976"/>
            <a:ext cx="104241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The commercial proof point is repeatable evidence delivery, not a speculative claim of autonomous spacecraft operations.</a:t>
            </a:r>
            <a:endParaRPr sz="1400"/>
          </a:p>
        </p:txBody>
      </p:sp>
      <p:sp>
        <p:nvSpPr>
          <p:cNvPr id="26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92F9547-734F-4CE1-B9E5-63568DB478F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63275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48C4638-4F1D-4F9A-927A-BD256736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EC2A040-B9B4-4CE8-A1DA-5E15E50B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THE ASK</a:t>
            </a:r>
            <a:endParaRPr sz="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81939C5-95D2-42FE-BEE5-5A69C3C9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13</a:t>
            </a:r>
            <a:endParaRPr sz="80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41134AA-76D6-458B-BBAD-D84E640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e0d0e8ab6145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20642337-2EE1-4D77-8CC8-CA32FE5D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3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FDB0853-3B40-4DF5-A4D0-DA7ADF8E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54480"/>
            <a:ext cx="3291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5400" b="1">
                <a:solidFill>
                  <a:srgbClr val="CCFF00"/>
                </a:solidFill>
                <a:latin typeface="Inter"/>
                <a:ea typeface="Inter"/>
                <a:cs typeface="Inter"/>
              </a:rPr>
              <a:t>$1.5M</a:t>
            </a:r>
            <a:endParaRPr sz="5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F7088F9-07CE-4AE6-BDCE-67605851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31720"/>
            <a:ext cx="59436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3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to make mission-data assurance a repeatable commercial category.</a:t>
            </a:r>
            <a:endParaRPr sz="23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7C3674C-0E7C-4E6B-A105-47C91750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493008"/>
            <a:ext cx="21945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USE OF FUNDS  /  INTERNAL PLAN</a:t>
            </a:r>
            <a:endParaRPr sz="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93DD0B6-8AB0-407C-95FD-2BB7B87F8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886200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Product + integrations</a:t>
            </a:r>
            <a:endParaRPr sz="11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978B1B6-E8BE-412E-A766-348C68B4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3931920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F7F7688-159C-43F9-B87E-803CE693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3931920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CCFF00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44DC7934-8F07-453A-83E7-99724EB9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886200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45%</a:t>
            </a:r>
            <a:endParaRPr sz="10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84625EC8-2F68-4463-BCAB-AC80BAAD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233672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Security + compliance</a:t>
            </a:r>
            <a:endParaRPr sz="11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D2D7EA-8538-471F-804E-EBA3EAB3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279392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2EFD5DD0-1D90-429C-A63D-5CF4F1C6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279392"/>
            <a:ext cx="9956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AD32F52-F865-47BC-8D97-A53D543A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233672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10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20%</a:t>
            </a:r>
            <a:endParaRPr sz="10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E02AC7F-A5B9-4C67-BA31-983E3C53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581144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GTM + design partners</a:t>
            </a:r>
            <a:endParaRPr sz="11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4B37A9E-1082-487E-B0FA-D529CE8B2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626864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4E14E502-3202-4003-821A-AE5ADDE6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626864"/>
            <a:ext cx="9956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4BD7F1E-4D0E-40C4-B882-4299EE6B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581144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10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20%</a:t>
            </a:r>
            <a:endParaRPr sz="10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C2A1C0A8-C752-436B-9527-8E02028FC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928616"/>
            <a:ext cx="22402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Operations + runway</a:t>
            </a:r>
            <a:endParaRPr sz="11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28148F8-E958-45A0-BD29-42165391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974336"/>
            <a:ext cx="224028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1B201F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3963EBD8-8ACE-4F48-8271-D3EF092D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974336"/>
            <a:ext cx="746760" cy="118872"/>
          </a:xfrm>
          <a:prstGeom xmlns:a="http://schemas.openxmlformats.org/drawingml/2006/main" prst="roundRect">
            <a:avLst>
              <a:gd name="adj" fmla="val 46154"/>
            </a:avLst>
          </a:prstGeom>
          <a:solidFill xmlns:a="http://schemas.openxmlformats.org/drawingml/2006/main">
            <a:srgbClr val="E7B14A"/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A66252A-986A-4265-9EA0-B3FC1366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4928616"/>
            <a:ext cx="502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10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15%</a:t>
            </a:r>
            <a:endParaRPr sz="1000"/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20CFE3C4-37FD-43D3-A8D8-09855E19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65960"/>
            <a:ext cx="3017520" cy="260604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4C63FF3-C9AA-4835-B4AF-29A6018A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286000"/>
            <a:ext cx="192024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THE PROOF POINT</a:t>
            </a:r>
            <a:endParaRPr sz="8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1F66DD55-86C7-47F5-B2D0-8093D34E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697480"/>
            <a:ext cx="22860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3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5 fleet</a:t>
            </a:r>
            <a:endParaRPr sz="31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31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accounts</a:t>
            </a:r>
            <a:endParaRPr sz="3100"/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EB44EE04-12E7-4D16-963D-EC0978D9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703320"/>
            <a:ext cx="2377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B3DBE80-14D8-4F4D-95E0-D5EB6736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950208"/>
            <a:ext cx="228600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$500k ARR</a:t>
            </a:r>
            <a:endParaRPr sz="14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Ground-first</a:t>
            </a:r>
            <a:endParaRPr sz="14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Evidence-ready</a:t>
            </a:r>
            <a:endParaRPr sz="1400"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4B4CE7DB-9CCA-474B-BC3D-C047C4677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181344"/>
            <a:ext cx="71323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Gauss gives space operators a safer path from data abundance to trusted action.</a:t>
            </a:r>
            <a:endParaRPr sz="1000"/>
          </a:p>
        </p:txBody>
      </p:sp>
      <p:sp>
        <p:nvSpPr>
          <p:cNvPr id="34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8EA657D-CD3C-4FB3-AE80-20AE402ECB8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2554215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e1994f09844372">
            <a:alphaModFix amt="96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A5D16EA-A594-4940-ADBD-A0CE7C56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505">
              <a:alpha val="12000"/>
            </a:srgbClr>
          </a:solidFill>
          <a:ln xmlns:a="http://schemas.openxmlformats.org/drawingml/2006/main" w="12700">
            <a:solidFill>
              <a:srgbClr val="050505">
                <a:alpha val="0"/>
              </a:srgbClr>
            </a:solidFill>
            <a:prstDash val="solid"/>
          </a:ln>
        </p:spPr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F2E42D30-4FE5-4659-9713-1FF18A2B0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184"/>
            <a:ext cx="8229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>
                <a:solidFill>
                  <a:srgbClr val="CCFF00"/>
                </a:solidFill>
                <a:latin typeface="JetBrains Mono"/>
                <a:ea typeface="JetBrains Mono"/>
                <a:cs typeface="JetBrains Mono"/>
              </a:rPr>
              <a:t>GAUSS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FB60255-380F-4608-9E19-40541833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512" y="338328"/>
            <a:ext cx="36576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A6A9A2"/>
                </a:solidFill>
                <a:latin typeface="JetBrains Mono"/>
                <a:ea typeface="JetBrains Mono"/>
                <a:cs typeface="JetBrains Mono"/>
              </a:rPr>
              <a:t>READINESS</a:t>
            </a:r>
            <a:endParaRPr sz="8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840C083-8E58-4D9B-BAEF-3E7AB582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088" y="338328"/>
            <a:ext cx="43891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14</a:t>
            </a:r>
            <a:endParaRPr sz="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F3FFD099-4698-4FB0-A813-DE627477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73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EF7924A-0FC7-4F88-8358-385D7162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2688"/>
            <a:ext cx="106984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800" b="1">
                <a:solidFill>
                  <a:srgbClr val="F3F0E8"/>
                </a:solidFill>
                <a:latin typeface="Inter"/>
                <a:ea typeface="Inter"/>
                <a:cs typeface="Inter"/>
              </a:rPr>
              <a:t>Investor-ready story; diligence-ready evidence is next.</a:t>
            </a:r>
            <a:endParaRPr sz="2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A3D415A-9CE2-48E7-A639-F2EDC690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2184"/>
            <a:ext cx="10287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00">
                <a:solidFill>
                  <a:srgbClr val="A6A9A2"/>
                </a:solidFill>
                <a:latin typeface="IBM Plex Sans"/>
                <a:ea typeface="IBM Plex Sans"/>
                <a:cs typeface="IBM Plex Sans"/>
              </a:rPr>
              <a:t>A practical readiness scorecard for a space-software raise.</a:t>
            </a:r>
            <a:endParaRPr sz="1500"/>
          </a:p>
        </p:txBody>
      </p:sp>
      <p:graphicFrame>
        <p:nvGraphicFramePr>
          <p:cNvPr id="36" name="Table 0"/>
          <p:cNvGraphicFramePr/>
          <p:nvPr/>
        </p:nvGraphicFramePr>
        <p:xfrm>
          <a:off xmlns:a="http://schemas.openxmlformats.org/drawingml/2006/main" x="685800" y="2157984"/>
          <a:ext xmlns:a="http://schemas.openxmlformats.org/drawingml/2006/main" cx="10817352" cy="288036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91640"/>
                <a:gridCol w="2880360"/>
                <a:gridCol w="4983480"/>
                <a:gridCol w="1261872"/>
              </a:tblGrid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LENS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MUST SHOW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GAUSS TODAY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50505"/>
                          </a:solidFill>
                          <a:latin typeface="JetBrains Mono"/>
                          <a:ea typeface="JetBrains Mono"/>
                          <a:cs typeface="JetBrains Mono"/>
                        </a:rPr>
                        <a:t>STATUS</a:t>
                      </a:r>
                      <a:endParaRPr sz="900">
                        <a:latin typeface="JetBrains Mono"/>
                        <a:ea typeface="JetBrains Mono"/>
                        <a:cs typeface="JetBrains Mono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E7B14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SPACE FIT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Space problem; viable plan; credible milestones.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Ground-first wedge; product packages; 18-month plan.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PRODUCT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Clear product; progress; model; founders; ask.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Wedge, pricing, ARR path; customer proof remains thin.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SCALE + DEFENSE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Market; team; scalable model; defensibility.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Market wedge + team visible; IP / TRL proof next.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VISUAL + PROOF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One claim per slide; hard proof; clear next action.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Source-backed visuals, native charts/tables, clear milestones.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PASS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10141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DECISION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Why now; why team; why this round.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Ask, use of funds, and $500k ARR path are clear.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00">
                          <a:solidFill>
                            <a:srgbClr val="F3F0E8"/>
                          </a:solidFill>
                          <a:latin typeface="IBM Plex Sans"/>
                          <a:ea typeface="IBM Plex Sans"/>
                          <a:cs typeface="IBM Plex Sans"/>
                        </a:rPr>
                        <a:t>PARTIAL</a:t>
                      </a:r>
                      <a:endParaRPr sz="900">
                        <a:latin typeface="IBM Plex Sans"/>
                        <a:ea typeface="IBM Plex Sans"/>
                        <a:cs typeface="IBM Plex Sans"/>
                      </a:endParaRPr>
                    </a:p>
                  </a:txBody>
                  <a:tcPr marL="73152" marR="73152" marT="73152" marB="73152" anchor="ctr">
                    <a:lnL w="7620" cmpd="sng">
                      <a:solidFill>
                        <a:srgbClr val="252A2A"/>
                      </a:solidFill>
                      <a:prstDash val="solid"/>
                    </a:lnL>
                    <a:lnR w="7620" cmpd="sng">
                      <a:solidFill>
                        <a:srgbClr val="252A2A"/>
                      </a:solidFill>
                      <a:prstDash val="solid"/>
                    </a:lnR>
                    <a:lnT w="7620" cmpd="sng">
                      <a:solidFill>
                        <a:srgbClr val="252A2A"/>
                      </a:solidFill>
                      <a:prstDash val="solid"/>
                    </a:lnT>
                    <a:lnB w="7620" cmpd="sng">
                      <a:solidFill>
                        <a:srgbClr val="252A2A"/>
                      </a:solidFill>
                      <a:prstDash val="solid"/>
                    </a:lnB>
                    <a:solidFill>
                      <a:srgbClr val="0D1010"/>
                    </a:solidFill>
                  </a:tcPr>
                </a:tc>
              </a:tr>
            </a:tbl>
          </a:graphicData>
        </a:graphic>
      </p:graphicFrame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FEA6530-C859-460B-968C-CBC75AAA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21808"/>
            <a:ext cx="10817352" cy="420624"/>
          </a:xfrm>
          <a:prstGeom xmlns:a="http://schemas.openxmlformats.org/drawingml/2006/main" prst="roundRect">
            <a:avLst>
              <a:gd name="adj" fmla="val 30435"/>
            </a:avLst>
          </a:prstGeom>
          <a:solidFill xmlns:a="http://schemas.openxmlformats.org/drawingml/2006/main">
            <a:srgbClr val="0D1010"/>
          </a:solidFill>
          <a:ln xmlns:a="http://schemas.openxmlformats.org/drawingml/2006/main" w="12700">
            <a:solidFill>
              <a:srgbClr val="252A2A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3AB3C1DB-C6EA-4F81-BA8F-7045FE4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468112"/>
            <a:ext cx="11887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00" b="1">
                <a:solidFill>
                  <a:srgbClr val="E7B14A"/>
                </a:solidFill>
                <a:latin typeface="JetBrains Mono"/>
                <a:ea typeface="JetBrains Mono"/>
                <a:cs typeface="JetBrains Mono"/>
              </a:rPr>
              <a:t>NEXT UNLOCKS</a:t>
            </a:r>
            <a:endParaRPr sz="8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37A413BE-7367-4A8D-BDAA-4AECDFFA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5468112"/>
            <a:ext cx="8503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00">
                <a:solidFill>
                  <a:srgbClr val="F3F0E8"/>
                </a:solidFill>
                <a:latin typeface="IBM Plex Sans"/>
                <a:ea typeface="IBM Plex Sans"/>
                <a:cs typeface="IBM Plex Sans"/>
              </a:rPr>
              <a:t>Founder proof  •  customer LOI / pilot evidence  •  prototype + TRL / IRL  •  IP / moat map  •  CAC, payback, and gross-margin evidence</a:t>
            </a:r>
            <a:endParaRPr sz="9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60EE302-4D6A-4117-B8F0-190DFBFF871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064240" y="6473952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E7B14A"/>
                </a:solidFill>
                <a:latin typeface="JetBrains Mono"/>
                <a:ea typeface="JetBrains Mono"/>
                <a:cs typeface="JetBrains Mono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035389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2026-08-20T18:21:47.8100000Z</dcterms:created>
  <dcterms:modified xsi:type="dcterms:W3CDTF">2026-08-20T18:21:47.8100000Z</dcterms:modified>
</coreProperties>
</file>