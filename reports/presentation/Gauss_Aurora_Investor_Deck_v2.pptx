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e667c844274c50" /><Relationship Type="http://schemas.openxmlformats.org/officeDocument/2006/relationships/extended-properties" Target="/docProps/app.xml" Id="Rc69d8a3355814f19" /><Relationship Type="http://schemas.openxmlformats.org/officeDocument/2006/relationships/officeDocument" Target="/ppt/presentation.xml" Id="R023a77769e634d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8052de24a5483d"/>
  </p:sldMasterIdLst>
  <p:notesMasterIdLst>
    <p:notesMasterId xmlns:r="http://schemas.openxmlformats.org/officeDocument/2006/relationships" r:id="R3a6fc42512704828"/>
  </p:notesMasterIdLst>
  <p:sldIdLst>
    <p:sldId xmlns:r="http://schemas.openxmlformats.org/officeDocument/2006/relationships" id="256" r:id="R2db96b1f3c944171"/>
    <p:sldId xmlns:r="http://schemas.openxmlformats.org/officeDocument/2006/relationships" id="257" r:id="Rd8ed1892b9ed4492"/>
    <p:sldId xmlns:r="http://schemas.openxmlformats.org/officeDocument/2006/relationships" id="258" r:id="R45ecc10cbe084c9b"/>
    <p:sldId xmlns:r="http://schemas.openxmlformats.org/officeDocument/2006/relationships" id="259" r:id="R0ec0c9c158bf4897"/>
    <p:sldId xmlns:r="http://schemas.openxmlformats.org/officeDocument/2006/relationships" id="260" r:id="R8bfd09d16f364f1f"/>
    <p:sldId xmlns:r="http://schemas.openxmlformats.org/officeDocument/2006/relationships" id="261" r:id="Re214954f136d435a"/>
    <p:sldId xmlns:r="http://schemas.openxmlformats.org/officeDocument/2006/relationships" id="262" r:id="R347cfbae6db84a4d"/>
    <p:sldId xmlns:r="http://schemas.openxmlformats.org/officeDocument/2006/relationships" id="263" r:id="R6faafbcb95274898"/>
    <p:sldId xmlns:r="http://schemas.openxmlformats.org/officeDocument/2006/relationships" id="264" r:id="Rcb0a00143e514640"/>
    <p:sldId xmlns:r="http://schemas.openxmlformats.org/officeDocument/2006/relationships" id="265" r:id="R5917ccf4905f4cb4"/>
    <p:sldId xmlns:r="http://schemas.openxmlformats.org/officeDocument/2006/relationships" id="266" r:id="R2bcb2655e52d4613"/>
    <p:sldId xmlns:r="http://schemas.openxmlformats.org/officeDocument/2006/relationships" id="267" r:id="R7eefa4ad4a734755"/>
    <p:sldId xmlns:r="http://schemas.openxmlformats.org/officeDocument/2006/relationships" id="268" r:id="R7b0322ad48aa4697"/>
    <p:sldId xmlns:r="http://schemas.openxmlformats.org/officeDocument/2006/relationships" id="269" r:id="Rc918bc67fcc94f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dd59b0bf014b76" /><Relationship Type="http://schemas.openxmlformats.org/officeDocument/2006/relationships/slideMaster" Target="/ppt/slideMasters/slideMaster1.xml" Id="Ref8052de24a5483d" /><Relationship Type="http://schemas.openxmlformats.org/officeDocument/2006/relationships/notesMaster" Target="/ppt/notesMasters/notesMaster1.xml" Id="R3a6fc42512704828" /><Relationship Type="http://schemas.openxmlformats.org/officeDocument/2006/relationships/presProps" Target="/ppt/presProps.xml" Id="R0aef1df8b8fc49e5" /><Relationship Type="http://schemas.openxmlformats.org/officeDocument/2006/relationships/tableStyles" Target="/ppt/tableStyles.xml" Id="R9347b5f1ad8c4311" /><Relationship Type="http://schemas.openxmlformats.org/officeDocument/2006/relationships/slide" Target="/ppt/slides/slide1.xml" Id="R2db96b1f3c944171" /><Relationship Type="http://schemas.openxmlformats.org/officeDocument/2006/relationships/slide" Target="/ppt/slides/slide2.xml" Id="Rd8ed1892b9ed4492" /><Relationship Type="http://schemas.openxmlformats.org/officeDocument/2006/relationships/slide" Target="/ppt/slides/slide3.xml" Id="R45ecc10cbe084c9b" /><Relationship Type="http://schemas.openxmlformats.org/officeDocument/2006/relationships/slide" Target="/ppt/slides/slide4.xml" Id="R0ec0c9c158bf4897" /><Relationship Type="http://schemas.openxmlformats.org/officeDocument/2006/relationships/slide" Target="/ppt/slides/slide5.xml" Id="R8bfd09d16f364f1f" /><Relationship Type="http://schemas.openxmlformats.org/officeDocument/2006/relationships/slide" Target="/ppt/slides/slide6.xml" Id="Re214954f136d435a" /><Relationship Type="http://schemas.openxmlformats.org/officeDocument/2006/relationships/slide" Target="/ppt/slides/slide7.xml" Id="R347cfbae6db84a4d" /><Relationship Type="http://schemas.openxmlformats.org/officeDocument/2006/relationships/slide" Target="/ppt/slides/slide8.xml" Id="R6faafbcb95274898" /><Relationship Type="http://schemas.openxmlformats.org/officeDocument/2006/relationships/slide" Target="/ppt/slides/slide9.xml" Id="Rcb0a00143e514640" /><Relationship Type="http://schemas.openxmlformats.org/officeDocument/2006/relationships/slide" Target="/ppt/slides/slide10.xml" Id="R5917ccf4905f4cb4" /><Relationship Type="http://schemas.openxmlformats.org/officeDocument/2006/relationships/slide" Target="/ppt/slides/slide11.xml" Id="R2bcb2655e52d4613" /><Relationship Type="http://schemas.openxmlformats.org/officeDocument/2006/relationships/slide" Target="/ppt/slides/slide12.xml" Id="R7eefa4ad4a734755" /><Relationship Type="http://schemas.openxmlformats.org/officeDocument/2006/relationships/slide" Target="/ppt/slides/slide13.xml" Id="R7b0322ad48aa4697" /><Relationship Type="http://schemas.openxmlformats.org/officeDocument/2006/relationships/slide" Target="/ppt/slides/slide14.xml" Id="Rc918bc67fcc94f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ae149604804f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8bc9f09c3740fe" /><Relationship Type="http://schemas.openxmlformats.org/officeDocument/2006/relationships/notesMaster" Target="/ppt/notesMasters/notesMaster1.xml" Id="Ra1f037470b0b4d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f0232295f844ee" /><Relationship Type="http://schemas.openxmlformats.org/officeDocument/2006/relationships/notesMaster" Target="/ppt/notesMasters/notesMaster1.xml" Id="R2d8f4613079045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780f518c90478c" /><Relationship Type="http://schemas.openxmlformats.org/officeDocument/2006/relationships/notesMaster" Target="/ppt/notesMasters/notesMaster1.xml" Id="R400a822cd8e242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daaf6414264936" /><Relationship Type="http://schemas.openxmlformats.org/officeDocument/2006/relationships/notesMaster" Target="/ppt/notesMasters/notesMaster1.xml" Id="R0bff6bc7e4984f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cde42a95ce4738" /><Relationship Type="http://schemas.openxmlformats.org/officeDocument/2006/relationships/notesMaster" Target="/ppt/notesMasters/notesMaster1.xml" Id="R93429a9850be48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e0802dedd140c3" /><Relationship Type="http://schemas.openxmlformats.org/officeDocument/2006/relationships/notesMaster" Target="/ppt/notesMasters/notesMaster1.xml" Id="R257e35dccaa548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2c0ea66d434ef0" /><Relationship Type="http://schemas.openxmlformats.org/officeDocument/2006/relationships/notesMaster" Target="/ppt/notesMasters/notesMaster1.xml" Id="Rdbf291338e8744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e9fe18a4c5459d" /><Relationship Type="http://schemas.openxmlformats.org/officeDocument/2006/relationships/notesMaster" Target="/ppt/notesMasters/notesMaster1.xml" Id="Rab61c0c54e184e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a5664b22f04188" /><Relationship Type="http://schemas.openxmlformats.org/officeDocument/2006/relationships/notesMaster" Target="/ppt/notesMasters/notesMaster1.xml" Id="R715982e45de440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71052742274645" /><Relationship Type="http://schemas.openxmlformats.org/officeDocument/2006/relationships/notesMaster" Target="/ppt/notesMasters/notesMaster1.xml" Id="R0d4f2b827c0042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cc9175ec1d4363" /><Relationship Type="http://schemas.openxmlformats.org/officeDocument/2006/relationships/notesMaster" Target="/ppt/notesMasters/notesMaster1.xml" Id="R9882577a1e554d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9e51556aa44403b" /><Relationship Type="http://schemas.openxmlformats.org/officeDocument/2006/relationships/notesMaster" Target="/ppt/notesMasters/notesMaster1.xml" Id="R521a28f77a7745f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6fb3efac01b4e0f" /><Relationship Type="http://schemas.openxmlformats.org/officeDocument/2006/relationships/notesMaster" Target="/ppt/notesMasters/notesMaster1.xml" Id="Rcf79fad815f540c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0a5763204974ef1" /><Relationship Type="http://schemas.openxmlformats.org/officeDocument/2006/relationships/notesMaster" Target="/ppt/notesMasters/notesMaster1.xml" Id="Rd00e0d7d55504e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category shift: space operators have more data, more autonomy pressure, and less tolerance for untraceable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User-provided: Gauss_Aurora_Pitch_Deck_v1.pptx (visual/source material)</a:t>
            </a:r>
          </a:p>
          <a:p xmlns:a="http://schemas.openxmlformats.org/drawingml/2006/main">
            <a:r>
              <a:t>- User-provided: Project_Gauss_Data_Architecture_for_AI_Automation_in_Space.pdf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as operational evidence fragmentation, not a generic AI opportunity. The buyer is paying to reduce decision latency and audit friction.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User-provided: Project_Gauss_Data_Architecture_for_AI_Automation_in_Space.pdf</a:t>
            </a:r>
          </a:p>
          <a:p xmlns:a="http://schemas.openxmlformats.org/drawingml/2006/main">
            <a:r>
              <a:t>- Repo: config/product-packages.json and config/product-packages.schema.json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target count as research coverage, not traction. The commercial wedge is explicitly ground-first; flight-candidate work remains an external evidence gate.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 config/mission-targets.json and config/mission-target.schema.json</a:t>
            </a:r>
          </a:p>
          <a:p xmlns:a="http://schemas.openxmlformats.org/drawingml/2006/main">
            <a:r>
              <a:t>- Repo: development/memory/DECISIONS.md, D-110 (2026-08-19)</a:t>
            </a:r>
          </a:p>
          <a:p xmlns:a="http://schemas.openxmlformats.org/drawingml/2006/main">
            <a:r>
              <a:t>- User-provided: Gauss_Aurora_Pitch_Deck_v1.pptx (visual/source material)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visible slide is intentionally investor-facing; the underlying product boundary remains quality, provenance, correlation, replay, bounded inference, and approval-gated safety. Partners retain sensors, mission control, communications hardware, trust roots, and command authority.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 config/product-packages.json and config/product-packages.schema.json</a:t>
            </a:r>
          </a:p>
          <a:p xmlns:a="http://schemas.openxmlformats.org/drawingml/2006/main">
            <a:r>
              <a:t>- User-provided: Project_Gauss_Data_Architecture_for_AI_Automation_in_Space.pdf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package names and boundaries are from the repository product catalog. The visible copy is intentionally non-technical; do not describe the flight-candidate adapter as flight-qualified.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 config/product-packages.json and config/product-packages.schema.json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research profiles and segment hypotheses, not signed customers. The first commercial motion is mission-data and integration buyers serving communications, weather, EO, and cislunar relay systems.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 config/mission-targets.json and config/mission-target.schema.json</a:t>
            </a:r>
          </a:p>
          <a:p xmlns:a="http://schemas.openxmlformats.org/drawingml/2006/main">
            <a:r>
              <a:t>- Repo: development/memory/DECISIONS.md, D-110 (2026-08-19)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TAM/SAM values are internal planning ranges carried forward from the prior Gauss materials and should be presented as a scenario, not as audited market research. The SOM is tied to the current five-account ARR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 development/memory/DECISIONS.md, D-110 (2026-08-19)</a:t>
            </a:r>
          </a:p>
          <a:p xmlns:a="http://schemas.openxmlformats.org/drawingml/2006/main">
            <a:r>
              <a:t>- User-provided: Gauss_Aurora_Pitch_Deck_v1.pptx (visual/source material)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Pricing is a starting hypothesis for customer validation. The $500k ARR path is five $100k annual fleet accounts; do not count pilots, implementation, or NRE as ARR.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 development/memory/DECISIONS.md, D-110 (2026-08-19)</a:t>
            </a:r>
          </a:p>
          <a:p xmlns:a="http://schemas.openxmlformats.org/drawingml/2006/main">
            <a:r>
              <a:t>- Recommendation developed from the pricing discussion in this task; no market pricing claim is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product workflow, not a legal conclusion. Keep payment separate from clearance. The EU Space Act is a proposal; NIS2 applicability depends on the customer and national implementation. Stripe webhooks should drive internal entitlements.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https://docs.stripe.com/billing/subscriptions/webhooks and https://docs.stripe.com/billing/entitlements</a:t>
            </a:r>
          </a:p>
          <a:p xmlns:a="http://schemas.openxmlformats.org/drawingml/2006/main">
            <a:r>
              <a:t>- https://eur-lex.europa.eu/legal-content/EN/TXT/?from=FI&amp;uri=CELEX%3A32022L2555</a:t>
            </a:r>
          </a:p>
          <a:p xmlns:a="http://schemas.openxmlformats.org/drawingml/2006/main">
            <a:r>
              <a:t>- https://eur-lex.europa.eu/legal-content/EN/TXT/?qid=1761037167193&amp;uri=CELEX%3A52025PC0335</a:t>
            </a:r>
          </a:p>
          <a:p xmlns:a="http://schemas.openxmlformats.org/drawingml/2006/main">
            <a:r>
              <a:t>- https://eur-lex.europa.eu/legal-content/EN/TXT/?qid=1590424137028&amp;uri=CELEX%3A32016R0679</a:t>
            </a:r>
          </a:p>
          <a:p xmlns:a="http://schemas.openxmlformats.org/drawingml/2006/main">
            <a:r>
              <a:t>- https://csrc.nist.gov/pubs/sp/800/171/r3/final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matrix is illustrative and intentionally avoids claiming superiority on command, sensing, or flight qualification. Public product descriptions and the user-provided source deck were used only to place adjacent categories. Gauss remains partner-neutral.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 config/product-packages.json and config/product-packages.schema.json</a:t>
            </a:r>
          </a:p>
          <a:p xmlns:a="http://schemas.openxmlformats.org/drawingml/2006/main">
            <a:r>
              <a:t>- https://yamcs.com/</a:t>
            </a:r>
          </a:p>
          <a:p xmlns:a="http://schemas.openxmlformats.org/drawingml/2006/main">
            <a:r>
              <a:t>- https://openc3.com/cosmos-enterprise</a:t>
            </a:r>
          </a:p>
          <a:p xmlns:a="http://schemas.openxmlformats.org/drawingml/2006/main">
            <a:r>
              <a:t>- https://www.slingshot.space/product-portal</a:t>
            </a:r>
          </a:p>
          <a:p xmlns:a="http://schemas.openxmlformats.org/drawingml/2006/main">
            <a:r>
              <a:t>- https://www.satcat.com/products/operations</a:t>
            </a:r>
          </a:p>
          <a:p xmlns:a="http://schemas.openxmlformats.org/drawingml/2006/main">
            <a:r>
              <a:t>- User-provided: Gauss_Aurora_Pitch_Deck_v1.pptx (visual/source material)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named team members and advisor network are taken from the user-provided Gauss_Aurora_Pitch_Deck_v1.pptx. Keep the visible copy factual and concise; add measurable founder achievements, customer references, or formal advisor status only when verified.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User-provided: Gauss_Aurora_Pitch_Deck_v1.pptx (visual/source material)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internal milestones, not achieved traction. Keep the January 2027 IOD / hosted-payload path bounded and avoid claiming flight qualification.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 development/memory/DECISIONS.md, D-110 (2026-08-19)</a:t>
            </a:r>
          </a:p>
          <a:p xmlns:a="http://schemas.openxmlformats.org/drawingml/2006/main">
            <a:r>
              <a:t>- Repo: config/product-packages.json and config/product-packages.schema.json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proof point: five paid fleet accounts and a repeatable evidence contract. The funding allocation is an internal planning scenario, not a committed budget.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 development/memory/DECISIONS.md, D-110 (2026-08-19)</a:t>
            </a:r>
          </a:p>
          <a:p xmlns:a="http://schemas.openxmlformats.org/drawingml/2006/main">
            <a:r>
              <a:t>- Repo: config/product-packages.json and config/product-packages.schema.json</a:t>
            </a:r>
          </a:p>
          <a:p xmlns:a="http://schemas.openxmlformats.org/drawingml/2006/main">
            <a:r>
              <a:t>- User-provided: Gauss_Aurora_Pitch_Deck_v1.pptx (visual/source material)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scorecard is an assessment of the current deck against published programme and investor guidance, not an eligibility determination. The deck is strong on the narrative and visual system; the next diligence unlocks are founder credibility, customer proof, explicit readiness evidence, and IP defensibility.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https://access.esa.int/about-access/about-scale-up/business-incubation-centres and https://www.esa-bic.se/apply_v2-1</a:t>
            </a:r>
          </a:p>
          <a:p xmlns:a="http://schemas.openxmlformats.org/drawingml/2006/main">
            <a:r>
              <a:t>- https://www.ycombinator.com/blog/how-to-pitch-your-company/ and https://www.ycombinator.com/howtoapply.html</a:t>
            </a:r>
          </a:p>
          <a:p xmlns:a="http://schemas.openxmlformats.org/drawingml/2006/main">
            <a:r>
              <a:t>- https://florida.seraphim.vc/ and https://accelerator.seraphim.vc/</a:t>
            </a:r>
          </a:p>
          <a:p xmlns:a="http://schemas.openxmlformats.org/drawingml/2006/main">
            <a:r>
              <a:t>- https://www.starcloud.com/</a:t>
            </a:r>
          </a:p>
          <a:p xmlns:a="http://schemas.openxmlformats.org/drawingml/2006/main">
            <a:r>
              <a:t>- https://investors.rocketlabcorp.com/</a:t>
            </a:r>
          </a:p>
          <a:p xmlns:a="http://schemas.openxmlformats.org/drawingml/2006/main">
            <a:r>
              <a:t>- https://www.relativityspace.com/about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b15c783c2b41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294027c2394ae7" /><Relationship Type="http://schemas.openxmlformats.org/officeDocument/2006/relationships/slideLayout" Target="/ppt/slideLayouts/slideLayout1.xml" Id="R0f7576c5767e4a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7576c5767e4a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b11beaf0c49a8" /><Relationship Type="http://schemas.openxmlformats.org/officeDocument/2006/relationships/image" Target="/ppt/media/image.png" Id="Ra1a15e94fc8641c3" /><Relationship Type="http://schemas.openxmlformats.org/officeDocument/2006/relationships/notesSlide" Target="/ppt/notesSlides/notesSlide1.xml" Id="Ra9b392ec7e1145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c1f49e58f4918" /><Relationship Type="http://schemas.openxmlformats.org/officeDocument/2006/relationships/image" Target="/ppt/media/image2.png" Id="Rb2d21637510d4a80" /><Relationship Type="http://schemas.openxmlformats.org/officeDocument/2006/relationships/notesSlide" Target="/ppt/notesSlides/notesSlide2.xml" Id="R20060f5bc4ab4b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29aff863c44a8" /><Relationship Type="http://schemas.openxmlformats.org/officeDocument/2006/relationships/image" Target="/ppt/media/image3.png" Id="R640f646cd20048b8" /><Relationship Type="http://schemas.openxmlformats.org/officeDocument/2006/relationships/notesSlide" Target="/ppt/notesSlides/notesSlide3.xml" Id="R6ecac4b6041c4c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b25c5910e484b" /><Relationship Type="http://schemas.openxmlformats.org/officeDocument/2006/relationships/notesSlide" Target="/ppt/notesSlides/notesSlide4.xml" Id="R83c9ea463eaf4b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2a5085e304b3d" /><Relationship Type="http://schemas.openxmlformats.org/officeDocument/2006/relationships/notesSlide" Target="/ppt/notesSlides/notesSlide5.xml" Id="R87194a1feac047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bcdfd67444a40" /><Relationship Type="http://schemas.openxmlformats.org/officeDocument/2006/relationships/image" Target="/ppt/media/image4.png" Id="R1da39915909246b2" /><Relationship Type="http://schemas.openxmlformats.org/officeDocument/2006/relationships/notesSlide" Target="/ppt/notesSlides/notesSlide6.xml" Id="Ra0fb2f7b4b7c42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216204dc443ae" /><Relationship Type="http://schemas.openxmlformats.org/officeDocument/2006/relationships/image" Target="/ppt/media/image5.png" Id="R3cccf3fc7f6b4b2d" /><Relationship Type="http://schemas.openxmlformats.org/officeDocument/2006/relationships/notesSlide" Target="/ppt/notesSlides/notesSlide7.xml" Id="R2b52597ec56f4c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c31173387419b" /><Relationship Type="http://schemas.openxmlformats.org/officeDocument/2006/relationships/chart" Target="/ppt/slides/charts/chart1.xml" Id="R35762ae8f4fe48a7" /><Relationship Type="http://schemas.openxmlformats.org/officeDocument/2006/relationships/notesSlide" Target="/ppt/notesSlides/notesSlide8.xml" Id="R14721070b9d545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99f62e4e84cc2" /><Relationship Type="http://schemas.openxmlformats.org/officeDocument/2006/relationships/notesSlide" Target="/ppt/notesSlides/notesSlide9.xml" Id="R4ba0ea21b79242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13e12c9d64a4c" /><Relationship Type="http://schemas.openxmlformats.org/officeDocument/2006/relationships/image" Target="/ppt/media/image6.png" Id="R0ea081a3c4cb4acf" /><Relationship Type="http://schemas.openxmlformats.org/officeDocument/2006/relationships/notesSlide" Target="/ppt/notesSlides/notesSlide10.xml" Id="R7bda0f5bc7d543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c882fedce4d12" /><Relationship Type="http://schemas.openxmlformats.org/officeDocument/2006/relationships/image" Target="/ppt/media/image7.png" Id="R6badb40c8b33489e" /><Relationship Type="http://schemas.openxmlformats.org/officeDocument/2006/relationships/notesSlide" Target="/ppt/notesSlides/notesSlide11.xml" Id="Rf5a3d46627704c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572fd12b84d1a" /><Relationship Type="http://schemas.openxmlformats.org/officeDocument/2006/relationships/notesSlide" Target="/ppt/notesSlides/notesSlide12.xml" Id="Re69dd6f42637421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c73cf46f64c3e" /><Relationship Type="http://schemas.openxmlformats.org/officeDocument/2006/relationships/image" Target="/ppt/media/image8.png" Id="R91a0bb2d018b4b70" /><Relationship Type="http://schemas.openxmlformats.org/officeDocument/2006/relationships/notesSlide" Target="/ppt/notesSlides/notesSlide13.xml" Id="Ra412cb0fad254bc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1b76a24664c61" /><Relationship Type="http://schemas.openxmlformats.org/officeDocument/2006/relationships/image" Target="/ppt/media/image9.png" Id="R1c749f68ebf747f1" /><Relationship Type="http://schemas.openxmlformats.org/officeDocument/2006/relationships/notesSlide" Target="/ppt/notesSlides/notesSlide14.xml" Id="R15f7c9b69692476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Annualized value</c:v>
          </c:tx>
          <c:spPr>
            <a:solidFill xmlns:a="http://schemas.openxmlformats.org/drawingml/2006/main">
              <a:srgbClr val="CCFF00"/>
            </a:solidFill>
          </c:spPr>
          <c:cat>
            <c:strLit>
              <c:ptCount val="6"/>
              <c:pt idx="0">
                <c:v>Pilot</c:v>
              </c:pt>
              <c:pt idx="1">
                <c:v>Fleet 1</c:v>
              </c:pt>
              <c:pt idx="2">
                <c:v>Fleet 2</c:v>
              </c:pt>
              <c:pt idx="3">
                <c:v>Fleet 3</c:v>
              </c:pt>
              <c:pt idx="4">
                <c:v>Fleet 4</c:v>
              </c:pt>
              <c:pt idx="5">
                <c:v>Fleet 5</c:v>
              </c:pt>
            </c:strLit>
          </c:cat>
          <c:val>
            <c:numLit>
              <c:formatCode>General</c:formatCode>
              <c:ptCount val="6"/>
              <c:pt idx="0">
                <c:v>25</c:v>
              </c:pt>
              <c:pt idx="1">
                <c:v>100</c:v>
              </c:pt>
              <c:pt idx="2">
                <c:v>200</c:v>
              </c:pt>
              <c:pt idx="3">
                <c:v>300</c:v>
              </c:pt>
              <c:pt idx="4">
                <c:v>400</c:v>
              </c:pt>
              <c:pt idx="5">
                <c:v>500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F3F0E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52A2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A6A9A2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55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50505"/>
        </a:solidFill>
        <a:ln xmlns:a="http://schemas.openxmlformats.org/drawingml/2006/main" w="0">
          <a:solidFill>
            <a:srgbClr val="050505"/>
          </a:solidFill>
          <a:prstDash val="solid"/>
        </a:ln>
      </c:spPr>
    </c:plotArea>
    <c:plotVisOnly val="1"/>
  </c:chart>
  <c:spPr>
    <a:solidFill xmlns:a="http://schemas.openxmlformats.org/drawingml/2006/main">
      <a:srgbClr val="050505"/>
    </a:solidFill>
    <a:ln xmlns:a="http://schemas.openxmlformats.org/drawingml/2006/main" w="0">
      <a:solidFill>
        <a:srgbClr val="050505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a15e94fc8641c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80021-E563-4352-9919-D3464BC6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>
              <a:alpha val="6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EA429-C335-48DB-A469-495D0C4E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31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CFF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AE3B8-24AC-47F5-BEE0-2F6B0F34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PROJECT GAUSS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5E476-7844-4820-91EF-0AE8BB84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4200" b="1" i="0">
                <a:solidFill>
                  <a:srgbClr val="F3F0E8"/>
                </a:solidFill>
                <a:latin typeface="Inter"/>
                <a:ea typeface="Inter"/>
                <a:cs typeface="Inter"/>
              </a:defRPr>
            </a:pPr>
            <a:r>
              <a:rPr sz="4200" b="1" i="0">
                <a:solidFill>
                  <a:srgbClr val="F3F0E8"/>
                </a:solidFill>
                <a:latin typeface="Inter"/>
                <a:ea typeface="Inter"/>
                <a:cs typeface="Inter"/>
              </a:rPr>
              <a:t>Mission data,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4200" b="1" i="0">
                <a:solidFill>
                  <a:srgbClr val="F3F0E8"/>
                </a:solidFill>
                <a:latin typeface="Inter"/>
                <a:ea typeface="Inter"/>
                <a:cs typeface="Inter"/>
              </a:defRPr>
            </a:pPr>
            <a:r>
              <a:rPr sz="4200" b="1" i="0">
                <a:solidFill>
                  <a:srgbClr val="F3F0E8"/>
                </a:solidFill>
                <a:latin typeface="Inter"/>
                <a:ea typeface="Inter"/>
                <a:cs typeface="Inter"/>
              </a:rPr>
              <a:t>made decision-ready.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7882B-475E-4D18-9603-C2A0E078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1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An evidence-first assurance layer for AI-augmented space operations.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D820D-7385-44F4-A265-5BEC37DF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INVESTOR BRIEF  /  AUGUST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38C490-5BD1-473D-B8BD-FDDED40B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05500"/>
            <a:ext cx="423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Ground-first. Flight-candidate ready. Command-inert by design.</a:t>
            </a:r>
          </a:p>
        </p:txBody>
      </p:sp>
    </p:spTree>
    <p:extLst>
      <p:ext uri="{BB962C8B-B14F-4D97-AF65-F5344CB8AC3E}">
        <p14:creationId xmlns:p14="http://schemas.microsoft.com/office/powerpoint/2010/main" val="2798516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973A16-5BE7-477D-88DD-E4602454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GAUSS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D2CBF-41C1-4E50-83AF-2EEEBC61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14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1D4E6-45D3-4B25-8705-EE175A8E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714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5DA9F-862F-4552-9F54-2C80864A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1A95DA-8F39-44E9-BE92-66903396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700" b="1" i="0">
                <a:solidFill>
                  <a:srgbClr val="F3F0E8"/>
                </a:solidFill>
                <a:latin typeface="Inter"/>
                <a:ea typeface="Inter"/>
                <a:cs typeface="Inter"/>
              </a:defRPr>
            </a:pPr>
            <a:r>
              <a:rPr sz="2700" b="1" i="0">
                <a:solidFill>
                  <a:srgbClr val="F3F0E8"/>
                </a:solidFill>
                <a:latin typeface="Inter"/>
                <a:ea typeface="Inter"/>
                <a:cs typeface="Inter"/>
              </a:rPr>
              <a:t>Fragmented evidence is expensive.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C3852B-15E9-4057-AF1C-883C3940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The data exists. The decision context does not.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d21637510d4a80"/>
          <a:srcRect xmlns:a="http://schemas.openxmlformats.org/drawingml/2006/main" l="31765" t="0" r="317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1800" y="1104900"/>
            <a:ext cx="4724400" cy="3238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B47CA-F58D-4200-A78A-C8B61552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104900"/>
            <a:ext cx="4724400" cy="3238500"/>
          </a:xfrm>
          <a:prstGeom xmlns:a="http://schemas.openxmlformats.org/drawingml/2006/main" prst="roundRect">
            <a:avLst>
              <a:gd name="adj" fmla="val 4118"/>
            </a:avLst>
          </a:prstGeom>
          <a:solidFill xmlns:a="http://schemas.openxmlformats.org/drawingml/2006/main">
            <a:srgbClr val="050505">
              <a:alpha val="12000"/>
            </a:srgbClr>
          </a:solidFill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6956F-0B8E-4DD0-8B9F-D663DEC4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95650"/>
            <a:ext cx="4724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66A9B3-C6F0-490E-B886-2C883A1F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3144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SPACE WEATHER SIGNAL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08DB6-DCDA-4471-A980-8C167404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00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CME context is only useful when the operator can trace it to the decision.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F6874A-7536-4103-83CE-91144CDD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F32E3F-4A78-4621-BBD3-A0EC6338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157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Fragmented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A5E67A-EA0C-459F-8EFA-6C4C22D9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333750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Telemetry, space-weather, SSA, memory, and ground-system evidence live in separate lanes.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A950D0-B10F-4458-872B-99683854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1D7BF8-4FA0-4C56-9452-834528F4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157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Opaque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8EDA74-32AB-491F-81C9-2A40E9A7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095750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AI can flag an anomaly, but operators still need provenance, confidence, and a safe fallback.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5D7178-5DF9-49EE-B7B2-9BF86F32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CF53DD-C2BA-455E-BB34-5CAD9700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57750"/>
            <a:ext cx="157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Costly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386C7A-94B6-496E-A763-BF688C18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857750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9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Every delayed or disputed decision compounds mission risk, engineering time, and procurement friction.</a:t>
            </a:r>
          </a:p>
        </p:txBody>
      </p:sp>
    </p:spTree>
    <p:extLst>
      <p:ext uri="{BB962C8B-B14F-4D97-AF65-F5344CB8AC3E}">
        <p14:creationId xmlns:p14="http://schemas.microsoft.com/office/powerpoint/2010/main" val="12868887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E1FDA4-B58B-4AF2-B260-6F6EFF12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GAUSS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CE1FE-3AD5-4308-9EDE-3006BF07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14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WHY 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77744A-2303-428D-87DB-624DD592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714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3DA73-C7BA-412C-9158-CFEF3B5B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024DA-7206-40A0-8A1B-B2A4F9BC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6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700" b="1" i="0">
                <a:solidFill>
                  <a:srgbClr val="F3F0E8"/>
                </a:solidFill>
                <a:latin typeface="Inter"/>
                <a:ea typeface="Inter"/>
                <a:cs typeface="Inter"/>
              </a:defRPr>
            </a:pPr>
            <a:r>
              <a:rPr sz="2700" b="1" i="0">
                <a:solidFill>
                  <a:srgbClr val="F3F0E8"/>
                </a:solidFill>
                <a:latin typeface="Inter"/>
                <a:ea typeface="Inter"/>
                <a:cs typeface="Inter"/>
              </a:rPr>
              <a:t>AI is ready to assist; mission infrastructure is not ready to trust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5B077-9F98-412E-A319-2885A7A6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Gauss sits in the trust gap between raw data and safe action.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0f646cd20048b8"/>
          <a:srcRect xmlns:a="http://schemas.openxmlformats.org/drawingml/2006/main" l="4648" t="0" r="46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71700"/>
            <a:ext cx="5143500" cy="3048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7A767-8CE1-4AB3-9DF9-A7D77FDA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143500" cy="3048000"/>
          </a:xfrm>
          <a:prstGeom xmlns:a="http://schemas.openxmlformats.org/drawingml/2006/main" prst="roundRect">
            <a:avLst>
              <a:gd name="adj" fmla="val 4375"/>
            </a:avLst>
          </a:prstGeom>
          <a:solidFill xmlns:a="http://schemas.openxmlformats.org/drawingml/2006/main">
            <a:srgbClr val="050505">
              <a:alpha val="18000"/>
            </a:srgbClr>
          </a:solidFill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5BA77B-4583-42CD-991B-716835F2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5143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180C3E-B5FB-4788-A748-93B3C402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THE WINDOW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005BF3-A592-48D7-8DDD-9178265D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1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65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More spacecraft. More sensor streams. More critical infrastructure depending on orbital services.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C0052F-46C2-4D8D-8095-C93BD028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15621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1111"/>
          </a:solidFill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A7EB7C-0004-4F68-A9B7-2700C5BE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TARGET PROFILES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09B9BB-77AC-4101-A1FF-40E41351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812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65053A-1664-4D88-ACD5-DA00E064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38425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E7B14A"/>
                </a:solidFill>
                <a:latin typeface="Inter"/>
                <a:ea typeface="Inter"/>
                <a:cs typeface="Inter"/>
              </a:defRPr>
            </a:pPr>
            <a:r>
              <a:rPr sz="2400" b="1" i="0">
                <a:solidFill>
                  <a:srgbClr val="E7B14A"/>
                </a:solidFill>
                <a:latin typeface="Inter"/>
                <a:ea typeface="Inter"/>
                <a:cs typeface="Inter"/>
              </a:rPr>
              <a:t>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8E7765-71E6-4268-8625-3F2DF67F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146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9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research profiles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D770FB-FBB9-4733-9C03-A2801F5B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47900"/>
            <a:ext cx="15621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1111"/>
          </a:solidFill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34D80B-24B9-4E9E-8E6F-20F35F7F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0030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FIRST MOTION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D5380D-E0FB-4670-A0CC-B8868F9E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812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0E26E4-F524-48A1-B43D-C36E9392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38425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CCFF00"/>
                </a:solidFill>
                <a:latin typeface="Inter"/>
                <a:ea typeface="Inter"/>
                <a:cs typeface="Inter"/>
              </a:defRPr>
            </a:pPr>
            <a:r>
              <a:rPr sz="2400" b="1" i="0">
                <a:solidFill>
                  <a:srgbClr val="CCFF00"/>
                </a:solidFill>
                <a:latin typeface="Inter"/>
                <a:ea typeface="Inter"/>
                <a:cs typeface="Inter"/>
              </a:rPr>
              <a:t>Ground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6207C8-977C-4AD5-ABF8-236CA7FA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146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9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integration first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F3D7BD-F07E-4C88-AAD1-C34096B6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47900"/>
            <a:ext cx="19050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1111"/>
          </a:solidFill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0C4E6F-0ED5-461B-AE03-58D34D0F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003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COMMAND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F8D393-F7CA-4E46-B03B-A0A050FE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3812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D7E41A-6B0D-4A2F-88E5-5BBC50AE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3842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E7B14A"/>
                </a:solidFill>
                <a:latin typeface="Inter"/>
                <a:ea typeface="Inter"/>
                <a:cs typeface="Inter"/>
              </a:defRPr>
            </a:pPr>
            <a:r>
              <a:rPr sz="2400" b="1" i="0">
                <a:solidFill>
                  <a:srgbClr val="E7B14A"/>
                </a:solidFill>
                <a:latin typeface="Inter"/>
                <a:ea typeface="Inter"/>
                <a:cs typeface="Inter"/>
              </a:rPr>
              <a:t>Inert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CD72E7-4FD6-4F24-A7B3-11E38945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146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9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approval-gated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B7EB8E-F593-49D3-881D-602D8985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591241-E556-4F38-A5D8-AA81C092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719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A sharper wedge than “AI for space”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2F5476-A61D-482F-91F0-47581BAF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52950"/>
            <a:ext cx="5048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Mission-data assurance: quality, provenance, radiation context, replay, and bounded inference across the existing ground segment.</a:t>
            </a:r>
          </a:p>
        </p:txBody>
      </p:sp>
    </p:spTree>
    <p:extLst>
      <p:ext uri="{BB962C8B-B14F-4D97-AF65-F5344CB8AC3E}">
        <p14:creationId xmlns:p14="http://schemas.microsoft.com/office/powerpoint/2010/main" val="18555907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243602-5F1C-4843-B754-E6DA560C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GAUSS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DB5C5B-87D8-4462-9E2E-F1E7660B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14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4B80B-7EBB-44FC-8C7D-C1F640EC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714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D2FF5-89B7-4E91-9750-7363DBD8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AEBCA5-D348-4A53-B4C9-A3A5D343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700" b="1" i="0">
                <a:solidFill>
                  <a:srgbClr val="F3F0E8"/>
                </a:solidFill>
                <a:latin typeface="Inter"/>
                <a:ea typeface="Inter"/>
                <a:cs typeface="Inter"/>
              </a:defRPr>
            </a:pPr>
            <a:r>
              <a:rPr sz="2700" b="1" i="0">
                <a:solidFill>
                  <a:srgbClr val="F3F0E8"/>
                </a:solidFill>
                <a:latin typeface="Inter"/>
                <a:ea typeface="Inter"/>
                <a:cs typeface="Inter"/>
              </a:rPr>
              <a:t>Gauss makes AI decisions ready for operations.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29C45-4D6F-4CD2-9503-971A8A14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A neutral assurance layer that helps teams trust, explain, and safely act on mission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F59C5A-A5DC-4539-804D-6E24C958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WHAT TEAMS ALREADY HAVE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4001D-191B-4319-A97A-88E052B0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669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GAUSS ASSURANCE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E4C3A-6FE5-400C-AD2E-6EB6A329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669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WHAT OPERATORS 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FFCF33-B1DE-47E3-AF8D-A10716B9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5717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D1010"/>
          </a:solidFill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62CA7E-8501-45DC-8B83-15F9B380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62200"/>
            <a:ext cx="37147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32000"/>
          </a:solidFill>
          <a:ln xmlns:a="http://schemas.openxmlformats.org/drawingml/2006/main" w="9525">
            <a:solidFill>
              <a:srgbClr val="CCFF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45F01-F7F3-4559-9110-3D7D3D05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47950"/>
            <a:ext cx="27241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D1010"/>
          </a:solidFill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A297DD-BFAD-49DF-BAC0-DB18051D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52825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B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289655-697A-4438-A8EA-DE48F3A1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52825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CFF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3C3417-05CA-4BD5-A87D-65C389B7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95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210C48-EE5C-4889-9642-3FA0412D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95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275D5F-665D-481A-B839-6E1DFC1C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2000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Mission data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50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Weather context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50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Operator history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50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Existing systems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B0667A-A899-44FB-927A-AB155E69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81300"/>
            <a:ext cx="1333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250" b="1" i="0">
                <a:solidFill>
                  <a:srgbClr val="CCFF00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 i="0">
                <a:solidFill>
                  <a:srgbClr val="CCFF00"/>
                </a:solidFill>
                <a:latin typeface="IBM Plex Sans"/>
                <a:ea typeface="IBM Plex Sans"/>
                <a:cs typeface="IBM Plex Sans"/>
              </a:rPr>
              <a:t>Validate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250" b="1" i="0">
                <a:solidFill>
                  <a:srgbClr val="CCFF00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 i="0">
                <a:solidFill>
                  <a:srgbClr val="CCFF00"/>
                </a:solidFill>
                <a:latin typeface="IBM Plex Sans"/>
                <a:ea typeface="IBM Plex Sans"/>
                <a:cs typeface="IBM Plex Sans"/>
              </a:rPr>
              <a:t>Explain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250" b="1" i="0">
                <a:solidFill>
                  <a:srgbClr val="CCFF00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 i="0">
                <a:solidFill>
                  <a:srgbClr val="CCFF00"/>
                </a:solidFill>
                <a:latin typeface="IBM Plex Sans"/>
                <a:ea typeface="IBM Plex Sans"/>
                <a:cs typeface="IBM Plex Sans"/>
              </a:rPr>
              <a:t>Gate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8590CC-2F01-4733-B23A-EBF5B479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14650"/>
            <a:ext cx="1524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Confidence signals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Decision context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Safe fallback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EE07CD-1A0A-458A-8D96-5A55C466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09900"/>
            <a:ext cx="2095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Decision-ready evidence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50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Audit trail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50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No command authority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CD0E2E-04C6-49FD-A9F3-A6B07C90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E7B14A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 i="0">
                <a:solidFill>
                  <a:srgbClr val="E7B14A"/>
                </a:solidFill>
                <a:latin typeface="IBM Plex Sans"/>
                <a:ea typeface="IBM Plex Sans"/>
                <a:cs typeface="IBM Plex Sans"/>
              </a:rPr>
              <a:t>Start with the ground segment. Earn the right to move closer to flight.</a:t>
            </a:r>
          </a:p>
        </p:txBody>
      </p:sp>
    </p:spTree>
    <p:extLst>
      <p:ext uri="{BB962C8B-B14F-4D97-AF65-F5344CB8AC3E}">
        <p14:creationId xmlns:p14="http://schemas.microsoft.com/office/powerpoint/2010/main" val="14022571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083871-950B-4B35-800A-5374907C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GAUSS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CDC9C-7D0E-49E7-ADA5-18425583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14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AE7C9-26B7-4D0D-9EC4-760871E2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714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A1471-1D7F-4AC1-9474-A9C34C14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2939A-7266-4D33-8DF4-3FD2FF1D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700" b="1" i="0">
                <a:solidFill>
                  <a:srgbClr val="F3F0E8"/>
                </a:solidFill>
                <a:latin typeface="Inter"/>
                <a:ea typeface="Inter"/>
                <a:cs typeface="Inter"/>
              </a:defRPr>
            </a:pPr>
            <a:r>
              <a:rPr sz="2700" b="1" i="0">
                <a:solidFill>
                  <a:srgbClr val="F3F0E8"/>
                </a:solidFill>
                <a:latin typeface="Inter"/>
                <a:ea typeface="Inter"/>
                <a:cs typeface="Inter"/>
              </a:rPr>
              <a:t>Three packages turn trust into expansion.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866D20-699D-4BC8-8B27-5DAF474D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Land with one mission team, then expand across fleets and infrastructure.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C397E-D337-4CDD-8E1A-5504BCF9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857500" cy="24003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1010"/>
          </a:solidFill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170E3-7280-4532-A903-78B1195D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01 / LAND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C99FFD-087D-4FB4-8EFC-8A37E3F0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95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95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Fleet Integration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CF02F4-47A7-4BB9-B7AD-98EDC088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2400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Make existing mission data trustworthy across teams, workflows, and customer handoffs.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080A8-AABF-46F1-8B4F-00A612EF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Start on the ground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752127-3107-4263-9BF1-05F5C746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266950"/>
            <a:ext cx="2857500" cy="24003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1010"/>
          </a:solidFill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13F55B-C352-4FD6-84E1-51C020E7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955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02 / EXPAND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3E131D-7EBC-4803-9F78-F82B610D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76550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6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95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95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Flight Candidate Adapter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D13666-953F-472A-939D-F405B01B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00450"/>
            <a:ext cx="2400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Carry validated evidence toward future onboard deployment without claiming flight qualification.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5D4E8D-F726-437F-91AA-444D4592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005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Earn the flight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1A3F91-2B72-4135-BBA8-B28B7967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66950"/>
            <a:ext cx="2857500" cy="24003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1010"/>
          </a:solidFill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CC76F8-FF68-43AD-9074-3D75DF6A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955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03 / EXTEND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2C91C2-4E96-47BA-B0EF-C4D33E19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76550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6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95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95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Federated Bridge Node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93C0C7-9ED2-41B7-8B1A-7C39DF40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00450"/>
            <a:ext cx="2400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9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Move trusted data across zones, partners, and protected infrastructure as the network grows.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04546D-E452-43C7-89E5-2B9824EC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005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Expand the boundary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67084A-66B2-4979-9C2C-B46982DA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5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The boundary is the moat: Gauss makes external mission systems more trustworthy without pretending to own them.</a:t>
            </a:r>
          </a:p>
        </p:txBody>
      </p:sp>
    </p:spTree>
    <p:extLst>
      <p:ext uri="{BB962C8B-B14F-4D97-AF65-F5344CB8AC3E}">
        <p14:creationId xmlns:p14="http://schemas.microsoft.com/office/powerpoint/2010/main" val="15891949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a39915909246b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373AC-6A6B-43BB-93C0-96B34F60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>
              <a:alpha val="91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DAE65D-30FD-4E67-A1A7-4DD828B4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GAUSS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0C712-997A-48DA-9A5A-1284774D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14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MARKET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DD9065-0F15-4172-9C46-8A4EECCB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714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D35207-A74F-46C0-9B45-6AD1A926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8BE061-D76F-4FB7-A4CF-39B557D5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700" b="1" i="0">
                <a:solidFill>
                  <a:srgbClr val="F3F0E8"/>
                </a:solidFill>
                <a:latin typeface="Inter"/>
                <a:ea typeface="Inter"/>
                <a:cs typeface="Inter"/>
              </a:defRPr>
            </a:pPr>
            <a:r>
              <a:rPr sz="2700" b="1" i="0">
                <a:solidFill>
                  <a:srgbClr val="F3F0E8"/>
                </a:solidFill>
                <a:latin typeface="Inter"/>
                <a:ea typeface="Inter"/>
                <a:cs typeface="Inter"/>
              </a:rPr>
              <a:t>Start where data quality is already a budget line.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2368AB-A6E6-4751-8992-510E7B7F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Gauss sells first to operators and integrators who cannot afford ambiguous telemetry.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190750"/>
          <a:ext xmlns:a="http://schemas.openxmlformats.org/drawingml/2006/main" cx="108204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381250"/>
                <a:gridCol w="3333750"/>
                <a:gridCol w="2724150"/>
              </a:tblGrid>
              <a:tr h="54864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5050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BUYER WEDGE</a:t>
                      </a:r>
                    </a:p>
                  </a:txBody>
                  <a:tcPr marL="91440" marR="91440" marT="45720" marB="45720" anchor="ctr">
                    <a:solidFill>
                      <a:srgbClr val="E7B1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5050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MISSION PROFILE</a:t>
                      </a:r>
                    </a:p>
                  </a:txBody>
                  <a:tcPr marL="91440" marR="91440" marT="45720" marB="45720" anchor="ctr">
                    <a:solidFill>
                      <a:srgbClr val="E7B1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5050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PAIN WE SOLVE</a:t>
                      </a:r>
                    </a:p>
                  </a:txBody>
                  <a:tcPr marL="91440" marR="91440" marT="45720" marB="45720" anchor="ctr">
                    <a:solidFill>
                      <a:srgbClr val="E7B1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5050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LANDING MOTION</a:t>
                      </a:r>
                    </a:p>
                  </a:txBody>
                  <a:tcPr marL="91440" marR="91440" marT="45720" marB="45720" anchor="ctr">
                    <a:solidFill>
                      <a:srgbClr val="E7B1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Commercial satcom</a:t>
                      </a:r>
                    </a:p>
                  </a:txBody>
                  <a:tcPr marL="91440" marR="91440" marT="45720" marB="45720" anchor="ctr"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LEO / MEO fleets</a:t>
                      </a:r>
                    </a:p>
                  </a:txBody>
                  <a:tcPr marL="91440" marR="91440" marT="45720" marB="45720" anchor="ctr"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Fleet-wide evidence, replay, stale/gap detection</a:t>
                      </a:r>
                    </a:p>
                  </a:txBody>
                  <a:tcPr marL="91440" marR="91440" marT="45720" marB="45720" anchor="ctr"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Pilot → annual fleet license</a:t>
                      </a:r>
                    </a:p>
                  </a:txBody>
                  <a:tcPr marL="91440" marR="91440" marT="45720" marB="45720" anchor="ctr">
                    <a:solidFill>
                      <a:srgbClr val="0D101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Weather + space weather</a:t>
                      </a:r>
                    </a:p>
                  </a:txBody>
                  <a:tcPr marL="91440" marR="91440" marT="45720" marB="45720" anchor="ctr">
                    <a:solidFill>
                      <a:srgbClr val="1014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GEO ground segment</a:t>
                      </a:r>
                    </a:p>
                  </a:txBody>
                  <a:tcPr marL="91440" marR="91440" marT="45720" marB="45720" anchor="ctr">
                    <a:solidFill>
                      <a:srgbClr val="1014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Radiation context, quality, operator confidence</a:t>
                      </a:r>
                    </a:p>
                  </a:txBody>
                  <a:tcPr marL="91440" marR="91440" marT="45720" marB="45720" anchor="ctr">
                    <a:solidFill>
                      <a:srgbClr val="1014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Ground assurance + data partner</a:t>
                      </a:r>
                    </a:p>
                  </a:txBody>
                  <a:tcPr marL="91440" marR="91440" marT="45720" marB="45720" anchor="ctr">
                    <a:solidFill>
                      <a:srgbClr val="10141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Earth observation</a:t>
                      </a:r>
                    </a:p>
                  </a:txBody>
                  <a:tcPr marL="91440" marR="91440" marT="45720" marB="45720" anchor="ctr"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LEO data relay</a:t>
                      </a:r>
                    </a:p>
                  </a:txBody>
                  <a:tcPr marL="91440" marR="91440" marT="45720" marB="45720" anchor="ctr"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Data lineage, anomaly triage, integration assurance</a:t>
                      </a:r>
                    </a:p>
                  </a:txBody>
                  <a:tcPr marL="91440" marR="91440" marT="45720" marB="45720" anchor="ctr"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Integration package</a:t>
                      </a:r>
                    </a:p>
                  </a:txBody>
                  <a:tcPr marL="91440" marR="91440" marT="45720" marB="45720" anchor="ctr">
                    <a:solidFill>
                      <a:srgbClr val="0D101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Lunar relay / integrator</a:t>
                      </a:r>
                    </a:p>
                  </a:txBody>
                  <a:tcPr marL="91440" marR="91440" marT="45720" marB="45720" anchor="ctr">
                    <a:solidFill>
                      <a:srgbClr val="1014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Lunar + ground simulation</a:t>
                      </a:r>
                    </a:p>
                  </a:txBody>
                  <a:tcPr marL="91440" marR="91440" marT="45720" marB="45720" anchor="ctr">
                    <a:solidFill>
                      <a:srgbClr val="1014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DTN, provenance, approval-gated compute</a:t>
                      </a:r>
                    </a:p>
                  </a:txBody>
                  <a:tcPr marL="91440" marR="91440" marT="45720" marB="45720" anchor="ctr">
                    <a:solidFill>
                      <a:srgbClr val="1014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Bridge-node design partner</a:t>
                      </a:r>
                    </a:p>
                  </a:txBody>
                  <a:tcPr marL="91440" marR="91440" marT="45720" marB="45720" anchor="ctr">
                    <a:solidFill>
                      <a:srgbClr val="101414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E7684C-8FAB-4094-BE8C-1D22B477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64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E7B14A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1" i="0">
                <a:solidFill>
                  <a:srgbClr val="E7B14A"/>
                </a:solidFill>
                <a:latin typeface="IBM Plex Sans"/>
                <a:ea typeface="IBM Plex Sans"/>
                <a:cs typeface="IBM Plex Sans"/>
              </a:rPr>
              <a:t>8 research profiles across satcom, weather/space weather, Earth observation, PNT, lunar relay, and mission integration.</a:t>
            </a:r>
          </a:p>
        </p:txBody>
      </p:sp>
    </p:spTree>
    <p:extLst>
      <p:ext uri="{BB962C8B-B14F-4D97-AF65-F5344CB8AC3E}">
        <p14:creationId xmlns:p14="http://schemas.microsoft.com/office/powerpoint/2010/main" val="21341485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ccf3fc7f6b4b2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E81A5A-7CD6-4554-9038-EA6EB230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>
              <a:alpha val="91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0B403-875E-4C0F-8BE1-58B4FEFA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GAUSS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C3EA4-CBE1-4789-876D-886948EA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14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MARKET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9C71A-5EC7-448A-8060-4E499186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714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6856E-E441-476E-86A7-52E551C3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8E0789-B51A-4C71-911F-D201AC6F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2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700" b="1" i="0">
                <a:solidFill>
                  <a:srgbClr val="F3F0E8"/>
                </a:solidFill>
                <a:latin typeface="Inter"/>
                <a:ea typeface="Inter"/>
                <a:cs typeface="Inter"/>
              </a:defRPr>
            </a:pPr>
            <a:r>
              <a:rPr sz="2700" b="1" i="0">
                <a:solidFill>
                  <a:srgbClr val="F3F0E8"/>
                </a:solidFill>
                <a:latin typeface="Inter"/>
                <a:ea typeface="Inter"/>
                <a:cs typeface="Inter"/>
              </a:rPr>
              <a:t>A focused beachhead before the orbital infrastructure upside.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DBF44-BDB2-454D-847C-850AF71D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Use a transparent internal model; let customer evidence tighten the market over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2DF156-06A2-4230-8C38-1F3E8A41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INTERNAL PLANNING MODEL  /  DIRECTIONAL LADDER, NOT AUDITED RESEARCH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C416F-5659-4C7F-A1A7-F1853633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TAM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68F50B-745F-4FE3-9771-3AF92E95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9900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650" b="1" i="0">
                <a:solidFill>
                  <a:srgbClr val="CCFF00"/>
                </a:solidFill>
                <a:latin typeface="Inter"/>
                <a:ea typeface="Inter"/>
                <a:cs typeface="Inter"/>
              </a:defRPr>
            </a:pPr>
            <a:r>
              <a:rPr sz="4650" b="1" i="0">
                <a:solidFill>
                  <a:srgbClr val="CCFF00"/>
                </a:solidFill>
                <a:latin typeface="Inter"/>
                <a:ea typeface="Inter"/>
                <a:cs typeface="Inter"/>
              </a:rPr>
              <a:t>$3–5B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97C5DB-CF90-4731-AAE8-59615F08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Mission-data, ground, and distributed in-space infrastructure category.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CDA539-D8DA-43F4-8AEE-4BC85C6A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33625"/>
            <a:ext cx="0" cy="2581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471C76-2261-4AD1-AA31-CC58420C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289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TAM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9CCDAB-0151-4F39-9D68-9E1AFA3D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47950"/>
            <a:ext cx="4191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3E5E36-6F0A-41C2-8769-08FF244F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47950"/>
            <a:ext cx="4953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3CCBB5-BD45-4A05-BB4F-B84550B9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52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CCFF00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1" i="0">
                <a:solidFill>
                  <a:srgbClr val="CCFF00"/>
                </a:solidFill>
                <a:latin typeface="IBM Plex Sans"/>
                <a:ea typeface="IBM Plex Sans"/>
                <a:cs typeface="IBM Plex Sans"/>
              </a:rPr>
              <a:t>$3–5B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5DD153-F062-45D5-8D84-A13C8115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527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326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9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Broad mission-data + infrastructure category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B7E7E8-C44F-4D72-918E-8A2162B1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71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SAM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DD6F97-774C-4010-AFEB-BA44FADA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90900"/>
            <a:ext cx="4191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056525-B134-471A-80C3-C0333125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90900"/>
            <a:ext cx="2857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B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988EEB-1319-498A-BD78-41A1D9A7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95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E7B14A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1" i="0">
                <a:solidFill>
                  <a:srgbClr val="E7B14A"/>
                </a:solidFill>
                <a:latin typeface="IBM Plex Sans"/>
                <a:ea typeface="IBM Plex Sans"/>
                <a:cs typeface="IBM Plex Sans"/>
              </a:rPr>
              <a:t>$900M–$1.75B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E8FE14-9A7C-4CB0-AA3A-6BD07429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957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16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9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Initial ground and distributed-space wedge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77BDD3-176F-4C6F-B9BC-746878B7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14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SOM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F83977-D063-4AEE-9135-67EFB851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33850"/>
            <a:ext cx="4191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14F572-A4AC-4410-A52F-46F710A1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33850"/>
            <a:ext cx="800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4C5B9F-D922-42BF-A1A6-87408D13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386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$500k ARR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44ECA5-7551-49ED-A982-3B9CB21C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386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9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Five $100k fleet accounts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C08BF8-3961-4185-AA46-F65C371E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57750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SOM is deliberately operational: five $100k fleet accounts, not a speculative share of a trillion-dollar category.</a:t>
            </a:r>
          </a:p>
        </p:txBody>
      </p:sp>
    </p:spTree>
    <p:extLst>
      <p:ext uri="{BB962C8B-B14F-4D97-AF65-F5344CB8AC3E}">
        <p14:creationId xmlns:p14="http://schemas.microsoft.com/office/powerpoint/2010/main" val="549046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5ADC89-C881-4B40-98EB-DB556EF9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GAUSS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235081-C2FA-4D3C-89A7-EB64C57F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14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COMMERCIAL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3BE90A-D829-4A9F-B0DD-E69B8D77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714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2793E-C6D5-42DC-935E-222020B7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238D9-567A-47F6-AD27-1F63735C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4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700" b="1" i="0">
                <a:solidFill>
                  <a:srgbClr val="F3F0E8"/>
                </a:solidFill>
                <a:latin typeface="Inter"/>
                <a:ea typeface="Inter"/>
                <a:cs typeface="Inter"/>
              </a:defRPr>
            </a:pPr>
            <a:r>
              <a:rPr sz="2700" b="1" i="0">
                <a:solidFill>
                  <a:srgbClr val="F3F0E8"/>
                </a:solidFill>
                <a:latin typeface="Inter"/>
                <a:ea typeface="Inter"/>
                <a:cs typeface="Inter"/>
              </a:rPr>
              <a:t>Five fleet accounts can establish the first $500k ARR base.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34321-0BF8-4593-8E87-7210E40E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Charge for the platform annually; keep implementation and flight engineering outside ARR.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0E0D35-42B4-4310-9DFE-54AD9A3C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REVENUE STACK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DC8240-047B-4EE7-9B5A-35D2D1A3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526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◒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685800" y="2533650"/>
          <a:ext xmlns:a="http://schemas.openxmlformats.org/drawingml/2006/main" cx="571500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5762ae8f4fe48a7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94BF15-93CE-4E39-8410-3879D5B7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$k ARR / annualized contract 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BD7BC8-E816-4A62-85BE-A14819D4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14650"/>
            <a:ext cx="426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372849-F448-4FB1-8ECF-25B94102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00300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Paid evaluation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01D5DF-50F8-48E3-9FFA-0FC2A956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003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$20k–$35k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7982E6-44C4-45F4-A6E7-CF4E02B5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67000"/>
            <a:ext cx="426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6–10 weeks; credit toward conversion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391DD6-9745-4F08-A666-EF81F053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38550"/>
            <a:ext cx="426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DA3BAC-AA1D-49E6-9EE6-A8E88008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24200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Annual platform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5FF997-B1F3-48CC-8559-95AA24FC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$100k–$150k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459F85-A53A-47D2-A026-BB2EA021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90900"/>
            <a:ext cx="426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Fleet / mission capacity, not seats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AEC204-93E1-4CD2-8381-CF220EFD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62450"/>
            <a:ext cx="426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AB9A51-11A6-4C40-A9A8-2B27C8E2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48100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Implementation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76A5C8-A786-439F-B083-0D620AF6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481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$30k–$100k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E97669-9D60-478B-A8FC-7A9B9638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14800"/>
            <a:ext cx="426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One-time adapters and onboarding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C38532-FEE3-41AE-A755-0B9677FF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86350"/>
            <a:ext cx="426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C62391-1A32-49FD-B45C-608BDF3B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0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Flight candidate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D83BFE-39E2-4BDC-B0D7-1F4E4523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720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$150k–$400k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8CACA3-72EE-4C55-93B1-30E1F5BF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38700"/>
            <a:ext cx="426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NRE; external evidence gates</a:t>
            </a:r>
          </a:p>
        </p:txBody>
      </p:sp>
    </p:spTree>
    <p:extLst>
      <p:ext uri="{BB962C8B-B14F-4D97-AF65-F5344CB8AC3E}">
        <p14:creationId xmlns:p14="http://schemas.microsoft.com/office/powerpoint/2010/main" val="374000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1F803C-DDE4-469C-B9BD-B6423A91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GAUSS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C5301-BC99-4F6F-9FFD-C7EBFA6E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14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COMMERCIAL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CACFAA-3C4A-49F0-A719-2C7AAAD7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714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A26D1-9954-4E57-A2EF-A3022658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B98FD-FB16-4CAD-A354-8B772470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700" b="1" i="0">
                <a:solidFill>
                  <a:srgbClr val="F3F0E8"/>
                </a:solidFill>
                <a:latin typeface="Inter"/>
                <a:ea typeface="Inter"/>
                <a:cs typeface="Inter"/>
              </a:defRPr>
            </a:pPr>
            <a:r>
              <a:rPr sz="2700" b="1" i="0">
                <a:solidFill>
                  <a:srgbClr val="F3F0E8"/>
                </a:solidFill>
                <a:latin typeface="Inter"/>
                <a:ea typeface="Inter"/>
                <a:cs typeface="Inter"/>
              </a:rPr>
              <a:t>Charge now. Gate access with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CB989-7E92-47FD-B6B3-B68CBBE7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Billing, compliance, and mission clearance are separate server-side gates.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DBCB2E-D14F-4606-A477-466447EE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6FF42-FE08-4A87-BA93-C3C8AB34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543140-D89D-4AA4-A93E-836FE9F4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050505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050505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43BDE-5F3D-4991-BFD7-071F1561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86075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2A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D1B509-E85E-4117-842D-9B28F720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425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Select package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534E29-FAE6-4262-B83E-F35836DA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76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Ground / fleet / enterprise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32ADF6-79F7-477F-A3F3-EFD7965A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24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0EA1F0-65E9-4FA4-8AF4-5736BE71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622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8D1DD1-DF85-421B-82DA-703F48F9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003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050505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050505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5CBA23-3E62-4BFD-87DB-DB928342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86075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2A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486718-C204-4D94-9782-621F45DD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57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425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Profile the mission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0C3CC2-18CB-429B-9179-EA44A153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600450"/>
            <a:ext cx="176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Jurisdiction, data class, deployment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C3127E-3B79-4282-96E7-23E6621A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24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906E7A-DA6C-4FB5-BA67-0FA0C127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622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CB8EAC-6DC2-4467-B60C-AE13A3D4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003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050505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050505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B529DF-6F60-4BD2-9AC2-6C7232D7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86075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2A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5F8DE1-C605-4D02-A2E9-6F9A5054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57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425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Contract + pay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D87DE8-4102-451D-B8C3-53C65381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00450"/>
            <a:ext cx="176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Stripe or invoice / PO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B9E381-0DA1-483E-A1ED-2A4A6843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24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BE9103-66A1-49C4-8EA9-0FE5F636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622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9A6841-F57B-4A71-9C97-CEA91FC4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003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050505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050505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8A2D8D-00C7-4140-9562-7442D76B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86075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2A2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5AAF90-2FF1-4EEF-A40E-1E51DC1E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57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425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Provision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2779AE-700D-4918-83D8-8A20E716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00450"/>
            <a:ext cx="176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Entitlements after verified webhook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3CA6BB-C8FF-49E2-8DC9-2BC11F17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24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D3226E-8423-4278-88BC-D004102F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622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2CD30A-E305-4539-B04C-3251C12F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003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050505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050505"/>
                </a:solidFill>
                <a:latin typeface="JetBrains Mono"/>
                <a:ea typeface="JetBrains Mono"/>
                <a:cs typeface="JetBrains Mono"/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9059EE-D888-4488-8C05-EFC2B05E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57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425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Approve scope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FC853D-305D-410C-9809-F4688408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00450"/>
            <a:ext cx="176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Evidence-ready access only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AC6F04-4029-477B-83E1-62556A7E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933450"/>
          </a:xfrm>
          <a:prstGeom xmlns:a="http://schemas.openxmlformats.org/drawingml/2006/main" prst="roundRect">
            <a:avLst>
              <a:gd name="adj" fmla="val 18367"/>
            </a:avLst>
          </a:prstGeom>
          <a:solidFill xmlns:a="http://schemas.openxmlformats.org/drawingml/2006/main">
            <a:srgbClr val="0D1010"/>
          </a:solidFill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6CEE2E-8AA3-4364-BCEA-5CE40B3C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REGULATORY READINESS PACK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4DD438-A261-45A7-9445-45034A39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19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GDPR / DPA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33B9DF-DD51-4794-A392-7ADDCC9A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19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NIS2 applicability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069E3A-1AD1-4E9C-88AC-5C312447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19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EAR / ITAR review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C27D7F-4152-4745-B6E5-4FFCB323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19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NIST / CUI scope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194F43-173F-4923-83F2-76A5DB17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Status is evidence-based: unknown → assessing → evidence required → approved.</a:t>
            </a:r>
          </a:p>
        </p:txBody>
      </p:sp>
    </p:spTree>
    <p:extLst>
      <p:ext uri="{BB962C8B-B14F-4D97-AF65-F5344CB8AC3E}">
        <p14:creationId xmlns:p14="http://schemas.microsoft.com/office/powerpoint/2010/main" val="20042009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a081a3c4cb4ac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8950E-AAC8-407F-82F7-8C707FBD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>
              <a:alpha val="91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7A31C-CB47-476B-A889-14A615B6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GAUSS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D425D-328C-49AC-9B00-CFF0930E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14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POSITIONING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0B0E0-B1EA-4341-8360-0E02F713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714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D9EFE9-6B89-4398-AB4D-F3866810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EEBDF-8227-487A-8EA0-191EE125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700" b="1" i="0">
                <a:solidFill>
                  <a:srgbClr val="F3F0E8"/>
                </a:solidFill>
                <a:latin typeface="Inter"/>
                <a:ea typeface="Inter"/>
                <a:cs typeface="Inter"/>
              </a:defRPr>
            </a:pPr>
            <a:r>
              <a:rPr sz="2700" b="1" i="0">
                <a:solidFill>
                  <a:srgbClr val="F3F0E8"/>
                </a:solidFill>
                <a:latin typeface="Inter"/>
                <a:ea typeface="Inter"/>
                <a:cs typeface="Inter"/>
              </a:rPr>
              <a:t>Gauss owns the cross-system evidence layer.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32D4D6-D21D-45F2-9EA6-918F07C3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Adjacent platforms own control, sensing, or model monitoring. Gauss makes their outputs more trusted.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85800" y="220980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2809875"/>
                <a:gridCol w="3143250"/>
                <a:gridCol w="2819400"/>
              </a:tblGrid>
              <a:tr h="4762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5050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CATEGORY</a:t>
                      </a:r>
                    </a:p>
                  </a:txBody>
                  <a:tcPr marL="91440" marR="91440" marT="45720" marB="45720" anchor="ctr">
                    <a:solidFill>
                      <a:srgbClr val="E7B1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5050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INCUMBENT / ADJACENT</a:t>
                      </a:r>
                    </a:p>
                  </a:txBody>
                  <a:tcPr marL="91440" marR="91440" marT="45720" marB="45720" anchor="ctr">
                    <a:solidFill>
                      <a:srgbClr val="E7B1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5050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WHAT THEY OWN</a:t>
                      </a:r>
                    </a:p>
                  </a:txBody>
                  <a:tcPr marL="91440" marR="91440" marT="45720" marB="45720" anchor="ctr">
                    <a:solidFill>
                      <a:srgbClr val="E7B1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5050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GAUSS EDGE</a:t>
                      </a:r>
                    </a:p>
                  </a:txBody>
                  <a:tcPr marL="91440" marR="91440" marT="45720" marB="45720" anchor="ctr">
                    <a:solidFill>
                      <a:srgbClr val="E7B14A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3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▤ Mission control</a:t>
                      </a:r>
                    </a:p>
                  </a:txBody>
                  <a:tcPr marL="91440" marR="91440" marT="45720" marB="45720" anchor="ctr"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F3F0E8"/>
                          </a:solidFill>
                          <a:latin typeface="Inter"/>
                          <a:ea typeface="Inter"/>
                          <a:cs typeface="Inter"/>
                        </a:rPr>
                        <a:t>Yamcs / OpenC3 COSMOS</a:t>
                      </a:r>
                    </a:p>
                  </a:txBody>
                  <a:tcPr marL="91440" marR="91440" marT="45720" marB="45720" anchor="ctr"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F3F0E8"/>
                          </a:solidFill>
                          <a:latin typeface="Inter"/>
                          <a:ea typeface="Inter"/>
                          <a:cs typeface="Inter"/>
                        </a:rPr>
                        <a:t>Command and telemetry workflows</a:t>
                      </a:r>
                    </a:p>
                  </a:txBody>
                  <a:tcPr marL="91440" marR="91440" marT="45720" marB="45720" anchor="ctr"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F3F0E8"/>
                          </a:solidFill>
                          <a:latin typeface="Inter"/>
                          <a:ea typeface="Inter"/>
                          <a:cs typeface="Inter"/>
                        </a:rPr>
                        <a:t>Adds evidence across systems</a:t>
                      </a:r>
                    </a:p>
                  </a:txBody>
                  <a:tcPr marL="91440" marR="91440" marT="45720" marB="45720" anchor="ctr">
                    <a:solidFill>
                      <a:srgbClr val="0D1010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3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◌ Space-domain intelligence</a:t>
                      </a:r>
                    </a:p>
                  </a:txBody>
                  <a:tcPr marL="91440" marR="91440" marT="45720" marB="45720" anchor="ctr">
                    <a:solidFill>
                      <a:srgbClr val="1014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F3F0E8"/>
                          </a:solidFill>
                          <a:latin typeface="Inter"/>
                          <a:ea typeface="Inter"/>
                          <a:cs typeface="Inter"/>
                        </a:rPr>
                        <a:t>Slingshot / Satcat</a:t>
                      </a:r>
                    </a:p>
                  </a:txBody>
                  <a:tcPr marL="91440" marR="91440" marT="45720" marB="45720" anchor="ctr">
                    <a:solidFill>
                      <a:srgbClr val="1014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F3F0E8"/>
                          </a:solidFill>
                          <a:latin typeface="Inter"/>
                          <a:ea typeface="Inter"/>
                          <a:cs typeface="Inter"/>
                        </a:rPr>
                        <a:t>Tracking and risk intelligence</a:t>
                      </a:r>
                    </a:p>
                  </a:txBody>
                  <a:tcPr marL="91440" marR="91440" marT="45720" marB="45720" anchor="ctr">
                    <a:solidFill>
                      <a:srgbClr val="1014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F3F0E8"/>
                          </a:solidFill>
                          <a:latin typeface="Inter"/>
                          <a:ea typeface="Inter"/>
                          <a:cs typeface="Inter"/>
                        </a:rPr>
                        <a:t>Connects context to mission decisions</a:t>
                      </a:r>
                    </a:p>
                  </a:txBody>
                  <a:tcPr marL="91440" marR="91440" marT="45720" marB="45720" anchor="ctr">
                    <a:solidFill>
                      <a:srgbClr val="101414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3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◎ AI observability</a:t>
                      </a:r>
                    </a:p>
                  </a:txBody>
                  <a:tcPr marL="91440" marR="91440" marT="45720" marB="45720" anchor="ctr"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F3F0E8"/>
                          </a:solidFill>
                          <a:latin typeface="Inter"/>
                          <a:ea typeface="Inter"/>
                          <a:cs typeface="Inter"/>
                        </a:rPr>
                        <a:t>Arize / Protect AI / Fiddler</a:t>
                      </a:r>
                    </a:p>
                  </a:txBody>
                  <a:tcPr marL="91440" marR="91440" marT="45720" marB="45720" anchor="ctr"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F3F0E8"/>
                          </a:solidFill>
                          <a:latin typeface="Inter"/>
                          <a:ea typeface="Inter"/>
                          <a:cs typeface="Inter"/>
                        </a:rPr>
                        <a:t>Model monitoring and security</a:t>
                      </a:r>
                    </a:p>
                  </a:txBody>
                  <a:tcPr marL="91440" marR="91440" marT="45720" marB="45720" anchor="ctr"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F3F0E8"/>
                          </a:solidFill>
                          <a:latin typeface="Inter"/>
                          <a:ea typeface="Inter"/>
                          <a:cs typeface="Inter"/>
                        </a:rPr>
                        <a:t>Adds space-weather and mission context</a:t>
                      </a:r>
                    </a:p>
                  </a:txBody>
                  <a:tcPr marL="91440" marR="91440" marT="45720" marB="45720" anchor="ctr">
                    <a:solidFill>
                      <a:srgbClr val="0D1010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3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✦ Onboard autonomy</a:t>
                      </a:r>
                    </a:p>
                  </a:txBody>
                  <a:tcPr marL="91440" marR="91440" marT="45720" marB="45720" anchor="ctr">
                    <a:solidFill>
                      <a:srgbClr val="1014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F3F0E8"/>
                          </a:solidFill>
                          <a:latin typeface="Inter"/>
                          <a:ea typeface="Inter"/>
                          <a:cs typeface="Inter"/>
                        </a:rPr>
                        <a:t>AIKO</a:t>
                      </a:r>
                    </a:p>
                  </a:txBody>
                  <a:tcPr marL="91440" marR="91440" marT="45720" marB="45720" anchor="ctr">
                    <a:solidFill>
                      <a:srgbClr val="1014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F3F0E8"/>
                          </a:solidFill>
                          <a:latin typeface="Inter"/>
                          <a:ea typeface="Inter"/>
                          <a:cs typeface="Inter"/>
                        </a:rPr>
                        <a:t>Flight autonomy and onboard decisions</a:t>
                      </a:r>
                    </a:p>
                  </a:txBody>
                  <a:tcPr marL="91440" marR="91440" marT="45720" marB="45720" anchor="ctr">
                    <a:solidFill>
                      <a:srgbClr val="1014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F3F0E8"/>
                          </a:solidFill>
                          <a:latin typeface="Inter"/>
                          <a:ea typeface="Inter"/>
                          <a:cs typeface="Inter"/>
                        </a:rPr>
                        <a:t>Ground-first, partner-neutral assurance</a:t>
                      </a:r>
                    </a:p>
                  </a:txBody>
                  <a:tcPr marL="91440" marR="91440" marT="45720" marB="45720" anchor="ctr">
                    <a:solidFill>
                      <a:srgbClr val="101414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CFF00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⊕ Gauss</a:t>
                      </a:r>
                    </a:p>
                  </a:txBody>
                  <a:tcPr marL="91440" marR="91440" marT="45720" marB="45720" anchor="ctr"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CCFF00"/>
                          </a:solidFill>
                          <a:latin typeface="Inter"/>
                          <a:ea typeface="Inter"/>
                          <a:cs typeface="Inter"/>
                        </a:rPr>
                        <a:t>Mission-data assurance</a:t>
                      </a:r>
                    </a:p>
                  </a:txBody>
                  <a:tcPr marL="91440" marR="91440" marT="45720" marB="45720" anchor="ctr"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CCFF00"/>
                          </a:solidFill>
                          <a:latin typeface="Inter"/>
                          <a:ea typeface="Inter"/>
                          <a:cs typeface="Inter"/>
                        </a:rPr>
                        <a:t>Validate, explain, and gate</a:t>
                      </a:r>
                    </a:p>
                  </a:txBody>
                  <a:tcPr marL="91440" marR="91440" marT="45720" marB="45720" anchor="ctr"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CCFF00"/>
                          </a:solidFill>
                          <a:latin typeface="Inter"/>
                          <a:ea typeface="Inter"/>
                          <a:cs typeface="Inter"/>
                        </a:rPr>
                        <a:t>Owns the evidence layer</a:t>
                      </a:r>
                    </a:p>
                  </a:txBody>
                  <a:tcPr marL="91440" marR="91440" marT="45720" marB="45720" anchor="ctr">
                    <a:solidFill>
                      <a:srgbClr val="0D1010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EED51-306F-4486-BD61-BAA712EC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8204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132000"/>
          </a:solidFill>
          <a:ln xmlns:a="http://schemas.openxmlformats.org/drawingml/2006/main" w="9525">
            <a:solidFill>
              <a:srgbClr val="CCFF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4B1CC7-A1D8-43C9-BB18-A67D5001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864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NOT ANOTHER CONSOLE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17748-F14D-4044-AA52-773A0FC1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48640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Gauss makes adjacent systems more trustworthy without owning their command authority.</a:t>
            </a:r>
          </a:p>
        </p:txBody>
      </p:sp>
    </p:spTree>
    <p:extLst>
      <p:ext uri="{BB962C8B-B14F-4D97-AF65-F5344CB8AC3E}">
        <p14:creationId xmlns:p14="http://schemas.microsoft.com/office/powerpoint/2010/main" val="16287383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adb40c8b33489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2B97C-8377-41F8-BF7C-10ECA3E7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>
              <a:alpha val="91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1F29D6-BE2F-4351-84E0-DA6C78C5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GAUSS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6EC54-8BED-4900-9A57-09927754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14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TEAM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917E95-0931-4988-A198-DCE0FFB6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714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6D51E9-4EF6-46B4-A52A-EED411A1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7A3D5D-76D9-4996-BA4F-2C136305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3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700" b="1" i="0">
                <a:solidFill>
                  <a:srgbClr val="F3F0E8"/>
                </a:solidFill>
                <a:latin typeface="Inter"/>
                <a:ea typeface="Inter"/>
                <a:cs typeface="Inter"/>
              </a:defRPr>
            </a:pPr>
            <a:r>
              <a:rPr sz="2700" b="1" i="0">
                <a:solidFill>
                  <a:srgbClr val="F3F0E8"/>
                </a:solidFill>
                <a:latin typeface="Inter"/>
                <a:ea typeface="Inter"/>
                <a:cs typeface="Inter"/>
              </a:rPr>
              <a:t>A compact founding team built around mission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55CFCF-DB5F-476A-8BD1-DA2EA36E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Product leadership, operator experience, and space-systems execution in one loop.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29BE0-7ED3-4408-A183-9DA27E36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14325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0D1010"/>
          </a:solidFill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8B6FCE-14EA-4D02-882F-77D7CD61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752E2-C874-4188-A911-93CBAE09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384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050505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 i="0">
                <a:solidFill>
                  <a:srgbClr val="050505"/>
                </a:solidFill>
                <a:latin typeface="JetBrains Mono"/>
                <a:ea typeface="JetBrains Mono"/>
                <a:cs typeface="JetBrains Mono"/>
              </a:rPr>
              <a:t>JN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3E37F9-3C9C-4DD1-A684-E303BFAB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146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7348C0-A411-418D-96B2-565DF3F6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146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7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Joshua Nathan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437761-FD3F-4614-B769-80499ECA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384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CEO / Founder &amp; mission lead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D392A7-7324-4255-A50F-656A20F0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76DDBD-03C7-489F-B647-E9EFAA20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2609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Product direction, mission context, and commercial wedge.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F63C64-0489-44B5-91E5-B29C7120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47900"/>
            <a:ext cx="314325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0D1010"/>
          </a:solidFill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8D5402-0115-4786-AE1B-308D78BD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95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3ED02B-4F4E-42E4-8887-57691DE4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384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050505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 i="0">
                <a:solidFill>
                  <a:srgbClr val="050505"/>
                </a:solidFill>
                <a:latin typeface="JetBrains Mono"/>
                <a:ea typeface="JetBrains Mono"/>
                <a:cs typeface="JetBrains Mono"/>
              </a:rPr>
              <a:t>KL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F1730A-DF29-4802-B8F5-CC1BFCFC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146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195E6A-2A64-4696-9B29-559DD96F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146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7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Kristina Logunova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AD50B3-1471-43CD-811C-08A9F860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384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COO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23BC3E-0CE4-412D-BC68-8EFD6970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1945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D2BCFC-0590-4FA7-9F1E-AD7C72C3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86150"/>
            <a:ext cx="2609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Human–computer interaction and operator experience.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6BCF9B-1BBC-47CA-B948-2A592280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47900"/>
            <a:ext cx="314325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0D1010"/>
          </a:solidFill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9DE926-FB93-4917-9C07-50641945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95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F5260A-E6E9-408C-AF86-A6C6800B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384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050505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 i="0">
                <a:solidFill>
                  <a:srgbClr val="050505"/>
                </a:solidFill>
                <a:latin typeface="JetBrains Mono"/>
                <a:ea typeface="JetBrains Mono"/>
                <a:cs typeface="JetBrains Mono"/>
              </a:rPr>
              <a:t>SH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E1571F-61E0-451A-8200-B211DE73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5146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8C914C-F5E6-48C9-88C4-619836E8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146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7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Shubham Hule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5C885B-28B6-47DF-9448-D0BA0FB3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384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CTO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8DACCE-FF13-448F-8F3D-D949D5FB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1945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3447B9-A6B0-43E8-BFAE-CEA0B11D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86150"/>
            <a:ext cx="2609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Space systems engineering and technical execution.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94B3EB-7F0E-45E0-810C-59249FE6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D1010"/>
          </a:solidFill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98866F-3CB7-4D43-81A5-C5CDCF07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63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ADVISOR NETWORK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E4C468-56BA-488F-8DF8-F4B5A9AA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673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3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0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Barbara J. Thompson  /  Solar physics &amp; NASA Goddard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05B153-3288-47FB-8582-2D940939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0673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6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0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Eleni Petrakou  /  Particle physics &amp; space weather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DD849A-9557-4E20-A1BA-C407DD23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673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7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0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Jamie Berry  /  Aerospace, defence &amp; space finance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F38BA1-C055-4B0C-8C17-47CCBA91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A team slide is now present; the next diligence layer is specific founder proof and customer evidence.</a:t>
            </a:r>
          </a:p>
        </p:txBody>
      </p:sp>
    </p:spTree>
    <p:extLst>
      <p:ext uri="{BB962C8B-B14F-4D97-AF65-F5344CB8AC3E}">
        <p14:creationId xmlns:p14="http://schemas.microsoft.com/office/powerpoint/2010/main" val="17675763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699A44-77D7-40C8-98A7-339A9F90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GAUSS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5DEDD-9A29-4CCD-9D2B-1F18FE47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14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EXECUTION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60640-112B-4472-9C12-DFD32191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714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E9D108-8DC2-4665-8B78-C457E455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7C0817-3E72-43EA-929B-B9E622AB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4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700" b="1" i="0">
                <a:solidFill>
                  <a:srgbClr val="F3F0E8"/>
                </a:solidFill>
                <a:latin typeface="Inter"/>
                <a:ea typeface="Inter"/>
                <a:cs typeface="Inter"/>
              </a:defRPr>
            </a:pPr>
            <a:r>
              <a:rPr sz="2700" b="1" i="0">
                <a:solidFill>
                  <a:srgbClr val="F3F0E8"/>
                </a:solidFill>
                <a:latin typeface="Inter"/>
                <a:ea typeface="Inter"/>
                <a:cs typeface="Inter"/>
              </a:rPr>
              <a:t>Design partners first. Procurement-ready expansion next.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43710-F673-40AA-8C62-BDD777F0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The next 18 months turn the evidence contract into repeatable revenue.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54E6D-C399-4311-9347-E131F5F7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1432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0D1010"/>
          </a:solidFill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400DF-60DC-469E-9139-69C2E698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0–6 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7630F4-CA07-4510-A51C-6BD98D35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95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Prove the wedge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D3EE9E-2B83-4637-9BAE-4A47862C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257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2 paid ground pilots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CCSDS / XTCE / Yamcs replay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First compliance evidence pack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CFDA71-CB1C-4BA2-986F-AACE962A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7187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B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BB748A-6D0A-4328-A3B1-7E43C83F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81250"/>
            <a:ext cx="31432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0D1010"/>
          </a:solidFill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448E94-23E2-4758-9EB6-9B8C9018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289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6–12 mo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7DA905-2FEB-4E3E-8484-C16E1458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289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95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Convert the motion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5547D0-B35F-47A6-902E-2A472D35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62350"/>
            <a:ext cx="257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2–3 annual fleet contracts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Repeatable onboarding + billing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Reference architecture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3B2389-CF98-440D-8AE8-6666B227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7187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B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8B2330-9C71-458B-8F79-279BDC24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81250"/>
            <a:ext cx="31432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0D1010"/>
          </a:solidFill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5A69B7-70D8-4B2A-A8C4-18A1B478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289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12–18 mo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9ED802-D8D1-48AC-801E-97A09D8D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289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95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Expand the boundary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050EE9-2800-4CEB-9E8F-AFA9C850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62350"/>
            <a:ext cx="257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5 paid fleet accounts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$500k ARR target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Flight-candidate study, not qualification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DB0998-5998-487E-9892-8A75A9B1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425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The commercial proof point is repeatable evidence delivery, not a speculative claim of autonomous spacecraft operations.</a:t>
            </a:r>
          </a:p>
        </p:txBody>
      </p:sp>
    </p:spTree>
    <p:extLst>
      <p:ext uri="{BB962C8B-B14F-4D97-AF65-F5344CB8AC3E}">
        <p14:creationId xmlns:p14="http://schemas.microsoft.com/office/powerpoint/2010/main" val="18932582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a0bb2d018b4b7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E2553-6C3E-41F7-BD8F-0DD3E27F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>
              <a:alpha val="6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2C4B4-D159-42B8-B614-5C56429F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GAUSS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A43DD-6150-4482-9C40-119D9DA6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14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THE 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08412B-8C3D-441D-9500-FD66AD1F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714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69510-E7AF-4916-B3E8-3340B393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F0BB8-CFA0-4B1F-9B80-A8EA2E30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400" b="1" i="0">
                <a:solidFill>
                  <a:srgbClr val="CCFF00"/>
                </a:solidFill>
                <a:latin typeface="Inter"/>
                <a:ea typeface="Inter"/>
                <a:cs typeface="Inter"/>
              </a:defRPr>
            </a:pPr>
            <a:r>
              <a:rPr sz="5400" b="1" i="0">
                <a:solidFill>
                  <a:srgbClr val="CCFF00"/>
                </a:solidFill>
                <a:latin typeface="Inter"/>
                <a:ea typeface="Inter"/>
                <a:cs typeface="Inter"/>
              </a:rPr>
              <a:t>$1.5M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BB82D-7457-4ACF-B095-EB5564D0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695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6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40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240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to make mission-data assurance a repeatable commercial category.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37D6B8-173B-4FE5-9B3A-84CB427A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USE OF FUNDS  /  INTERNAL 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476B64-B8E3-4C28-9720-869B2568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Product + integrations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895CA1-88AF-43FF-8931-D2FF20CF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38600"/>
            <a:ext cx="29527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20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9F67A5-AB6B-4F63-B8FF-A249C68A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38600"/>
            <a:ext cx="29527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790FA8-DED5-4242-9AF9-B6058124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00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45%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FAEF63-6E4F-4AC4-A090-E94AE73C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Security + compliance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C89360-C47F-4671-AC0B-B1B0026A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00550"/>
            <a:ext cx="29527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20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ACA854-6A74-4EF0-9319-49219371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00550"/>
            <a:ext cx="13144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B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FA58BF-072E-41C9-A86C-7B8A505F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624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20%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16240E-9669-48F6-8780-56023605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GTM + design partners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F15DE8-983A-4551-9A92-396A14D2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62500"/>
            <a:ext cx="29527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20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7DFE20-8F12-47CC-B758-892ABBAE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62500"/>
            <a:ext cx="13144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B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94E17F-1BB4-4C21-9411-54B11D38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244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20%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3464D8-7F49-4B62-BA16-614BDDBF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863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Operations + runway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2EEE00-941F-42E3-80B9-7E8F3EED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24450"/>
            <a:ext cx="29527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20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F6BBE4-60D2-4C8D-9426-A81B4253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24450"/>
            <a:ext cx="981075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B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7D2EF7-49D6-48B1-8D97-BD12B58E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863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15%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8CEFD2-0EBE-432D-8BAC-43CACF60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143250" cy="2705100"/>
          </a:xfrm>
          <a:prstGeom xmlns:a="http://schemas.openxmlformats.org/drawingml/2006/main" prst="roundRect">
            <a:avLst>
              <a:gd name="adj" fmla="val 6338"/>
            </a:avLst>
          </a:prstGeom>
          <a:solidFill xmlns:a="http://schemas.openxmlformats.org/drawingml/2006/main">
            <a:srgbClr val="0D1010"/>
          </a:solidFill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BAC232-492A-487C-80C1-413EF176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669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THE PROOF POINT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0A64BC-A98E-45DB-8744-71540B4C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4795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0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00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5 fleet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300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accounts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B6EDF2-336D-469E-A751-3AD1099E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1950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51D63B-90AF-47A4-8574-A083948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671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$500k ARR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Ground-first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Evidence-ready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DCD1D6-1571-48C2-9A82-12917E40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150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Gauss gives space operators a safer path from data abundance to trusted action.</a:t>
            </a:r>
          </a:p>
        </p:txBody>
      </p:sp>
    </p:spTree>
    <p:extLst>
      <p:ext uri="{BB962C8B-B14F-4D97-AF65-F5344CB8AC3E}">
        <p14:creationId xmlns:p14="http://schemas.microsoft.com/office/powerpoint/2010/main" val="4474598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749f68ebf747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2869C-A1E5-42F5-A65F-0E214BCA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>
              <a:alpha val="91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7052E-0BAB-4DF8-881C-555A9E36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 i="0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GAUSS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B60655-43AC-41C8-8508-C7EC1C54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14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READINESS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2CBA6-9F53-46D6-9D52-5BD13321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714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815E2-F136-4B34-99E5-26CDDE5C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8BF68C-2BF2-4CA2-A174-CDAC0F4F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700" b="1" i="0">
                <a:solidFill>
                  <a:srgbClr val="F3F0E8"/>
                </a:solidFill>
                <a:latin typeface="Inter"/>
                <a:ea typeface="Inter"/>
                <a:cs typeface="Inter"/>
              </a:defRPr>
            </a:pPr>
            <a:r>
              <a:rPr sz="2700" b="1" i="0">
                <a:solidFill>
                  <a:srgbClr val="F3F0E8"/>
                </a:solidFill>
                <a:latin typeface="Inter"/>
                <a:ea typeface="Inter"/>
                <a:cs typeface="Inter"/>
              </a:rPr>
              <a:t>Investor-ready story; diligence-ready evidence is next.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06B86-C261-4695-8D30-EA544849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 i="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A practical scorecard against ESA BIC, YC, Seraphim, and the current SpaceTech visual bar.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85800" y="215265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95450"/>
                <a:gridCol w="2876550"/>
                <a:gridCol w="4857750"/>
                <a:gridCol w="1390650"/>
              </a:tblGrid>
              <a:tr h="4762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5050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LENS</a:t>
                      </a:r>
                    </a:p>
                  </a:txBody>
                  <a:tcPr marL="91440" marR="91440" marT="45720" marB="45720" anchor="ctr">
                    <a:solidFill>
                      <a:srgbClr val="E7B1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5050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MUST SHOW</a:t>
                      </a:r>
                    </a:p>
                  </a:txBody>
                  <a:tcPr marL="91440" marR="91440" marT="45720" marB="45720" anchor="ctr">
                    <a:solidFill>
                      <a:srgbClr val="E7B1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5050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GAUSS TODAY</a:t>
                      </a:r>
                    </a:p>
                  </a:txBody>
                  <a:tcPr marL="91440" marR="91440" marT="45720" marB="45720" anchor="ctr">
                    <a:solidFill>
                      <a:srgbClr val="E7B1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5050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STATUS</a:t>
                      </a:r>
                    </a:p>
                  </a:txBody>
                  <a:tcPr marL="91440" marR="91440" marT="45720" marB="45720" anchor="ctr">
                    <a:solidFill>
                      <a:srgbClr val="E7B14A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3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ESA BIC</a:t>
                      </a:r>
                    </a:p>
                  </a:txBody>
                  <a:tcPr marL="91440" marR="91440" marT="45720" marB="45720" anchor="ctr"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F3F0E8"/>
                          </a:solidFill>
                          <a:latin typeface="Inter"/>
                          <a:ea typeface="Inter"/>
                          <a:cs typeface="Inter"/>
                        </a:rPr>
                        <a:t>Clear space connection; viable business plan; incubation milestones.</a:t>
                      </a:r>
                    </a:p>
                  </a:txBody>
                  <a:tcPr marL="91440" marR="91440" marT="45720" marB="45720" anchor="ctr"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F3F0E8"/>
                          </a:solidFill>
                          <a:latin typeface="Inter"/>
                          <a:ea typeface="Inter"/>
                          <a:cs typeface="Inter"/>
                        </a:rPr>
                        <a:t>Ground-first space operations wedge, product packages, market model, 18-month plan.</a:t>
                      </a:r>
                    </a:p>
                  </a:txBody>
                  <a:tcPr marL="91440" marR="91440" marT="45720" marB="45720" anchor="ctr"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7B14A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PARTIAL</a:t>
                      </a:r>
                    </a:p>
                  </a:txBody>
                  <a:tcPr marL="91440" marR="91440" marT="45720" marB="45720" anchor="ctr">
                    <a:solidFill>
                      <a:srgbClr val="0D1010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3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YC</a:t>
                      </a:r>
                    </a:p>
                  </a:txBody>
                  <a:tcPr marL="91440" marR="91440" marT="45720" marB="45720" anchor="ctr">
                    <a:solidFill>
                      <a:srgbClr val="1014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F3F0E8"/>
                          </a:solidFill>
                          <a:latin typeface="Inter"/>
                          <a:ea typeface="Inter"/>
                          <a:cs typeface="Inter"/>
                        </a:rPr>
                        <a:t>Matter-of-fact product; unique insight; progress; business model; founders; ask.</a:t>
                      </a:r>
                    </a:p>
                  </a:txBody>
                  <a:tcPr marL="91440" marR="91440" marT="45720" marB="45720" anchor="ctr">
                    <a:solidFill>
                      <a:srgbClr val="1014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F3F0E8"/>
                          </a:solidFill>
                          <a:latin typeface="Inter"/>
                          <a:ea typeface="Inter"/>
                          <a:cs typeface="Inter"/>
                        </a:rPr>
                        <a:t>Clear wedge, pricing, ARR path, and team slide. Specific founder proof and customer progress remain thin.</a:t>
                      </a:r>
                    </a:p>
                  </a:txBody>
                  <a:tcPr marL="91440" marR="91440" marT="45720" marB="45720" anchor="ctr">
                    <a:solidFill>
                      <a:srgbClr val="1014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7B14A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PARTIAL</a:t>
                      </a:r>
                    </a:p>
                  </a:txBody>
                  <a:tcPr marL="91440" marR="91440" marT="45720" marB="45720" anchor="ctr">
                    <a:solidFill>
                      <a:srgbClr val="101414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3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SERAPHIM</a:t>
                      </a:r>
                    </a:p>
                  </a:txBody>
                  <a:tcPr marL="91440" marR="91440" marT="45720" marB="45720" anchor="ctr"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F3F0E8"/>
                          </a:solidFill>
                          <a:latin typeface="Inter"/>
                          <a:ea typeface="Inter"/>
                          <a:cs typeface="Inter"/>
                        </a:rPr>
                        <a:t>Sensible IP; addressable market; experienced team; TRL 5+ / scalable model.</a:t>
                      </a:r>
                    </a:p>
                  </a:txBody>
                  <a:tcPr marL="91440" marR="91440" marT="45720" marB="45720" anchor="ctr"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F3F0E8"/>
                          </a:solidFill>
                          <a:latin typeface="Inter"/>
                          <a:ea typeface="Inter"/>
                          <a:cs typeface="Inter"/>
                        </a:rPr>
                        <a:t>Market wedge, competition, commercial path, and team roles are visible. IP, heritage, and TRL evidence still need proof.</a:t>
                      </a:r>
                    </a:p>
                  </a:txBody>
                  <a:tcPr marL="91440" marR="91440" marT="45720" marB="45720" anchor="ctr"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7B14A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PARTIAL</a:t>
                      </a:r>
                    </a:p>
                  </a:txBody>
                  <a:tcPr marL="91440" marR="91440" marT="45720" marB="45720" anchor="ctr">
                    <a:solidFill>
                      <a:srgbClr val="0D1010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3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SPACE STARTUP BAR</a:t>
                      </a:r>
                    </a:p>
                  </a:txBody>
                  <a:tcPr marL="91440" marR="91440" marT="45720" marB="45720" anchor="ctr">
                    <a:solidFill>
                      <a:srgbClr val="1014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F3F0E8"/>
                          </a:solidFill>
                          <a:latin typeface="Inter"/>
                          <a:ea typeface="Inter"/>
                          <a:cs typeface="Inter"/>
                        </a:rPr>
                        <a:t>One claim per slide; hard proof; bold visuals; credible milestones; clear next action.</a:t>
                      </a:r>
                    </a:p>
                  </a:txBody>
                  <a:tcPr marL="91440" marR="91440" marT="45720" marB="45720" anchor="ctr">
                    <a:solidFill>
                      <a:srgbClr val="1014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F3F0E8"/>
                          </a:solidFill>
                          <a:latin typeface="Inter"/>
                          <a:ea typeface="Inter"/>
                          <a:cs typeface="Inter"/>
                        </a:rPr>
                        <a:t>Consistent black / ivory / volt-green / gold system, source-backed notes, native charts/tables, and ground-first milestones.</a:t>
                      </a:r>
                    </a:p>
                  </a:txBody>
                  <a:tcPr marL="91440" marR="91440" marT="45720" marB="45720" anchor="ctr">
                    <a:solidFill>
                      <a:srgbClr val="1014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CFF00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PASS</a:t>
                      </a:r>
                    </a:p>
                  </a:txBody>
                  <a:tcPr marL="91440" marR="91440" marT="45720" marB="45720" anchor="ctr">
                    <a:solidFill>
                      <a:srgbClr val="101414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3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INVESTOR DECISION</a:t>
                      </a:r>
                    </a:p>
                  </a:txBody>
                  <a:tcPr marL="91440" marR="91440" marT="45720" marB="45720" anchor="ctr"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F3F0E8"/>
                          </a:solidFill>
                          <a:latin typeface="Inter"/>
                          <a:ea typeface="Inter"/>
                          <a:cs typeface="Inter"/>
                        </a:rPr>
                        <a:t>Why now; why this team; why this round; what changes after funding.</a:t>
                      </a:r>
                    </a:p>
                  </a:txBody>
                  <a:tcPr marL="91440" marR="91440" marT="45720" marB="45720" anchor="ctr"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F3F0E8"/>
                          </a:solidFill>
                          <a:latin typeface="Inter"/>
                          <a:ea typeface="Inter"/>
                          <a:cs typeface="Inter"/>
                        </a:rPr>
                        <a:t>Why now, $1.5M use of funds, $500k ARR, and team slide are clear. Why Gauss can win still needs proof.</a:t>
                      </a:r>
                    </a:p>
                  </a:txBody>
                  <a:tcPr marL="91440" marR="91440" marT="45720" marB="45720" anchor="ctr"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7B14A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PARTIAL</a:t>
                      </a:r>
                    </a:p>
                  </a:txBody>
                  <a:tcPr marL="91440" marR="91440" marT="45720" marB="45720" anchor="ctr">
                    <a:solidFill>
                      <a:srgbClr val="0D1010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18BCC1-5274-4F9B-A4DA-95E30406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0D1010"/>
          </a:solidFill>
          <a:ln xmlns:a="http://schemas.openxmlformats.org/drawingml/2006/main" w="9525">
            <a:solidFill>
              <a:srgbClr val="252A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C9246C-FFA8-49BB-A741-E56E3231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054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 i="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NEXT UNLOCKS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B72886-7DB2-4FD1-A7CB-CC6BD4BE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054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0" i="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Founder proof  •  customer LOI / pilot evidence  •  prototype + TRL / IRL  •  IP / moat map  •  CAC, payback, and gross-margin evidence</a:t>
            </a:r>
          </a:p>
        </p:txBody>
      </p:sp>
    </p:spTree>
    <p:extLst>
      <p:ext uri="{BB962C8B-B14F-4D97-AF65-F5344CB8AC3E}">
        <p14:creationId xmlns:p14="http://schemas.microsoft.com/office/powerpoint/2010/main" val="11851513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2026-08-20T08:42:50.5970000Z</dcterms:created>
  <dcterms:modified xsi:type="dcterms:W3CDTF">2026-08-20T08:42:50.5970000Z</dcterms:modified>
</coreProperties>
</file>